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6d04d97a3449d" /><Relationship Type="http://schemas.openxmlformats.org/officeDocument/2006/relationships/extended-properties" Target="/docProps/app.xml" Id="R435abe5a969d476e" /><Relationship Type="http://schemas.openxmlformats.org/officeDocument/2006/relationships/officeDocument" Target="/ppt/presentation.xml" Id="Rf08a2b0a688c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54a7e156d4e2a"/>
  </p:sldMasterIdLst>
  <p:notesMasterIdLst>
    <p:notesMasterId xmlns:r="http://schemas.openxmlformats.org/officeDocument/2006/relationships" r:id="R767e532fa9624cef"/>
  </p:notesMasterIdLst>
  <p:sldIdLst>
    <p:sldId xmlns:r="http://schemas.openxmlformats.org/officeDocument/2006/relationships" id="256" r:id="Ra7dcf09a91d34596"/>
    <p:sldId xmlns:r="http://schemas.openxmlformats.org/officeDocument/2006/relationships" id="257" r:id="Re5fddeaee48c4069"/>
    <p:sldId xmlns:r="http://schemas.openxmlformats.org/officeDocument/2006/relationships" id="258" r:id="Ra87957cb14894bbf"/>
    <p:sldId xmlns:r="http://schemas.openxmlformats.org/officeDocument/2006/relationships" id="259" r:id="R1cba250b10d140da"/>
    <p:sldId xmlns:r="http://schemas.openxmlformats.org/officeDocument/2006/relationships" id="260" r:id="R8938dbc895cc453d"/>
    <p:sldId xmlns:r="http://schemas.openxmlformats.org/officeDocument/2006/relationships" id="261" r:id="R1872e490b08946ce"/>
    <p:sldId xmlns:r="http://schemas.openxmlformats.org/officeDocument/2006/relationships" id="262" r:id="Rcd3bb5a0e3644877"/>
    <p:sldId xmlns:r="http://schemas.openxmlformats.org/officeDocument/2006/relationships" id="263" r:id="R7ee02d9d35e349e3"/>
    <p:sldId xmlns:r="http://schemas.openxmlformats.org/officeDocument/2006/relationships" id="264" r:id="R80d6c8a6ba4e4f4d"/>
    <p:sldId xmlns:r="http://schemas.openxmlformats.org/officeDocument/2006/relationships" id="265" r:id="R68d5fa5f530c4b00"/>
    <p:sldId xmlns:r="http://schemas.openxmlformats.org/officeDocument/2006/relationships" id="266" r:id="Ra3bdff0480954f37"/>
    <p:sldId xmlns:r="http://schemas.openxmlformats.org/officeDocument/2006/relationships" id="267" r:id="Rb5f2daed79ad4ec6"/>
    <p:sldId xmlns:r="http://schemas.openxmlformats.org/officeDocument/2006/relationships" id="268" r:id="Rebe681a9e0374572"/>
    <p:sldId xmlns:r="http://schemas.openxmlformats.org/officeDocument/2006/relationships" id="269" r:id="R4a1794ee829c4801"/>
    <p:sldId xmlns:r="http://schemas.openxmlformats.org/officeDocument/2006/relationships" id="270" r:id="R696d4d96c25443dc"/>
    <p:sldId xmlns:r="http://schemas.openxmlformats.org/officeDocument/2006/relationships" id="271" r:id="Rd2dc9503391947c6"/>
    <p:sldId xmlns:r="http://schemas.openxmlformats.org/officeDocument/2006/relationships" id="272" r:id="Rabc4997e8c024164"/>
    <p:sldId xmlns:r="http://schemas.openxmlformats.org/officeDocument/2006/relationships" id="273" r:id="R1a4f1217a36f42e6"/>
    <p:sldId xmlns:r="http://schemas.openxmlformats.org/officeDocument/2006/relationships" id="274" r:id="R36785740c8114adb"/>
    <p:sldId xmlns:r="http://schemas.openxmlformats.org/officeDocument/2006/relationships" id="275" r:id="R51be83081fe54abf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0bcbf9d08b4f42" /><Relationship Type="http://schemas.openxmlformats.org/officeDocument/2006/relationships/slideMaster" Target="/ppt/slideMasters/slideMaster1.xml" Id="Rfe954a7e156d4e2a" /><Relationship Type="http://schemas.openxmlformats.org/officeDocument/2006/relationships/notesMaster" Target="/ppt/notesMasters/notesMaster1.xml" Id="R767e532fa9624cef" /><Relationship Type="http://schemas.openxmlformats.org/officeDocument/2006/relationships/presProps" Target="/ppt/presProps.xml" Id="R3e9108fb825a4a03" /><Relationship Type="http://schemas.openxmlformats.org/officeDocument/2006/relationships/viewProps" Target="/ppt/viewProps.xml" Id="R9e94067e61cd4e95" /><Relationship Type="http://schemas.openxmlformats.org/officeDocument/2006/relationships/tableStyles" Target="/ppt/tableStyles.xml" Id="R69a79284df3246b5" /><Relationship Type="http://schemas.openxmlformats.org/officeDocument/2006/relationships/slide" Target="/ppt/slides/slide1.xml" Id="Ra7dcf09a91d34596" /><Relationship Type="http://schemas.openxmlformats.org/officeDocument/2006/relationships/slide" Target="/ppt/slides/slide2.xml" Id="Re5fddeaee48c4069" /><Relationship Type="http://schemas.openxmlformats.org/officeDocument/2006/relationships/slide" Target="/ppt/slides/slide3.xml" Id="Ra87957cb14894bbf" /><Relationship Type="http://schemas.openxmlformats.org/officeDocument/2006/relationships/slide" Target="/ppt/slides/slide4.xml" Id="R1cba250b10d140da" /><Relationship Type="http://schemas.openxmlformats.org/officeDocument/2006/relationships/slide" Target="/ppt/slides/slide5.xml" Id="R8938dbc895cc453d" /><Relationship Type="http://schemas.openxmlformats.org/officeDocument/2006/relationships/slide" Target="/ppt/slides/slide6.xml" Id="R1872e490b08946ce" /><Relationship Type="http://schemas.openxmlformats.org/officeDocument/2006/relationships/slide" Target="/ppt/slides/slide7.xml" Id="Rcd3bb5a0e3644877" /><Relationship Type="http://schemas.openxmlformats.org/officeDocument/2006/relationships/slide" Target="/ppt/slides/slide8.xml" Id="R7ee02d9d35e349e3" /><Relationship Type="http://schemas.openxmlformats.org/officeDocument/2006/relationships/slide" Target="/ppt/slides/slide9.xml" Id="R80d6c8a6ba4e4f4d" /><Relationship Type="http://schemas.openxmlformats.org/officeDocument/2006/relationships/slide" Target="/ppt/slides/slide10.xml" Id="R68d5fa5f530c4b00" /><Relationship Type="http://schemas.openxmlformats.org/officeDocument/2006/relationships/slide" Target="/ppt/slides/slide11.xml" Id="Ra3bdff0480954f37" /><Relationship Type="http://schemas.openxmlformats.org/officeDocument/2006/relationships/slide" Target="/ppt/slides/slide12.xml" Id="Rb5f2daed79ad4ec6" /><Relationship Type="http://schemas.openxmlformats.org/officeDocument/2006/relationships/slide" Target="/ppt/slides/slide13.xml" Id="Rebe681a9e0374572" /><Relationship Type="http://schemas.openxmlformats.org/officeDocument/2006/relationships/slide" Target="/ppt/slides/slide14.xml" Id="R4a1794ee829c4801" /><Relationship Type="http://schemas.openxmlformats.org/officeDocument/2006/relationships/slide" Target="/ppt/slides/slide15.xml" Id="R696d4d96c25443dc" /><Relationship Type="http://schemas.openxmlformats.org/officeDocument/2006/relationships/slide" Target="/ppt/slides/slide16.xml" Id="Rd2dc9503391947c6" /><Relationship Type="http://schemas.openxmlformats.org/officeDocument/2006/relationships/slide" Target="/ppt/slides/slide17.xml" Id="Rabc4997e8c024164" /><Relationship Type="http://schemas.openxmlformats.org/officeDocument/2006/relationships/slide" Target="/ppt/slides/slide18.xml" Id="R1a4f1217a36f42e6" /><Relationship Type="http://schemas.openxmlformats.org/officeDocument/2006/relationships/slide" Target="/ppt/slides/slide19.xml" Id="R36785740c8114adb" /><Relationship Type="http://schemas.openxmlformats.org/officeDocument/2006/relationships/slide" Target="/ppt/slides/slide20.xml" Id="R51be83081fe5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5aa39216a0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b6c29c10994b22" /><Relationship Type="http://schemas.openxmlformats.org/officeDocument/2006/relationships/notesMaster" Target="/ppt/notesMasters/notesMaster1.xml" Id="R936992ba60fc4a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b800eca5e9436f" /><Relationship Type="http://schemas.openxmlformats.org/officeDocument/2006/relationships/notesMaster" Target="/ppt/notesMasters/notesMaster1.xml" Id="Re0dcac277797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598bae81b4b47" /><Relationship Type="http://schemas.openxmlformats.org/officeDocument/2006/relationships/notesMaster" Target="/ppt/notesMasters/notesMaster1.xml" Id="R9a9e28f56279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9c15f539a543a5" /><Relationship Type="http://schemas.openxmlformats.org/officeDocument/2006/relationships/notesMaster" Target="/ppt/notesMasters/notesMaster1.xml" Id="Ra67bf859d666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575349789248e0" /><Relationship Type="http://schemas.openxmlformats.org/officeDocument/2006/relationships/notesMaster" Target="/ppt/notesMasters/notesMaster1.xml" Id="R791cd5b64a7a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d4e8686264fd7" /><Relationship Type="http://schemas.openxmlformats.org/officeDocument/2006/relationships/notesMaster" Target="/ppt/notesMasters/notesMaster1.xml" Id="Rf96b4d419373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90ac2902e84260" /><Relationship Type="http://schemas.openxmlformats.org/officeDocument/2006/relationships/notesMaster" Target="/ppt/notesMasters/notesMaster1.xml" Id="R9a509955f3a749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36b9a3428465e" /><Relationship Type="http://schemas.openxmlformats.org/officeDocument/2006/relationships/notesMaster" Target="/ppt/notesMasters/notesMaster1.xml" Id="R2ca2fc2afc5e4e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e8f0327800475d" /><Relationship Type="http://schemas.openxmlformats.org/officeDocument/2006/relationships/notesMaster" Target="/ppt/notesMasters/notesMaster1.xml" Id="R57743210d48d4f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3863f138b647ac" /><Relationship Type="http://schemas.openxmlformats.org/officeDocument/2006/relationships/notesMaster" Target="/ppt/notesMasters/notesMaster1.xml" Id="R7d058f464ca34c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512a63604f497d" /><Relationship Type="http://schemas.openxmlformats.org/officeDocument/2006/relationships/notesMaster" Target="/ppt/notesMasters/notesMaster1.xml" Id="R7c8f6d41bc3541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b0a1ab6fc24f25" /><Relationship Type="http://schemas.openxmlformats.org/officeDocument/2006/relationships/notesMaster" Target="/ppt/notesMasters/notesMaster1.xml" Id="Rb8587bd51fa745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8d14d81003482b" /><Relationship Type="http://schemas.openxmlformats.org/officeDocument/2006/relationships/notesMaster" Target="/ppt/notesMasters/notesMaster1.xml" Id="Rb9001fc1820143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8108b29db44c89" /><Relationship Type="http://schemas.openxmlformats.org/officeDocument/2006/relationships/notesMaster" Target="/ppt/notesMasters/notesMaster1.xml" Id="Rf938c69eea804f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2f2361be804027" /><Relationship Type="http://schemas.openxmlformats.org/officeDocument/2006/relationships/notesMaster" Target="/ppt/notesMasters/notesMaster1.xml" Id="R69efd94706b749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d88b1f9413432e" /><Relationship Type="http://schemas.openxmlformats.org/officeDocument/2006/relationships/notesMaster" Target="/ppt/notesMasters/notesMaster1.xml" Id="R9addb85abeba4d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8e69bead6b4942" /><Relationship Type="http://schemas.openxmlformats.org/officeDocument/2006/relationships/notesMaster" Target="/ppt/notesMasters/notesMaster1.xml" Id="R51fc91d09027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fd918b28774525" /><Relationship Type="http://schemas.openxmlformats.org/officeDocument/2006/relationships/notesMaster" Target="/ppt/notesMasters/notesMaster1.xml" Id="Ra33dd575a8dd44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cb721c25074562" /><Relationship Type="http://schemas.openxmlformats.org/officeDocument/2006/relationships/notesMaster" Target="/ppt/notesMasters/notesMaster1.xml" Id="R7cf80f6d995948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3eb27fe8a44b60" /><Relationship Type="http://schemas.openxmlformats.org/officeDocument/2006/relationships/notesMaster" Target="/ppt/notesMasters/notesMaster1.xml" Id="R02e5a5cca39d4c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封面主標延續整案『民主的日常／看得見的議會』概念。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溝通工作：評選委員應看見一套可執行、可核對、可延伸為五語版本的完整敘事方案。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觀眾分類不使用精確人數；實際參訪族群由議會提供近年資料後再校準。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時間碼為第一版腳本基準；腳本核定後進行文字計時與 scratch voice 測試。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29.97/59.94p 為臺灣 60Hz 環境下的建議基準；最終依攝影機、LED 與室內燈具現場 flicker test 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導演節奏：前 12 秒使用聲音抓住注意力；第 30 秒第一次出現議會建築。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史料不得用生成式圖片補造；影像使用範圍、年代、人物與權利狀態逐件建表確認。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https://journal.th.gov.tw/intro.php?council=ntp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法規型旁白需由議會法制／議事單位複核；若版面需列舉，完整清單放手冊，影片保留五項核心。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https://web.law.ntpc.gov.tw/Scripts/PrintFLAWDAT0202.aspx?fcode=C0000072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人物使用原則：優先真實受訪者；如需情境重現，畫面註明『情境示意』且不使用可識別真實案件資料。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此段避免過度擺拍；先取得實際作業流程，再設計不干擾公務的補拍動作。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實際議事畫面以議會核准的會議與座位區域為準；攝影機不阻擋議事動線。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建議挑選議會核定、上下文完整且能代表制度運作的公開片段，避免以聲量或戲劇性作為唯一選片標準。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若要使用實際預算案例，須由議會指定已公開且適合國內外觀眾理解的案例，並以正式資料核對數字。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網站與系統畫面以實際可用介面拍攝；若上線前改版，保留一次更新補拍。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就職典禮建立獨立拍攝任務書、機位圖、鏡頭責任表與備援清單；當日完成至少兩份實體備份。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https://web.law.ntpc.gov.tw/Scripts/PrintFLAWDAT0202.aspx?fcode=C0000072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多語版不得以機器翻譯直接上線；配音前先核定中文定稿與術語表，避免五版本同步返工。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片尾主標至少停留 4 秒；五語版片尾均保留新北市議會正式中英文名稱與核定識別。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受訪名單與問題須於拍攝前送議會核定；訪談同意書包含肖像、聲音、五語版本、公開播映與長期保存範圍。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實際檔案格式、編碼、響度與 LED 原生輸出解析度於設備整合測試後定稿。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時程須與議會實際決標日、就職典禮日期、審稿週期及 LED 安裝測試窗口整合後更新。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41b378b394f8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683b3aac045fe" /><Relationship Type="http://schemas.openxmlformats.org/officeDocument/2006/relationships/slideLayout" Target="/ppt/slideLayouts/slideLayout1.xml" Id="R9c2cbcbfcecc49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2cbcbfcecc49c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cdda4a3ea47a6" /><Relationship Type="http://schemas.openxmlformats.org/officeDocument/2006/relationships/notesSlide" Target="/ppt/notesSlides/notesSlide1.xml" Id="R667e9a95fb6c45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b734f2080402d" /><Relationship Type="http://schemas.openxmlformats.org/officeDocument/2006/relationships/notesSlide" Target="/ppt/notesSlides/notesSlide2.xml" Id="R6f4002b98941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62ea062c4624" /><Relationship Type="http://schemas.openxmlformats.org/officeDocument/2006/relationships/notesSlide" Target="/ppt/notesSlides/notesSlide3.xml" Id="R59bba927187f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9559f61fc4fa2" /><Relationship Type="http://schemas.openxmlformats.org/officeDocument/2006/relationships/notesSlide" Target="/ppt/notesSlides/notesSlide4.xml" Id="R6eaabb321ae346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c244f42cc47fc" /><Relationship Type="http://schemas.openxmlformats.org/officeDocument/2006/relationships/notesSlide" Target="/ppt/notesSlides/notesSlide5.xml" Id="R7a8882225db946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d37b326494894" /><Relationship Type="http://schemas.openxmlformats.org/officeDocument/2006/relationships/notesSlide" Target="/ppt/notesSlides/notesSlide6.xml" Id="R6f4f5a85b88d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19a43513c48e3" /><Relationship Type="http://schemas.openxmlformats.org/officeDocument/2006/relationships/notesSlide" Target="/ppt/notesSlides/notesSlide7.xml" Id="Ra4f3919aecfc48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79bda52ed4d49" /><Relationship Type="http://schemas.openxmlformats.org/officeDocument/2006/relationships/notesSlide" Target="/ppt/notesSlides/notesSlide8.xml" Id="Ra02ea378988943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7f6932d8242de" /><Relationship Type="http://schemas.openxmlformats.org/officeDocument/2006/relationships/notesSlide" Target="/ppt/notesSlides/notesSlide9.xml" Id="R45ba357fb3e64c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85f0c01244eb" /><Relationship Type="http://schemas.openxmlformats.org/officeDocument/2006/relationships/notesSlide" Target="/ppt/notesSlides/notesSlide10.xml" Id="R005af24778084b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fb8f5e3df4173" /><Relationship Type="http://schemas.openxmlformats.org/officeDocument/2006/relationships/notesSlide" Target="/ppt/notesSlides/notesSlide11.xml" Id="R6ac4e86850ed46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e42be46f4e83" /><Relationship Type="http://schemas.openxmlformats.org/officeDocument/2006/relationships/notesSlide" Target="/ppt/notesSlides/notesSlide12.xml" Id="R5394179aa96f46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1a93a3c14ce6" /><Relationship Type="http://schemas.openxmlformats.org/officeDocument/2006/relationships/notesSlide" Target="/ppt/notesSlides/notesSlide13.xml" Id="Rebc3ad2ada484f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d764c6fc94eba" /><Relationship Type="http://schemas.openxmlformats.org/officeDocument/2006/relationships/notesSlide" Target="/ppt/notesSlides/notesSlide14.xml" Id="R1f8287dc706d4d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e1651e49a41b1" /><Relationship Type="http://schemas.openxmlformats.org/officeDocument/2006/relationships/notesSlide" Target="/ppt/notesSlides/notesSlide15.xml" Id="R9f7c1216c4c647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69a9994f46f4" /><Relationship Type="http://schemas.openxmlformats.org/officeDocument/2006/relationships/notesSlide" Target="/ppt/notesSlides/notesSlide16.xml" Id="Ra5d1aa8cb7d941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2944efd1e40f5" /><Relationship Type="http://schemas.openxmlformats.org/officeDocument/2006/relationships/notesSlide" Target="/ppt/notesSlides/notesSlide17.xml" Id="Rbd1c4ab608e64f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83652305e4234" /><Relationship Type="http://schemas.openxmlformats.org/officeDocument/2006/relationships/notesSlide" Target="/ppt/notesSlides/notesSlide18.xml" Id="Rbae3765370ff4a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05f0a66fd4889" /><Relationship Type="http://schemas.openxmlformats.org/officeDocument/2006/relationships/notesSlide" Target="/ppt/notesSlides/notesSlide19.xml" Id="R9da7077e95da4c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f7e0bf1d6461c" /><Relationship Type="http://schemas.openxmlformats.org/officeDocument/2006/relationships/notesSlide" Target="/ppt/notesSlides/notesSlide20.xml" Id="R33ac982899cb42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8492D0-27A8-463C-8593-B5AB75B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08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A5E9D3-FF00-493A-895E-AA8EE52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-10058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7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515617-DC19-4B54-B523-590E5DC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5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影片企劃書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EDFF13-9A37-421C-AC36-803BC0D1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看見新北議會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9E7D06-1B6F-421E-9E85-A356290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646480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讀懂民主的日常</a:t>
            </a:r>
            <a:endParaRPr sz="2600"/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第5屆議會簡介影片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4AB338-AA5C-4057-9E59-7232642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64648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詳細腳本與拍攝方案</a:t>
            </a:r>
            <a:endParaRPr sz="3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84CF0C-0C45-4AF8-A633-9E5D235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764" y="653796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22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BA3CD4-3D63-47E2-BD10-251920E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35240"/>
            <a:ext cx="64648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建議片長：11 分 30 秒｜符合 10–12 分鐘需求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3FD1EB-774F-4AA7-A74A-CA8A18C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9244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拍攝規格：4K 取材｜2K 以上製作與交付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D8C2D1-E3E3-4DE9-A084-3DF7254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50392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版本：中・英・日・台・韓五語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55399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45D400-AE6A-4DF8-AA7A-0F2957B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影片企劃｜核心定位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985284-E7A2-4A17-BC2D-B48E412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B707C-F794-45EA-94EF-CA6D5FD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2E68E6-8BA9-4721-B86F-AAA403C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FB2CFB6-1ECD-4B5C-A0B1-C31AB8C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影片不是機關介紹，而是一段可被理解的民主旅程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5D5945-20CB-4CCB-A271-CB063D6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342160-FC05-40AE-9BB8-E7C430A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核心提案｜以『一個市民關心的問題，如何走進議會』串起會史、職權、審議、監督、第5屆與國際交流。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CE5F34-1F4A-419D-AF58-A53DDF20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一、影片核心定位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2514600"/>
          <a:ext xmlns:a="http://schemas.openxmlformats.org/drawingml/2006/main" cx="6464808" cy="853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5093208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片名主張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看見新北議會｜讀懂民主的日常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敘事引擎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一個問題如何被聽見、整理、審議與追蹤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觀眾收穫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理解議會職權、感受民主參與、記住第5屆新章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96B84E-D608-4111-8A05-4ACE817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1865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二、核心敘事命題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4ADED5-9A4D-4036-8CFF-39E2D53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441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議會不是遙遠的殿堂，而是市民生活議題進入公共制度、接受討論與監督的地方。</a:t>
            </a:r>
            <a:endParaRPr sz="10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5BE74D-7CAC-4DDD-9FEB-EEA28FE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87332"/>
            <a:ext cx="6355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看見歷史：地方自治如何一路累積。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看見運作：問題如何走進議會、被檢驗。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看見未來：第5屆如何承接責任、面向世界。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A8B580-D702-42A5-A65F-A7B1659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632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建議成片 11:30；保留約 30 秒調整彈性，以實際典禮與議事素材品質微調。</a:t>
            </a:r>
            <a:endParaRPr sz="1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1063550-86BC-4CF8-8C4B-23230100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503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三、內容判準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BF0FF30-FF08-4F04-AD2C-AAD36B6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16132"/>
            <a:ext cx="6355080" cy="1197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制度優先：不以個人政績取代議會功能。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真實優先：議案、數字、人物均經議會核定。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可理解優先：法律語言轉成生活情境，五語共享同一畫面邏輯。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80494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影片企劃｜觀眾與情境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同一支影片，服務三種觀眾與四種播放情境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觀眾設計｜先用生活共感降低理解門檻，再用制度與真實現場建立信任，最後以第5屆與國際交流形成記憶點。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一、主要觀眾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市民與學生是公民教育核心；國內訪賓需要快速理解議會運作；國際訪賓則需要少縮寫、強脈絡、可跨文化理解的制度敘事。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二、看完應帶走什麼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理解重點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呈現方式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市民／學生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議會與生活的關係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情境問題＋公民教育圖解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國內訪賓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會史、職權與第5屆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時間軸＋真實議事現場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國際訪賓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地方民主如何運作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五語旁白＋少術語的制度解說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三、播放情境與節奏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簡報室 LED 完整播映／會史館導覽前導／國內外訪賓接待／官網與社群延伸。前 40 秒須能獨立吸引注意；每 60–90 秒至少一次場景或資訊形式轉換。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6E800E-CCDF-408C-832B-819BE26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影片企劃｜11:30 時間軸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4B0C3A-A013-4810-ABCD-6FD3174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AC576E-F660-48EC-AEE5-BDE6986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28E4CA-9434-4C02-B71A-BA28622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9401DB-BAF3-4C44-AB71-2A2C253F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五幕敘事把制度資訊轉成一條能跟隨的路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9DD344-0A55-468E-B82B-56972AD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745236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0C1E0DD-66EE-4E16-81F9-0489050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節奏原則｜前 3 分鐘建立『為什麼』，中段 5 分鐘說清楚『怎麼運作』，最後 3 分半形成第5屆、國際與未來記憶。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822F0D-732D-4715-B690-B5CDFF94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8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一、五幕敘事與時間配置</a:t>
            </a:r>
            <a:endParaRPr sz="1300"/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268376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1520"/>
                <a:gridCol w="2743200"/>
                <a:gridCol w="173736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觀眾問題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00:00–01:35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城市日常＋議會沿革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為什麼需要議會？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01:35–03:20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議會職權＋市民聲音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議會做什麼？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03:20–05:35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成案研議＋委員會審查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問題如何進入制度？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05:35–08:05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質詢監督＋預算議決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如何檢驗與負責？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08:05–11:30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透明教育＋第5屆＋國際＋收束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民主如何延續？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65FFBE-3EB3-4977-BC5B-02D38EF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8671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二、情緒與資訊密度曲線</a:t>
            </a:r>
            <a:endParaRPr sz="1300"/>
          </a:p>
        </p:txBody>
      </p:sp>
      <p:graphicFrame>
        <p:nvGraphicFramePr>
          <p:cNvPr id="26" name="Table 1"/>
          <p:cNvGraphicFramePr/>
          <p:nvPr/>
        </p:nvGraphicFramePr>
        <p:xfrm>
          <a:off xmlns:a="http://schemas.openxmlformats.org/drawingml/2006/main" x="548640" y="5364431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0008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敘事元素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開場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沿革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職權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審議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市民問題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會史資料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議事現場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人物訪談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動態圖解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音樂情緒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建立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沉穩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清晰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張力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提升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回收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資訊密度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低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高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低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DDF6D7-2F79-4EDB-8972-631DA9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8447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註：總長 11:30；實際剪輯可於 10:45–11:45 內調整，但各幕功能與第5屆就職典禮段落不可省略。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56435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影片企劃｜拍攝語言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4K 取材建立耐用素材，2K 以上交付確保大屏品質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技術主張｜主攝影 4K、10-bit、4:2:2；主敘事 29.97p，動態與慢動作 59.94p，並依 LED 掃描與現場燈源完成防閃測試。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一、攝影機與鏡頭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主拍雙機、議事與典禮三至四機；24mm 建立空間、35/50mm 敘事、85mm 捕捉表情。訪談雙機保持 10–15° 視差，不越軸。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二、光線與色彩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自然、可信、具公共機關質感；人物以柔光＋輪廓光，空間保留環境層次。調色採中性膚色、深藍與暖金點題，不套政黨色。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三、運鏡與節奏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生活段落可穩定跟拍；議事段落以固定機位、緩推與完整反應鏡頭為主。避免過度滑軌、快速變焦與宣傳片式英雄仰角。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四、收音與音樂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48kHz／24-bit；訪談領夾＋指向麥雙備援，議場接 clean feed 並錄 room tone。音樂須取得完整授權，重要發言時主動降音樂。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五、後製與輸出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4K 母帶＋2K 以上主交付；另依 LED 原生解析度與處理器測試輸出播放檔。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動態圖像使用時間軸、地圖、流程線與關鍵詞，不用大量圖示卡片。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字幕維持安全邊界；五語分軌、可替換；保留無字幕 clean master。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交付前於簡報室完成亮度、色彩、字幕可讀性、音量與一鍵播放測試。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分鏡腳本｜01 城市開場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場景一｜城市醒來，問題正在發生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00:00–00:40｜先拍生活、再進議會；讓觀眾先看見自己，建立『民主就在日常』的情感入口。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清晨列車、校門、市場、河岸與工地交錯。旁白：『每一天，新北都有新的期待——更安全的路、更安心的照顧、更宜居的城市。』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議會不是建築或會議的集合，而是市民日常需求進入公共制度的入口。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高點／空拍建立城市尺度；35mm 中景跟拍通勤；85mm 捕捉手、眼神與生活細節。25–30 個短鏡頭，由快轉穩。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四、聲音與圖像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先以環境音開場，約 8 秒後進音樂；『安全、照顧、交通、環境』以低調動態字浮現。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市民抬頭望向道路資訊，Match Cut 至議會外觀。旁白問：『這些聲音，如何被聽見？』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拍攝提醒：避免可辨識車牌、未授權兒童正面與商標；空拍須依核准範圍執行。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分鏡腳本｜02 議會沿革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場景二｜一段會史，承接地方自治的選擇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00:40–01:35｜不是年代羅列，而是用三個轉折說明：地方聲音如何逐步制度化、被保存並持續傳承。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旁白：『從縣參議會、臺北縣議會，到升格後的新北市議會，名稱與城市改變了，讓地方聲音進入公共決策的使命始終延續。』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把會史從『歷任名錄』轉成『民主制度的累積』，為第5屆登場建立承先啟後的重量。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歷史照片以慢推、局部放大與紙張紋理呈現；實拍會史館展板、舊議事錄、建築細節，搭配同角度今昔疊化。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時間軸只保留 3 個節點：參議會起點／縣議會發展／新北市議會。年份與名稱均由議會核定後上線。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從舊議事錄翻頁切到今日議程文件，接下一段『議會現在做什麼』。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素材規格：紙本文物建議 600dpi 掃描；原件拍攝採無反光柔光並由館方監看。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分鏡腳本｜03 議會職權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場景三｜把制度說清楚，讓職權看得見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01:35–02:25｜以『一張城市的共同帳本與規則』解釋職權，避免法條朗讀，讓國內外觀眾迅速理解。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旁白：『市民選出的議員，在議會審議地方規章與預算、檢視決算、討論提案，也接受人民請願；每一次發言，都連結城市資源與生活選擇。』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用清楚、非黨派的制度解說，建立議會作為地方立法與監督機關的專業形象。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議場空鏡→議程文件→會議進行；24mm 對稱廣角建立秩序，50mm 肩上鏡頭拍閱讀文件，特寫議事槌與表決設備。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四、動態圖像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以『規章／預算／決算／提案／請願』五個關鍵詞沿圓形議場展開；每項只配一個生活例子，不放抽象圖示堆疊。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最後停在『請願／市民聲音』，圖像線條延伸成一條路，帶往下一幕的市民情境。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所有職權文字以最新法規與議會核定版本為準。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分鏡腳本｜04 市民聲音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場景四｜一個問題，如何走進議會視野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02:25–03:20｜採『複合情境』而非虛構政績：不同市民提出生活問題，呈現多元入口與共同關注。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旁白：『一個問題，可能從陳情、請願、議員服務、會勘或公開參與被看見。重要的不是聲音大小，而是能否被記錄、理解與追蹤。』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把議會拉近市民，呈現『有入口、有紀錄、有回應』的民主參與感，同時不承諾個案必然結果。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三組生活情境交叉：交通、照顧、環境。手機只拍手部與訊息介面背面；服務場景用中近景與文件特寫，避免演員直視鏡頭表演。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四、訪談與字幕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可用 2–3 句匿名市民短語：『我希望有人聽見……』；若為真實個案，須取得書面同意並刪除個資。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紙本陳情／會勘筆記放上桌面，鏡頭沿文字移動至『待研議』標記。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情境只作流程示意；不得把未結案個案剪成已獲解決的成果故事。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分鏡腳本｜05 成案研議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場景五｜從生活語言，整理成可討論的議題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03:20–04:20｜呈現幕後工作：蒐集資料、現場會勘、法規與預算檢視，讓觀眾理解議事並非只發生在鏡頭前。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旁白：『被聽見只是第一步。現場狀況、法規依據、預算來源與不同立場，都必須被放在同一張桌上，問題才有機會成為可討論的方案。』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建立專業可信度：民主不是一句口號，而是把經驗轉成證據、把意見轉成議題的過程。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會勘採手持穩定器跟拍；室內會議以俯拍文件、側逆光人物輪廓及白板焦點切換；補拍地圖、法規、預算表細節。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四、圖像與節奏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畫面疊加四層資訊：現場／資料／法規／預算；每層 3–4 秒，最後合併為『議題』標題卡。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文件被夾入議程資料夾，切到審查會門牌。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議案名稱與文件內容只拍已公開或經核准版本；機敏資料以景深與遮罩處理。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分鏡腳本｜06 委員會審查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場景六｜在細節裡，讓不同意見被檢驗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04:20–05:35｜全片第一個高密度議事段落；用問答、文件與反應鏡頭呈現審查，而不是只剪激烈發言。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旁白：『進入審查，不同問題被逐項提出：必要嗎？可行嗎？預算合理嗎？影響誰？每一次追問，都是讓決策更完整的檢驗。』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表現多元意見與制度化辯證；讓觀眾理解委員會是深入拆解議題的重要場域。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三機建議：A 機全景安全鏡、B 機發言者中近景、C 機官員／資料／反應特寫；先收完整段落，再取得剪輯所需 cutaway。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四、收音與字幕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接議事系統 clean feed，另錄環境聲備援；發言字幕保留完整語意，不以斷句製造衝突。必要時以圖卡補充名詞。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以『問題被拆開』的文件標記轉為下一幕質詢。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政治中立：不同黨團、性別、選區的可用畫面比例由議會確認；不得只剪單一立場。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分鏡腳本｜07 質詢監督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場景七｜追問，是把承諾帶回公共檢驗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05:35–06:55｜用『問題—回應—追蹤』三拍結構，強調責任與資訊公開，不把影片剪成個人英雄敘事。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旁白：『監督，不只是在議場提出問題；更重要的是要求說明、確認進度，並讓公共資源的使用接受檢驗。』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呈現議員監督市政與行政部門說明責任；焦點放在制度、資料與後續追蹤。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以議員提問、官員回應、資料畫面三角剪輯；長焦拍表情但不捕捉失態；畫面至少保留一次完整問答的連續性。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四、圖像與聲音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螢幕側欄顯示『問題／回應／追蹤』，搭配日期與公開資料來源；音樂降至最低，保留現場原音的真實感。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追蹤清單上的一項被勾選，轉為預算與議案文件。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剪輯守則：不得跨議題拼接問答；字幕、時間與發言者身分須二次校對。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分鏡腳本｜08 預算議決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場景八｜每一筆資源，都要回答公共價值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06:55–08:05｜用『共同帳本』解釋預算與議決，把複雜程序轉成市民能感受的選擇與取捨。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旁白：『城市的預算，是大家共同的帳本。從建設、教育到社會照顧，每一筆資源的安排，都必須被討論、比較與負責。』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讓觀眾理解議會議決預算、審議決算與處理提案的公共責任，而非只看表決瞬間。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預算書翻頁、重點標註、會議發言、表決程序；俯拍建立文件秩序，50mm 捕捉閱讀與交換意見，表決畫面以核准素材為準。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四、動態圖像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一元硬幣化成『公共資源』流向三個生活場景，再回到議場；避免呈現未核定金額與政績式比較。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文件蓋章／收合，畫面切至公開議事平台。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所有議案狀態須標示『提案、審議、通過或執行』的正確階段，不以動畫暗示既定成果。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分鏡腳本｜09 透明與教育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場景九｜看得懂，民主才真正靠近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08:05–09:00｜把直播、議事影音、會史館與參訪串在一起，從『公開』推進到『可理解、可參與』。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旁白：『會議公開，是透明的起點；讓市民看得懂議程、找到影像、走進會史館，才讓民主從制度走進學習與生活。』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回扣本案會史館、簡報室、影片與手冊的整合價值：不同媒介共同完成公民教育。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螢幕錄影呈現 VOD 查詢→學生／訪賓觀看 LED→會史館導覽；以肩後鏡頭帶觀眾一起閱讀，不拍假操作。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四、圖像與聲音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搜尋、播放、參訪三個動作以同一金色路徑連接；加入學生提問原音或導覽員一句短解說。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年輕觀眾在會史館看見『第5屆』區域，畫面切入就職典禮準備。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網站畫面拍攝前確認個資、通知與介面版本；後製保留可更新畫面層。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分鏡腳本｜10 第5屆登場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場景十｜新的任期，從公開承諾開始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09:00–10:05｜以就職典禮現場原音作情緒高點；名單、職銜與席次在議會正式確認後才鎖定。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典禮原音先行。旁白：『新的任期，從一份公開承諾開始。來自不同地方、不同經驗的代表，在這裡共同承擔城市的下一段責任。』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把第5屆放在制度傳承與多元代表的脈絡中，而不是人物名單快速輪播。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四機紀錄：A 全景、B 宣誓／主席台、C 議員特寫、D 遊走與備援；雙卡同錄、時間碼同步。大合照另設階梯與均勻柔光。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四、人物呈現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每位議員至少保留一個可用正面鏡頭；姓名、選區、黨籍／無黨籍與職銜依議會核定資料製作可替換圖層。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掌聲延續到國際訪賓握手／多語歡迎畫面。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典禮不可重來：前一日走位彩排、雙機位備援、獨立錄音、現場即時備份；未核定資料不上字。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分鏡腳本｜11 國際交流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場景十一｜讓地方民主被世界理解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10:05–10:55｜五語不是逐字換聲，而是把制度與文化翻成國際訪賓能理解的語境；畫面維持同一版本。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旁白：『地方治理面對的課題各不相同，但傾聽、審議與負責，是城市交流共同的語言。新北議會以開放的姿態，分享經驗，也持續學習。』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服務外賓接待與城市交流，同時把五語製作從規格要求提升為議會形象的一部分。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外賓入館、簡報室觀看、交換資料與會談廣角；避免只拍握手，補足聆聽、提問、翻閱手冊與導覽互動。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四、語言與字幕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中、英、日、台、韓版本共用畫面；語音分軌、字幕獨立。專有名詞建立術語表，英日韓由母語審校，台語由專業顧問審訂。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五種語言的『歡迎』快速交疊後歸於城市夜景。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外賓肖像與旗幟須確認授權與外交禮序；無適當既有素材時，改以空間、文件與語言圖層呈現。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分鏡腳本｜12 未來收束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場景十二｜不同聲音，在制度裡共同前進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10:55–11:30｜回到開場的生活場景，以一句可長期使用的品牌主張收束，讓影片不因單一任期事件快速過時。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旁白：『從一個問題，到一場討論；從一項選擇，到城市的下一步。新北市議會，讓不同聲音在制度裡被聽見，讓民主成為我們共同的日常。』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完成首尾呼應：議會的價值不只在作出決定，也在讓差異被看見、被討論、被公共檢驗。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回到開場人物與城市夜景；議會建築定鏡 4–5 秒，最後疊上主標『看見新北議會｜讀懂民主的日常』。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四、聲音與片尾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音樂回到主旋律並留出一句旁白空間；片尾列製作、授權與議會核定資訊，不以冗長工作名單稀釋主標。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五、版本與彈性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標準片長 11:30；可依實際素材在 10:45–11:45 內微調，仍符合 10–12 分鐘需求。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另輸出 60 秒／30 秒精華版時，沿用開場—制度—第5屆—主標四拍結構。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38C3A-84AA-4E51-A81D-47209AD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拍攝執行｜訪談與補拍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695FEE-BA2B-4C9E-B259-3E969BF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33C20C-008C-42F7-A0C8-379FE5B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2CABA6-72FC-444D-9DAB-90B6E89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D0D6BD-F474-4920-9804-9C0794B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訪談提供觀點，B-roll 負責證明與轉場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2463B7-8C1F-48E3-B599-2155BEA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05F877-D17B-403D-A582-9095B41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受訪原則｜每人只回答一個敘事任務；先取得完整句，再剪成 8–15 秒可用片段。名單由議會核定並兼顧黨團、性別、選區與角色多元。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900496-6F98-41B2-BD61-EF94149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一、訪談設計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A168075-BD99-4B41-A584-3D1EB0BB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訪談不重複旁白，而是補上『為什麼重要』與『現場如何做』。問題避免引導政績與未核定承諾；每位受訪者拍 20 秒靜默、自然工作與視線備援鏡頭。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5A94EC-21D7-4908-BB76-9AEC8AA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954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【建議每人錄製 15–25 分鐘；正式成片合計使用 60–90 秒，避免影片被訪談切碎。】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CC38CC-BF4C-419E-87F3-66CF87A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9359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二、角色、提問與拍攝方式</a:t>
            </a:r>
            <a:endParaRPr sz="1300"/>
          </a:p>
        </p:txBody>
      </p:sp>
      <p:graphicFrame>
        <p:nvGraphicFramePr>
          <p:cNvPr id="28" name="Table 0"/>
          <p:cNvGraphicFramePr/>
          <p:nvPr/>
        </p:nvGraphicFramePr>
        <p:xfrm>
          <a:off xmlns:a="http://schemas.openxmlformats.org/drawingml/2006/main" x="548640" y="395935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914400"/>
                <a:gridCol w="2468880"/>
                <a:gridCol w="18013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受訪角色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內容任務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建議提問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拍攝方式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議長／議會代表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議會定位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議會與市民最重要的關係？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議場雙機／正面穩重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第5屆議員 2–3 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多元代表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如何把選區聲音帶進議會？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服務／議事場域交叉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審查會角色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審議方法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審查時最重視哪些證據？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文件前景＋肩後鏡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議事／行政人員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幕後運作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如何確保程序與資料正確？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工作現場觀察式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市民／參訪者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生活連結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什麼讓你更理解議會？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自然光／短句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教師／學生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公民教育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看完最想再問什麼？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會史館／群體互動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外賓／多語代表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國際理解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地方議會交流的共同價值？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簡報室／雙語收音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0CBC2C0-B689-4D34-9D3D-E839358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6302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三、必要 B-roll 清單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12B6B79-FAB4-442C-9EBD-810639D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02878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建築晨昏、議場空鏡、會議進行、審查文件、服務與會勘、會史館展板、LED 播映、VOD 操作、外賓導覽、城市生活、就職典禮全流程。每一場景至少取得全／中／近／細節／反應五類鏡頭。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8494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後期製作｜五語與交付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先鎖定中文，再讓五種語言共享同一套畫面證據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版本策略｜五語共用畫面與時間碼；旁白、字幕、片頭尾及術語表分軌，日後更新不必重剪。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一、五語製作流程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中文旁白核定→建立專名／職稱／法規術語表→翻譯→母語審校→配音試讀→字幕與音軌→內部雙人檢核→議會確認。台語另由專業顧問審訂語體與讀音。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二、三道版本閘門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核對重點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通過條件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人名、職銜、議案、法規、年代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議會書面核定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讀音、語速、專名、句長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母語審校＋試聽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播放鎖定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字幕、響度、色彩、LED 相容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現場測試＋檢核表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三、交付與可維護性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交付 4K／2K 以上母帶、五語播放檔、無字幕 clean master、字幕檔、分軌音訊、配樂授權、工程檔與素材索引。影片中的第5屆人名與職銜採可替換圖層，保固期間更新不破壞主剪輯。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E185AA-422A-4142-98EC-0FA6FC2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製作管理｜風險與品管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B9CE32-BF9E-4B4F-9482-2CBD7C5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680857-4A13-4A85-91FA-BD21A96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B29F23-736C-4EBA-BE73-AB51C71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00BCB-3E2F-434A-84F3-F8B9D0D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7782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四個高風險點，都在拍攝前設好備援與核定閘門</a:t>
            </a:r>
            <a:endParaRPr sz="1300"/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48640" y="124358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2011680"/>
                <a:gridCol w="27157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觸發情境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因應與驗收證據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就職典禮缺漏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一次性事件、機位或收音失效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四機＋雙卡＋獨立錄音；彩排、即時監看、當日雙備份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事實或名單變動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第5屆資料未定／職銜更新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使用可替換圖層；以議會核定表作唯一資料來源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五語語意不一致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翻譯過長、專名不同、重錄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中文先鎖；術語表、母語審校、配音前試讀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播放異常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閃爍、字幕太小、色偏、音量不一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現場樣片測試；輸出專用播放檔與備援檔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931674A-0F3E-4DA4-B51F-798E098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65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品質閘門與 120 日內建議節點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0D779-AA9C-487F-877F-7F3F7EE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07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D1–15 需求／中文大綱核定；D16–45 勘景、史料與先拍；D46–75 主拍及就職典禮；D76–100 剪輯、動態圖像與五語；D101–120 LED 測試、修正與驗收。每一閘門執行『內容正確→影像聲音→語言字幕→播放相容』四層檢核，留存核定紀錄、素材清單、授權與測試報告。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151043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2026-08-31T03:18:28.5870000Z</dcterms:created>
  <dcterms:modified xsi:type="dcterms:W3CDTF">2026-08-31T03:18:28.5870000Z</dcterms:modified>
</coreProperties>
</file>