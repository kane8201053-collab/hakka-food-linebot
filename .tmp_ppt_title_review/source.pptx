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4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8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2243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20116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5550408" y="-1005840"/>
            <a:ext cx="2926080" cy="2926080"/>
          </a:xfrm>
          <a:prstGeom prst="ellipse">
            <a:avLst/>
          </a:prstGeom>
          <a:solidFill>
            <a:srgbClr val="2E437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777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500" dirty="0">
                <a:solidFill>
                  <a:srgbClr val="C9A2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服務建議書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6464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新北市議會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03320"/>
            <a:ext cx="64648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會史館增修、簡報室設備更新暨</a:t>
            </a:r>
            <a:endParaRPr lang="en-US" sz="2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第5屆議會簡介影片、手冊規劃製作案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394960"/>
            <a:ext cx="6464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8A70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服 務 建 議 書(企 劃 書)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2683764" y="6537960"/>
            <a:ext cx="219456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7635240"/>
            <a:ext cx="6464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投標廠商:○○○○股份有限公司(請填入)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8092440"/>
            <a:ext cx="6464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聯 絡 人:○○○|電話:○○○○○○○○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8503920"/>
            <a:ext cx="6464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中華民國 115 年 ○ 月 ○ 日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C9A2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目錄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2926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新北市議會案 服務建議書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6464808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415284" y="103052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04672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    錄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6464808" cy="585216"/>
          </a:xfrm>
          <a:prstGeom prst="roundRect">
            <a:avLst>
              <a:gd name="adj" fmla="val 7813"/>
            </a:avLst>
          </a:prstGeom>
          <a:solidFill>
            <a:srgbClr val="F4F6FA"/>
          </a:solidFill>
          <a:ln/>
        </p:spPr>
      </p:sp>
      <p:sp>
        <p:nvSpPr>
          <p:cNvPr id="8" name="Shape 6"/>
          <p:cNvSpPr/>
          <p:nvPr/>
        </p:nvSpPr>
        <p:spPr>
          <a:xfrm>
            <a:off x="658368" y="1472184"/>
            <a:ext cx="713232" cy="384048"/>
          </a:xfrm>
          <a:prstGeom prst="roundRect">
            <a:avLst>
              <a:gd name="adj" fmla="val 9524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1463040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壹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517904" y="1481328"/>
            <a:ext cx="5367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專案背景與目標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084832"/>
            <a:ext cx="6464808" cy="585216"/>
          </a:xfrm>
          <a:prstGeom prst="roundRect">
            <a:avLst>
              <a:gd name="adj" fmla="val 7813"/>
            </a:avLst>
          </a:prstGeom>
          <a:solidFill>
            <a:srgbClr val="F4F6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" y="2185416"/>
            <a:ext cx="713232" cy="384048"/>
          </a:xfrm>
          <a:prstGeom prst="roundRect">
            <a:avLst>
              <a:gd name="adj" fmla="val 9524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" y="2176272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貳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517904" y="2194560"/>
            <a:ext cx="5367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公司簡介與實績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798064"/>
            <a:ext cx="6464808" cy="585216"/>
          </a:xfrm>
          <a:prstGeom prst="roundRect">
            <a:avLst>
              <a:gd name="adj" fmla="val 7813"/>
            </a:avLst>
          </a:prstGeom>
          <a:solidFill>
            <a:srgbClr val="F4F6FA"/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" y="2898648"/>
            <a:ext cx="713232" cy="384048"/>
          </a:xfrm>
          <a:prstGeom prst="roundRect">
            <a:avLst>
              <a:gd name="adj" fmla="val 9524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" y="2889504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517904" y="2907792"/>
            <a:ext cx="5367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專案理解與整體規劃理念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511296"/>
            <a:ext cx="6464808" cy="585216"/>
          </a:xfrm>
          <a:prstGeom prst="roundRect">
            <a:avLst>
              <a:gd name="adj" fmla="val 7813"/>
            </a:avLst>
          </a:prstGeom>
          <a:solidFill>
            <a:srgbClr val="FDF6E0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" y="3611880"/>
            <a:ext cx="713232" cy="384048"/>
          </a:xfrm>
          <a:prstGeom prst="roundRect">
            <a:avLst>
              <a:gd name="adj" fmla="val 9524"/>
            </a:avLst>
          </a:prstGeom>
          <a:solidFill>
            <a:srgbClr val="C9A22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" y="3602736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肆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517904" y="3621024"/>
            <a:ext cx="5367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專案執行計畫(會史館/簡報室/影片/手冊)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224528"/>
            <a:ext cx="6464808" cy="585216"/>
          </a:xfrm>
          <a:prstGeom prst="roundRect">
            <a:avLst>
              <a:gd name="adj" fmla="val 7813"/>
            </a:avLst>
          </a:prstGeom>
          <a:solidFill>
            <a:srgbClr val="F4F6FA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325112"/>
            <a:ext cx="713232" cy="384048"/>
          </a:xfrm>
          <a:prstGeom prst="roundRect">
            <a:avLst>
              <a:gd name="adj" fmla="val 9524"/>
            </a:avLst>
          </a:prstGeom>
          <a:solidFill>
            <a:srgbClr val="1B2A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8368" y="431596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伍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517904" y="4334256"/>
            <a:ext cx="5367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專案組織與人力配置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4937760"/>
            <a:ext cx="6464808" cy="585216"/>
          </a:xfrm>
          <a:prstGeom prst="roundRect">
            <a:avLst>
              <a:gd name="adj" fmla="val 7813"/>
            </a:avLst>
          </a:prstGeom>
          <a:solidFill>
            <a:srgbClr val="F4F6FA"/>
          </a:solidFill>
          <a:ln/>
        </p:spPr>
      </p:sp>
      <p:sp>
        <p:nvSpPr>
          <p:cNvPr id="28" name="Shape 26"/>
          <p:cNvSpPr/>
          <p:nvPr/>
        </p:nvSpPr>
        <p:spPr>
          <a:xfrm>
            <a:off x="658368" y="5038344"/>
            <a:ext cx="713232" cy="384048"/>
          </a:xfrm>
          <a:prstGeom prst="roundRect">
            <a:avLst>
              <a:gd name="adj" fmla="val 9524"/>
            </a:avLst>
          </a:prstGeom>
          <a:solidFill>
            <a:srgbClr val="1B2A4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" y="5029200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陸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517904" y="5047488"/>
            <a:ext cx="5367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時程規劃與進度管理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5650992"/>
            <a:ext cx="6464808" cy="585216"/>
          </a:xfrm>
          <a:prstGeom prst="roundRect">
            <a:avLst>
              <a:gd name="adj" fmla="val 7813"/>
            </a:avLst>
          </a:prstGeom>
          <a:solidFill>
            <a:srgbClr val="F4F6FA"/>
          </a:solidFill>
          <a:ln/>
        </p:spPr>
      </p:sp>
      <p:sp>
        <p:nvSpPr>
          <p:cNvPr id="32" name="Shape 30"/>
          <p:cNvSpPr/>
          <p:nvPr/>
        </p:nvSpPr>
        <p:spPr>
          <a:xfrm>
            <a:off x="658368" y="5751576"/>
            <a:ext cx="713232" cy="384048"/>
          </a:xfrm>
          <a:prstGeom prst="roundRect">
            <a:avLst>
              <a:gd name="adj" fmla="val 9524"/>
            </a:avLst>
          </a:prstGeom>
          <a:solidFill>
            <a:srgbClr val="1B2A4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58368" y="5742432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柒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517904" y="5760720"/>
            <a:ext cx="5367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品質管理與監督查核配合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48640" y="6364224"/>
            <a:ext cx="6464808" cy="585216"/>
          </a:xfrm>
          <a:prstGeom prst="roundRect">
            <a:avLst>
              <a:gd name="adj" fmla="val 7813"/>
            </a:avLst>
          </a:prstGeom>
          <a:solidFill>
            <a:srgbClr val="F4F6FA"/>
          </a:solidFill>
          <a:ln/>
        </p:spPr>
      </p:sp>
      <p:sp>
        <p:nvSpPr>
          <p:cNvPr id="36" name="Shape 34"/>
          <p:cNvSpPr/>
          <p:nvPr/>
        </p:nvSpPr>
        <p:spPr>
          <a:xfrm>
            <a:off x="658368" y="6464808"/>
            <a:ext cx="713232" cy="384048"/>
          </a:xfrm>
          <a:prstGeom prst="roundRect">
            <a:avLst>
              <a:gd name="adj" fmla="val 9524"/>
            </a:avLst>
          </a:prstGeom>
          <a:solidFill>
            <a:srgbClr val="1B2A4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58368" y="6455664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捌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517904" y="6473952"/>
            <a:ext cx="5367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教育訓練計畫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48640" y="7077456"/>
            <a:ext cx="6464808" cy="585216"/>
          </a:xfrm>
          <a:prstGeom prst="roundRect">
            <a:avLst>
              <a:gd name="adj" fmla="val 7813"/>
            </a:avLst>
          </a:prstGeom>
          <a:solidFill>
            <a:srgbClr val="F4F6FA"/>
          </a:solidFill>
          <a:ln/>
        </p:spPr>
      </p:sp>
      <p:sp>
        <p:nvSpPr>
          <p:cNvPr id="40" name="Shape 38"/>
          <p:cNvSpPr/>
          <p:nvPr/>
        </p:nvSpPr>
        <p:spPr>
          <a:xfrm>
            <a:off x="658368" y="7178040"/>
            <a:ext cx="713232" cy="384048"/>
          </a:xfrm>
          <a:prstGeom prst="roundRect">
            <a:avLst>
              <a:gd name="adj" fmla="val 9524"/>
            </a:avLst>
          </a:prstGeom>
          <a:solidFill>
            <a:srgbClr val="1B2A4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58368" y="7168896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玖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1517904" y="7187184"/>
            <a:ext cx="5367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保固與維護服務計畫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48640" y="7790688"/>
            <a:ext cx="6464808" cy="585216"/>
          </a:xfrm>
          <a:prstGeom prst="roundRect">
            <a:avLst>
              <a:gd name="adj" fmla="val 7813"/>
            </a:avLst>
          </a:prstGeom>
          <a:solidFill>
            <a:srgbClr val="F4F6FA"/>
          </a:solidFill>
          <a:ln/>
        </p:spPr>
      </p:sp>
      <p:sp>
        <p:nvSpPr>
          <p:cNvPr id="44" name="Shape 42"/>
          <p:cNvSpPr/>
          <p:nvPr/>
        </p:nvSpPr>
        <p:spPr>
          <a:xfrm>
            <a:off x="658368" y="7891272"/>
            <a:ext cx="713232" cy="384048"/>
          </a:xfrm>
          <a:prstGeom prst="roundRect">
            <a:avLst>
              <a:gd name="adj" fmla="val 9524"/>
            </a:avLst>
          </a:prstGeom>
          <a:solidFill>
            <a:srgbClr val="1B2A4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58368" y="788212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拾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1517904" y="7900416"/>
            <a:ext cx="5367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經費分配規劃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548640" y="8503920"/>
            <a:ext cx="6464808" cy="585216"/>
          </a:xfrm>
          <a:prstGeom prst="roundRect">
            <a:avLst>
              <a:gd name="adj" fmla="val 7813"/>
            </a:avLst>
          </a:prstGeom>
          <a:solidFill>
            <a:srgbClr val="F4F6FA"/>
          </a:solidFill>
          <a:ln/>
        </p:spPr>
      </p:sp>
      <p:sp>
        <p:nvSpPr>
          <p:cNvPr id="48" name="Shape 46"/>
          <p:cNvSpPr/>
          <p:nvPr/>
        </p:nvSpPr>
        <p:spPr>
          <a:xfrm>
            <a:off x="658368" y="8604504"/>
            <a:ext cx="713232" cy="384048"/>
          </a:xfrm>
          <a:prstGeom prst="roundRect">
            <a:avLst>
              <a:gd name="adj" fmla="val 9524"/>
            </a:avLst>
          </a:prstGeom>
          <a:solidFill>
            <a:srgbClr val="1B2A4A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58368" y="8595360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拾壹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1517904" y="8613648"/>
            <a:ext cx="5367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預期效益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548640" y="9217152"/>
            <a:ext cx="6464808" cy="585216"/>
          </a:xfrm>
          <a:prstGeom prst="roundRect">
            <a:avLst>
              <a:gd name="adj" fmla="val 7813"/>
            </a:avLst>
          </a:prstGeom>
          <a:solidFill>
            <a:srgbClr val="F4F6FA"/>
          </a:solidFill>
          <a:ln/>
        </p:spPr>
      </p:sp>
      <p:sp>
        <p:nvSpPr>
          <p:cNvPr id="52" name="Shape 50"/>
          <p:cNvSpPr/>
          <p:nvPr/>
        </p:nvSpPr>
        <p:spPr>
          <a:xfrm>
            <a:off x="658368" y="9317736"/>
            <a:ext cx="713232" cy="384048"/>
          </a:xfrm>
          <a:prstGeom prst="roundRect">
            <a:avLst>
              <a:gd name="adj" fmla="val 9524"/>
            </a:avLst>
          </a:prstGeom>
          <a:solidFill>
            <a:srgbClr val="1B2A4A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58368" y="9308592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附件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1517904" y="9326880"/>
            <a:ext cx="5367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佐證資料清單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C9A2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壹、專案背景與目標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2926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新北市議會案 服務建議書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6464808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415284" y="103052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04672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壹、專案背景與目標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6464808" cy="576072"/>
          </a:xfrm>
          <a:prstGeom prst="roundRect">
            <a:avLst>
              <a:gd name="adj" fmla="val 7937"/>
            </a:avLst>
          </a:prstGeom>
          <a:solidFill>
            <a:srgbClr val="FDF6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61904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8A70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✎ 撰寫建議(繳交前請刪除)|</a:t>
            </a:r>
            <a:r>
              <a:rPr lang="en-US" sz="95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用自己的話重述需求書緣起,連結公民教育與議會形象,切忌照抄。目標請量化,與交付項目一一對應。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148840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一、案件背景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514600"/>
            <a:ext cx="6464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北市議會為新北市最高民意機關,會史館係市民、學校團體及國內外訪賓認識議會沿革與代議制度之重要窗口;簡報室則為放映議會簡介影片、辦理專題演講與課程之主要場域。隨第5屆議會就任,會史館展示內容需更新至本屆現況,簡報室既有投影設備(投影機2台、電腦1台、DVD播放機2台、擴音系統1套)已屆汰換週期。本會爰以總價新臺幣270萬元,徵求整合「會史館內容增修、簡報室設備更新、第5屆簡介影片製作、簡介手冊印製」之綜合性企劃(對應需求書壹、二及貳)。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666744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二、本案辦理目標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4032504"/>
            <a:ext cx="6355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系統性介紹地方自治精神與代議制度運作,使民眾了解議員如何監督市政、為民服務。</a:t>
            </a:r>
            <a:endParaRPr lang="en-US" sz="1050" dirty="0"/>
          </a:p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以第5屆議會為主軸,全面更新會史館六大展區展板、影音導覽與 AR 互動內容。</a:t>
            </a:r>
            <a:endParaRPr lang="en-US" sz="1050" dirty="0"/>
          </a:p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LED 全彩大屏取代傳統投影,升級簡報室為現代化多功能簡報空間。</a:t>
            </a:r>
            <a:endParaRPr lang="en-US" sz="1050" dirty="0"/>
          </a:p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產製中、英、日、台、韓五語簡介影片與雙語手冊,服務國內外訪賓與國際交流。</a:t>
            </a:r>
            <a:endParaRPr lang="en-US" sz="1050" dirty="0"/>
          </a:p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完整紀錄第5屆議員就職典禮,為議會留存珍貴史料。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04688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三、預期成果(對應需求書伍「得標廠商交付項目」)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870448"/>
          <a:ext cx="6464808" cy="141732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4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項次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預期成果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數量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會史館六大展區軟硬體展示內容更新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式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符合需求書規範之 LED 全彩螢幕及播放系統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式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五語合一版簡介影片 USB(含外包裝)及藍光片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300 個/1 式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簡介手冊:中英文版、中日文版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各 300 本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素材電子檔、軟體授權、保固證明、操作手冊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各 1 式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C9A2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貳、公司簡介與實績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2926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新北市議會案 服務建議書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6464808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415284" y="103052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04672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貳、公司簡介與實績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6464808" cy="576072"/>
          </a:xfrm>
          <a:prstGeom prst="roundRect">
            <a:avLst>
              <a:gd name="adj" fmla="val 7937"/>
            </a:avLst>
          </a:prstGeom>
          <a:solidFill>
            <a:srgbClr val="FDF6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61904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8A70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✎ 撰寫建議(繳交前請刪除)|</a:t>
            </a:r>
            <a:r>
              <a:rPr lang="en-US" sz="95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實績優先挑「政府機關+展場工程/視聽設備/影視製作」相近者,每筆附驗收證明於附件二;若與協力廠商分工,須明確由貴公司統籌負全責。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148840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一、公司概況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6464808" cy="14173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8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公司名稱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○○○○股份有限公司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統一編號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○○○○○○○○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設立/資本額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民國○○年○月|新臺幣○○○○萬元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公司地址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○○市○○區○○路○號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核心業務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展示空間規劃設計、視聽多媒體系統整合、影片企劃製作、平面設計印刷(依實際調整)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主要證照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○○(如室內裝修業登記證、電器承裝業執照等,視實際施作項目檢附)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548640" y="4482920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二、組織與專業能力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848680"/>
            <a:ext cx="6464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公司設策展設計部、系統工程部、影像製作部及行政管理部,具備自需求訪談、內容策劃、視覺設計、硬體建置、影片攝製至維護保固之一貫化服務能量;近○年執行政府機關專案○○件,履約紀錄良好,無重大違約情事。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616776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三、類似專案實績(近五年)</a:t>
            </a:r>
            <a:endParaRPr lang="en-US" sz="1300" dirty="0"/>
          </a:p>
        </p:txBody>
      </p:sp>
      <p:graphicFrame>
        <p:nvGraphicFramePr>
          <p:cNvPr id="14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982536"/>
          <a:ext cx="6464808" cy="11430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年度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委託機關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案名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金額(萬)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履約情形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○○○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○○市議會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○○館展示更新暨多媒體建置案(示例)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○○○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驗收合格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○○○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○○市政府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○○中心 LED 顯示系統建置案(示例)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○○○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驗收合格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○○○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○○機關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○○簡介影片多語製作案(示例)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○○○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驗收合格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○○○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○○機關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○○週年專刊設計印製案(示例)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○○○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驗收合格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 11"/>
          <p:cNvSpPr txBox="1"/>
          <p:nvPr/>
        </p:nvSpPr>
        <p:spPr>
          <a:xfrm>
            <a:off x="548640" y="7638485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四、獲獎與認證紀錄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8004245"/>
            <a:ext cx="64648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○○(如:金點設計獎、ISO 9001 認證、影展入圍紀錄等;無則本節可併入前節或刪除)。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C9A2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參、專案理解與整體規劃理念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2926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新北市議會案 服務建議書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6464808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415284" y="103052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04672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參、專案理解與整體規劃理念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6464808" cy="576072"/>
          </a:xfrm>
          <a:prstGeom prst="roundRect">
            <a:avLst>
              <a:gd name="adj" fmla="val 7937"/>
            </a:avLst>
          </a:prstGeom>
          <a:solidFill>
            <a:srgbClr val="FDF6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61904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8A70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✎ 撰寫建議(繳交前請刪除)|</a:t>
            </a:r>
            <a:r>
              <a:rPr lang="en-US" sz="95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委員判斷你「懂不懂這案子」的關鍵章。建議提出貫穿四項工作的策展主軸(示例:民主的日常),讓展板、影片、手冊視覺語言一致——呼應「綜合性企劃」精神,是最容易被忽略的拿分點。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148840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一、需求重點解析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6464808" cy="8534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3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整合性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四項工作共用同一批素材與設計語言,應由同一策展設計團隊統籌,避免風格割裂。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規格符合性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LED 四項規格為最低門檻;設備須 2022 年後出廠、附原廠型錄逐項標明,不得使用中國大陸廠牌資通訊產品。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時效性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全案 120 個日曆天,含五階段送審與教育訓練;就職典禮為一次性事件,不容失誤。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548640" y="3818652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二、策展主軸與規劃理念(示例,請依貴公司創意調整)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184412"/>
            <a:ext cx="64648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本公司以「民主的日常——看得見的議會」為全案策展主軸:議會不是遙遠的殿堂,而是與市民生活息息相關的日常。三項子概念貫穿各工作項目: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658368" y="4687332"/>
            <a:ext cx="6355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看見歷史:會史館以時間軸重整歷屆議會脈絡,凸顯地方自治精神之傳承。</a:t>
            </a:r>
            <a:endParaRPr lang="en-US" sz="1050" dirty="0"/>
          </a:p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看見運作:簡介影片以「一件市民陳情案的旅程」為敘事線(示例),具象呈現議員如何質詢、審議、監督市政。</a:t>
            </a:r>
            <a:endParaRPr lang="en-US" sz="1050" dirty="0"/>
          </a:p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看見未來:本屆議會區與國際交流區呈現第5屆議會之組成、願景與城市外交成果。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766324"/>
            <a:ext cx="6464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8A70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【設計示意圖預留位置:主視覺與色彩計畫,建議置入 1 頁】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150372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三、整合執行策略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58368" y="6516132"/>
            <a:ext cx="63550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單一專案經理統籌,下設策展設計、硬體工程、影像製作、手冊編印四個工作組,每週內部進度會議。</a:t>
            </a:r>
            <a:endParaRPr lang="en-US" sz="1050" dirty="0"/>
          </a:p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素材一次採集、多重運用:攝影與文史素材同時供展板、影片、手冊使用,降低重工並確保一致性。</a:t>
            </a:r>
            <a:endParaRPr lang="en-US" sz="1050" dirty="0"/>
          </a:p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送審前置:各階段文件送審前完成內部三級檢核,縮短往返修正時間。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C9A2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肆、專案執行計畫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2926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新北市議會案 服務建議書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6464808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415284" y="103052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04672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肆、專案執行計畫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6464808" cy="745236"/>
          </a:xfrm>
          <a:prstGeom prst="roundRect">
            <a:avLst>
              <a:gd name="adj" fmla="val 6135"/>
            </a:avLst>
          </a:prstGeom>
          <a:solidFill>
            <a:srgbClr val="FDF6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6190488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8A70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✎ 撰寫建議(繳交前請刪除)|</a:t>
            </a:r>
            <a:r>
              <a:rPr lang="en-US" sz="95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全書最重要、篇幅最長的一章(建議佔 40% 以上)。各小節均對應需求書參之條文;請填入實際品牌型號與細部作法,並盡量加入示意圖、配置圖、分鏡表——視覺化內容是評選簡報最有力的素材。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318004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一、會史館展示內容更新規劃(對應需求書參、一)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720340"/>
            <a:ext cx="6464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4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(一)展板視覺設計及內容更新——六大展區逐區規劃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22092"/>
          <a:ext cx="6464808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10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展區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更新規劃(示例)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主題形象區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以主視覺重塑入口意象,設置策展主軸牆與議會大事紀年表。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歷屆議會區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梳理第1至4屆議會沿革,以時間軸展板呈現重要決議與里程碑。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議會首長區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更新歷任正副議長介紹,新增第5屆正副議長專區。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議會資訊區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更新議事流程、組織架構、預算審議等公民教育圖解內容。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本屆議會區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全面改版:第5屆議員介紹、選區分布圖、委員會組成。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國際交流區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更新姊妹市/友好城市交流成果,呈現城市外交紀錄。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548640" y="4993656"/>
            <a:ext cx="64648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展板採○○材質(示例:5mm 鋁塑板 UV 直噴或可更換式卡布燈箱),兼顧質感與日後議員更迭時之抽換維護便利;既有燈箱、影像裝置及紀念品陳列一併檢視整理。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533152"/>
            <a:ext cx="6464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4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(二)影音及導覽系統內容更新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834904"/>
            <a:ext cx="64648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各展區影音播放內容配合新展示主題全面更新;導覽系統更新各區導覽腳本與多語介面(與簡介影片五語素材共用),並汰換老舊播放主機○台(視現場勘查調整)。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374400"/>
            <a:ext cx="6464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4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(三)AR 擴增實境軟體優化及更新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676152"/>
            <a:ext cx="6464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三面向優化:內容更新(第5屆素材)、效能優化(縮短辨識與載入時間)、體驗優化(介面重整,新增○○互動情境,示例:與虛擬議事槌合影、議事流程小遊戲)。更新後軟體及素材均可於 Microsoft Windows 環境檢視,並移交原始檔與授權文件。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7407672"/>
            <a:ext cx="6464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4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(四)施工保護與拆除措施(對應需求書參、五(一))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7709424"/>
            <a:ext cx="64648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涉及拆除工程時,施作前鋪設保護材、劃設工區動線,貴重展品先行造冊移置;施工避開開放參觀時段,並投保營造綜合保險○○萬元(示例)。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C9A2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肆、專案執行計畫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2926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新北市議會案 服務建議書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6464808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415284" y="103052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77824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二、簡報室設備更新規劃(對應需求書參、二)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80160"/>
            <a:ext cx="6464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4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(一)LED 全彩螢幕規格回應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81912"/>
          <a:ext cx="6464808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需求書規格(最低門檻)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本公司擬供規格(請填入)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螢幕尺寸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不得小於 460 × 258 cm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○○ × ○○ cm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點距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等於或小於 P1.86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P○○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解析度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不低於 2,608 × 1,462(3,812,896 像素)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○○ × ○○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亮度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不得小於 800 cd/m²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○○ cd/m²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出廠年份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2022 年以後出廠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20○○ 年(附原廠出廠證明)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品牌/產地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不得使用中國大陸廠牌資通訊產品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○○牌(產地:○○)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6"/>
          <p:cNvSpPr txBox="1"/>
          <p:nvPr/>
        </p:nvSpPr>
        <p:spPr>
          <a:xfrm>
            <a:off x="548640" y="3745205"/>
            <a:ext cx="64648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擬供品牌型號:○○牌 ○○型(原廠型錄詳附件四,依需求書規定逐項標明)。含 LED 控制系統、視訊處理器、訊號整合介面,與既有擴音系統及新影片播放系統整合測試。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284701"/>
            <a:ext cx="6464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4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(二)邊框修飾及講桌更換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586453"/>
            <a:ext cx="6464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LED 螢幕安裝後以○○材質(示例:金屬烤漆收邊板)進行邊框修飾,與簡報室整體色調一致;講桌更換為具訊號整合面板之多媒體講桌(示例規格:內建控制面板、HDMI/USB-C 輸入、鵝頸麥克風座)。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281397"/>
            <a:ext cx="6464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8A70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【平面配置示意圖預留位置:簡報室設備配置前後對照,建議置入 1 頁】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665445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三、第5屆簡介影片製作規劃(對應需求書參、三)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067781"/>
            <a:ext cx="6464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4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(一)影片定位與腳本方向——長度 10 至 12 分鐘,三段式結構(示例)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58368" y="6369533"/>
            <a:ext cx="6355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開場(約2分鐘):新北意象與議會定位——最高民意機關的角色。</a:t>
            </a:r>
            <a:endParaRPr lang="en-US" sz="1050" dirty="0"/>
          </a:p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主體(約7分鐘):循「一件市民陳情案的旅程」敘事線,帶出議事運作、委員會審查、質詢監督、預算審議與為民服務場景,穿插議員與市民訪談。</a:t>
            </a:r>
            <a:endParaRPr lang="en-US" sz="1050" dirty="0"/>
          </a:p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結尾(約2分鐘):第5屆議會願景與國際交流,回扣「民主的日常」主軸。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7485101"/>
            <a:ext cx="6464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4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(二)拍攝與後製規格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7786853"/>
            <a:ext cx="6464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全程以 2K 以上等級攝影機拍攝(擬用機型:○○,示例:4K 電影級攝影機),並以相同規格剪輯輸出,製作適合本會簡報室 LED 大屏播映之影片系統;空拍、燈光、收音及配樂授權均由本公司統籌辦理。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C9A2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肆、專案執行計畫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2926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新北市議會案 服務建議書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6464808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415284" y="103052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41248"/>
            <a:ext cx="6464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4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(三)五語版本製作流程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43000"/>
            <a:ext cx="6464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中、英、日、台、韓五語版本依「翻譯→母語人士審校→專業配音→字幕製作→內部檢核→送本會確認」流程產製;台語版另聘台語顧問審訂用語。各語版本畫面統一、語音字幕分軌,便於日後更新維護。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874520"/>
            <a:ext cx="6464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4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(四)第5屆議員就職典禮全程紀錄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176272"/>
            <a:ext cx="6464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就職典禮為一次性事件,規劃(示例):4K 攝影機○機作業(全景、特寫、遊走、備援各1)、平面攝影師2名、大合照架設專業燈光與階梯站架;設備雙備援、記憶卡雙卡同錄,典禮前一日完成場勘與彩排測試,確保萬無一失。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907792"/>
            <a:ext cx="6464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4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(五)交付載體:USB 及藍光片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209544"/>
            <a:ext cx="6464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交付五語合一版簡介影片 USB 300 個:規格不低於 USB 3.0、16G(擬供:○○牌),外體包裝依主視覺設計(示例:燙金書型盒裝,兼具致贈外賓質感);另交付藍光片 1 式。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941064"/>
            <a:ext cx="6464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4A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(六)放映設備整合更新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242816"/>
            <a:ext cx="64648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影片放映設備配合 LED 螢幕整合更新,建置一鍵播放系統(示例:中控面板選擇語言版本即可播放),並與擴音系統整合測試。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818888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四、簡介手冊設計印製規劃(對應需求書參、四)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184648"/>
            <a:ext cx="646480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中英文版 300 本、中日文版 300 本,共 600 本;雙語左右對照排版,版面延續全案主視覺。內容架構(示例):議長序言、議會沿革、組織與職權、議事運作圖解、第5屆議員介紹、委員會簡介、會史館與洽公資訊;經本會確認後付印,可編輯原始檔一併交付,便於日後適時修改。</a:t>
            </a:r>
            <a:endParaRPr lang="en-US" sz="10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6071616"/>
          <a:ext cx="6464808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8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開本/頁數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A4 變形(21×28cm)或 25 開;內頁 32~48 頁(示例)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紙張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封面 250 磅雪銅上霧P、內頁 150 磅雪銅(示例)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裝訂/印刷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膠裝(或騎馬釘);全彩印刷,封面局部上光(示例)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548640" y="7095449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五、交付項目一覽(對應需求書伍)</a:t>
            </a:r>
            <a:endParaRPr lang="en-US" sz="13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7461209"/>
          <a:ext cx="6464808" cy="914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分類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驗收交付項目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數量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軟硬體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會史館軟硬體展示內容更新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式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軟硬體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符合需求書規範之 LED 螢幕及播放系統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式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軟硬體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五語合一版 USB(含包裝)及藍光片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300 個/1 式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軟硬體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簡介手冊中英文版、中日文版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各 300 本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軟硬體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本案所使用素材電子檔資料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式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文件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軟體授權、保固證明、設備操作手冊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各 1 式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C9A2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伍、專案組織與人力配置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2926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新北市議會案 服務建議書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6464808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415284" y="103052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04672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伍、專案組織與人力配置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6464808" cy="576072"/>
          </a:xfrm>
          <a:prstGeom prst="roundRect">
            <a:avLst>
              <a:gd name="adj" fmla="val 7937"/>
            </a:avLst>
          </a:prstGeom>
          <a:solidFill>
            <a:srgbClr val="FDF6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61904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8A70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✎ 撰寫建議(繳交前請刪除)|</a:t>
            </a:r>
            <a:r>
              <a:rPr lang="en-US" sz="95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需求書肆、一明定投標時應詳列成員專業背景(含類似專案績效)、技術專長及負責項目——形式審查重點,每位成員欄位務必填齊,學經歷證明放附件三。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148840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一、專案組織架構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514600"/>
            <a:ext cx="6464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經理一人統籌,直接對本會單一窗口負責,下設四個工作組:策展設計組(展板、手冊、主視覺)、系統工程組(LED、影音導覽、AR)、影像製作組(簡介影片、就職典禮紀錄)、品管行政組(送審文件、品質檢核、進度管控)。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209544"/>
            <a:ext cx="6464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8A70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【組織架構圖預留位置:建議以圖呈現,置入半頁】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593592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二、主要成員與分工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59352"/>
          <a:ext cx="6464808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1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職稱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姓名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專業背景與類似專案績效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負責工作項目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專案經理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○○○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○○大學○○系;曾任○○案專案經理,如期如質驗收(示例)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全案統籌、對本會聯絡協調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策展設計總監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○○○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○年展示設計經驗;曾執行○○館更新案(示例)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展板、主視覺、手冊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系統工程師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○○○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○○證照;曾建置○○ LED 系統(示例)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LED、影音導覽、AR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影片導演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○○○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執導○○機關簡介影片(示例)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影片企劃、腳本、拍攝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後製剪輯師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○○○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○○(示例)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剪輯、調光、五語字幕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多語製作統籌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○○○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○○(示例)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翻譯、審校、配音品管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品管專員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○○○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○○(示例)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送審文件、三級品檢、月報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548640" y="6663026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三、專案聯絡與協調機制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7028786"/>
            <a:ext cx="64648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得標後三日內以書面指定專案經理○○○為本案唯一聯絡窗口(手機/電子郵件 24 小時暢通),負責聯絡、協調及會議召集;如有異動,事前徵得本會同意並辦理交接。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C9A2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陸、時程規劃與進度管理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2926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新北市議會案 服務建議書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6464808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415284" y="103052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04672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陸、時程規劃與進度管理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6464808" cy="745236"/>
          </a:xfrm>
          <a:prstGeom prst="roundRect">
            <a:avLst>
              <a:gd name="adj" fmla="val 6135"/>
            </a:avLst>
          </a:prstGeom>
          <a:solidFill>
            <a:srgbClr val="FDF6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6190488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8A70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✎ 撰寫建議(繳交前請刪除)|</a:t>
            </a:r>
            <a:r>
              <a:rPr lang="en-US" sz="95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120 個「日曆天」含例假日,實際工作天約 85 天。委員特別看:LED 到貨期(進口設備常需 45~60 天,是關鍵路徑)、五階段送審往返時間、就職典禮是否獨立標示。甘特圖務必與需求書五階段對應。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318004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一、五階段作業時程(對應需求書壹、五「專案流程」)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83764"/>
          <a:ext cx="6464808" cy="9144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27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階段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作業項目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提供文件供本會確認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時程(示例)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提出本案之企劃書及工作進度表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專案企劃書、工作進度表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1~15 天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二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規劃製作各項作業腳本及系統架構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各項作業規劃文件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16~45 天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確認各項作業模型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採用素材及細部作業說明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40~60 天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四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檢討調整修正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實際建置內容之檢視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61~105 天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五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相關人員教育訓練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訓練教材及操作手冊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106~120 天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548640" y="4998671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二、整體進度甘特圖(示例)</a:t>
            </a:r>
            <a:endParaRPr lang="en-US" sz="13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364431"/>
          <a:ext cx="6464808" cy="914400"/>
        </p:xfrm>
        <a:graphic>
          <a:graphicData uri="http://schemas.openxmlformats.org/drawingml/2006/table">
            <a:tbl>
              <a:tblPr/>
              <a:tblGrid>
                <a:gridCol w="2350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工作項目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D1-20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D21-40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D41-60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D61-80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D81-100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D101-120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企劃書及工作進度表送審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腳本、視覺設計與系統架構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LED 設備採購與到貨安裝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展板/影片/手冊建置製作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五語版本翻譯配音字幕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檢討調整修正與整合測試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教育訓練與驗收</a:t>
                      </a:r>
                      <a:endParaRPr lang="en-US" sz="8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200" dirty="0"/>
                    </a:p>
                  </a:txBody>
                  <a:tcPr marL="45720" marR="45720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548640" y="7778447"/>
            <a:ext cx="64648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註:第5屆議員就職典禮全程紀錄依實際典禮日期辦理,不受上表階段限制;金色區塊為該項工作之執行期間。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C9A2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陸、時程規劃與進度管理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2926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新北市議會案 服務建議書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6464808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415284" y="103052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77824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三、關鍵路徑與風險管理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43584"/>
          <a:ext cx="6464808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5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風險項目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影響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因應對策(示例)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LED 設備交期延誤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壓縮安裝測試時間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決標後 5 日內下單;要求原廠交期保證;備妥同規格替代機型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就職典禮不可重來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紀錄缺漏無法補救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雙機雙卡備援、前一日彩排、備用設備與人力待命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送審往返時間過長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後續階段連動延誤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送審前三級自檢;主動預約審查會議;平行作業降低等待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五語品質爭議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重錄重製增加成本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母語審校先行確認文稿,配音前送本會核可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3165004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四、進度管理機制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530764"/>
            <a:ext cx="64648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每月 5 日前提送上月工作進度書面報告(含前置工作);每週內部進度會議、每階段送審前完成內部檢核;如遇進度落後,三日內提出趕工計畫。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C9A2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柒、品質管理與監督查核配合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2926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新北市議會案 服務建議書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6464808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415284" y="103052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04672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柒、品質管理與監督查核配合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6464808" cy="576072"/>
          </a:xfrm>
          <a:prstGeom prst="roundRect">
            <a:avLst>
              <a:gd name="adj" fmla="val 7937"/>
            </a:avLst>
          </a:prstGeom>
          <a:solidFill>
            <a:srgbClr val="FDF6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61904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8A70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✎ 撰寫建議(繳交前請刪除)|</a:t>
            </a:r>
            <a:r>
              <a:rPr lang="en-US" sz="95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寫法是「把需求書肆、二的四項監督機制逐一承諾做到,並加碼自己的品管制度」。月報格式、會議紀錄、10 日改善時限都要點名回應,展現配合度。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148840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一、工作報告(對應需求書肆、二(一))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514600"/>
            <a:ext cx="64648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自得標日起,每月將工作進度(含前置工作)以書面通知本會;月報含:本期完成事項、下期預定工作、進度比較(預定 vs 實際)、待協調事項。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090672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二、協調會議(對應需求書肆、二(二))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456432"/>
            <a:ext cx="64648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配合本會視需要召開之專案工作會議;會議三日前將工作進度與討論事項送交本會,會後三日內提交會議紀錄,決議事項確實執行並於次月月報回報辦理情形。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032504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三、計畫送審(對應需求書肆、二(三))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398264"/>
            <a:ext cx="64648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依招標文件、契約書及相關計畫規定日期提出各項計畫,經本會查核通過後據以實施或使用;未經核可不逕行施作。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974336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四、缺失改善(對應需求書肆、二(四))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340096"/>
            <a:ext cx="64648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對本會各項監督查核積極配合、提供所需資料並給予必要協助;經通知之缺失,於接獲通知 10 日內提出改善措施並據以執行,配合本會派員複查,直到確實改善為止。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916168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五、本公司品質保證措施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6281928"/>
            <a:ext cx="63550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三級檢核制:工作組自主檢查→專案經理複核→品管專員覆核,任一文件與成品送出前完成三級簽核。</a:t>
            </a:r>
            <a:endParaRPr lang="en-US" sz="1050" dirty="0"/>
          </a:p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素材正確性控管:議員姓名、選區、職銜等建立單一來源對照表,付印/上線前送本會最終確認。</a:t>
            </a:r>
            <a:endParaRPr lang="en-US" sz="1050" dirty="0"/>
          </a:p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設備進場檢驗:LED 模組到貨逐批抽驗(亮度、色差、壞點),安裝後 72 小時連續烙機測試。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C9A2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捌、教育訓練計畫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2926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新北市議會案 服務建議書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6464808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415284" y="103052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04672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捌、教育訓練計畫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6464808" cy="576072"/>
          </a:xfrm>
          <a:prstGeom prst="roundRect">
            <a:avLst>
              <a:gd name="adj" fmla="val 7937"/>
            </a:avLst>
          </a:prstGeom>
          <a:solidFill>
            <a:srgbClr val="FDF6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61904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8A70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✎ 撰寫建議(繳交前請刪除)|</a:t>
            </a:r>
            <a:r>
              <a:rPr lang="en-US" sz="95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需求書陸明定教材由廠商提供、地點與名單由機關提供。此章不用長,但要有課表與教材清單,對應專案流程第五階段。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148840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一、訓練規劃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514600"/>
            <a:ext cx="64648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於專案第五階段(驗收前)辦理;訓練地點及參訓人員名單由本會提供,本公司依參訓對象(管理/操作人員)分級設計課程,每場次提供簽到表與課後問卷。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090672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二、課程內容(示例)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56432"/>
          <a:ext cx="6464808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27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課程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時數(示例)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LED 螢幕與播放系統操作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開關機、訊源切換、影片播放、常見狀況排除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小時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會史館影音導覽與 AR 系統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內容管理、導覽設備操作、AR 後台維護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小時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素材與內容更新實務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展板電子檔、影片與手冊原始檔更新流程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小時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48640" y="4718894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三、教材與文件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084654"/>
            <a:ext cx="64648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提供訓練教材、各項軟硬體設備操作手冊(紙本及電子檔)各 1 式;訓練後 7 日內依學員回饋修訂教材定稿。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C9A2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玖、保固與維護服務計畫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2926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新北市議會案 服務建議書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6464808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415284" y="103052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04672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玖、保固與維護服務計畫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6464808" cy="576072"/>
          </a:xfrm>
          <a:prstGeom prst="roundRect">
            <a:avLst>
              <a:gd name="adj" fmla="val 7937"/>
            </a:avLst>
          </a:prstGeom>
          <a:solidFill>
            <a:srgbClr val="FDF6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61904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8A70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✎ 撰寫建議(繳交前請刪除)|</a:t>
            </a:r>
            <a:r>
              <a:rPr lang="en-US" sz="95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年保固是本案長尾成本,也是委員檢驗你是否「玩真的」之處。回應時效給可承諾的數字即可,不要開過頭;議員更迭配合更換內容務必單獨成節回應——需求書玖、一明定之特殊義務。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148840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一、保固範圍與期限(對應需求書玖)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514600"/>
            <a:ext cx="64648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自本會驗收完成之次日起 4 年,對本案交付之軟硬體提供保固服務,並依需求書規定提報相關資料,負保固維護之責任。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090672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二、專責服務窗口與回應時效(示例)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56432"/>
          <a:ext cx="6464808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8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專責人員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指派專責工程師○○○,負責系統維護、功能錯誤維修、操作諮詢及必要之系統技術諮詢服務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報修管道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服務專線/電子郵件/LINE 官方帳號(示例)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回應時效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受理後 4 小時內回應;一般障礙次一工作日內到場;重大障礙(LED 無法播映)24 小時內到場(示例)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預防保養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每半年定期保養 1 次,含 LED 模組校正、系統健檢與清潔(示例)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48640" y="5028610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三、議員更迭之內容更換配合(對應需求書玖、一)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394370"/>
            <a:ext cx="6464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保固期間本屆議員如有更迭,配合更換相關軟硬體內容:會史館展板抽換、影音導覽與 AR 素材更新、手冊電子檔修訂;展板採可抽換式設計即為此預作準備,更換作業於接獲通知後○○日內完成(示例:14 個日曆天)。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162466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四、替代方案機制(對應需求書玖、三)</a:t>
            </a:r>
            <a:endParaRPr lang="en-US" sz="1300" dirty="0"/>
          </a:p>
        </p:txBody>
      </p:sp>
      <p:sp>
        <p:nvSpPr>
          <p:cNvPr id="12" name="Text 13"/>
          <p:cNvSpPr txBox="1"/>
          <p:nvPr/>
        </p:nvSpPr>
        <p:spPr>
          <a:xfrm>
            <a:off x="548640" y="6528226"/>
            <a:ext cx="64648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所提供之軟硬體設備及應用系統無法正常運作、修正及補足時,即提供替代方案(如備品替換、備援播放系統),維持本案內容正常運作,不因單一設備故障中斷服務。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C9A2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拾、經費分配規劃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2926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新北市議會案 服務建議書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6464808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415284" y="103052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04672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拾、經費分配規劃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6464808" cy="745236"/>
          </a:xfrm>
          <a:prstGeom prst="roundRect">
            <a:avLst>
              <a:gd name="adj" fmla="val 6135"/>
            </a:avLst>
          </a:prstGeom>
          <a:solidFill>
            <a:srgbClr val="FDF6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6190488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8A70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✎ 撰寫建議(繳交前請刪除)|</a:t>
            </a:r>
            <a:r>
              <a:rPr lang="en-US" sz="95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明細數字為示例,請依實際成本調整,但務必:各區塊合計不得超過上限(150/120 萬)、比例合理(設備區塊 LED 通常占大宗)、與執行計畫章節項目一一對應。總價發包,報價含稅及一切費用。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318004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一、總經費架構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83764"/>
          <a:ext cx="6464808" cy="91440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經費區塊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金額(新臺幣)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占比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會史館及簡報室設備更新費用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1,500,000 元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55.6%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第5屆議會簡介影片、手冊製作費用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1,200,000 元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44.4%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總計(總價發包,含稅及一切費用)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2,700,000 元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100%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548640" y="4396052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二、經費分配明細(示例,請依實際成本調整)</a:t>
            </a:r>
            <a:endParaRPr lang="en-US" sz="13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761812"/>
          <a:ext cx="6464808" cy="9144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56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項次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工作項目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金額(萬元)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會史館及簡報室設備更新(上限 150 萬)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A1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LED 全彩螢幕(含控制系統、安裝與整合測試)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95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含邊框結構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A2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邊框修飾及多媒體講桌更換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A3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會史館六大展區展板視覺設計及製作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28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含施工保護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A4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影音及導覽系統內容更新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A5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AR 擴增實境軟體優化及更新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小計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150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簡介影片、手冊製作(上限 120 萬)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B1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簡介影片企劃、拍攝與後製(2K 以上)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52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含放映系統整合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B2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五語翻譯、審校、配音與字幕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16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B3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第5屆議員就職典禮全程錄影拍照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含大合照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B4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USB 300 個(含外包裝設計)及藍光片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16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USB 3.0/16G 以上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B5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簡介手冊設計及雙語印製 600 本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24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中英、中日各300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小計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120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總計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B2A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270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含稅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548640" y="9286027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三、經費分配原則說明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58368" y="9651787"/>
            <a:ext cx="6355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依需求書明定之兩大區塊上限框列,不相互流用,便於本會勾稽。</a:t>
            </a:r>
            <a:endParaRPr lang="en-US" sz="1050" dirty="0"/>
          </a:p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LED 顯示系統為設備區塊核心投資(約六成),確保規格達標並預留整合測試成本。</a:t>
            </a:r>
            <a:endParaRPr lang="en-US" sz="1050" dirty="0"/>
          </a:p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各項金額均含人力、材料、稅捐、保險、運輸、安裝及教育訓練等一切費用;4 年保固成本已分攤計入。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C9A2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拾壹、預期效益/附件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2926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新北市議會案 服務建議書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6464808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415284" y="103052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04672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拾壹、預期效益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6464808" cy="576072"/>
          </a:xfrm>
          <a:prstGeom prst="roundRect">
            <a:avLst>
              <a:gd name="adj" fmla="val 7937"/>
            </a:avLst>
          </a:prstGeom>
          <a:solidFill>
            <a:srgbClr val="FDF6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61904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8A70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✎ 撰寫建議(繳交前請刪除)|</a:t>
            </a:r>
            <a:r>
              <a:rPr lang="en-US" sz="95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收尾章,半頁即可。質化效益回扣「壹、目標」,量化效益給可檢核的數字,首尾呼應讓整本企劃書顯得完整。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148840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一、質化效益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514600"/>
            <a:ext cx="63550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深化公民教育:以更新後之會史館、五語影片與雙語手冊,系統性傳達地方自治精神與代議制度運作。</a:t>
            </a:r>
            <a:endParaRPr lang="en-US" sz="1050" dirty="0"/>
          </a:p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提升議會形象:現代化 LED 簡報空間與一致的視覺識別,提升國內外訪賓接待之專業形象。</a:t>
            </a:r>
            <a:endParaRPr lang="en-US" sz="1050" dirty="0"/>
          </a:p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留存議會史料:第5屆就職典禮完整影像紀錄與會史館內容更新,為議會傳承累積珍貴資產。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858768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二、量化效益(示例)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4224528"/>
            <a:ext cx="63550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會史館六大展區 100% 內容更新;簡報室亮度達 800 cd/m² 以上、解析度較既有投影大幅提升。</a:t>
            </a:r>
            <a:endParaRPr lang="en-US" sz="1050" dirty="0"/>
          </a:p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簡介影片觸及五種語言受眾;USB 300 份、手冊 600 本可支應約○年參訪致贈需求。</a:t>
            </a:r>
            <a:endParaRPr lang="en-US" sz="1050" dirty="0"/>
          </a:p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年保固期內設備妥善率目標 99% 以上(示例)。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632704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附件清單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48640" y="6199632"/>
            <a:ext cx="6464808" cy="576072"/>
          </a:xfrm>
          <a:prstGeom prst="roundRect">
            <a:avLst>
              <a:gd name="adj" fmla="val 7937"/>
            </a:avLst>
          </a:prstGeom>
          <a:solidFill>
            <a:srgbClr val="FDF6E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6291072"/>
            <a:ext cx="61904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8A70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✎ 撰寫建議(繳交前請刪除)|</a:t>
            </a:r>
            <a:r>
              <a:rPr lang="en-US" sz="95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附件是形式審查的生死線:原廠型錄「逐項標明」為需求書參、五(二)明文要求——請在型錄上框標尺寸、點距、解析度、亮度、出廠年份等對應位置。</a:t>
            </a:r>
            <a:endParaRPr lang="en-US" sz="9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6903720"/>
          <a:ext cx="6464808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4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附件編號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附件一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公司登記證明文件、納稅證明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附件二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類似專案實績證明(契約或驗收證明影本)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附件三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主要人員學經歷與證照證明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附件四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LED 螢幕等設備原廠型錄正本或影本(依需求書規定逐項標明規格)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附件五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設備規格說明書、原廠出廠年份證明、非中國大陸廠牌聲明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附件六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其他佐證資料(獲獎紀錄、ISO 認證、保險單影本等)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7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2569</Words>
  <Application>Microsoft Macintosh PowerPoint</Application>
  <PresentationFormat>自訂</PresentationFormat>
  <Paragraphs>574</Paragraphs>
  <Slides>16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0" baseType="lpstr">
      <vt:lpstr>微軟正黑體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Office User</cp:lastModifiedBy>
  <cp:revision>2</cp:revision>
  <dcterms:created xsi:type="dcterms:W3CDTF">2026-08-30T15:47:49Z</dcterms:created>
  <dcterms:modified xsi:type="dcterms:W3CDTF">2026-08-31T02:01:33Z</dcterms:modified>
</cp:coreProperties>
</file>