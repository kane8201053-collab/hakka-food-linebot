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19f788f26a44b2" /><Relationship Type="http://schemas.openxmlformats.org/officeDocument/2006/relationships/extended-properties" Target="/docProps/app.xml" Id="R17d25af727c94c4f" /><Relationship Type="http://schemas.openxmlformats.org/officeDocument/2006/relationships/officeDocument" Target="/ppt/presentation.xml" Id="Rf30602775e7f40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d39700372a4f3c"/>
  </p:sldMasterIdLst>
  <p:notesMasterIdLst>
    <p:notesMasterId xmlns:r="http://schemas.openxmlformats.org/officeDocument/2006/relationships" r:id="R5a803f41494a46cf"/>
  </p:notesMasterIdLst>
  <p:sldIdLst>
    <p:sldId xmlns:r="http://schemas.openxmlformats.org/officeDocument/2006/relationships" id="256" r:id="R072b47c6e6714fdb"/>
    <p:sldId xmlns:r="http://schemas.openxmlformats.org/officeDocument/2006/relationships" id="257" r:id="Rb1783ffe70b44bf1"/>
    <p:sldId xmlns:r="http://schemas.openxmlformats.org/officeDocument/2006/relationships" id="258" r:id="R131f3a1f4177415b"/>
    <p:sldId xmlns:r="http://schemas.openxmlformats.org/officeDocument/2006/relationships" id="259" r:id="Rd54d1f6116c94bdc"/>
    <p:sldId xmlns:r="http://schemas.openxmlformats.org/officeDocument/2006/relationships" id="260" r:id="R7b4739f409494afc"/>
    <p:sldId xmlns:r="http://schemas.openxmlformats.org/officeDocument/2006/relationships" id="261" r:id="R5f9273e6f6d3454e"/>
    <p:sldId xmlns:r="http://schemas.openxmlformats.org/officeDocument/2006/relationships" id="262" r:id="Rd98cb4ec6dca4f2f"/>
    <p:sldId xmlns:r="http://schemas.openxmlformats.org/officeDocument/2006/relationships" id="263" r:id="Rfca6f1cf4ba648ee"/>
    <p:sldId xmlns:r="http://schemas.openxmlformats.org/officeDocument/2006/relationships" id="264" r:id="R082291fb220d4c01"/>
    <p:sldId xmlns:r="http://schemas.openxmlformats.org/officeDocument/2006/relationships" id="265" r:id="Rab1ca343c23d4841"/>
    <p:sldId xmlns:r="http://schemas.openxmlformats.org/officeDocument/2006/relationships" id="266" r:id="Rb8f416fc3e744c00"/>
    <p:sldId xmlns:r="http://schemas.openxmlformats.org/officeDocument/2006/relationships" id="267" r:id="Rfa50e21cd00444e3"/>
    <p:sldId xmlns:r="http://schemas.openxmlformats.org/officeDocument/2006/relationships" id="268" r:id="R57cd14b174c449cb"/>
    <p:sldId xmlns:r="http://schemas.openxmlformats.org/officeDocument/2006/relationships" id="269" r:id="R4839c681591b48a4"/>
    <p:sldId xmlns:r="http://schemas.openxmlformats.org/officeDocument/2006/relationships" id="270" r:id="R151e7f4944b74701"/>
    <p:sldId xmlns:r="http://schemas.openxmlformats.org/officeDocument/2006/relationships" id="271" r:id="Rb6c123f6429d43f7"/>
    <p:sldId xmlns:r="http://schemas.openxmlformats.org/officeDocument/2006/relationships" id="272" r:id="R258397d3429e4557"/>
    <p:sldId xmlns:r="http://schemas.openxmlformats.org/officeDocument/2006/relationships" id="273" r:id="Ra59a0cc4bfac4480"/>
    <p:sldId xmlns:r="http://schemas.openxmlformats.org/officeDocument/2006/relationships" id="274" r:id="R946abe1048c34dba"/>
    <p:sldId xmlns:r="http://schemas.openxmlformats.org/officeDocument/2006/relationships" id="275" r:id="Ra1e288c7f66649b3"/>
    <p:sldId xmlns:r="http://schemas.openxmlformats.org/officeDocument/2006/relationships" id="276" r:id="R6c1c93c7775a4870"/>
    <p:sldId xmlns:r="http://schemas.openxmlformats.org/officeDocument/2006/relationships" id="277" r:id="R59e0e3794dd54f71"/>
    <p:sldId xmlns:r="http://schemas.openxmlformats.org/officeDocument/2006/relationships" id="278" r:id="R4ad3f845405d44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1351fecfd34e2f" /><Relationship Type="http://schemas.openxmlformats.org/officeDocument/2006/relationships/slideMaster" Target="/ppt/slideMasters/slideMaster1.xml" Id="R6bd39700372a4f3c" /><Relationship Type="http://schemas.openxmlformats.org/officeDocument/2006/relationships/notesMaster" Target="/ppt/notesMasters/notesMaster1.xml" Id="R5a803f41494a46cf" /><Relationship Type="http://schemas.openxmlformats.org/officeDocument/2006/relationships/presProps" Target="/ppt/presProps.xml" Id="R6c91a6e615614815" /><Relationship Type="http://schemas.openxmlformats.org/officeDocument/2006/relationships/tableStyles" Target="/ppt/tableStyles.xml" Id="R73bd9d81922d4a8e" /><Relationship Type="http://schemas.openxmlformats.org/officeDocument/2006/relationships/slide" Target="/ppt/slides/slide1.xml" Id="R072b47c6e6714fdb" /><Relationship Type="http://schemas.openxmlformats.org/officeDocument/2006/relationships/slide" Target="/ppt/slides/slide2.xml" Id="Rb1783ffe70b44bf1" /><Relationship Type="http://schemas.openxmlformats.org/officeDocument/2006/relationships/slide" Target="/ppt/slides/slide3.xml" Id="R131f3a1f4177415b" /><Relationship Type="http://schemas.openxmlformats.org/officeDocument/2006/relationships/slide" Target="/ppt/slides/slide4.xml" Id="Rd54d1f6116c94bdc" /><Relationship Type="http://schemas.openxmlformats.org/officeDocument/2006/relationships/slide" Target="/ppt/slides/slide5.xml" Id="R7b4739f409494afc" /><Relationship Type="http://schemas.openxmlformats.org/officeDocument/2006/relationships/slide" Target="/ppt/slides/slide6.xml" Id="R5f9273e6f6d3454e" /><Relationship Type="http://schemas.openxmlformats.org/officeDocument/2006/relationships/slide" Target="/ppt/slides/slide7.xml" Id="Rd98cb4ec6dca4f2f" /><Relationship Type="http://schemas.openxmlformats.org/officeDocument/2006/relationships/slide" Target="/ppt/slides/slide8.xml" Id="Rfca6f1cf4ba648ee" /><Relationship Type="http://schemas.openxmlformats.org/officeDocument/2006/relationships/slide" Target="/ppt/slides/slide9.xml" Id="R082291fb220d4c01" /><Relationship Type="http://schemas.openxmlformats.org/officeDocument/2006/relationships/slide" Target="/ppt/slides/slide10.xml" Id="Rab1ca343c23d4841" /><Relationship Type="http://schemas.openxmlformats.org/officeDocument/2006/relationships/slide" Target="/ppt/slides/slide11.xml" Id="Rb8f416fc3e744c00" /><Relationship Type="http://schemas.openxmlformats.org/officeDocument/2006/relationships/slide" Target="/ppt/slides/slide12.xml" Id="Rfa50e21cd00444e3" /><Relationship Type="http://schemas.openxmlformats.org/officeDocument/2006/relationships/slide" Target="/ppt/slides/slide13.xml" Id="R57cd14b174c449cb" /><Relationship Type="http://schemas.openxmlformats.org/officeDocument/2006/relationships/slide" Target="/ppt/slides/slide14.xml" Id="R4839c681591b48a4" /><Relationship Type="http://schemas.openxmlformats.org/officeDocument/2006/relationships/slide" Target="/ppt/slides/slide15.xml" Id="R151e7f4944b74701" /><Relationship Type="http://schemas.openxmlformats.org/officeDocument/2006/relationships/slide" Target="/ppt/slides/slide16.xml" Id="Rb6c123f6429d43f7" /><Relationship Type="http://schemas.openxmlformats.org/officeDocument/2006/relationships/slide" Target="/ppt/slides/slide17.xml" Id="R258397d3429e4557" /><Relationship Type="http://schemas.openxmlformats.org/officeDocument/2006/relationships/slide" Target="/ppt/slides/slide18.xml" Id="Ra59a0cc4bfac4480" /><Relationship Type="http://schemas.openxmlformats.org/officeDocument/2006/relationships/slide" Target="/ppt/slides/slide19.xml" Id="R946abe1048c34dba" /><Relationship Type="http://schemas.openxmlformats.org/officeDocument/2006/relationships/slide" Target="/ppt/slides/slide20.xml" Id="Ra1e288c7f66649b3" /><Relationship Type="http://schemas.openxmlformats.org/officeDocument/2006/relationships/slide" Target="/ppt/slides/slide21.xml" Id="R6c1c93c7775a4870" /><Relationship Type="http://schemas.openxmlformats.org/officeDocument/2006/relationships/slide" Target="/ppt/slides/slide22.xml" Id="R59e0e3794dd54f71" /><Relationship Type="http://schemas.openxmlformats.org/officeDocument/2006/relationships/slide" Target="/ppt/slides/slide23.xml" Id="R4ad3f845405d44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a812849ffe4a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71a8e8c9164b93" /><Relationship Type="http://schemas.openxmlformats.org/officeDocument/2006/relationships/notesMaster" Target="/ppt/notesMasters/notesMaster1.xml" Id="R08482bdb7fb54a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cede4bb3a54869" /><Relationship Type="http://schemas.openxmlformats.org/officeDocument/2006/relationships/notesMaster" Target="/ppt/notesMasters/notesMaster1.xml" Id="R869b3adba2f04d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48a9e93fe44ae1" /><Relationship Type="http://schemas.openxmlformats.org/officeDocument/2006/relationships/notesMaster" Target="/ppt/notesMasters/notesMaster1.xml" Id="Rfe1b3c072d5546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d07411a8144070" /><Relationship Type="http://schemas.openxmlformats.org/officeDocument/2006/relationships/notesMaster" Target="/ppt/notesMasters/notesMaster1.xml" Id="Ra3b743c8a55b4c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fb0da2978e4cdd" /><Relationship Type="http://schemas.openxmlformats.org/officeDocument/2006/relationships/notesMaster" Target="/ppt/notesMasters/notesMaster1.xml" Id="R24e8a7cdd15f4e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a44937c6f342e2" /><Relationship Type="http://schemas.openxmlformats.org/officeDocument/2006/relationships/notesMaster" Target="/ppt/notesMasters/notesMaster1.xml" Id="R5f590cdb345a4d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c727da13704d99" /><Relationship Type="http://schemas.openxmlformats.org/officeDocument/2006/relationships/notesMaster" Target="/ppt/notesMasters/notesMaster1.xml" Id="Rc64a125a857447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2c6a48fc474030" /><Relationship Type="http://schemas.openxmlformats.org/officeDocument/2006/relationships/notesMaster" Target="/ppt/notesMasters/notesMaster1.xml" Id="Rb062a25aa1dd45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886f282f1a479e" /><Relationship Type="http://schemas.openxmlformats.org/officeDocument/2006/relationships/notesMaster" Target="/ppt/notesMasters/notesMaster1.xml" Id="R372748970c6a43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3a047f92cc43a0" /><Relationship Type="http://schemas.openxmlformats.org/officeDocument/2006/relationships/notesMaster" Target="/ppt/notesMasters/notesMaster1.xml" Id="Rd0694bef0d3042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dc6dfdf35c464e" /><Relationship Type="http://schemas.openxmlformats.org/officeDocument/2006/relationships/notesMaster" Target="/ppt/notesMasters/notesMaster1.xml" Id="R19fa2f1fdb044f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66af73188a4e87" /><Relationship Type="http://schemas.openxmlformats.org/officeDocument/2006/relationships/notesMaster" Target="/ppt/notesMasters/notesMaster1.xml" Id="R2383aba8b7ee4b0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64730f92724e33" /><Relationship Type="http://schemas.openxmlformats.org/officeDocument/2006/relationships/notesMaster" Target="/ppt/notesMasters/notesMaster1.xml" Id="R6e76fbeb32b5417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b4718066b24928" /><Relationship Type="http://schemas.openxmlformats.org/officeDocument/2006/relationships/notesMaster" Target="/ppt/notesMasters/notesMaster1.xml" Id="R5b646f16e8e141b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26aba2e82d24564" /><Relationship Type="http://schemas.openxmlformats.org/officeDocument/2006/relationships/notesMaster" Target="/ppt/notesMasters/notesMaster1.xml" Id="Rbe93c3e67b974d2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ad8d5b86ad24f81" /><Relationship Type="http://schemas.openxmlformats.org/officeDocument/2006/relationships/notesMaster" Target="/ppt/notesMasters/notesMaster1.xml" Id="R164c0291e27b48d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399d272d3a74304" /><Relationship Type="http://schemas.openxmlformats.org/officeDocument/2006/relationships/notesMaster" Target="/ppt/notesMasters/notesMaster1.xml" Id="R16724b9ae105430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862b9304c594f24" /><Relationship Type="http://schemas.openxmlformats.org/officeDocument/2006/relationships/notesMaster" Target="/ppt/notesMasters/notesMaster1.xml" Id="Rf7ab6246bb4e4a5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9ada9b51b1f4cd5" /><Relationship Type="http://schemas.openxmlformats.org/officeDocument/2006/relationships/notesMaster" Target="/ppt/notesMasters/notesMaster1.xml" Id="R2067fa71535c4a3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48420bb5a874227" /><Relationship Type="http://schemas.openxmlformats.org/officeDocument/2006/relationships/notesMaster" Target="/ppt/notesMasters/notesMaster1.xml" Id="R869bd081d4f9478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975cc8519bb4132" /><Relationship Type="http://schemas.openxmlformats.org/officeDocument/2006/relationships/notesMaster" Target="/ppt/notesMasters/notesMaster1.xml" Id="R6768e0a318ee43b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ad6543f68754ccc" /><Relationship Type="http://schemas.openxmlformats.org/officeDocument/2006/relationships/notesMaster" Target="/ppt/notesMasters/notesMaster1.xml" Id="R2794acc9f5c44dd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c3cb071b28846fd" /><Relationship Type="http://schemas.openxmlformats.org/officeDocument/2006/relationships/notesMaster" Target="/ppt/notesMasters/notesMaster1.xml" Id="Ra724aa5b076c40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封面。片名依委託需求使用「看見．共好－第5屆新北市議會」。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本案沿用2022企劃書「畫面、旁白、段落時間」的可執行結構，但改寫為市民視角與問題解決敘事。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規格摘要取自需求書。4K為製作建議，最低合規仍為2K以上。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/Users/zhangzixuan/Desktop/4.需求書.pdf（第3至4頁）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時間配置依需求書10至12分鐘限制重新設計；章節點呼應簡報室快速選段需求。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/Users/zhangzixuan/Desktop/4.需求書.pdf（第3至4頁）</a:t>
            </a:r>
          </a:p>
          <a:p xmlns:a="http://schemas.openxmlformats.org/drawingml/2006/main">
            <a:r>
              <a:t>- /Users/zhangzixuan/Desktop/(OK-列印版)2022新北市議會-企劃書0629(成)B.pdf（第2頁）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已先查找官方影像來源；本腳本簡報不嵌入授權不明的網路照片，正式成片使用本會或委託拍攝素材。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https://vod.ntp.gov.tw/VodCloudV2/VOD/Index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本頁為可執行分鏡；畫面使用本會提供、委託拍攝或已取得授權之真實素材。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本頁為可執行分鏡；畫面使用本會提供、委託拍攝或已取得授權之真實素材。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https://journal.th.gov.tw/intro.php?council=ntp</a:t>
            </a:r>
          </a:p>
          <a:p xmlns:a="http://schemas.openxmlformats.org/drawingml/2006/main">
            <a:r>
              <a:t>- /Users/zhangzixuan/Desktop/(OK-列印版)2022新北市議會-企劃書0629(成)B.pdf（第3頁）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本頁為可執行分鏡；畫面使用本會提供、委託拍攝或已取得授權之真實素材。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https://web.law.ntpc.gov.tw/Scripts/PrintFLAWDAT0202.aspx?fcode=C0000072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本頁為可執行分鏡；畫面使用本會提供、委託拍攝或已取得授權之真實素材。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/Users/zhangzixuan/Desktop/(OK-列印版)2022新北市議會-企劃書0629(成)B.pdf（第5、9頁，僅作地區內容範圍參考）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本頁為可執行分鏡；畫面使用本會提供、委託拍攝或已取得授權之真實素材。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/Users/zhangzixuan/Desktop/(OK-列印版)2022新北市議會-企劃書0629(成)B.pdf（第5至7頁，僅作地區內容範圍參考）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本頁為可執行分鏡；畫面使用本會提供、委託拍攝或已取得授權之真實素材。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/Users/zhangzixuan/Desktop/(OK-列印版)2022新北市議會-企劃書0629(成)B.pdf（第7至9頁，僅作地區內容範圍參考）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本頁為可執行分鏡；畫面使用本會提供、委託拍攝或已取得授權之真實素材。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/Users/zhangzixuan/Desktop/(OK-列印版)2022新北市議會-企劃書0629(成)B.pdf（第8至10頁，僅作地區與族群內容範圍參考）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本頁為可執行分鏡；畫面使用本會提供、委託拍攝或已取得授權之真實素材。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/Users/zhangzixuan/Desktop/(OK-列印版)2022新北市議會-企劃書0629(成)B.pdf（第11頁）</a:t>
            </a:r>
          </a:p>
          <a:p xmlns:a="http://schemas.openxmlformats.org/drawingml/2006/main">
            <a:r>
              <a:t>- https://web.law.ntpc.gov.tw/Scripts/PrintFLAWDAT0202.aspx?fcode=C0000072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本頁為可執行分鏡；畫面使用本會提供、委託拍攝或已取得授權之真實素材。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https://web.law.ntpc.gov.tw/Scripts/PrintFLAWDAT0202.aspx?fcode=C0000072</a:t>
            </a:r>
          </a:p>
          <a:p xmlns:a="http://schemas.openxmlformats.org/drawingml/2006/main">
            <a:r>
              <a:t>- https://vod.ntp.gov.tw/VodCloudV2/VOD/Index</a:t>
            </a:r>
          </a:p>
          <a:p xmlns:a="http://schemas.openxmlformats.org/drawingml/2006/main">
            <a:r>
              <a:t>- /Users/zhangzixuan/Desktop/(OK-列印版)2022新北市議會-企劃書0629(成)B.pdf（第11頁）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本頁為可執行分鏡；畫面使用本會提供、委託拍攝或已取得授權之真實素材。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https://web.law.ntpc.gov.tw/Scripts/PrintFLAWDAT0202.aspx?fcode=C0000072</a:t>
            </a:r>
          </a:p>
          <a:p xmlns:a="http://schemas.openxmlformats.org/drawingml/2006/main">
            <a:r>
              <a:t>- /Users/zhangzixuan/Desktop/(OK-列印版)2022新北市議會-企劃書0629(成)B.pdf（第11頁）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本頁為可執行分鏡；畫面使用本會提供、委託拍攝或已取得授權之真實素材。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https://web.law.ntpc.gov.tw/Scripts/PrintFLAWDAT0202.aspx?fcode=C0000072</a:t>
            </a:r>
          </a:p>
          <a:p xmlns:a="http://schemas.openxmlformats.org/drawingml/2006/main">
            <a:r>
              <a:t>- /Users/zhangzixuan/Desktop/(OK-列印版)2022新北市議會-企劃書0629(成)B.pdf（第11頁）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本頁為可執行分鏡；畫面使用本會提供、委託拍攝或已取得授權之真實素材。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https://vod.ntp.gov.tw/VodCloudV2/VOD/Index</a:t>
            </a:r>
          </a:p>
          <a:p xmlns:a="http://schemas.openxmlformats.org/drawingml/2006/main">
            <a:r>
              <a:t>- /Users/zhangzixuan/Desktop/(OK-列印版)2022新北市議會-企劃書0629(成)B.pdf（第11至12頁）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本頁為可執行分鏡；畫面使用本會提供、委託拍攝或已取得授權之真實素材。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https://journal.th.gov.tw/intro.php?council=ntp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本頁為可執行分鏡；畫面使用本會提供、委託拍攝或已取得授權之真實素材。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/Users/zhangzixuan/Desktop/(OK-列印版)2022新北市議會-企劃書0629(成)B.pdf（第12頁）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此段為建議致詞稿，不宣稱為既有發言。第5屆議長產生後，可保留語意並依其口吻微調。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本頁為可執行分鏡；畫面使用本會提供、委託拍攝或已取得授權之真實素材。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就職典禮全程錄影、拍照及大合照為需求書明列項目。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五語版本、USB與藍光交付規格取自需求書；實際編碼與包裝規格由後續製作會議確認。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ed8afbff284a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68e09777454af3" /><Relationship Type="http://schemas.openxmlformats.org/officeDocument/2006/relationships/slideLayout" Target="/ppt/slideLayouts/slideLayout1.xml" Id="R899ecad67ee943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9ecad67ee943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04ddc44704ade" /><Relationship Type="http://schemas.openxmlformats.org/officeDocument/2006/relationships/notesSlide" Target="/ppt/notesSlides/notesSlide1.xml" Id="R655ea99db0574a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bce9673ad41b1" /><Relationship Type="http://schemas.openxmlformats.org/officeDocument/2006/relationships/notesSlide" Target="/ppt/notesSlides/notesSlide2.xml" Id="R61244b48417542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a231edfab43b2" /><Relationship Type="http://schemas.openxmlformats.org/officeDocument/2006/relationships/notesSlide" Target="/ppt/notesSlides/notesSlide3.xml" Id="R62f619a9623447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cc5e48005417d" /><Relationship Type="http://schemas.openxmlformats.org/officeDocument/2006/relationships/notesSlide" Target="/ppt/notesSlides/notesSlide4.xml" Id="Rc7b867bc07144a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2e6c74cae45eb" /><Relationship Type="http://schemas.openxmlformats.org/officeDocument/2006/relationships/notesSlide" Target="/ppt/notesSlides/notesSlide5.xml" Id="Rbaca9708d7904b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70b0c3602414f" /><Relationship Type="http://schemas.openxmlformats.org/officeDocument/2006/relationships/notesSlide" Target="/ppt/notesSlides/notesSlide6.xml" Id="R2f96c910afbe42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3bf2b990945a3" /><Relationship Type="http://schemas.openxmlformats.org/officeDocument/2006/relationships/notesSlide" Target="/ppt/notesSlides/notesSlide7.xml" Id="R27819fcb32264b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3370b5f444f0e" /><Relationship Type="http://schemas.openxmlformats.org/officeDocument/2006/relationships/notesSlide" Target="/ppt/notesSlides/notesSlide8.xml" Id="Rca19f2e848de47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146895aca46b4" /><Relationship Type="http://schemas.openxmlformats.org/officeDocument/2006/relationships/notesSlide" Target="/ppt/notesSlides/notesSlide9.xml" Id="R641cb79dcc8641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fe18ed2ba4e26" /><Relationship Type="http://schemas.openxmlformats.org/officeDocument/2006/relationships/notesSlide" Target="/ppt/notesSlides/notesSlide10.xml" Id="R3dad20b69a8046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8a3fbc08a4804" /><Relationship Type="http://schemas.openxmlformats.org/officeDocument/2006/relationships/notesSlide" Target="/ppt/notesSlides/notesSlide11.xml" Id="R8e0efbc19be349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be67431b74fa6" /><Relationship Type="http://schemas.openxmlformats.org/officeDocument/2006/relationships/notesSlide" Target="/ppt/notesSlides/notesSlide12.xml" Id="R27eec617edf548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2cc59c77a49f6" /><Relationship Type="http://schemas.openxmlformats.org/officeDocument/2006/relationships/notesSlide" Target="/ppt/notesSlides/notesSlide13.xml" Id="R0f49b47593a940f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1ffb124384b4e" /><Relationship Type="http://schemas.openxmlformats.org/officeDocument/2006/relationships/notesSlide" Target="/ppt/notesSlides/notesSlide14.xml" Id="Rb6c4dfe28d8546a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61b50f8354e2e" /><Relationship Type="http://schemas.openxmlformats.org/officeDocument/2006/relationships/notesSlide" Target="/ppt/notesSlides/notesSlide15.xml" Id="R49439f4bd167471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2d624bfa248da" /><Relationship Type="http://schemas.openxmlformats.org/officeDocument/2006/relationships/notesSlide" Target="/ppt/notesSlides/notesSlide16.xml" Id="Rb7a85c469f3147a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02c914b3d4659" /><Relationship Type="http://schemas.openxmlformats.org/officeDocument/2006/relationships/notesSlide" Target="/ppt/notesSlides/notesSlide17.xml" Id="Rddbf1fde7fc6435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8f4d7487843bc" /><Relationship Type="http://schemas.openxmlformats.org/officeDocument/2006/relationships/notesSlide" Target="/ppt/notesSlides/notesSlide18.xml" Id="R2c0af6b1aab4403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2c6cec3c84971" /><Relationship Type="http://schemas.openxmlformats.org/officeDocument/2006/relationships/notesSlide" Target="/ppt/notesSlides/notesSlide19.xml" Id="R8dec3ca8d68f4fa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81110bd5e4c47" /><Relationship Type="http://schemas.openxmlformats.org/officeDocument/2006/relationships/notesSlide" Target="/ppt/notesSlides/notesSlide20.xml" Id="R6fa0b2bafef346f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0d73c514f4a03" /><Relationship Type="http://schemas.openxmlformats.org/officeDocument/2006/relationships/notesSlide" Target="/ppt/notesSlides/notesSlide21.xml" Id="Rb7afc5712cce4e0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5c1bf27ee4995" /><Relationship Type="http://schemas.openxmlformats.org/officeDocument/2006/relationships/notesSlide" Target="/ppt/notesSlides/notesSlide22.xml" Id="Reb6d3fc49086428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34cd9084a4daf" /><Relationship Type="http://schemas.openxmlformats.org/officeDocument/2006/relationships/notesSlide" Target="/ppt/notesSlides/notesSlide23.xml" Id="Rcf7906fbb4924e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teal-field">
            <a:extLst xmlns:a="http://schemas.openxmlformats.org/drawingml/2006/main">
              <a:ext uri="{FF2B5EF4-FFF2-40B4-BE49-F238E27FC236}">
                <a16:creationId xmlns:a16="http://schemas.microsoft.com/office/drawing/2014/main" id="{C41DDD36-6F5A-472A-8010-17A3F43F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gold-line">
            <a:extLst xmlns:a="http://schemas.openxmlformats.org/drawingml/2006/main">
              <a:ext uri="{FF2B5EF4-FFF2-40B4-BE49-F238E27FC236}">
                <a16:creationId xmlns:a16="http://schemas.microsoft.com/office/drawing/2014/main" id="{4E91F855-DA61-4682-A245-2E00DC0F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57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ADE81985-A974-4A58-AEAF-A5979FF7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9DDDD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9DDDD6"/>
                </a:solidFill>
                <a:latin typeface="PingFang TC"/>
                <a:ea typeface="PingFang TC"/>
                <a:cs typeface="PingFang TC"/>
              </a:rPr>
              <a:t>第5屆新北市議會｜影片分鏡腳本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E4E4D8D-028E-4358-873E-24000B7E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7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5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看見．共好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F5CAF2B-DD16-45D9-8EC9-63F17495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E5A93D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5A93D"/>
                </a:solidFill>
                <a:latin typeface="PingFang TC"/>
                <a:ea typeface="PingFang TC"/>
                <a:cs typeface="PingFang TC"/>
              </a:rPr>
              <a:t>SEEING TOGETHER, SHAPING TOMORROW</a:t>
            </a:r>
          </a:p>
        </p:txBody>
      </p:sp>
      <p:sp>
        <p:nvSpPr>
          <p:cNvPr id="6" name="cover-intro">
            <a:extLst xmlns:a="http://schemas.openxmlformats.org/drawingml/2006/main">
              <a:ext uri="{FF2B5EF4-FFF2-40B4-BE49-F238E27FC236}">
                <a16:creationId xmlns:a16="http://schemas.microsoft.com/office/drawing/2014/main" id="{D1120D57-F0DE-4938-A6C8-E3DEC153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DDE6EF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DDE6EF"/>
                </a:solidFill>
                <a:latin typeface="PingFang TC"/>
                <a:ea typeface="PingFang TC"/>
                <a:cs typeface="PingFang TC"/>
              </a:rPr>
              <a:t>從市民的日常出發，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DDE6EF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DDE6EF"/>
                </a:solidFill>
                <a:latin typeface="PingFang TC"/>
                <a:ea typeface="PingFang TC"/>
                <a:cs typeface="PingFang TC"/>
              </a:rPr>
              <a:t>看見民意如何走進議會，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DDE6EF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DDE6EF"/>
                </a:solidFill>
                <a:latin typeface="PingFang TC"/>
                <a:ea typeface="PingFang TC"/>
                <a:cs typeface="PingFang TC"/>
              </a:rPr>
              <a:t>讓多元聲音一起走向更好的新北。</a:t>
            </a:r>
          </a:p>
        </p:txBody>
      </p:sp>
      <p:sp>
        <p:nvSpPr>
          <p:cNvPr id="7" name="cover-big-character">
            <a:extLst xmlns:a="http://schemas.openxmlformats.org/drawingml/2006/main">
              <a:ext uri="{FF2B5EF4-FFF2-40B4-BE49-F238E27FC236}">
                <a16:creationId xmlns:a16="http://schemas.microsoft.com/office/drawing/2014/main" id="{77B2217E-95E0-48D4-B4DA-4F95A0C8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857250"/>
            <a:ext cx="3143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0" b="1">
                <a:solidFill>
                  <a:srgbClr val="0B726E"/>
                </a:solidFill>
                <a:latin typeface="PingFang TC"/>
                <a:ea typeface="PingFang TC"/>
                <a:cs typeface="PingFang TC"/>
              </a:defRPr>
            </a:pPr>
            <a:r>
              <a:rPr sz="19500" b="1">
                <a:solidFill>
                  <a:srgbClr val="0B726E"/>
                </a:solidFill>
                <a:latin typeface="PingFang TC"/>
                <a:ea typeface="PingFang TC"/>
                <a:cs typeface="PingFang TC"/>
              </a:rPr>
              <a:t>見</a:t>
            </a:r>
          </a:p>
        </p:txBody>
      </p:sp>
      <p:sp>
        <p:nvSpPr>
          <p:cNvPr id="8" name="cover-duration">
            <a:extLst xmlns:a="http://schemas.openxmlformats.org/drawingml/2006/main">
              <a:ext uri="{FF2B5EF4-FFF2-40B4-BE49-F238E27FC236}">
                <a16:creationId xmlns:a16="http://schemas.microsoft.com/office/drawing/2014/main" id="{3B588313-8E89-4AA8-ACEF-51EF2BD6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16:9  |  11:35  |  中・英・日・台・韓五語架構</a:t>
            </a:r>
          </a:p>
        </p:txBody>
      </p:sp>
      <p:sp>
        <p:nvSpPr>
          <p:cNvPr id="9" name="cover-year">
            <a:extLst xmlns:a="http://schemas.openxmlformats.org/drawingml/2006/main">
              <a:ext uri="{FF2B5EF4-FFF2-40B4-BE49-F238E27FC236}">
                <a16:creationId xmlns:a16="http://schemas.microsoft.com/office/drawing/2014/main" id="{C51DE1F0-4737-43CE-B626-B2C2927C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019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5616756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band-2">
            <a:extLst xmlns:a="http://schemas.openxmlformats.org/drawingml/2006/main">
              <a:ext uri="{FF2B5EF4-FFF2-40B4-BE49-F238E27FC236}">
                <a16:creationId xmlns:a16="http://schemas.microsoft.com/office/drawing/2014/main" id="{21B237C8-F0FC-4192-9E40-1149C854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-2">
            <a:extLst xmlns:a="http://schemas.openxmlformats.org/drawingml/2006/main">
              <a:ext uri="{FF2B5EF4-FFF2-40B4-BE49-F238E27FC236}">
                <a16:creationId xmlns:a16="http://schemas.microsoft.com/office/drawing/2014/main" id="{7E0652DB-5611-4C3F-B585-448C657E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71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section-2">
            <a:extLst xmlns:a="http://schemas.openxmlformats.org/drawingml/2006/main">
              <a:ext uri="{FF2B5EF4-FFF2-40B4-BE49-F238E27FC236}">
                <a16:creationId xmlns:a16="http://schemas.microsoft.com/office/drawing/2014/main" id="{FA34E240-F4E6-445E-A1C1-0BF54B46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創意主軸</a:t>
            </a:r>
          </a:p>
        </p:txBody>
      </p:sp>
      <p:sp>
        <p:nvSpPr>
          <p:cNvPr id="4" name="top-title-2">
            <a:extLst xmlns:a="http://schemas.openxmlformats.org/drawingml/2006/main">
              <a:ext uri="{FF2B5EF4-FFF2-40B4-BE49-F238E27FC236}">
                <a16:creationId xmlns:a16="http://schemas.microsoft.com/office/drawing/2014/main" id="{07735C64-F9A5-4EE8-A88A-14A85650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「看見」不是觀看，而是讓民意進入行動</a:t>
            </a:r>
          </a:p>
        </p:txBody>
      </p:sp>
      <p:sp>
        <p:nvSpPr>
          <p:cNvPr id="5" name="top-subtitle-2">
            <a:extLst xmlns:a="http://schemas.openxmlformats.org/drawingml/2006/main">
              <a:ext uri="{FF2B5EF4-FFF2-40B4-BE49-F238E27FC236}">
                <a16:creationId xmlns:a16="http://schemas.microsoft.com/office/drawing/2014/main" id="{CEAA6C78-0740-4E95-8336-1A17E152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5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rPr>
              <a:t>CORE IDEA</a:t>
            </a:r>
          </a:p>
        </p:txBody>
      </p:sp>
      <p:sp>
        <p:nvSpPr>
          <p:cNvPr id="6" name="thesis-number">
            <a:extLst xmlns:a="http://schemas.openxmlformats.org/drawingml/2006/main">
              <a:ext uri="{FF2B5EF4-FFF2-40B4-BE49-F238E27FC236}">
                <a16:creationId xmlns:a16="http://schemas.microsoft.com/office/drawing/2014/main" id="{3B5274CB-0C3F-44CC-A7C5-E2C324CD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14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7" name="thesis-a">
            <a:extLst xmlns:a="http://schemas.openxmlformats.org/drawingml/2006/main">
              <a:ext uri="{FF2B5EF4-FFF2-40B4-BE49-F238E27FC236}">
                <a16:creationId xmlns:a16="http://schemas.microsoft.com/office/drawing/2014/main" id="{0A5D0965-2A85-4129-A59F-1C720411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看見日常</a:t>
            </a:r>
          </a:p>
        </p:txBody>
      </p:sp>
      <p:sp>
        <p:nvSpPr>
          <p:cNvPr id="8" name="thesis-a-copy">
            <a:extLst xmlns:a="http://schemas.openxmlformats.org/drawingml/2006/main">
              <a:ext uri="{FF2B5EF4-FFF2-40B4-BE49-F238E27FC236}">
                <a16:creationId xmlns:a16="http://schemas.microsoft.com/office/drawing/2014/main" id="{114AAFE4-55EE-4E8F-BDA1-1A7ACDB6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285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從通勤、就學、照顧、工作與環境切入，讓議會不再是遙遠的建築。</a:t>
            </a:r>
          </a:p>
        </p:txBody>
      </p:sp>
      <p:sp>
        <p:nvSpPr>
          <p:cNvPr id="9" name="thesis-number-b">
            <a:extLst xmlns:a="http://schemas.openxmlformats.org/drawingml/2006/main">
              <a:ext uri="{FF2B5EF4-FFF2-40B4-BE49-F238E27FC236}">
                <a16:creationId xmlns:a16="http://schemas.microsoft.com/office/drawing/2014/main" id="{A6086CE6-F0BC-42A3-B1A0-B9CE82D3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85900"/>
            <a:ext cx="114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E5A93D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E5A93D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0" name="thesis-b">
            <a:extLst xmlns:a="http://schemas.openxmlformats.org/drawingml/2006/main">
              <a:ext uri="{FF2B5EF4-FFF2-40B4-BE49-F238E27FC236}">
                <a16:creationId xmlns:a16="http://schemas.microsoft.com/office/drawing/2014/main" id="{8FAEDE24-3787-4A75-9DA9-5EC15585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09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看見過程</a:t>
            </a:r>
          </a:p>
        </p:txBody>
      </p:sp>
      <p:sp>
        <p:nvSpPr>
          <p:cNvPr id="11" name="thesis-b-copy">
            <a:extLst xmlns:a="http://schemas.openxmlformats.org/drawingml/2006/main">
              <a:ext uri="{FF2B5EF4-FFF2-40B4-BE49-F238E27FC236}">
                <a16:creationId xmlns:a16="http://schemas.microsoft.com/office/drawing/2014/main" id="{705895ED-0A56-4D81-A54A-8B337C54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62250"/>
            <a:ext cx="285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用一個問題如何被提出、審議、監督與追蹤，說清楚議會的作用。</a:t>
            </a:r>
          </a:p>
        </p:txBody>
      </p:sp>
      <p:sp>
        <p:nvSpPr>
          <p:cNvPr id="12" name="thesis-number-c">
            <a:extLst xmlns:a="http://schemas.openxmlformats.org/drawingml/2006/main">
              <a:ext uri="{FF2B5EF4-FFF2-40B4-BE49-F238E27FC236}">
                <a16:creationId xmlns:a16="http://schemas.microsoft.com/office/drawing/2014/main" id="{24024F90-4E29-4EC7-B428-B09542B5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85900"/>
            <a:ext cx="114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E96C57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E96C57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3" name="thesis-c">
            <a:extLst xmlns:a="http://schemas.openxmlformats.org/drawingml/2006/main">
              <a:ext uri="{FF2B5EF4-FFF2-40B4-BE49-F238E27FC236}">
                <a16:creationId xmlns:a16="http://schemas.microsoft.com/office/drawing/2014/main" id="{FAF0A9C3-51EC-40FF-A97B-98047146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看見共好</a:t>
            </a:r>
          </a:p>
        </p:txBody>
      </p:sp>
      <p:sp>
        <p:nvSpPr>
          <p:cNvPr id="14" name="thesis-c-copy">
            <a:extLst xmlns:a="http://schemas.openxmlformats.org/drawingml/2006/main">
              <a:ext uri="{FF2B5EF4-FFF2-40B4-BE49-F238E27FC236}">
                <a16:creationId xmlns:a16="http://schemas.microsoft.com/office/drawing/2014/main" id="{B8CCFDCD-B682-4D5E-BBB5-8E6D3BF8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285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不以單一成就收尾，而以多元意見找到共同方向，回扣第5屆新承諾。</a:t>
            </a:r>
          </a:p>
        </p:txBody>
      </p:sp>
      <p:sp>
        <p:nvSpPr>
          <p:cNvPr id="15" name="thesis-band">
            <a:extLst xmlns:a="http://schemas.openxmlformats.org/drawingml/2006/main">
              <a:ext uri="{FF2B5EF4-FFF2-40B4-BE49-F238E27FC236}">
                <a16:creationId xmlns:a16="http://schemas.microsoft.com/office/drawing/2014/main" id="{E25C8931-8433-49D4-A311-A85F2528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4476750"/>
            <a:ext cx="10382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hesis-quote">
            <a:extLst xmlns:a="http://schemas.openxmlformats.org/drawingml/2006/main">
              <a:ext uri="{FF2B5EF4-FFF2-40B4-BE49-F238E27FC236}">
                <a16:creationId xmlns:a16="http://schemas.microsoft.com/office/drawing/2014/main" id="{1ED4F091-62DA-4560-BFC1-0059497C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8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每一次被看見的需要，都是城市向前的一個起點。</a:t>
            </a:r>
          </a:p>
        </p:txBody>
      </p:sp>
      <p:sp>
        <p:nvSpPr>
          <p:cNvPr id="17" name="footer-section-2">
            <a:extLst xmlns:a="http://schemas.openxmlformats.org/drawingml/2006/main">
              <a:ext uri="{FF2B5EF4-FFF2-40B4-BE49-F238E27FC236}">
                <a16:creationId xmlns:a16="http://schemas.microsoft.com/office/drawing/2014/main" id="{9B326565-0E8E-47F1-A250-81A49794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創意主軸</a:t>
            </a:r>
          </a:p>
        </p:txBody>
      </p:sp>
      <p:sp>
        <p:nvSpPr>
          <p:cNvPr id="18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48A23FC2-3208-48F0-A99D-CCDC97C5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713062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band-3">
            <a:extLst xmlns:a="http://schemas.openxmlformats.org/drawingml/2006/main">
              <a:ext uri="{FF2B5EF4-FFF2-40B4-BE49-F238E27FC236}">
                <a16:creationId xmlns:a16="http://schemas.microsoft.com/office/drawing/2014/main" id="{8BB14746-ECD8-4EF9-9793-1688BA3C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-3">
            <a:extLst xmlns:a="http://schemas.openxmlformats.org/drawingml/2006/main">
              <a:ext uri="{FF2B5EF4-FFF2-40B4-BE49-F238E27FC236}">
                <a16:creationId xmlns:a16="http://schemas.microsoft.com/office/drawing/2014/main" id="{AB72D22A-911A-4975-A606-68C892DC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71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section-3">
            <a:extLst xmlns:a="http://schemas.openxmlformats.org/drawingml/2006/main">
              <a:ext uri="{FF2B5EF4-FFF2-40B4-BE49-F238E27FC236}">
                <a16:creationId xmlns:a16="http://schemas.microsoft.com/office/drawing/2014/main" id="{8DDED175-1327-4585-B040-C4C51D46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E5A93D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5A93D"/>
                </a:solidFill>
                <a:latin typeface="PingFang TC"/>
                <a:ea typeface="PingFang TC"/>
                <a:cs typeface="PingFang TC"/>
              </a:rPr>
              <a:t>需求對照</a:t>
            </a:r>
          </a:p>
        </p:txBody>
      </p:sp>
      <p:sp>
        <p:nvSpPr>
          <p:cNvPr id="4" name="top-title-3">
            <a:extLst xmlns:a="http://schemas.openxmlformats.org/drawingml/2006/main">
              <a:ext uri="{FF2B5EF4-FFF2-40B4-BE49-F238E27FC236}">
                <a16:creationId xmlns:a16="http://schemas.microsoft.com/office/drawing/2014/main" id="{7399A3CB-F540-4719-90CC-96017503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腳本已把硬性規格寫進製作流程</a:t>
            </a:r>
          </a:p>
        </p:txBody>
      </p:sp>
      <p:sp>
        <p:nvSpPr>
          <p:cNvPr id="5" name="top-subtitle-3">
            <a:extLst xmlns:a="http://schemas.openxmlformats.org/drawingml/2006/main">
              <a:ext uri="{FF2B5EF4-FFF2-40B4-BE49-F238E27FC236}">
                <a16:creationId xmlns:a16="http://schemas.microsoft.com/office/drawing/2014/main" id="{29F7C2B9-82BF-470A-AA1C-CAD60072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5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rPr>
              <a:t>BRIEF FIT</a:t>
            </a:r>
          </a:p>
        </p:txBody>
      </p:sp>
      <p:sp>
        <p:nvSpPr>
          <p:cNvPr id="6" name="req-key-0">
            <a:extLst xmlns:a="http://schemas.openxmlformats.org/drawingml/2006/main">
              <a:ext uri="{FF2B5EF4-FFF2-40B4-BE49-F238E27FC236}">
                <a16:creationId xmlns:a16="http://schemas.microsoft.com/office/drawing/2014/main" id="{B1FE6F2A-64BF-4FC0-A82E-8196AFAD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片長</a:t>
            </a:r>
          </a:p>
        </p:txBody>
      </p:sp>
      <p:sp>
        <p:nvSpPr>
          <p:cNvPr id="7" name="req-value-0">
            <a:extLst xmlns:a="http://schemas.openxmlformats.org/drawingml/2006/main">
              <a:ext uri="{FF2B5EF4-FFF2-40B4-BE49-F238E27FC236}">
                <a16:creationId xmlns:a16="http://schemas.microsoft.com/office/drawing/2014/main" id="{0189A0D8-8C3D-4A85-B918-38EF28F1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04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E96C57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E96C57"/>
                </a:solidFill>
                <a:latin typeface="PingFang TC"/>
                <a:ea typeface="PingFang TC"/>
                <a:cs typeface="PingFang TC"/>
              </a:rPr>
              <a:t>11 分 35 秒</a:t>
            </a:r>
          </a:p>
        </p:txBody>
      </p:sp>
      <p:sp>
        <p:nvSpPr>
          <p:cNvPr id="8" name="req-note-0">
            <a:extLst xmlns:a="http://schemas.openxmlformats.org/drawingml/2006/main">
              <a:ext uri="{FF2B5EF4-FFF2-40B4-BE49-F238E27FC236}">
                <a16:creationId xmlns:a16="http://schemas.microsoft.com/office/drawing/2014/main" id="{5E6F1428-FFF0-463D-B5B2-A785C19A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55257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落在需求的 10 至 12 分鐘內</a:t>
            </a:r>
          </a:p>
        </p:txBody>
      </p:sp>
      <p:sp>
        <p:nvSpPr>
          <p:cNvPr id="9" name="req-line-0">
            <a:extLst xmlns:a="http://schemas.openxmlformats.org/drawingml/2006/main">
              <a:ext uri="{FF2B5EF4-FFF2-40B4-BE49-F238E27FC236}">
                <a16:creationId xmlns:a16="http://schemas.microsoft.com/office/drawing/2014/main" id="{CD502363-46AD-4074-B306-ABB738CF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057400"/>
            <a:ext cx="1045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q-key-1">
            <a:extLst xmlns:a="http://schemas.openxmlformats.org/drawingml/2006/main">
              <a:ext uri="{FF2B5EF4-FFF2-40B4-BE49-F238E27FC236}">
                <a16:creationId xmlns:a16="http://schemas.microsoft.com/office/drawing/2014/main" id="{69EA3345-B43B-45E7-B3B4-41D19036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影像</a:t>
            </a:r>
          </a:p>
        </p:txBody>
      </p:sp>
      <p:sp>
        <p:nvSpPr>
          <p:cNvPr id="11" name="req-value-1">
            <a:extLst xmlns:a="http://schemas.openxmlformats.org/drawingml/2006/main">
              <a:ext uri="{FF2B5EF4-FFF2-40B4-BE49-F238E27FC236}">
                <a16:creationId xmlns:a16="http://schemas.microsoft.com/office/drawing/2014/main" id="{FC70EAEA-72A6-4E9E-88C0-66D340AE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381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16:9／2K 以上</a:t>
            </a:r>
          </a:p>
        </p:txBody>
      </p:sp>
      <p:sp>
        <p:nvSpPr>
          <p:cNvPr id="12" name="req-note-1">
            <a:extLst xmlns:a="http://schemas.openxmlformats.org/drawingml/2006/main">
              <a:ext uri="{FF2B5EF4-FFF2-40B4-BE49-F238E27FC236}">
                <a16:creationId xmlns:a16="http://schemas.microsoft.com/office/drawing/2014/main" id="{B63F9811-662F-4A0A-BED6-2A03F0B2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2887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建議 4K 母版拍攝，輸出配合簡報室</a:t>
            </a:r>
          </a:p>
        </p:txBody>
      </p:sp>
      <p:sp>
        <p:nvSpPr>
          <p:cNvPr id="13" name="req-line-1">
            <a:extLst xmlns:a="http://schemas.openxmlformats.org/drawingml/2006/main">
              <a:ext uri="{FF2B5EF4-FFF2-40B4-BE49-F238E27FC236}">
                <a16:creationId xmlns:a16="http://schemas.microsoft.com/office/drawing/2014/main" id="{D23B08DE-65C5-4B10-93C8-190B8495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933700"/>
            <a:ext cx="1045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q-key-2">
            <a:extLst xmlns:a="http://schemas.openxmlformats.org/drawingml/2006/main">
              <a:ext uri="{FF2B5EF4-FFF2-40B4-BE49-F238E27FC236}">
                <a16:creationId xmlns:a16="http://schemas.microsoft.com/office/drawing/2014/main" id="{BD9FB464-6FD8-4A47-BB07-65EBE899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語言</a:t>
            </a:r>
          </a:p>
        </p:txBody>
      </p:sp>
      <p:sp>
        <p:nvSpPr>
          <p:cNvPr id="15" name="req-value-2">
            <a:extLst xmlns:a="http://schemas.openxmlformats.org/drawingml/2006/main">
              <a:ext uri="{FF2B5EF4-FFF2-40B4-BE49-F238E27FC236}">
                <a16:creationId xmlns:a16="http://schemas.microsoft.com/office/drawing/2014/main" id="{C99B4479-3AB0-4350-8872-DF3DDB2A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57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中・英・日・台・韓</a:t>
            </a:r>
          </a:p>
        </p:txBody>
      </p:sp>
      <p:sp>
        <p:nvSpPr>
          <p:cNvPr id="16" name="req-note-2">
            <a:extLst xmlns:a="http://schemas.openxmlformats.org/drawingml/2006/main">
              <a:ext uri="{FF2B5EF4-FFF2-40B4-BE49-F238E27FC236}">
                <a16:creationId xmlns:a16="http://schemas.microsoft.com/office/drawing/2014/main" id="{A8DFFB33-EF8F-4F86-9A24-0D16A724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0517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短句、可拆字幕、預留雙行安全區</a:t>
            </a:r>
          </a:p>
        </p:txBody>
      </p:sp>
      <p:sp>
        <p:nvSpPr>
          <p:cNvPr id="17" name="req-line-2">
            <a:extLst xmlns:a="http://schemas.openxmlformats.org/drawingml/2006/main">
              <a:ext uri="{FF2B5EF4-FFF2-40B4-BE49-F238E27FC236}">
                <a16:creationId xmlns:a16="http://schemas.microsoft.com/office/drawing/2014/main" id="{87F3A1B2-98C3-43B8-853C-97DC866F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810000"/>
            <a:ext cx="1045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q-key-3">
            <a:extLst xmlns:a="http://schemas.openxmlformats.org/drawingml/2006/main">
              <a:ext uri="{FF2B5EF4-FFF2-40B4-BE49-F238E27FC236}">
                <a16:creationId xmlns:a16="http://schemas.microsoft.com/office/drawing/2014/main" id="{D95A12B6-1B6B-4CB1-8C56-ED574027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關鍵素材</a:t>
            </a:r>
          </a:p>
        </p:txBody>
      </p:sp>
      <p:sp>
        <p:nvSpPr>
          <p:cNvPr id="19" name="req-value-3">
            <a:extLst xmlns:a="http://schemas.openxmlformats.org/drawingml/2006/main">
              <a:ext uri="{FF2B5EF4-FFF2-40B4-BE49-F238E27FC236}">
                <a16:creationId xmlns:a16="http://schemas.microsoft.com/office/drawing/2014/main" id="{6EC55BDD-FA60-41E2-9F17-B580745F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1338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第5屆就職典禮</a:t>
            </a:r>
          </a:p>
        </p:txBody>
      </p:sp>
      <p:sp>
        <p:nvSpPr>
          <p:cNvPr id="20" name="req-note-3">
            <a:extLst xmlns:a="http://schemas.openxmlformats.org/drawingml/2006/main">
              <a:ext uri="{FF2B5EF4-FFF2-40B4-BE49-F238E27FC236}">
                <a16:creationId xmlns:a16="http://schemas.microsoft.com/office/drawing/2014/main" id="{0F55D9DC-5A03-41B6-A1FF-7EC04A22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18147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宣誓、議長副議長選舉、大合照完整入鏡</a:t>
            </a:r>
          </a:p>
        </p:txBody>
      </p:sp>
      <p:sp>
        <p:nvSpPr>
          <p:cNvPr id="21" name="req-line-3">
            <a:extLst xmlns:a="http://schemas.openxmlformats.org/drawingml/2006/main">
              <a:ext uri="{FF2B5EF4-FFF2-40B4-BE49-F238E27FC236}">
                <a16:creationId xmlns:a16="http://schemas.microsoft.com/office/drawing/2014/main" id="{DE301C43-2D7C-4B63-8B65-F508637B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686300"/>
            <a:ext cx="1045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q-key-4">
            <a:extLst xmlns:a="http://schemas.openxmlformats.org/drawingml/2006/main">
              <a:ext uri="{FF2B5EF4-FFF2-40B4-BE49-F238E27FC236}">
                <a16:creationId xmlns:a16="http://schemas.microsoft.com/office/drawing/2014/main" id="{67B83365-13B9-49F2-B017-3060BACA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交付延伸</a:t>
            </a:r>
          </a:p>
        </p:txBody>
      </p:sp>
      <p:sp>
        <p:nvSpPr>
          <p:cNvPr id="23" name="req-value-4">
            <a:extLst xmlns:a="http://schemas.openxmlformats.org/drawingml/2006/main">
              <a:ext uri="{FF2B5EF4-FFF2-40B4-BE49-F238E27FC236}">
                <a16:creationId xmlns:a16="http://schemas.microsoft.com/office/drawing/2014/main" id="{155B1F89-1281-4FA4-9370-1530FF55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101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USB 300 個＋藍光片</a:t>
            </a:r>
          </a:p>
        </p:txBody>
      </p:sp>
      <p:sp>
        <p:nvSpPr>
          <p:cNvPr id="24" name="req-note-4">
            <a:extLst xmlns:a="http://schemas.openxmlformats.org/drawingml/2006/main">
              <a:ext uri="{FF2B5EF4-FFF2-40B4-BE49-F238E27FC236}">
                <a16:creationId xmlns:a16="http://schemas.microsoft.com/office/drawing/2014/main" id="{3A43BCDF-97D5-40D2-AF5B-49EA175D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05777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片頭片尾與章節點可獨立播放</a:t>
            </a:r>
          </a:p>
        </p:txBody>
      </p:sp>
      <p:sp>
        <p:nvSpPr>
          <p:cNvPr id="25" name="req-line-4">
            <a:extLst xmlns:a="http://schemas.openxmlformats.org/drawingml/2006/main">
              <a:ext uri="{FF2B5EF4-FFF2-40B4-BE49-F238E27FC236}">
                <a16:creationId xmlns:a16="http://schemas.microsoft.com/office/drawing/2014/main" id="{00969BBD-562C-4ED3-8485-85001463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562600"/>
            <a:ext cx="1045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ooter-section-3">
            <a:extLst xmlns:a="http://schemas.openxmlformats.org/drawingml/2006/main">
              <a:ext uri="{FF2B5EF4-FFF2-40B4-BE49-F238E27FC236}">
                <a16:creationId xmlns:a16="http://schemas.microsoft.com/office/drawing/2014/main" id="{C65501D8-A41B-4373-972C-6AB23B2C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需求對照</a:t>
            </a:r>
          </a:p>
        </p:txBody>
      </p:sp>
      <p:sp>
        <p:nvSpPr>
          <p:cNvPr id="27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D0EBA5E1-A382-45BC-978A-4CEF0368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99078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op-band-4">
            <a:extLst xmlns:a="http://schemas.openxmlformats.org/drawingml/2006/main">
              <a:ext uri="{FF2B5EF4-FFF2-40B4-BE49-F238E27FC236}">
                <a16:creationId xmlns:a16="http://schemas.microsoft.com/office/drawing/2014/main" id="{BAA5DC09-E268-4DB1-9725-5680FD9C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-4">
            <a:extLst xmlns:a="http://schemas.openxmlformats.org/drawingml/2006/main">
              <a:ext uri="{FF2B5EF4-FFF2-40B4-BE49-F238E27FC236}">
                <a16:creationId xmlns:a16="http://schemas.microsoft.com/office/drawing/2014/main" id="{4CDD08E9-3F5D-43C0-98BD-CEDB8148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71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section-4">
            <a:extLst xmlns:a="http://schemas.openxmlformats.org/drawingml/2006/main">
              <a:ext uri="{FF2B5EF4-FFF2-40B4-BE49-F238E27FC236}">
                <a16:creationId xmlns:a16="http://schemas.microsoft.com/office/drawing/2014/main" id="{61CA2DDC-186E-427C-A8E2-4452CE71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E96C5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96C57"/>
                </a:solidFill>
                <a:latin typeface="PingFang TC"/>
                <a:ea typeface="PingFang TC"/>
                <a:cs typeface="PingFang TC"/>
              </a:rPr>
              <a:t>影片結構</a:t>
            </a:r>
          </a:p>
        </p:txBody>
      </p:sp>
      <p:sp>
        <p:nvSpPr>
          <p:cNvPr id="4" name="top-title-4">
            <a:extLst xmlns:a="http://schemas.openxmlformats.org/drawingml/2006/main">
              <a:ext uri="{FF2B5EF4-FFF2-40B4-BE49-F238E27FC236}">
                <a16:creationId xmlns:a16="http://schemas.microsoft.com/office/drawing/2014/main" id="{97A0F7A8-051C-4350-B523-6A32F557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11 分 35 秒，把故事留給人與過程</a:t>
            </a:r>
          </a:p>
        </p:txBody>
      </p:sp>
      <p:sp>
        <p:nvSpPr>
          <p:cNvPr id="5" name="top-subtitle-4">
            <a:extLst xmlns:a="http://schemas.openxmlformats.org/drawingml/2006/main">
              <a:ext uri="{FF2B5EF4-FFF2-40B4-BE49-F238E27FC236}">
                <a16:creationId xmlns:a16="http://schemas.microsoft.com/office/drawing/2014/main" id="{7A611C03-BB74-4F68-A296-1E0D312E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5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rPr>
              <a:t>RUNTIME</a:t>
            </a:r>
          </a:p>
        </p:txBody>
      </p:sp>
      <p:sp>
        <p:nvSpPr>
          <p:cNvPr id="6" name="time-0">
            <a:extLst xmlns:a="http://schemas.openxmlformats.org/drawingml/2006/main">
              <a:ext uri="{FF2B5EF4-FFF2-40B4-BE49-F238E27FC236}">
                <a16:creationId xmlns:a16="http://schemas.microsoft.com/office/drawing/2014/main" id="{EEC69845-B110-4F38-AF22-B114E918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00:00</a:t>
            </a:r>
          </a:p>
        </p:txBody>
      </p:sp>
      <p:sp>
        <p:nvSpPr>
          <p:cNvPr id="7" name="timeline-0">
            <a:extLst xmlns:a="http://schemas.openxmlformats.org/drawingml/2006/main">
              <a:ext uri="{FF2B5EF4-FFF2-40B4-BE49-F238E27FC236}">
                <a16:creationId xmlns:a16="http://schemas.microsoft.com/office/drawing/2014/main" id="{BEB34644-7DDE-4908-8460-2183D217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076450"/>
            <a:ext cx="76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eline-name-0">
            <a:extLst xmlns:a="http://schemas.openxmlformats.org/drawingml/2006/main">
              <a:ext uri="{FF2B5EF4-FFF2-40B4-BE49-F238E27FC236}">
                <a16:creationId xmlns:a16="http://schemas.microsoft.com/office/drawing/2014/main" id="{83E6EC74-0020-4F4F-8D80-CA9F03CD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日常</a:t>
            </a:r>
          </a:p>
        </p:txBody>
      </p:sp>
      <p:sp>
        <p:nvSpPr>
          <p:cNvPr id="9" name="timeline-duration-0">
            <a:extLst xmlns:a="http://schemas.openxmlformats.org/drawingml/2006/main">
              <a:ext uri="{FF2B5EF4-FFF2-40B4-BE49-F238E27FC236}">
                <a16:creationId xmlns:a16="http://schemas.microsoft.com/office/drawing/2014/main" id="{BAE87C5B-820D-4245-9EAC-F5074067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45秒</a:t>
            </a:r>
          </a:p>
        </p:txBody>
      </p:sp>
      <p:sp>
        <p:nvSpPr>
          <p:cNvPr id="10" name="time-1">
            <a:extLst xmlns:a="http://schemas.openxmlformats.org/drawingml/2006/main">
              <a:ext uri="{FF2B5EF4-FFF2-40B4-BE49-F238E27FC236}">
                <a16:creationId xmlns:a16="http://schemas.microsoft.com/office/drawing/2014/main" id="{7DC055D8-D956-45C7-B70D-28A61F40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954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00:45</a:t>
            </a:r>
          </a:p>
        </p:txBody>
      </p:sp>
      <p:sp>
        <p:nvSpPr>
          <p:cNvPr id="11" name="timeline-1">
            <a:extLst xmlns:a="http://schemas.openxmlformats.org/drawingml/2006/main">
              <a:ext uri="{FF2B5EF4-FFF2-40B4-BE49-F238E27FC236}">
                <a16:creationId xmlns:a16="http://schemas.microsoft.com/office/drawing/2014/main" id="{BDC9AB2A-9EE4-4B77-8C0F-D3560741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207645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eline-name-1">
            <a:extLst xmlns:a="http://schemas.openxmlformats.org/drawingml/2006/main">
              <a:ext uri="{FF2B5EF4-FFF2-40B4-BE49-F238E27FC236}">
                <a16:creationId xmlns:a16="http://schemas.microsoft.com/office/drawing/2014/main" id="{D6F6F8E2-CEBD-4B1C-84BF-89737973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717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來路</a:t>
            </a:r>
          </a:p>
        </p:txBody>
      </p:sp>
      <p:sp>
        <p:nvSpPr>
          <p:cNvPr id="13" name="timeline-duration-1">
            <a:extLst xmlns:a="http://schemas.openxmlformats.org/drawingml/2006/main">
              <a:ext uri="{FF2B5EF4-FFF2-40B4-BE49-F238E27FC236}">
                <a16:creationId xmlns:a16="http://schemas.microsoft.com/office/drawing/2014/main" id="{384F8A21-6359-4BC4-9649-552EC238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241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45秒</a:t>
            </a:r>
          </a:p>
        </p:txBody>
      </p:sp>
      <p:sp>
        <p:nvSpPr>
          <p:cNvPr id="14" name="time-2">
            <a:extLst xmlns:a="http://schemas.openxmlformats.org/drawingml/2006/main">
              <a:ext uri="{FF2B5EF4-FFF2-40B4-BE49-F238E27FC236}">
                <a16:creationId xmlns:a16="http://schemas.microsoft.com/office/drawing/2014/main" id="{EF40163E-1251-42AA-A5A6-A3B6B127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695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01:30</a:t>
            </a:r>
          </a:p>
        </p:txBody>
      </p:sp>
      <p:sp>
        <p:nvSpPr>
          <p:cNvPr id="15" name="timeline-2">
            <a:extLst xmlns:a="http://schemas.openxmlformats.org/drawingml/2006/main">
              <a:ext uri="{FF2B5EF4-FFF2-40B4-BE49-F238E27FC236}">
                <a16:creationId xmlns:a16="http://schemas.microsoft.com/office/drawing/2014/main" id="{73E50BF8-7EC6-4558-BA3B-4D894251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2076450"/>
            <a:ext cx="781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imeline-name-2">
            <a:extLst xmlns:a="http://schemas.openxmlformats.org/drawingml/2006/main">
              <a:ext uri="{FF2B5EF4-FFF2-40B4-BE49-F238E27FC236}">
                <a16:creationId xmlns:a16="http://schemas.microsoft.com/office/drawing/2014/main" id="{84BE9E76-9C88-4B76-BB4E-AC0605B7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717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託付</a:t>
            </a:r>
          </a:p>
        </p:txBody>
      </p:sp>
      <p:sp>
        <p:nvSpPr>
          <p:cNvPr id="17" name="timeline-duration-2">
            <a:extLst xmlns:a="http://schemas.openxmlformats.org/drawingml/2006/main">
              <a:ext uri="{FF2B5EF4-FFF2-40B4-BE49-F238E27FC236}">
                <a16:creationId xmlns:a16="http://schemas.microsoft.com/office/drawing/2014/main" id="{20D3F436-90CE-4C79-96AE-1A75D472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52412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50秒</a:t>
            </a:r>
          </a:p>
        </p:txBody>
      </p:sp>
      <p:sp>
        <p:nvSpPr>
          <p:cNvPr id="18" name="time-3">
            <a:extLst xmlns:a="http://schemas.openxmlformats.org/drawingml/2006/main">
              <a:ext uri="{FF2B5EF4-FFF2-40B4-BE49-F238E27FC236}">
                <a16:creationId xmlns:a16="http://schemas.microsoft.com/office/drawing/2014/main" id="{E5EC2DDB-59DD-4423-AFB1-CBB11D45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95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02:20</a:t>
            </a:r>
          </a:p>
        </p:txBody>
      </p:sp>
      <p:sp>
        <p:nvSpPr>
          <p:cNvPr id="19" name="timeline-3">
            <a:extLst xmlns:a="http://schemas.openxmlformats.org/drawingml/2006/main">
              <a:ext uri="{FF2B5EF4-FFF2-40B4-BE49-F238E27FC236}">
                <a16:creationId xmlns:a16="http://schemas.microsoft.com/office/drawing/2014/main" id="{4BF645B7-90C9-4346-90CA-91463AFF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4200" y="2076450"/>
            <a:ext cx="335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imeline-name-3">
            <a:extLst xmlns:a="http://schemas.openxmlformats.org/drawingml/2006/main">
              <a:ext uri="{FF2B5EF4-FFF2-40B4-BE49-F238E27FC236}">
                <a16:creationId xmlns:a16="http://schemas.microsoft.com/office/drawing/2014/main" id="{F33563AD-9677-408A-83E9-9448ACA4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7170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多元</a:t>
            </a:r>
          </a:p>
        </p:txBody>
      </p:sp>
      <p:sp>
        <p:nvSpPr>
          <p:cNvPr id="21" name="timeline-duration-3">
            <a:extLst xmlns:a="http://schemas.openxmlformats.org/drawingml/2006/main">
              <a:ext uri="{FF2B5EF4-FFF2-40B4-BE49-F238E27FC236}">
                <a16:creationId xmlns:a16="http://schemas.microsoft.com/office/drawing/2014/main" id="{8E5AF490-FE5E-4DD4-B01D-FDEFE5F4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24125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3分30秒</a:t>
            </a:r>
          </a:p>
        </p:txBody>
      </p:sp>
      <p:sp>
        <p:nvSpPr>
          <p:cNvPr id="22" name="time-4">
            <a:extLst xmlns:a="http://schemas.openxmlformats.org/drawingml/2006/main">
              <a:ext uri="{FF2B5EF4-FFF2-40B4-BE49-F238E27FC236}">
                <a16:creationId xmlns:a16="http://schemas.microsoft.com/office/drawing/2014/main" id="{4D6EC019-5C50-4D8C-8120-261FCF50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954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05:50</a:t>
            </a:r>
          </a:p>
        </p:txBody>
      </p:sp>
      <p:sp>
        <p:nvSpPr>
          <p:cNvPr id="23" name="timeline-4">
            <a:extLst xmlns:a="http://schemas.openxmlformats.org/drawingml/2006/main">
              <a:ext uri="{FF2B5EF4-FFF2-40B4-BE49-F238E27FC236}">
                <a16:creationId xmlns:a16="http://schemas.microsoft.com/office/drawing/2014/main" id="{CE6B5AE3-C59D-4A62-8832-F3A3E6B3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3200" y="2076450"/>
            <a:ext cx="2495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imeline-name-4">
            <a:extLst xmlns:a="http://schemas.openxmlformats.org/drawingml/2006/main">
              <a:ext uri="{FF2B5EF4-FFF2-40B4-BE49-F238E27FC236}">
                <a16:creationId xmlns:a16="http://schemas.microsoft.com/office/drawing/2014/main" id="{36840EE6-A015-456F-AA5F-D8C5317F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7170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議事</a:t>
            </a:r>
          </a:p>
        </p:txBody>
      </p:sp>
      <p:sp>
        <p:nvSpPr>
          <p:cNvPr id="25" name="timeline-duration-4">
            <a:extLst xmlns:a="http://schemas.openxmlformats.org/drawingml/2006/main">
              <a:ext uri="{FF2B5EF4-FFF2-40B4-BE49-F238E27FC236}">
                <a16:creationId xmlns:a16="http://schemas.microsoft.com/office/drawing/2014/main" id="{D489B8A3-1093-473B-A94D-35F3034E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24125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2分30秒</a:t>
            </a:r>
          </a:p>
        </p:txBody>
      </p:sp>
      <p:sp>
        <p:nvSpPr>
          <p:cNvPr id="26" name="time-5">
            <a:extLst xmlns:a="http://schemas.openxmlformats.org/drawingml/2006/main">
              <a:ext uri="{FF2B5EF4-FFF2-40B4-BE49-F238E27FC236}">
                <a16:creationId xmlns:a16="http://schemas.microsoft.com/office/drawing/2014/main" id="{32C8496F-56A9-402F-96DC-37C1527B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954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08:20</a:t>
            </a:r>
          </a:p>
        </p:txBody>
      </p:sp>
      <p:sp>
        <p:nvSpPr>
          <p:cNvPr id="27" name="timeline-5">
            <a:extLst xmlns:a="http://schemas.openxmlformats.org/drawingml/2006/main">
              <a:ext uri="{FF2B5EF4-FFF2-40B4-BE49-F238E27FC236}">
                <a16:creationId xmlns:a16="http://schemas.microsoft.com/office/drawing/2014/main" id="{FA6B528B-E741-4D66-B96C-7A0E8A9F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2076450"/>
            <a:ext cx="2495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imeline-name-5">
            <a:extLst xmlns:a="http://schemas.openxmlformats.org/drawingml/2006/main">
              <a:ext uri="{FF2B5EF4-FFF2-40B4-BE49-F238E27FC236}">
                <a16:creationId xmlns:a16="http://schemas.microsoft.com/office/drawing/2014/main" id="{7C5186DA-9EB1-44FF-8C47-B99B27A2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7170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未來</a:t>
            </a:r>
          </a:p>
        </p:txBody>
      </p:sp>
      <p:sp>
        <p:nvSpPr>
          <p:cNvPr id="29" name="timeline-duration-5">
            <a:extLst xmlns:a="http://schemas.openxmlformats.org/drawingml/2006/main">
              <a:ext uri="{FF2B5EF4-FFF2-40B4-BE49-F238E27FC236}">
                <a16:creationId xmlns:a16="http://schemas.microsoft.com/office/drawing/2014/main" id="{E7F12AA2-53D3-498B-930A-C24FDDC9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24125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3分15秒</a:t>
            </a:r>
          </a:p>
        </p:txBody>
      </p:sp>
      <p:sp>
        <p:nvSpPr>
          <p:cNvPr id="30" name="timing-thesis">
            <a:extLst xmlns:a="http://schemas.openxmlformats.org/drawingml/2006/main">
              <a:ext uri="{FF2B5EF4-FFF2-40B4-BE49-F238E27FC236}">
                <a16:creationId xmlns:a16="http://schemas.microsoft.com/office/drawing/2014/main" id="{233198C2-5142-4F7B-A7D7-3ECC288B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990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25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舊版以選區逐一介紹為最大篇幅；新版把城市群像壓縮成四組生活場景，將更多時間留給「民意如何成為公共行動」。</a:t>
            </a:r>
          </a:p>
        </p:txBody>
      </p:sp>
      <p:sp>
        <p:nvSpPr>
          <p:cNvPr id="31" name="timing-note">
            <a:extLst xmlns:a="http://schemas.openxmlformats.org/drawingml/2006/main">
              <a:ext uri="{FF2B5EF4-FFF2-40B4-BE49-F238E27FC236}">
                <a16:creationId xmlns:a16="http://schemas.microsoft.com/office/drawing/2014/main" id="{9441D86D-C7F5-4834-BF78-3CAC1A04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0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章節皆可設播放節點，便於簡報室單一介面快速選段。</a:t>
            </a:r>
          </a:p>
        </p:txBody>
      </p:sp>
      <p:sp>
        <p:nvSpPr>
          <p:cNvPr id="32" name="footer-section-4">
            <a:extLst xmlns:a="http://schemas.openxmlformats.org/drawingml/2006/main">
              <a:ext uri="{FF2B5EF4-FFF2-40B4-BE49-F238E27FC236}">
                <a16:creationId xmlns:a16="http://schemas.microsoft.com/office/drawing/2014/main" id="{6A6C197C-6E47-4CDD-98EC-8EE4F29B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影片結構</a:t>
            </a:r>
          </a:p>
        </p:txBody>
      </p:sp>
      <p:sp>
        <p:nvSpPr>
          <p:cNvPr id="33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037F08BA-0637-4264-9D58-E6B935CD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23418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band-5">
            <a:extLst xmlns:a="http://schemas.openxmlformats.org/drawingml/2006/main">
              <a:ext uri="{FF2B5EF4-FFF2-40B4-BE49-F238E27FC236}">
                <a16:creationId xmlns:a16="http://schemas.microsoft.com/office/drawing/2014/main" id="{64392604-80E7-4F60-B082-6E3DAFA9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-5">
            <a:extLst xmlns:a="http://schemas.openxmlformats.org/drawingml/2006/main">
              <a:ext uri="{FF2B5EF4-FFF2-40B4-BE49-F238E27FC236}">
                <a16:creationId xmlns:a16="http://schemas.microsoft.com/office/drawing/2014/main" id="{C10ABC87-04DB-4E53-881D-10F67576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71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section-5">
            <a:extLst xmlns:a="http://schemas.openxmlformats.org/drawingml/2006/main">
              <a:ext uri="{FF2B5EF4-FFF2-40B4-BE49-F238E27FC236}">
                <a16:creationId xmlns:a16="http://schemas.microsoft.com/office/drawing/2014/main" id="{2870F5EF-BA2C-4F5D-A90D-F5B887AE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3979B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3979B8"/>
                </a:solidFill>
                <a:latin typeface="PingFang TC"/>
                <a:ea typeface="PingFang TC"/>
                <a:cs typeface="PingFang TC"/>
              </a:rPr>
              <a:t>視聽語言</a:t>
            </a:r>
          </a:p>
        </p:txBody>
      </p:sp>
      <p:sp>
        <p:nvSpPr>
          <p:cNvPr id="4" name="top-title-5">
            <a:extLst xmlns:a="http://schemas.openxmlformats.org/drawingml/2006/main">
              <a:ext uri="{FF2B5EF4-FFF2-40B4-BE49-F238E27FC236}">
                <a16:creationId xmlns:a16="http://schemas.microsoft.com/office/drawing/2014/main" id="{78894CFD-7BBE-47A6-A246-CDC0CD0E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真實、克制、有溫度；讓鏡頭靠近市民</a:t>
            </a:r>
          </a:p>
        </p:txBody>
      </p:sp>
      <p:sp>
        <p:nvSpPr>
          <p:cNvPr id="5" name="top-subtitle-5">
            <a:extLst xmlns:a="http://schemas.openxmlformats.org/drawingml/2006/main">
              <a:ext uri="{FF2B5EF4-FFF2-40B4-BE49-F238E27FC236}">
                <a16:creationId xmlns:a16="http://schemas.microsoft.com/office/drawing/2014/main" id="{C31BF661-CF18-4113-A9D9-C64ECD9C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5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rPr>
              <a:t>LOOK &amp; SOUND</a:t>
            </a:r>
          </a:p>
        </p:txBody>
      </p:sp>
      <p:sp>
        <p:nvSpPr>
          <p:cNvPr id="6" name="av-line-0">
            <a:extLst xmlns:a="http://schemas.openxmlformats.org/drawingml/2006/main">
              <a:ext uri="{FF2B5EF4-FFF2-40B4-BE49-F238E27FC236}">
                <a16:creationId xmlns:a16="http://schemas.microsoft.com/office/drawing/2014/main" id="{A406B997-602C-4AA3-AE91-BEAE9138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619250"/>
            <a:ext cx="266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v-title-0">
            <a:extLst xmlns:a="http://schemas.openxmlformats.org/drawingml/2006/main">
              <a:ext uri="{FF2B5EF4-FFF2-40B4-BE49-F238E27FC236}">
                <a16:creationId xmlns:a16="http://schemas.microsoft.com/office/drawing/2014/main" id="{8AA482E9-A8FC-4703-8936-6D3F6A5C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鏡頭</a:t>
            </a:r>
          </a:p>
        </p:txBody>
      </p:sp>
      <p:sp>
        <p:nvSpPr>
          <p:cNvPr id="8" name="av-copy-0">
            <a:extLst xmlns:a="http://schemas.openxmlformats.org/drawingml/2006/main">
              <a:ext uri="{FF2B5EF4-FFF2-40B4-BE49-F238E27FC236}">
                <a16:creationId xmlns:a16="http://schemas.microsoft.com/office/drawing/2014/main" id="{B5B7A20C-2A83-4DB9-8918-FAAEE5F2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85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以眼睛高度與真實動線為主。空拍只用於建立城市尺度。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重要時刻採多機紀實，不重演、不造假。</a:t>
            </a:r>
          </a:p>
        </p:txBody>
      </p:sp>
      <p:sp>
        <p:nvSpPr>
          <p:cNvPr id="9" name="av-line-1">
            <a:extLst xmlns:a="http://schemas.openxmlformats.org/drawingml/2006/main">
              <a:ext uri="{FF2B5EF4-FFF2-40B4-BE49-F238E27FC236}">
                <a16:creationId xmlns:a16="http://schemas.microsoft.com/office/drawing/2014/main" id="{1DCA7821-4AF0-4AA1-80C9-38593875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1619250"/>
            <a:ext cx="266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v-title-1">
            <a:extLst xmlns:a="http://schemas.openxmlformats.org/drawingml/2006/main">
              <a:ext uri="{FF2B5EF4-FFF2-40B4-BE49-F238E27FC236}">
                <a16:creationId xmlns:a16="http://schemas.microsoft.com/office/drawing/2014/main" id="{B1BE6FA3-63C1-4566-8D53-68437FC0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剪輯</a:t>
            </a:r>
          </a:p>
        </p:txBody>
      </p:sp>
      <p:sp>
        <p:nvSpPr>
          <p:cNvPr id="11" name="av-copy-1">
            <a:extLst xmlns:a="http://schemas.openxmlformats.org/drawingml/2006/main">
              <a:ext uri="{FF2B5EF4-FFF2-40B4-BE49-F238E27FC236}">
                <a16:creationId xmlns:a16="http://schemas.microsoft.com/office/drawing/2014/main" id="{88D82ABA-E7F3-4B16-B5BA-7DBB4D29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67000"/>
            <a:ext cx="285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日常聲音作為轉場：列車、海浪、翻頁、議事槌、鍵盤。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「看見」字樣只在章節轉折出現。</a:t>
            </a:r>
          </a:p>
        </p:txBody>
      </p:sp>
      <p:sp>
        <p:nvSpPr>
          <p:cNvPr id="12" name="av-line-2">
            <a:extLst xmlns:a="http://schemas.openxmlformats.org/drawingml/2006/main">
              <a:ext uri="{FF2B5EF4-FFF2-40B4-BE49-F238E27FC236}">
                <a16:creationId xmlns:a16="http://schemas.microsoft.com/office/drawing/2014/main" id="{41B191ED-FF5A-475B-B17F-7E2C88C2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7200" y="1619250"/>
            <a:ext cx="266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v-title-2">
            <a:extLst xmlns:a="http://schemas.openxmlformats.org/drawingml/2006/main">
              <a:ext uri="{FF2B5EF4-FFF2-40B4-BE49-F238E27FC236}">
                <a16:creationId xmlns:a16="http://schemas.microsoft.com/office/drawing/2014/main" id="{2F7DD10A-8D23-4075-A737-5A051F28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526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音樂</a:t>
            </a:r>
          </a:p>
        </p:txBody>
      </p:sp>
      <p:sp>
        <p:nvSpPr>
          <p:cNvPr id="14" name="av-copy-2">
            <a:extLst xmlns:a="http://schemas.openxmlformats.org/drawingml/2006/main">
              <a:ext uri="{FF2B5EF4-FFF2-40B4-BE49-F238E27FC236}">
                <a16:creationId xmlns:a16="http://schemas.microsoft.com/office/drawing/2014/main" id="{2060391B-9077-4BC5-AA65-20A50255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67000"/>
            <a:ext cx="285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弦樂與電子脈動由疏到密；議事段落加入低頻節拍。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議長致詞前收斂，片尾再抬升。</a:t>
            </a:r>
          </a:p>
        </p:txBody>
      </p:sp>
      <p:sp>
        <p:nvSpPr>
          <p:cNvPr id="15" name="av-bottom">
            <a:extLst xmlns:a="http://schemas.openxmlformats.org/drawingml/2006/main">
              <a:ext uri="{FF2B5EF4-FFF2-40B4-BE49-F238E27FC236}">
                <a16:creationId xmlns:a16="http://schemas.microsoft.com/office/drawing/2014/main" id="{6EB5B059-E50E-40D9-934D-2C3FFC41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191125"/>
            <a:ext cx="1005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v-bottom-copy">
            <a:extLst xmlns:a="http://schemas.openxmlformats.org/drawingml/2006/main">
              <a:ext uri="{FF2B5EF4-FFF2-40B4-BE49-F238E27FC236}">
                <a16:creationId xmlns:a16="http://schemas.microsoft.com/office/drawing/2014/main" id="{3D7EBB34-58EE-4F8C-8A15-565BEFF3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62575"/>
            <a:ext cx="944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素材原則：議員、議事、就職、會勘與市民畫面均使用真實拍攝或本會授權素材。</a:t>
            </a:r>
          </a:p>
        </p:txBody>
      </p:sp>
      <p:sp>
        <p:nvSpPr>
          <p:cNvPr id="17" name="footer-section-5">
            <a:extLst xmlns:a="http://schemas.openxmlformats.org/drawingml/2006/main">
              <a:ext uri="{FF2B5EF4-FFF2-40B4-BE49-F238E27FC236}">
                <a16:creationId xmlns:a16="http://schemas.microsoft.com/office/drawing/2014/main" id="{04F7AC4F-AD1F-4755-9263-1512E2D2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視聽語言</a:t>
            </a:r>
          </a:p>
        </p:txBody>
      </p:sp>
      <p:sp>
        <p:nvSpPr>
          <p:cNvPr id="18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F323B99F-F281-4DD6-9816-D8B72A04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240528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band-6">
            <a:extLst xmlns:a="http://schemas.openxmlformats.org/drawingml/2006/main">
              <a:ext uri="{FF2B5EF4-FFF2-40B4-BE49-F238E27FC236}">
                <a16:creationId xmlns:a16="http://schemas.microsoft.com/office/drawing/2014/main" id="{6EC3A2B0-F356-451D-A93B-12B983AE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-6">
            <a:extLst xmlns:a="http://schemas.openxmlformats.org/drawingml/2006/main">
              <a:ext uri="{FF2B5EF4-FFF2-40B4-BE49-F238E27FC236}">
                <a16:creationId xmlns:a16="http://schemas.microsoft.com/office/drawing/2014/main" id="{70618645-47D4-4E9C-BDF6-6A03578C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71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section-6">
            <a:extLst xmlns:a="http://schemas.openxmlformats.org/drawingml/2006/main">
              <a:ext uri="{FF2B5EF4-FFF2-40B4-BE49-F238E27FC236}">
                <a16:creationId xmlns:a16="http://schemas.microsoft.com/office/drawing/2014/main" id="{FDAD0428-D609-4F26-89AA-E8F4FFA2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第一章｜看見日常</a:t>
            </a:r>
          </a:p>
        </p:txBody>
      </p:sp>
      <p:sp>
        <p:nvSpPr>
          <p:cNvPr id="4" name="top-title-6">
            <a:extLst xmlns:a="http://schemas.openxmlformats.org/drawingml/2006/main">
              <a:ext uri="{FF2B5EF4-FFF2-40B4-BE49-F238E27FC236}">
                <a16:creationId xmlns:a16="http://schemas.microsoft.com/office/drawing/2014/main" id="{C8DE5A4A-8DDE-4E3C-9A91-8CC3730F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一座城市，從每一天開始</a:t>
            </a:r>
          </a:p>
        </p:txBody>
      </p:sp>
      <p:sp>
        <p:nvSpPr>
          <p:cNvPr id="5" name="top-subtitle-6">
            <a:extLst xmlns:a="http://schemas.openxmlformats.org/drawingml/2006/main">
              <a:ext uri="{FF2B5EF4-FFF2-40B4-BE49-F238E27FC236}">
                <a16:creationId xmlns:a16="http://schemas.microsoft.com/office/drawing/2014/main" id="{088FBCE9-F867-4419-B059-4C7301F3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5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rPr>
              <a:t>00:00—00:45</a:t>
            </a:r>
          </a:p>
        </p:txBody>
      </p:sp>
      <p:sp>
        <p:nvSpPr>
          <p:cNvPr id="6" name="left-rail-6">
            <a:extLst xmlns:a="http://schemas.openxmlformats.org/drawingml/2006/main">
              <a:ext uri="{FF2B5EF4-FFF2-40B4-BE49-F238E27FC236}">
                <a16:creationId xmlns:a16="http://schemas.microsoft.com/office/drawing/2014/main" id="{E119E7C0-3AFC-4F7A-85AA-BEF53E35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36004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7" name="rail-accent-6">
            <a:extLst xmlns:a="http://schemas.openxmlformats.org/drawingml/2006/main">
              <a:ext uri="{FF2B5EF4-FFF2-40B4-BE49-F238E27FC236}">
                <a16:creationId xmlns:a16="http://schemas.microsoft.com/office/drawing/2014/main" id="{6E0DAFB7-445A-4A91-9ABB-F2CD16E6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952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cene-index-6">
            <a:extLst xmlns:a="http://schemas.openxmlformats.org/drawingml/2006/main">
              <a:ext uri="{FF2B5EF4-FFF2-40B4-BE49-F238E27FC236}">
                <a16:creationId xmlns:a16="http://schemas.microsoft.com/office/drawing/2014/main" id="{6E175285-0915-47CC-A330-80FB0E69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SC 01</a:t>
            </a:r>
          </a:p>
        </p:txBody>
      </p:sp>
      <p:sp>
        <p:nvSpPr>
          <p:cNvPr id="9" name="visual-label-6">
            <a:extLst xmlns:a="http://schemas.openxmlformats.org/drawingml/2006/main">
              <a:ext uri="{FF2B5EF4-FFF2-40B4-BE49-F238E27FC236}">
                <a16:creationId xmlns:a16="http://schemas.microsoft.com/office/drawing/2014/main" id="{CE303DAA-0886-4DBF-A42E-24F4B3AC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畫面 / VISUAL</a:t>
            </a:r>
          </a:p>
        </p:txBody>
      </p:sp>
      <p:sp>
        <p:nvSpPr>
          <p:cNvPr id="10" name="visual-copy-6">
            <a:extLst xmlns:a="http://schemas.openxmlformats.org/drawingml/2006/main">
              <a:ext uri="{FF2B5EF4-FFF2-40B4-BE49-F238E27FC236}">
                <a16:creationId xmlns:a16="http://schemas.microsoft.com/office/drawing/2014/main" id="{D376257D-8E53-4BB0-B9A2-C7245D98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3000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晨間城市聲：黑畫面先行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第一班車／早餐店／學生過馬路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長者／海岸／工地，接議事廳亮燈</a:t>
            </a:r>
          </a:p>
        </p:txBody>
      </p:sp>
      <p:sp>
        <p:nvSpPr>
          <p:cNvPr id="11" name="onscreen-label-6">
            <a:extLst xmlns:a="http://schemas.openxmlformats.org/drawingml/2006/main">
              <a:ext uri="{FF2B5EF4-FFF2-40B4-BE49-F238E27FC236}">
                <a16:creationId xmlns:a16="http://schemas.microsoft.com/office/drawing/2014/main" id="{05E697E5-6499-4665-9448-E5CB3850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字卡 / ON SCREEN</a:t>
            </a:r>
          </a:p>
        </p:txBody>
      </p:sp>
      <p:sp>
        <p:nvSpPr>
          <p:cNvPr id="12" name="onscreen-copy-6">
            <a:extLst xmlns:a="http://schemas.openxmlformats.org/drawingml/2006/main">
              <a:ext uri="{FF2B5EF4-FFF2-40B4-BE49-F238E27FC236}">
                <a16:creationId xmlns:a16="http://schemas.microsoft.com/office/drawing/2014/main" id="{36384B20-8DD1-41F9-8650-16ECFE38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300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13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1613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看見．共好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13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1613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第5屆新北市議會</a:t>
            </a:r>
          </a:p>
        </p:txBody>
      </p:sp>
      <p:sp>
        <p:nvSpPr>
          <p:cNvPr id="13" name="vo-label-6">
            <a:extLst xmlns:a="http://schemas.openxmlformats.org/drawingml/2006/main">
              <a:ext uri="{FF2B5EF4-FFF2-40B4-BE49-F238E27FC236}">
                <a16:creationId xmlns:a16="http://schemas.microsoft.com/office/drawing/2014/main" id="{6E8D14BE-E0C7-4D2C-A631-26DF298F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47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旁白 / VOICE OVER</a:t>
            </a:r>
          </a:p>
        </p:txBody>
      </p:sp>
      <p:sp>
        <p:nvSpPr>
          <p:cNvPr id="14" name="vo-rule-6">
            <a:extLst xmlns:a="http://schemas.openxmlformats.org/drawingml/2006/main">
              <a:ext uri="{FF2B5EF4-FFF2-40B4-BE49-F238E27FC236}">
                <a16:creationId xmlns:a16="http://schemas.microsoft.com/office/drawing/2014/main" id="{562DD2C7-1E35-40F0-B935-B5FE2722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809750"/>
            <a:ext cx="693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o-copy-6">
            <a:extLst xmlns:a="http://schemas.openxmlformats.org/drawingml/2006/main">
              <a:ext uri="{FF2B5EF4-FFF2-40B4-BE49-F238E27FC236}">
                <a16:creationId xmlns:a16="http://schemas.microsoft.com/office/drawing/2014/main" id="{9EFA7B86-EC7B-4DED-99F0-A0050F41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69342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一座城市，不只被高樓與道路定義。它真正的樣子，藏在每一次出門、每一個等待，也藏在每一聲對未來的期待裡。有人關心上學的路是否安全；有人盼望長輩被好好照顧；有人守著山海與文化；也有人為下一份工作努力。當這些日常被看見，改變，才有開始的地方。看見．共好——第5屆新北市議會。</a:t>
            </a:r>
          </a:p>
        </p:txBody>
      </p:sp>
      <p:sp>
        <p:nvSpPr>
          <p:cNvPr id="16" name="sound-bar-6">
            <a:extLst xmlns:a="http://schemas.openxmlformats.org/drawingml/2006/main">
              <a:ext uri="{FF2B5EF4-FFF2-40B4-BE49-F238E27FC236}">
                <a16:creationId xmlns:a16="http://schemas.microsoft.com/office/drawing/2014/main" id="{77663BB5-9A1A-4EB8-A99B-1BECDA50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5257800"/>
            <a:ext cx="6934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nd-label-6">
            <a:extLst xmlns:a="http://schemas.openxmlformats.org/drawingml/2006/main">
              <a:ext uri="{FF2B5EF4-FFF2-40B4-BE49-F238E27FC236}">
                <a16:creationId xmlns:a16="http://schemas.microsoft.com/office/drawing/2014/main" id="{C41AC45B-60CF-4F5B-9A3E-F6FC0F87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429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聲音</a:t>
            </a:r>
          </a:p>
        </p:txBody>
      </p:sp>
      <p:sp>
        <p:nvSpPr>
          <p:cNvPr id="18" name="sound-copy-6">
            <a:extLst xmlns:a="http://schemas.openxmlformats.org/drawingml/2006/main">
              <a:ext uri="{FF2B5EF4-FFF2-40B4-BE49-F238E27FC236}">
                <a16:creationId xmlns:a16="http://schemas.microsoft.com/office/drawing/2014/main" id="{F7759338-FE3D-4D55-B20C-2FC656D7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3911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環境音先行；鋼琴單音與低頻脈動漸入，片名落版時加入明亮和弦。</a:t>
            </a:r>
          </a:p>
        </p:txBody>
      </p:sp>
      <p:sp>
        <p:nvSpPr>
          <p:cNvPr id="19" name="footer-section-6">
            <a:extLst xmlns:a="http://schemas.openxmlformats.org/drawingml/2006/main">
              <a:ext uri="{FF2B5EF4-FFF2-40B4-BE49-F238E27FC236}">
                <a16:creationId xmlns:a16="http://schemas.microsoft.com/office/drawing/2014/main" id="{DEF4BF17-8EB4-4B7C-9809-93509F29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第一章｜看見日常</a:t>
            </a:r>
          </a:p>
        </p:txBody>
      </p:sp>
      <p:sp>
        <p:nvSpPr>
          <p:cNvPr id="20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CA7A90D3-EA3B-4E8A-B801-D58A1F51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821235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band-7">
            <a:extLst xmlns:a="http://schemas.openxmlformats.org/drawingml/2006/main">
              <a:ext uri="{FF2B5EF4-FFF2-40B4-BE49-F238E27FC236}">
                <a16:creationId xmlns:a16="http://schemas.microsoft.com/office/drawing/2014/main" id="{FB203F62-40E2-432C-A090-46D481E3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-7">
            <a:extLst xmlns:a="http://schemas.openxmlformats.org/drawingml/2006/main">
              <a:ext uri="{FF2B5EF4-FFF2-40B4-BE49-F238E27FC236}">
                <a16:creationId xmlns:a16="http://schemas.microsoft.com/office/drawing/2014/main" id="{636DFEDB-0D56-4FD6-9BED-D03ACFB4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71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section-7">
            <a:extLst xmlns:a="http://schemas.openxmlformats.org/drawingml/2006/main">
              <a:ext uri="{FF2B5EF4-FFF2-40B4-BE49-F238E27FC236}">
                <a16:creationId xmlns:a16="http://schemas.microsoft.com/office/drawing/2014/main" id="{1743A886-33E3-46FB-8DAE-64E166AA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E5A93D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5A93D"/>
                </a:solidFill>
                <a:latin typeface="PingFang TC"/>
                <a:ea typeface="PingFang TC"/>
                <a:cs typeface="PingFang TC"/>
              </a:rPr>
              <a:t>第一章｜看見來路</a:t>
            </a:r>
          </a:p>
        </p:txBody>
      </p:sp>
      <p:sp>
        <p:nvSpPr>
          <p:cNvPr id="4" name="top-title-7">
            <a:extLst xmlns:a="http://schemas.openxmlformats.org/drawingml/2006/main">
              <a:ext uri="{FF2B5EF4-FFF2-40B4-BE49-F238E27FC236}">
                <a16:creationId xmlns:a16="http://schemas.microsoft.com/office/drawing/2014/main" id="{355B0659-A7CC-403C-8C21-D499B711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每一頁議事紀錄，都把民意留在時間裡</a:t>
            </a:r>
          </a:p>
        </p:txBody>
      </p:sp>
      <p:sp>
        <p:nvSpPr>
          <p:cNvPr id="5" name="top-subtitle-7">
            <a:extLst xmlns:a="http://schemas.openxmlformats.org/drawingml/2006/main">
              <a:ext uri="{FF2B5EF4-FFF2-40B4-BE49-F238E27FC236}">
                <a16:creationId xmlns:a16="http://schemas.microsoft.com/office/drawing/2014/main" id="{D94FB641-21E6-4F66-BA11-8BF7DAF0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5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rPr>
              <a:t>00:45—01:30</a:t>
            </a:r>
          </a:p>
        </p:txBody>
      </p:sp>
      <p:sp>
        <p:nvSpPr>
          <p:cNvPr id="6" name="left-rail-7">
            <a:extLst xmlns:a="http://schemas.openxmlformats.org/drawingml/2006/main">
              <a:ext uri="{FF2B5EF4-FFF2-40B4-BE49-F238E27FC236}">
                <a16:creationId xmlns:a16="http://schemas.microsoft.com/office/drawing/2014/main" id="{6E2BFBF8-EBA2-4DD0-9D73-E5DAF525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36004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7" name="rail-accent-7">
            <a:extLst xmlns:a="http://schemas.openxmlformats.org/drawingml/2006/main">
              <a:ext uri="{FF2B5EF4-FFF2-40B4-BE49-F238E27FC236}">
                <a16:creationId xmlns:a16="http://schemas.microsoft.com/office/drawing/2014/main" id="{C11C3A92-D635-41FD-9601-57329C23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952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cene-index-7">
            <a:extLst xmlns:a="http://schemas.openxmlformats.org/drawingml/2006/main">
              <a:ext uri="{FF2B5EF4-FFF2-40B4-BE49-F238E27FC236}">
                <a16:creationId xmlns:a16="http://schemas.microsoft.com/office/drawing/2014/main" id="{D49B3195-90A2-4BC4-BC20-F6963D27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E5A93D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E5A93D"/>
                </a:solidFill>
                <a:latin typeface="PingFang TC"/>
                <a:ea typeface="PingFang TC"/>
                <a:cs typeface="PingFang TC"/>
              </a:rPr>
              <a:t>SC 02</a:t>
            </a:r>
          </a:p>
        </p:txBody>
      </p:sp>
      <p:sp>
        <p:nvSpPr>
          <p:cNvPr id="9" name="visual-label-7">
            <a:extLst xmlns:a="http://schemas.openxmlformats.org/drawingml/2006/main">
              <a:ext uri="{FF2B5EF4-FFF2-40B4-BE49-F238E27FC236}">
                <a16:creationId xmlns:a16="http://schemas.microsoft.com/office/drawing/2014/main" id="{157020E0-ADAB-4C30-B0C5-027A65DF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畫面 / VISUAL</a:t>
            </a:r>
          </a:p>
        </p:txBody>
      </p:sp>
      <p:sp>
        <p:nvSpPr>
          <p:cNvPr id="10" name="visual-copy-7">
            <a:extLst xmlns:a="http://schemas.openxmlformats.org/drawingml/2006/main">
              <a:ext uri="{FF2B5EF4-FFF2-40B4-BE49-F238E27FC236}">
                <a16:creationId xmlns:a16="http://schemas.microsoft.com/office/drawing/2014/main" id="{ADCCE938-C2D0-42FF-8318-032F02AE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3000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會史館老照片、議事錄、席次牌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年代光線：民國35／40／99年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舊議場疊化今日議事廳，停在翻頁</a:t>
            </a:r>
          </a:p>
        </p:txBody>
      </p:sp>
      <p:sp>
        <p:nvSpPr>
          <p:cNvPr id="11" name="onscreen-label-7">
            <a:extLst xmlns:a="http://schemas.openxmlformats.org/drawingml/2006/main">
              <a:ext uri="{FF2B5EF4-FFF2-40B4-BE49-F238E27FC236}">
                <a16:creationId xmlns:a16="http://schemas.microsoft.com/office/drawing/2014/main" id="{841040FD-5B31-47C7-821D-2B0FF55E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字卡 / ON SCREEN</a:t>
            </a:r>
          </a:p>
        </p:txBody>
      </p:sp>
      <p:sp>
        <p:nvSpPr>
          <p:cNvPr id="12" name="onscreen-copy-7">
            <a:extLst xmlns:a="http://schemas.openxmlformats.org/drawingml/2006/main">
              <a:ext uri="{FF2B5EF4-FFF2-40B4-BE49-F238E27FC236}">
                <a16:creationId xmlns:a16="http://schemas.microsoft.com/office/drawing/2014/main" id="{42D6AAE1-5925-414A-95B4-5A0449E7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300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13" b="1">
                <a:solidFill>
                  <a:srgbClr val="E5A93D"/>
                </a:solidFill>
                <a:latin typeface="PingFang TC"/>
                <a:ea typeface="PingFang TC"/>
                <a:cs typeface="PingFang TC"/>
              </a:defRPr>
            </a:pPr>
            <a:r>
              <a:rPr sz="1613" b="1">
                <a:solidFill>
                  <a:srgbClr val="E5A93D"/>
                </a:solidFill>
                <a:latin typeface="PingFang TC"/>
                <a:ea typeface="PingFang TC"/>
                <a:cs typeface="PingFang TC"/>
              </a:rPr>
              <a:t>參議會 → 縣議會 → 新北市議會</a:t>
            </a:r>
          </a:p>
        </p:txBody>
      </p:sp>
      <p:sp>
        <p:nvSpPr>
          <p:cNvPr id="13" name="vo-label-7">
            <a:extLst xmlns:a="http://schemas.openxmlformats.org/drawingml/2006/main">
              <a:ext uri="{FF2B5EF4-FFF2-40B4-BE49-F238E27FC236}">
                <a16:creationId xmlns:a16="http://schemas.microsoft.com/office/drawing/2014/main" id="{A878B46A-0182-43B0-B31A-55D736D3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47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旁白 / VOICE OVER</a:t>
            </a:r>
          </a:p>
        </p:txBody>
      </p:sp>
      <p:sp>
        <p:nvSpPr>
          <p:cNvPr id="14" name="vo-rule-7">
            <a:extLst xmlns:a="http://schemas.openxmlformats.org/drawingml/2006/main">
              <a:ext uri="{FF2B5EF4-FFF2-40B4-BE49-F238E27FC236}">
                <a16:creationId xmlns:a16="http://schemas.microsoft.com/office/drawing/2014/main" id="{E775BFAA-9FAE-46DA-AE35-436D243F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809750"/>
            <a:ext cx="693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o-copy-7">
            <a:extLst xmlns:a="http://schemas.openxmlformats.org/drawingml/2006/main">
              <a:ext uri="{FF2B5EF4-FFF2-40B4-BE49-F238E27FC236}">
                <a16:creationId xmlns:a16="http://schemas.microsoft.com/office/drawing/2014/main" id="{FA3BCFAE-3618-4256-8AAA-189CD923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69342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看見，從傾聽開始。民國三十五年，臺北縣參議會成立；其後走過十六屆臺北縣議會，地方自治在一次次討論與選擇中扎根。民國九十九年，新北市改制為直轄市，新北市議會接續啟程。名稱在變、城市在變，但讓人民的聲音進入公共決策，始終是這座議會不變的起點。</a:t>
            </a:r>
          </a:p>
        </p:txBody>
      </p:sp>
      <p:sp>
        <p:nvSpPr>
          <p:cNvPr id="16" name="sound-bar-7">
            <a:extLst xmlns:a="http://schemas.openxmlformats.org/drawingml/2006/main">
              <a:ext uri="{FF2B5EF4-FFF2-40B4-BE49-F238E27FC236}">
                <a16:creationId xmlns:a16="http://schemas.microsoft.com/office/drawing/2014/main" id="{EFE56EF1-9802-42F6-95A9-CE72765D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5257800"/>
            <a:ext cx="6934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nd-label-7">
            <a:extLst xmlns:a="http://schemas.openxmlformats.org/drawingml/2006/main">
              <a:ext uri="{FF2B5EF4-FFF2-40B4-BE49-F238E27FC236}">
                <a16:creationId xmlns:a16="http://schemas.microsoft.com/office/drawing/2014/main" id="{FB30231F-5690-4D42-B85D-30640753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429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E5A93D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5A93D"/>
                </a:solidFill>
                <a:latin typeface="PingFang TC"/>
                <a:ea typeface="PingFang TC"/>
                <a:cs typeface="PingFang TC"/>
              </a:rPr>
              <a:t>聲音</a:t>
            </a:r>
          </a:p>
        </p:txBody>
      </p:sp>
      <p:sp>
        <p:nvSpPr>
          <p:cNvPr id="18" name="sound-copy-7">
            <a:extLst xmlns:a="http://schemas.openxmlformats.org/drawingml/2006/main">
              <a:ext uri="{FF2B5EF4-FFF2-40B4-BE49-F238E27FC236}">
                <a16:creationId xmlns:a16="http://schemas.microsoft.com/office/drawing/2014/main" id="{DA8C8043-D5E5-4639-9231-9CDE3245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3911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紙張、印章與老式快門聲，逐步轉為今日議場的空間殘響。</a:t>
            </a:r>
          </a:p>
        </p:txBody>
      </p:sp>
      <p:sp>
        <p:nvSpPr>
          <p:cNvPr id="19" name="footer-section-7">
            <a:extLst xmlns:a="http://schemas.openxmlformats.org/drawingml/2006/main">
              <a:ext uri="{FF2B5EF4-FFF2-40B4-BE49-F238E27FC236}">
                <a16:creationId xmlns:a16="http://schemas.microsoft.com/office/drawing/2014/main" id="{70983A8D-5F55-42A4-A6FC-2AAF9A25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第一章｜看見來路</a:t>
            </a:r>
          </a:p>
        </p:txBody>
      </p:sp>
      <p:sp>
        <p:nvSpPr>
          <p:cNvPr id="20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8663CA50-197B-4852-800A-7AC0D284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062360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band-8">
            <a:extLst xmlns:a="http://schemas.openxmlformats.org/drawingml/2006/main">
              <a:ext uri="{FF2B5EF4-FFF2-40B4-BE49-F238E27FC236}">
                <a16:creationId xmlns:a16="http://schemas.microsoft.com/office/drawing/2014/main" id="{C2138CB6-7571-432A-BFEE-383D3D0D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-8">
            <a:extLst xmlns:a="http://schemas.openxmlformats.org/drawingml/2006/main">
              <a:ext uri="{FF2B5EF4-FFF2-40B4-BE49-F238E27FC236}">
                <a16:creationId xmlns:a16="http://schemas.microsoft.com/office/drawing/2014/main" id="{1F380775-2B6E-432C-9E52-80C5CE1C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71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section-8">
            <a:extLst xmlns:a="http://schemas.openxmlformats.org/drawingml/2006/main">
              <a:ext uri="{FF2B5EF4-FFF2-40B4-BE49-F238E27FC236}">
                <a16:creationId xmlns:a16="http://schemas.microsoft.com/office/drawing/2014/main" id="{37534A5E-1193-49E6-AB23-012A9AB9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E96C5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96C57"/>
                </a:solidFill>
                <a:latin typeface="PingFang TC"/>
                <a:ea typeface="PingFang TC"/>
                <a:cs typeface="PingFang TC"/>
              </a:rPr>
              <a:t>第二章｜看見託付</a:t>
            </a:r>
          </a:p>
        </p:txBody>
      </p:sp>
      <p:sp>
        <p:nvSpPr>
          <p:cNvPr id="4" name="top-title-8">
            <a:extLst xmlns:a="http://schemas.openxmlformats.org/drawingml/2006/main">
              <a:ext uri="{FF2B5EF4-FFF2-40B4-BE49-F238E27FC236}">
                <a16:creationId xmlns:a16="http://schemas.microsoft.com/office/drawing/2014/main" id="{DFA380C5-26D0-430D-BB1F-E6639F3A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一張選票是託付，一聲宣誓是承諾</a:t>
            </a:r>
          </a:p>
        </p:txBody>
      </p:sp>
      <p:sp>
        <p:nvSpPr>
          <p:cNvPr id="5" name="top-subtitle-8">
            <a:extLst xmlns:a="http://schemas.openxmlformats.org/drawingml/2006/main">
              <a:ext uri="{FF2B5EF4-FFF2-40B4-BE49-F238E27FC236}">
                <a16:creationId xmlns:a16="http://schemas.microsoft.com/office/drawing/2014/main" id="{8B13639F-6F0C-444E-B9FF-8FD40EC7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5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rPr>
              <a:t>01:30—02:20</a:t>
            </a:r>
          </a:p>
        </p:txBody>
      </p:sp>
      <p:sp>
        <p:nvSpPr>
          <p:cNvPr id="6" name="left-rail-8">
            <a:extLst xmlns:a="http://schemas.openxmlformats.org/drawingml/2006/main">
              <a:ext uri="{FF2B5EF4-FFF2-40B4-BE49-F238E27FC236}">
                <a16:creationId xmlns:a16="http://schemas.microsoft.com/office/drawing/2014/main" id="{CEF5AB32-FDB7-464F-AC3A-4DC7A91A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36004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7" name="rail-accent-8">
            <a:extLst xmlns:a="http://schemas.openxmlformats.org/drawingml/2006/main">
              <a:ext uri="{FF2B5EF4-FFF2-40B4-BE49-F238E27FC236}">
                <a16:creationId xmlns:a16="http://schemas.microsoft.com/office/drawing/2014/main" id="{C35B42DE-198B-483A-BDBE-198EB185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952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cene-index-8">
            <a:extLst xmlns:a="http://schemas.openxmlformats.org/drawingml/2006/main">
              <a:ext uri="{FF2B5EF4-FFF2-40B4-BE49-F238E27FC236}">
                <a16:creationId xmlns:a16="http://schemas.microsoft.com/office/drawing/2014/main" id="{943DB75C-DB15-4DE1-AE40-6F8575F5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E96C57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E96C57"/>
                </a:solidFill>
                <a:latin typeface="PingFang TC"/>
                <a:ea typeface="PingFang TC"/>
                <a:cs typeface="PingFang TC"/>
              </a:rPr>
              <a:t>SC 03</a:t>
            </a:r>
          </a:p>
        </p:txBody>
      </p:sp>
      <p:sp>
        <p:nvSpPr>
          <p:cNvPr id="9" name="visual-label-8">
            <a:extLst xmlns:a="http://schemas.openxmlformats.org/drawingml/2006/main">
              <a:ext uri="{FF2B5EF4-FFF2-40B4-BE49-F238E27FC236}">
                <a16:creationId xmlns:a16="http://schemas.microsoft.com/office/drawing/2014/main" id="{B757BDD2-F307-40A2-8657-27A065D9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畫面 / VISUAL</a:t>
            </a:r>
          </a:p>
        </p:txBody>
      </p:sp>
      <p:sp>
        <p:nvSpPr>
          <p:cNvPr id="10" name="visual-copy-8">
            <a:extLst xmlns:a="http://schemas.openxmlformats.org/drawingml/2006/main">
              <a:ext uri="{FF2B5EF4-FFF2-40B4-BE49-F238E27FC236}">
                <a16:creationId xmlns:a16="http://schemas.microsoft.com/office/drawing/2014/main" id="{67B551D4-9210-4968-AB4A-7CF938E7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3000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第5屆議員報到、胸花與名牌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宣誓全景／誓詞中近景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議長副議長選舉、開票與大合照</a:t>
            </a:r>
          </a:p>
        </p:txBody>
      </p:sp>
      <p:sp>
        <p:nvSpPr>
          <p:cNvPr id="11" name="onscreen-label-8">
            <a:extLst xmlns:a="http://schemas.openxmlformats.org/drawingml/2006/main">
              <a:ext uri="{FF2B5EF4-FFF2-40B4-BE49-F238E27FC236}">
                <a16:creationId xmlns:a16="http://schemas.microsoft.com/office/drawing/2014/main" id="{64A1902F-29F4-4104-9D27-C86EA4BD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字卡 / ON SCREEN</a:t>
            </a:r>
          </a:p>
        </p:txBody>
      </p:sp>
      <p:sp>
        <p:nvSpPr>
          <p:cNvPr id="12" name="onscreen-copy-8">
            <a:extLst xmlns:a="http://schemas.openxmlformats.org/drawingml/2006/main">
              <a:ext uri="{FF2B5EF4-FFF2-40B4-BE49-F238E27FC236}">
                <a16:creationId xmlns:a16="http://schemas.microsoft.com/office/drawing/2014/main" id="{03F16448-BBD2-47E2-8B76-9B34759A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300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13" b="1">
                <a:solidFill>
                  <a:srgbClr val="E96C57"/>
                </a:solidFill>
                <a:latin typeface="PingFang TC"/>
                <a:ea typeface="PingFang TC"/>
                <a:cs typeface="PingFang TC"/>
              </a:defRPr>
            </a:pPr>
            <a:r>
              <a:rPr sz="1613" b="1">
                <a:solidFill>
                  <a:srgbClr val="E96C57"/>
                </a:solidFill>
                <a:latin typeface="PingFang TC"/>
                <a:ea typeface="PingFang TC"/>
                <a:cs typeface="PingFang TC"/>
              </a:rPr>
              <a:t>託付｜宣誓｜啟程</a:t>
            </a:r>
          </a:p>
        </p:txBody>
      </p:sp>
      <p:sp>
        <p:nvSpPr>
          <p:cNvPr id="13" name="vo-label-8">
            <a:extLst xmlns:a="http://schemas.openxmlformats.org/drawingml/2006/main">
              <a:ext uri="{FF2B5EF4-FFF2-40B4-BE49-F238E27FC236}">
                <a16:creationId xmlns:a16="http://schemas.microsoft.com/office/drawing/2014/main" id="{1A0F4876-951A-4D00-962D-DB366327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47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旁白 / VOICE OVER</a:t>
            </a:r>
          </a:p>
        </p:txBody>
      </p:sp>
      <p:sp>
        <p:nvSpPr>
          <p:cNvPr id="14" name="vo-rule-8">
            <a:extLst xmlns:a="http://schemas.openxmlformats.org/drawingml/2006/main">
              <a:ext uri="{FF2B5EF4-FFF2-40B4-BE49-F238E27FC236}">
                <a16:creationId xmlns:a16="http://schemas.microsoft.com/office/drawing/2014/main" id="{21FA7C7B-4A43-4B73-BD20-DE8277BD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809750"/>
            <a:ext cx="693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o-copy-8">
            <a:extLst xmlns:a="http://schemas.openxmlformats.org/drawingml/2006/main">
              <a:ext uri="{FF2B5EF4-FFF2-40B4-BE49-F238E27FC236}">
                <a16:creationId xmlns:a16="http://schemas.microsoft.com/office/drawing/2014/main" id="{9E214A5F-ACA8-4CC8-AC0C-D26104A1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69342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新的任期，從市民手中的一張選票開始。第5屆新北市議會正式啟程，每一席都承接著地方的期待，也共同肩負監督市政、審議公共資源、回應人民需要的責任。當宣誓聲在議事廳響起，那不只是一場典禮；更是一份面向所有新北市民、必須被實踐的承諾。</a:t>
            </a:r>
          </a:p>
        </p:txBody>
      </p:sp>
      <p:sp>
        <p:nvSpPr>
          <p:cNvPr id="16" name="sound-bar-8">
            <a:extLst xmlns:a="http://schemas.openxmlformats.org/drawingml/2006/main">
              <a:ext uri="{FF2B5EF4-FFF2-40B4-BE49-F238E27FC236}">
                <a16:creationId xmlns:a16="http://schemas.microsoft.com/office/drawing/2014/main" id="{75034C7D-46F7-4570-B747-338E028F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5257800"/>
            <a:ext cx="6934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D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nd-label-8">
            <a:extLst xmlns:a="http://schemas.openxmlformats.org/drawingml/2006/main">
              <a:ext uri="{FF2B5EF4-FFF2-40B4-BE49-F238E27FC236}">
                <a16:creationId xmlns:a16="http://schemas.microsoft.com/office/drawing/2014/main" id="{76060491-E996-4516-BCC1-8A36F359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429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E96C57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96C57"/>
                </a:solidFill>
                <a:latin typeface="PingFang TC"/>
                <a:ea typeface="PingFang TC"/>
                <a:cs typeface="PingFang TC"/>
              </a:rPr>
              <a:t>聲音</a:t>
            </a:r>
          </a:p>
        </p:txBody>
      </p:sp>
      <p:sp>
        <p:nvSpPr>
          <p:cNvPr id="18" name="sound-copy-8">
            <a:extLst xmlns:a="http://schemas.openxmlformats.org/drawingml/2006/main">
              <a:ext uri="{FF2B5EF4-FFF2-40B4-BE49-F238E27FC236}">
                <a16:creationId xmlns:a16="http://schemas.microsoft.com/office/drawing/2014/main" id="{83F6C033-7D8D-4E8A-BDE9-3D0D29C0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3911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保留報到、宣誓與開票現場原音；宣誓完成後音樂抬升。</a:t>
            </a:r>
          </a:p>
        </p:txBody>
      </p:sp>
      <p:sp>
        <p:nvSpPr>
          <p:cNvPr id="19" name="footer-section-8">
            <a:extLst xmlns:a="http://schemas.openxmlformats.org/drawingml/2006/main">
              <a:ext uri="{FF2B5EF4-FFF2-40B4-BE49-F238E27FC236}">
                <a16:creationId xmlns:a16="http://schemas.microsoft.com/office/drawing/2014/main" id="{3B006A9A-252A-4B69-ABB7-DEEBF6E0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第二章｜看見託付</a:t>
            </a:r>
          </a:p>
        </p:txBody>
      </p:sp>
      <p:sp>
        <p:nvSpPr>
          <p:cNvPr id="20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E7E20AE7-1029-4FA4-8CBC-AF7C32E2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174034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band-9">
            <a:extLst xmlns:a="http://schemas.openxmlformats.org/drawingml/2006/main">
              <a:ext uri="{FF2B5EF4-FFF2-40B4-BE49-F238E27FC236}">
                <a16:creationId xmlns:a16="http://schemas.microsoft.com/office/drawing/2014/main" id="{7B65AFBC-5D96-44EA-AFF8-FB069425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-9">
            <a:extLst xmlns:a="http://schemas.openxmlformats.org/drawingml/2006/main">
              <a:ext uri="{FF2B5EF4-FFF2-40B4-BE49-F238E27FC236}">
                <a16:creationId xmlns:a16="http://schemas.microsoft.com/office/drawing/2014/main" id="{6F878D31-3A7E-4F6D-A095-5F2593B7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71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section-9">
            <a:extLst xmlns:a="http://schemas.openxmlformats.org/drawingml/2006/main">
              <a:ext uri="{FF2B5EF4-FFF2-40B4-BE49-F238E27FC236}">
                <a16:creationId xmlns:a16="http://schemas.microsoft.com/office/drawing/2014/main" id="{F920EBAA-4CF5-467D-91FE-5737DEC4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3979B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3979B8"/>
                </a:solidFill>
                <a:latin typeface="PingFang TC"/>
                <a:ea typeface="PingFang TC"/>
                <a:cs typeface="PingFang TC"/>
              </a:rPr>
              <a:t>第三章｜看見多元</a:t>
            </a:r>
          </a:p>
        </p:txBody>
      </p:sp>
      <p:sp>
        <p:nvSpPr>
          <p:cNvPr id="4" name="top-title-9">
            <a:extLst xmlns:a="http://schemas.openxmlformats.org/drawingml/2006/main">
              <a:ext uri="{FF2B5EF4-FFF2-40B4-BE49-F238E27FC236}">
                <a16:creationId xmlns:a16="http://schemas.microsoft.com/office/drawing/2014/main" id="{336DA530-E5D5-4514-80B9-CED91C85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從海岸出發，城市的每一種距離都值得被理解</a:t>
            </a:r>
          </a:p>
        </p:txBody>
      </p:sp>
      <p:sp>
        <p:nvSpPr>
          <p:cNvPr id="5" name="top-subtitle-9">
            <a:extLst xmlns:a="http://schemas.openxmlformats.org/drawingml/2006/main">
              <a:ext uri="{FF2B5EF4-FFF2-40B4-BE49-F238E27FC236}">
                <a16:creationId xmlns:a16="http://schemas.microsoft.com/office/drawing/2014/main" id="{B78027C2-09F0-456F-8038-57B375D1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5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rPr>
              <a:t>02:20—03:15</a:t>
            </a:r>
          </a:p>
        </p:txBody>
      </p:sp>
      <p:sp>
        <p:nvSpPr>
          <p:cNvPr id="6" name="left-rail-9">
            <a:extLst xmlns:a="http://schemas.openxmlformats.org/drawingml/2006/main">
              <a:ext uri="{FF2B5EF4-FFF2-40B4-BE49-F238E27FC236}">
                <a16:creationId xmlns:a16="http://schemas.microsoft.com/office/drawing/2014/main" id="{BF31540D-4ACD-4B2A-92A9-B51B06D4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36004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7" name="rail-accent-9">
            <a:extLst xmlns:a="http://schemas.openxmlformats.org/drawingml/2006/main">
              <a:ext uri="{FF2B5EF4-FFF2-40B4-BE49-F238E27FC236}">
                <a16:creationId xmlns:a16="http://schemas.microsoft.com/office/drawing/2014/main" id="{2244861B-CFA0-44BB-B833-3E491ACC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952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cene-index-9">
            <a:extLst xmlns:a="http://schemas.openxmlformats.org/drawingml/2006/main">
              <a:ext uri="{FF2B5EF4-FFF2-40B4-BE49-F238E27FC236}">
                <a16:creationId xmlns:a16="http://schemas.microsoft.com/office/drawing/2014/main" id="{DDDC166D-4135-45EE-8AA0-21C9F0A9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3979B8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3979B8"/>
                </a:solidFill>
                <a:latin typeface="PingFang TC"/>
                <a:ea typeface="PingFang TC"/>
                <a:cs typeface="PingFang TC"/>
              </a:rPr>
              <a:t>SC 04</a:t>
            </a:r>
          </a:p>
        </p:txBody>
      </p:sp>
      <p:sp>
        <p:nvSpPr>
          <p:cNvPr id="9" name="visual-label-9">
            <a:extLst xmlns:a="http://schemas.openxmlformats.org/drawingml/2006/main">
              <a:ext uri="{FF2B5EF4-FFF2-40B4-BE49-F238E27FC236}">
                <a16:creationId xmlns:a16="http://schemas.microsoft.com/office/drawing/2014/main" id="{DF5BBE40-6844-4D8C-AEE3-89529C7E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畫面 / VISUAL</a:t>
            </a:r>
          </a:p>
        </p:txBody>
      </p:sp>
      <p:sp>
        <p:nvSpPr>
          <p:cNvPr id="10" name="visual-copy-9">
            <a:extLst xmlns:a="http://schemas.openxmlformats.org/drawingml/2006/main">
              <a:ext uri="{FF2B5EF4-FFF2-40B4-BE49-F238E27FC236}">
                <a16:creationId xmlns:a16="http://schemas.microsoft.com/office/drawing/2014/main" id="{454344C3-58EF-4380-9D65-C0DD210A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3000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淡水河口日出接北海岸公路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漁港／溫泉／山城／鐵道／海岸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地名：淡水、八里、三芝、石門、金山、萬里、瑞芳、貢寮</a:t>
            </a:r>
          </a:p>
        </p:txBody>
      </p:sp>
      <p:sp>
        <p:nvSpPr>
          <p:cNvPr id="11" name="onscreen-label-9">
            <a:extLst xmlns:a="http://schemas.openxmlformats.org/drawingml/2006/main">
              <a:ext uri="{FF2B5EF4-FFF2-40B4-BE49-F238E27FC236}">
                <a16:creationId xmlns:a16="http://schemas.microsoft.com/office/drawing/2014/main" id="{279C04C6-4B63-4E42-9C41-C042A125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字卡 / ON SCREEN</a:t>
            </a:r>
          </a:p>
        </p:txBody>
      </p:sp>
      <p:sp>
        <p:nvSpPr>
          <p:cNvPr id="12" name="onscreen-copy-9">
            <a:extLst xmlns:a="http://schemas.openxmlformats.org/drawingml/2006/main">
              <a:ext uri="{FF2B5EF4-FFF2-40B4-BE49-F238E27FC236}">
                <a16:creationId xmlns:a16="http://schemas.microsoft.com/office/drawing/2014/main" id="{DE369531-E04D-456E-B0E7-D61F9F9E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300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13" b="1">
                <a:solidFill>
                  <a:srgbClr val="3979B8"/>
                </a:solidFill>
                <a:latin typeface="PingFang TC"/>
                <a:ea typeface="PingFang TC"/>
                <a:cs typeface="PingFang TC"/>
              </a:defRPr>
            </a:pPr>
            <a:r>
              <a:rPr sz="1613" b="1">
                <a:solidFill>
                  <a:srgbClr val="3979B8"/>
                </a:solidFill>
                <a:latin typeface="PingFang TC"/>
                <a:ea typeface="PingFang TC"/>
                <a:cs typeface="PingFang TC"/>
              </a:rPr>
              <a:t>海岸的遠近，也是生活的遠近</a:t>
            </a:r>
          </a:p>
        </p:txBody>
      </p:sp>
      <p:sp>
        <p:nvSpPr>
          <p:cNvPr id="13" name="vo-label-9">
            <a:extLst xmlns:a="http://schemas.openxmlformats.org/drawingml/2006/main">
              <a:ext uri="{FF2B5EF4-FFF2-40B4-BE49-F238E27FC236}">
                <a16:creationId xmlns:a16="http://schemas.microsoft.com/office/drawing/2014/main" id="{E78EF5DB-CC89-4BF0-8B2B-85D7CB8F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47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旁白 / VOICE OVER</a:t>
            </a:r>
          </a:p>
        </p:txBody>
      </p:sp>
      <p:sp>
        <p:nvSpPr>
          <p:cNvPr id="14" name="vo-rule-9">
            <a:extLst xmlns:a="http://schemas.openxmlformats.org/drawingml/2006/main">
              <a:ext uri="{FF2B5EF4-FFF2-40B4-BE49-F238E27FC236}">
                <a16:creationId xmlns:a16="http://schemas.microsoft.com/office/drawing/2014/main" id="{BCCAB8DB-2553-4CB0-92FE-AB924D30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809750"/>
            <a:ext cx="693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o-copy-9">
            <a:extLst xmlns:a="http://schemas.openxmlformats.org/drawingml/2006/main">
              <a:ext uri="{FF2B5EF4-FFF2-40B4-BE49-F238E27FC236}">
                <a16:creationId xmlns:a16="http://schemas.microsoft.com/office/drawing/2014/main" id="{D13D6916-9C41-44DC-8D83-BCF72EA2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69342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沿著淡水河走向海岸，風景遼闊，生活的距離卻很具體。通勤要多一段轉乘，觀光要兼顧居民日常，產業要找到新的機會，山海也需要被長久守護。議會所看見的，不只是地圖上的邊界，而是每一條回家的路、每一個在地生活的選擇。不同地方提出不同需要，也讓城市學會用更多角度思考。</a:t>
            </a:r>
          </a:p>
        </p:txBody>
      </p:sp>
      <p:sp>
        <p:nvSpPr>
          <p:cNvPr id="16" name="sound-bar-9">
            <a:extLst xmlns:a="http://schemas.openxmlformats.org/drawingml/2006/main">
              <a:ext uri="{FF2B5EF4-FFF2-40B4-BE49-F238E27FC236}">
                <a16:creationId xmlns:a16="http://schemas.microsoft.com/office/drawing/2014/main" id="{1E9FDC80-5D9F-4D1C-A7B4-CEA0EE92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5257800"/>
            <a:ext cx="6934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nd-label-9">
            <a:extLst xmlns:a="http://schemas.openxmlformats.org/drawingml/2006/main">
              <a:ext uri="{FF2B5EF4-FFF2-40B4-BE49-F238E27FC236}">
                <a16:creationId xmlns:a16="http://schemas.microsoft.com/office/drawing/2014/main" id="{BFDAB2A9-2DC4-4C3E-B17A-096E3756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429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979B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979B8"/>
                </a:solidFill>
                <a:latin typeface="PingFang TC"/>
                <a:ea typeface="PingFang TC"/>
                <a:cs typeface="PingFang TC"/>
              </a:rPr>
              <a:t>聲音</a:t>
            </a:r>
          </a:p>
        </p:txBody>
      </p:sp>
      <p:sp>
        <p:nvSpPr>
          <p:cNvPr id="18" name="sound-copy-9">
            <a:extLst xmlns:a="http://schemas.openxmlformats.org/drawingml/2006/main">
              <a:ext uri="{FF2B5EF4-FFF2-40B4-BE49-F238E27FC236}">
                <a16:creationId xmlns:a16="http://schemas.microsoft.com/office/drawing/2014/main" id="{3A101B16-7C2E-4C63-B1F8-3D57ED5D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3911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海浪、風聲與列車通過聲交織；節奏由寬廣轉為前進。</a:t>
            </a:r>
          </a:p>
        </p:txBody>
      </p:sp>
      <p:sp>
        <p:nvSpPr>
          <p:cNvPr id="19" name="footer-section-9">
            <a:extLst xmlns:a="http://schemas.openxmlformats.org/drawingml/2006/main">
              <a:ext uri="{FF2B5EF4-FFF2-40B4-BE49-F238E27FC236}">
                <a16:creationId xmlns:a16="http://schemas.microsoft.com/office/drawing/2014/main" id="{88B15C76-64C5-4309-A4DA-83DFC74B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第三章｜看見多元</a:t>
            </a:r>
          </a:p>
        </p:txBody>
      </p:sp>
      <p:sp>
        <p:nvSpPr>
          <p:cNvPr id="20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941252F8-9FDB-42DE-B5BF-C60E7F6F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573893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band-10">
            <a:extLst xmlns:a="http://schemas.openxmlformats.org/drawingml/2006/main">
              <a:ext uri="{FF2B5EF4-FFF2-40B4-BE49-F238E27FC236}">
                <a16:creationId xmlns:a16="http://schemas.microsoft.com/office/drawing/2014/main" id="{DA5A0873-B7AA-477B-8945-F805FFBE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-10">
            <a:extLst xmlns:a="http://schemas.openxmlformats.org/drawingml/2006/main">
              <a:ext uri="{FF2B5EF4-FFF2-40B4-BE49-F238E27FC236}">
                <a16:creationId xmlns:a16="http://schemas.microsoft.com/office/drawing/2014/main" id="{40F69A66-E8FE-4609-8041-C7CE5FCB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71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section-10">
            <a:extLst xmlns:a="http://schemas.openxmlformats.org/drawingml/2006/main">
              <a:ext uri="{FF2B5EF4-FFF2-40B4-BE49-F238E27FC236}">
                <a16:creationId xmlns:a16="http://schemas.microsoft.com/office/drawing/2014/main" id="{946D002D-6B6F-43BC-97FE-C61710C7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3979B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3979B8"/>
                </a:solidFill>
                <a:latin typeface="PingFang TC"/>
                <a:ea typeface="PingFang TC"/>
                <a:cs typeface="PingFang TC"/>
              </a:rPr>
              <a:t>第三章｜看見多元</a:t>
            </a:r>
          </a:p>
        </p:txBody>
      </p:sp>
      <p:sp>
        <p:nvSpPr>
          <p:cNvPr id="4" name="top-title-10">
            <a:extLst xmlns:a="http://schemas.openxmlformats.org/drawingml/2006/main">
              <a:ext uri="{FF2B5EF4-FFF2-40B4-BE49-F238E27FC236}">
                <a16:creationId xmlns:a16="http://schemas.microsoft.com/office/drawing/2014/main" id="{071A0A2E-AA67-43BD-AC33-06D9FC7A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河流連起城市，也連起彼此的日常</a:t>
            </a:r>
          </a:p>
        </p:txBody>
      </p:sp>
      <p:sp>
        <p:nvSpPr>
          <p:cNvPr id="5" name="top-subtitle-10">
            <a:extLst xmlns:a="http://schemas.openxmlformats.org/drawingml/2006/main">
              <a:ext uri="{FF2B5EF4-FFF2-40B4-BE49-F238E27FC236}">
                <a16:creationId xmlns:a16="http://schemas.microsoft.com/office/drawing/2014/main" id="{AB3F6F52-E1C7-496D-9469-BC839972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5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rPr>
              <a:t>03:15—04:10</a:t>
            </a:r>
          </a:p>
        </p:txBody>
      </p:sp>
      <p:sp>
        <p:nvSpPr>
          <p:cNvPr id="6" name="left-rail-10">
            <a:extLst xmlns:a="http://schemas.openxmlformats.org/drawingml/2006/main">
              <a:ext uri="{FF2B5EF4-FFF2-40B4-BE49-F238E27FC236}">
                <a16:creationId xmlns:a16="http://schemas.microsoft.com/office/drawing/2014/main" id="{0F61F0A6-A80A-498C-BED1-071A4948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36004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7" name="rail-accent-10">
            <a:extLst xmlns:a="http://schemas.openxmlformats.org/drawingml/2006/main">
              <a:ext uri="{FF2B5EF4-FFF2-40B4-BE49-F238E27FC236}">
                <a16:creationId xmlns:a16="http://schemas.microsoft.com/office/drawing/2014/main" id="{34CC888D-2A6F-4D4E-A11E-34E3E8BD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952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cene-index-10">
            <a:extLst xmlns:a="http://schemas.openxmlformats.org/drawingml/2006/main">
              <a:ext uri="{FF2B5EF4-FFF2-40B4-BE49-F238E27FC236}">
                <a16:creationId xmlns:a16="http://schemas.microsoft.com/office/drawing/2014/main" id="{71B600C0-7184-4D3C-A76D-4D2C3D78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3979B8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3979B8"/>
                </a:solidFill>
                <a:latin typeface="PingFang TC"/>
                <a:ea typeface="PingFang TC"/>
                <a:cs typeface="PingFang TC"/>
              </a:rPr>
              <a:t>SC 05</a:t>
            </a:r>
          </a:p>
        </p:txBody>
      </p:sp>
      <p:sp>
        <p:nvSpPr>
          <p:cNvPr id="9" name="visual-label-10">
            <a:extLst xmlns:a="http://schemas.openxmlformats.org/drawingml/2006/main">
              <a:ext uri="{FF2B5EF4-FFF2-40B4-BE49-F238E27FC236}">
                <a16:creationId xmlns:a16="http://schemas.microsoft.com/office/drawing/2014/main" id="{53EE7A6D-4D57-4491-92A9-2C206B17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畫面 / VISUAL</a:t>
            </a:r>
          </a:p>
        </p:txBody>
      </p:sp>
      <p:sp>
        <p:nvSpPr>
          <p:cNvPr id="10" name="visual-copy-10">
            <a:extLst xmlns:a="http://schemas.openxmlformats.org/drawingml/2006/main">
              <a:ext uri="{FF2B5EF4-FFF2-40B4-BE49-F238E27FC236}">
                <a16:creationId xmlns:a16="http://schemas.microsoft.com/office/drawing/2014/main" id="{3DFDE833-45B4-455C-BB5D-7357E650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3000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河流、橋梁與自行車道空拍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捷運／公車／市場／托育／長照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地名：板橋、新莊、三重、蘆洲、五股、泰山、林口、永和、中和</a:t>
            </a:r>
          </a:p>
        </p:txBody>
      </p:sp>
      <p:sp>
        <p:nvSpPr>
          <p:cNvPr id="11" name="onscreen-label-10">
            <a:extLst xmlns:a="http://schemas.openxmlformats.org/drawingml/2006/main">
              <a:ext uri="{FF2B5EF4-FFF2-40B4-BE49-F238E27FC236}">
                <a16:creationId xmlns:a16="http://schemas.microsoft.com/office/drawing/2014/main" id="{4F447E3F-2A39-49C2-9F3B-14D1AC8F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字卡 / ON SCREEN</a:t>
            </a:r>
          </a:p>
        </p:txBody>
      </p:sp>
      <p:sp>
        <p:nvSpPr>
          <p:cNvPr id="12" name="onscreen-copy-10">
            <a:extLst xmlns:a="http://schemas.openxmlformats.org/drawingml/2006/main">
              <a:ext uri="{FF2B5EF4-FFF2-40B4-BE49-F238E27FC236}">
                <a16:creationId xmlns:a16="http://schemas.microsoft.com/office/drawing/2014/main" id="{9F40CD8A-5EF6-41E7-8DE0-784D73B0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300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13" b="1">
                <a:solidFill>
                  <a:srgbClr val="3979B8"/>
                </a:solidFill>
                <a:latin typeface="PingFang TC"/>
                <a:ea typeface="PingFang TC"/>
                <a:cs typeface="PingFang TC"/>
              </a:defRPr>
            </a:pPr>
            <a:r>
              <a:rPr sz="1613" b="1">
                <a:solidFill>
                  <a:srgbClr val="3979B8"/>
                </a:solidFill>
                <a:latin typeface="PingFang TC"/>
                <a:ea typeface="PingFang TC"/>
                <a:cs typeface="PingFang TC"/>
              </a:rPr>
              <a:t>移動｜居住｜照顧</a:t>
            </a:r>
          </a:p>
        </p:txBody>
      </p:sp>
      <p:sp>
        <p:nvSpPr>
          <p:cNvPr id="13" name="vo-label-10">
            <a:extLst xmlns:a="http://schemas.openxmlformats.org/drawingml/2006/main">
              <a:ext uri="{FF2B5EF4-FFF2-40B4-BE49-F238E27FC236}">
                <a16:creationId xmlns:a16="http://schemas.microsoft.com/office/drawing/2014/main" id="{671EE710-03F3-45B8-B2E2-687F2502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47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旁白 / VOICE OVER</a:t>
            </a:r>
          </a:p>
        </p:txBody>
      </p:sp>
      <p:sp>
        <p:nvSpPr>
          <p:cNvPr id="14" name="vo-rule-10">
            <a:extLst xmlns:a="http://schemas.openxmlformats.org/drawingml/2006/main">
              <a:ext uri="{FF2B5EF4-FFF2-40B4-BE49-F238E27FC236}">
                <a16:creationId xmlns:a16="http://schemas.microsoft.com/office/drawing/2014/main" id="{88EAEDD7-29A5-464B-AB30-C077FDB7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809750"/>
            <a:ext cx="693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o-copy-10">
            <a:extLst xmlns:a="http://schemas.openxmlformats.org/drawingml/2006/main">
              <a:ext uri="{FF2B5EF4-FFF2-40B4-BE49-F238E27FC236}">
                <a16:creationId xmlns:a16="http://schemas.microsoft.com/office/drawing/2014/main" id="{D6A79EB2-22FF-4BB3-9511-5CAB1E0A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69342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河流穿過都會，也把居住、交通與照顧緊緊連在一起。對每天移動的人來說，幾分鐘就是生活品質；對正在養育孩子、陪伴長輩的家庭來說，一個可靠的服務據點，就是安心。面對快速變動的城市，議員走進社區、聽見差異，讓道路、住宅、公共空間與社會照顧，都能回到人的需要。</a:t>
            </a:r>
          </a:p>
        </p:txBody>
      </p:sp>
      <p:sp>
        <p:nvSpPr>
          <p:cNvPr id="16" name="sound-bar-10">
            <a:extLst xmlns:a="http://schemas.openxmlformats.org/drawingml/2006/main">
              <a:ext uri="{FF2B5EF4-FFF2-40B4-BE49-F238E27FC236}">
                <a16:creationId xmlns:a16="http://schemas.microsoft.com/office/drawing/2014/main" id="{3AE92316-C194-40DC-BB77-7831FE71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5257800"/>
            <a:ext cx="6934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nd-label-10">
            <a:extLst xmlns:a="http://schemas.openxmlformats.org/drawingml/2006/main">
              <a:ext uri="{FF2B5EF4-FFF2-40B4-BE49-F238E27FC236}">
                <a16:creationId xmlns:a16="http://schemas.microsoft.com/office/drawing/2014/main" id="{178EDE89-9656-4E0D-A489-1206FAF5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429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979B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979B8"/>
                </a:solidFill>
                <a:latin typeface="PingFang TC"/>
                <a:ea typeface="PingFang TC"/>
                <a:cs typeface="PingFang TC"/>
              </a:rPr>
              <a:t>聲音</a:t>
            </a:r>
          </a:p>
        </p:txBody>
      </p:sp>
      <p:sp>
        <p:nvSpPr>
          <p:cNvPr id="18" name="sound-copy-10">
            <a:extLst xmlns:a="http://schemas.openxmlformats.org/drawingml/2006/main">
              <a:ext uri="{FF2B5EF4-FFF2-40B4-BE49-F238E27FC236}">
                <a16:creationId xmlns:a16="http://schemas.microsoft.com/office/drawing/2014/main" id="{CD0FC180-5310-465D-AAF2-6E25C36F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3911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交通節拍與人群環境音；中段加入孩童笑聲與公園自然音。</a:t>
            </a:r>
          </a:p>
        </p:txBody>
      </p:sp>
      <p:sp>
        <p:nvSpPr>
          <p:cNvPr id="19" name="footer-section-10">
            <a:extLst xmlns:a="http://schemas.openxmlformats.org/drawingml/2006/main">
              <a:ext uri="{FF2B5EF4-FFF2-40B4-BE49-F238E27FC236}">
                <a16:creationId xmlns:a16="http://schemas.microsoft.com/office/drawing/2014/main" id="{775BB344-C0DB-45D9-9063-8C77961F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第三章｜看見多元</a:t>
            </a:r>
          </a:p>
        </p:txBody>
      </p:sp>
      <p:sp>
        <p:nvSpPr>
          <p:cNvPr id="20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A382D4F9-52CA-4571-8F21-2FC8C494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890659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band-11">
            <a:extLst xmlns:a="http://schemas.openxmlformats.org/drawingml/2006/main">
              <a:ext uri="{FF2B5EF4-FFF2-40B4-BE49-F238E27FC236}">
                <a16:creationId xmlns:a16="http://schemas.microsoft.com/office/drawing/2014/main" id="{B36EC84E-B7CF-43B1-B235-2789E94D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-11">
            <a:extLst xmlns:a="http://schemas.openxmlformats.org/drawingml/2006/main">
              <a:ext uri="{FF2B5EF4-FFF2-40B4-BE49-F238E27FC236}">
                <a16:creationId xmlns:a16="http://schemas.microsoft.com/office/drawing/2014/main" id="{36F4D5DA-823E-48A2-8E26-A9C7242D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71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section-11">
            <a:extLst xmlns:a="http://schemas.openxmlformats.org/drawingml/2006/main">
              <a:ext uri="{FF2B5EF4-FFF2-40B4-BE49-F238E27FC236}">
                <a16:creationId xmlns:a16="http://schemas.microsoft.com/office/drawing/2014/main" id="{EB2879EA-E0E9-4E4A-B677-74F53756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3979B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3979B8"/>
                </a:solidFill>
                <a:latin typeface="PingFang TC"/>
                <a:ea typeface="PingFang TC"/>
                <a:cs typeface="PingFang TC"/>
              </a:rPr>
              <a:t>第三章｜看見多元</a:t>
            </a:r>
          </a:p>
        </p:txBody>
      </p:sp>
      <p:sp>
        <p:nvSpPr>
          <p:cNvPr id="4" name="top-title-11">
            <a:extLst xmlns:a="http://schemas.openxmlformats.org/drawingml/2006/main">
              <a:ext uri="{FF2B5EF4-FFF2-40B4-BE49-F238E27FC236}">
                <a16:creationId xmlns:a16="http://schemas.microsoft.com/office/drawing/2014/main" id="{38A0293E-4F65-418F-893B-8255723E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產業向前，文化與生活也要一起留下</a:t>
            </a:r>
          </a:p>
        </p:txBody>
      </p:sp>
      <p:sp>
        <p:nvSpPr>
          <p:cNvPr id="5" name="top-subtitle-11">
            <a:extLst xmlns:a="http://schemas.openxmlformats.org/drawingml/2006/main">
              <a:ext uri="{FF2B5EF4-FFF2-40B4-BE49-F238E27FC236}">
                <a16:creationId xmlns:a16="http://schemas.microsoft.com/office/drawing/2014/main" id="{7C7C6C60-8CA1-4A55-B20D-3BDCB8D3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5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rPr>
              <a:t>04:10—05:05</a:t>
            </a:r>
          </a:p>
        </p:txBody>
      </p:sp>
      <p:sp>
        <p:nvSpPr>
          <p:cNvPr id="6" name="left-rail-11">
            <a:extLst xmlns:a="http://schemas.openxmlformats.org/drawingml/2006/main">
              <a:ext uri="{FF2B5EF4-FFF2-40B4-BE49-F238E27FC236}">
                <a16:creationId xmlns:a16="http://schemas.microsoft.com/office/drawing/2014/main" id="{27C1FCD3-5B4A-45A1-B04E-DCD03A90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36004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7" name="rail-accent-11">
            <a:extLst xmlns:a="http://schemas.openxmlformats.org/drawingml/2006/main">
              <a:ext uri="{FF2B5EF4-FFF2-40B4-BE49-F238E27FC236}">
                <a16:creationId xmlns:a16="http://schemas.microsoft.com/office/drawing/2014/main" id="{FA22326C-3B2B-4DF9-A483-E3257BD9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952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cene-index-11">
            <a:extLst xmlns:a="http://schemas.openxmlformats.org/drawingml/2006/main">
              <a:ext uri="{FF2B5EF4-FFF2-40B4-BE49-F238E27FC236}">
                <a16:creationId xmlns:a16="http://schemas.microsoft.com/office/drawing/2014/main" id="{86B8C299-DD28-4AD4-BC77-B74FAC14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3979B8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3979B8"/>
                </a:solidFill>
                <a:latin typeface="PingFang TC"/>
                <a:ea typeface="PingFang TC"/>
                <a:cs typeface="PingFang TC"/>
              </a:rPr>
              <a:t>SC 06</a:t>
            </a:r>
          </a:p>
        </p:txBody>
      </p:sp>
      <p:sp>
        <p:nvSpPr>
          <p:cNvPr id="9" name="visual-label-11">
            <a:extLst xmlns:a="http://schemas.openxmlformats.org/drawingml/2006/main">
              <a:ext uri="{FF2B5EF4-FFF2-40B4-BE49-F238E27FC236}">
                <a16:creationId xmlns:a16="http://schemas.microsoft.com/office/drawing/2014/main" id="{83DE8F92-97D0-42B5-A6EE-3155D37F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畫面 / VISUAL</a:t>
            </a:r>
          </a:p>
        </p:txBody>
      </p:sp>
      <p:sp>
        <p:nvSpPr>
          <p:cNvPr id="10" name="visual-copy-11">
            <a:extLst xmlns:a="http://schemas.openxmlformats.org/drawingml/2006/main">
              <a:ext uri="{FF2B5EF4-FFF2-40B4-BE49-F238E27FC236}">
                <a16:creationId xmlns:a16="http://schemas.microsoft.com/office/drawing/2014/main" id="{4CAFE216-1DFF-4441-BC13-185817B2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3000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工業區、商圈、科技辦公與青年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鶯歌陶作、三峽老街、樹林土城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地名：土城、樹林、鶯歌、三峽、汐止、新店</a:t>
            </a:r>
          </a:p>
        </p:txBody>
      </p:sp>
      <p:sp>
        <p:nvSpPr>
          <p:cNvPr id="11" name="onscreen-label-11">
            <a:extLst xmlns:a="http://schemas.openxmlformats.org/drawingml/2006/main">
              <a:ext uri="{FF2B5EF4-FFF2-40B4-BE49-F238E27FC236}">
                <a16:creationId xmlns:a16="http://schemas.microsoft.com/office/drawing/2014/main" id="{C576528D-0167-49E6-8BC4-4260735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字卡 / ON SCREEN</a:t>
            </a:r>
          </a:p>
        </p:txBody>
      </p:sp>
      <p:sp>
        <p:nvSpPr>
          <p:cNvPr id="12" name="onscreen-copy-11">
            <a:extLst xmlns:a="http://schemas.openxmlformats.org/drawingml/2006/main">
              <a:ext uri="{FF2B5EF4-FFF2-40B4-BE49-F238E27FC236}">
                <a16:creationId xmlns:a16="http://schemas.microsoft.com/office/drawing/2014/main" id="{F3ECFC5E-BD8C-41FB-A511-115C1ED7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300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13" b="1">
                <a:solidFill>
                  <a:srgbClr val="3979B8"/>
                </a:solidFill>
                <a:latin typeface="PingFang TC"/>
                <a:ea typeface="PingFang TC"/>
                <a:cs typeface="PingFang TC"/>
              </a:defRPr>
            </a:pPr>
            <a:r>
              <a:rPr sz="1613" b="1">
                <a:solidFill>
                  <a:srgbClr val="3979B8"/>
                </a:solidFill>
                <a:latin typeface="PingFang TC"/>
                <a:ea typeface="PingFang TC"/>
                <a:cs typeface="PingFang TC"/>
              </a:rPr>
              <a:t>發展，不必以失去為代價</a:t>
            </a:r>
          </a:p>
        </p:txBody>
      </p:sp>
      <p:sp>
        <p:nvSpPr>
          <p:cNvPr id="13" name="vo-label-11">
            <a:extLst xmlns:a="http://schemas.openxmlformats.org/drawingml/2006/main">
              <a:ext uri="{FF2B5EF4-FFF2-40B4-BE49-F238E27FC236}">
                <a16:creationId xmlns:a16="http://schemas.microsoft.com/office/drawing/2014/main" id="{5C7376AE-F51D-46C7-B6EF-734B65AD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47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旁白 / VOICE OVER</a:t>
            </a:r>
          </a:p>
        </p:txBody>
      </p:sp>
      <p:sp>
        <p:nvSpPr>
          <p:cNvPr id="14" name="vo-rule-11">
            <a:extLst xmlns:a="http://schemas.openxmlformats.org/drawingml/2006/main">
              <a:ext uri="{FF2B5EF4-FFF2-40B4-BE49-F238E27FC236}">
                <a16:creationId xmlns:a16="http://schemas.microsoft.com/office/drawing/2014/main" id="{45FC3F1B-9C4B-4C32-9705-F77372B6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809750"/>
            <a:ext cx="693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o-copy-11">
            <a:extLst xmlns:a="http://schemas.openxmlformats.org/drawingml/2006/main">
              <a:ext uri="{FF2B5EF4-FFF2-40B4-BE49-F238E27FC236}">
                <a16:creationId xmlns:a16="http://schemas.microsoft.com/office/drawing/2014/main" id="{CBC0B626-122B-4056-A9B3-2DDC6957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69342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城市要前進，不代表所有熟悉的事物都必須退場。產業升級帶來新的工作與速度，老街、工藝、聚落記憶，則提醒我們從哪裡走來。議會在發展與保存之間持續提問：資源是否公平？建設是否回應地方？改變能不能讓更多人共享？真正的進步，是讓創新有空間，也讓文化與生活保有位置。</a:t>
            </a:r>
          </a:p>
        </p:txBody>
      </p:sp>
      <p:sp>
        <p:nvSpPr>
          <p:cNvPr id="16" name="sound-bar-11">
            <a:extLst xmlns:a="http://schemas.openxmlformats.org/drawingml/2006/main">
              <a:ext uri="{FF2B5EF4-FFF2-40B4-BE49-F238E27FC236}">
                <a16:creationId xmlns:a16="http://schemas.microsoft.com/office/drawing/2014/main" id="{C3A09DEA-D0A5-49A6-9CDD-4FA5DAAE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5257800"/>
            <a:ext cx="6934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nd-label-11">
            <a:extLst xmlns:a="http://schemas.openxmlformats.org/drawingml/2006/main">
              <a:ext uri="{FF2B5EF4-FFF2-40B4-BE49-F238E27FC236}">
                <a16:creationId xmlns:a16="http://schemas.microsoft.com/office/drawing/2014/main" id="{F5C51166-092A-4B0B-9AC6-154A9577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429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979B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979B8"/>
                </a:solidFill>
                <a:latin typeface="PingFang TC"/>
                <a:ea typeface="PingFang TC"/>
                <a:cs typeface="PingFang TC"/>
              </a:rPr>
              <a:t>聲音</a:t>
            </a:r>
          </a:p>
        </p:txBody>
      </p:sp>
      <p:sp>
        <p:nvSpPr>
          <p:cNvPr id="18" name="sound-copy-11">
            <a:extLst xmlns:a="http://schemas.openxmlformats.org/drawingml/2006/main">
              <a:ext uri="{FF2B5EF4-FFF2-40B4-BE49-F238E27FC236}">
                <a16:creationId xmlns:a16="http://schemas.microsoft.com/office/drawing/2014/main" id="{C5765B99-1375-4D95-97D9-947ED590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3911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機械節奏、鍵盤聲與陶土摩擦聲混合，形成新舊共存的聲響。</a:t>
            </a:r>
          </a:p>
        </p:txBody>
      </p:sp>
      <p:sp>
        <p:nvSpPr>
          <p:cNvPr id="19" name="footer-section-11">
            <a:extLst xmlns:a="http://schemas.openxmlformats.org/drawingml/2006/main">
              <a:ext uri="{FF2B5EF4-FFF2-40B4-BE49-F238E27FC236}">
                <a16:creationId xmlns:a16="http://schemas.microsoft.com/office/drawing/2014/main" id="{2E314BCA-4D9A-4A7E-B063-7C9ED634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第三章｜看見多元</a:t>
            </a:r>
          </a:p>
        </p:txBody>
      </p:sp>
      <p:sp>
        <p:nvSpPr>
          <p:cNvPr id="20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C95627D4-39AE-4358-8A45-622FC226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202191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band-12">
            <a:extLst xmlns:a="http://schemas.openxmlformats.org/drawingml/2006/main">
              <a:ext uri="{FF2B5EF4-FFF2-40B4-BE49-F238E27FC236}">
                <a16:creationId xmlns:a16="http://schemas.microsoft.com/office/drawing/2014/main" id="{734E2E06-3396-405A-AA0B-C2697ABA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-12">
            <a:extLst xmlns:a="http://schemas.openxmlformats.org/drawingml/2006/main">
              <a:ext uri="{FF2B5EF4-FFF2-40B4-BE49-F238E27FC236}">
                <a16:creationId xmlns:a16="http://schemas.microsoft.com/office/drawing/2014/main" id="{0DB1A22D-FC9A-436A-A24D-12A192E2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71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section-12">
            <a:extLst xmlns:a="http://schemas.openxmlformats.org/drawingml/2006/main">
              <a:ext uri="{FF2B5EF4-FFF2-40B4-BE49-F238E27FC236}">
                <a16:creationId xmlns:a16="http://schemas.microsoft.com/office/drawing/2014/main" id="{B75FB1C5-6168-494A-B7FD-FFCE6DA0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3979B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3979B8"/>
                </a:solidFill>
                <a:latin typeface="PingFang TC"/>
                <a:ea typeface="PingFang TC"/>
                <a:cs typeface="PingFang TC"/>
              </a:rPr>
              <a:t>第三章｜看見多元</a:t>
            </a:r>
          </a:p>
        </p:txBody>
      </p:sp>
      <p:sp>
        <p:nvSpPr>
          <p:cNvPr id="4" name="top-title-12">
            <a:extLst xmlns:a="http://schemas.openxmlformats.org/drawingml/2006/main">
              <a:ext uri="{FF2B5EF4-FFF2-40B4-BE49-F238E27FC236}">
                <a16:creationId xmlns:a16="http://schemas.microsoft.com/office/drawing/2014/main" id="{4A5A7BDD-3110-46CF-9246-45DE13E6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山林、聚落與族群，讓新北擁有更寬廣的聲音</a:t>
            </a:r>
          </a:p>
        </p:txBody>
      </p:sp>
      <p:sp>
        <p:nvSpPr>
          <p:cNvPr id="5" name="top-subtitle-12">
            <a:extLst xmlns:a="http://schemas.openxmlformats.org/drawingml/2006/main">
              <a:ext uri="{FF2B5EF4-FFF2-40B4-BE49-F238E27FC236}">
                <a16:creationId xmlns:a16="http://schemas.microsoft.com/office/drawing/2014/main" id="{C04A8145-DD1D-44F5-9D21-8D3E902F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5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rPr>
              <a:t>05:05—05:50</a:t>
            </a:r>
          </a:p>
        </p:txBody>
      </p:sp>
      <p:sp>
        <p:nvSpPr>
          <p:cNvPr id="6" name="left-rail-12">
            <a:extLst xmlns:a="http://schemas.openxmlformats.org/drawingml/2006/main">
              <a:ext uri="{FF2B5EF4-FFF2-40B4-BE49-F238E27FC236}">
                <a16:creationId xmlns:a16="http://schemas.microsoft.com/office/drawing/2014/main" id="{62577C0D-6D5A-4608-AEA2-A053B789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36004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7" name="rail-accent-12">
            <a:extLst xmlns:a="http://schemas.openxmlformats.org/drawingml/2006/main">
              <a:ext uri="{FF2B5EF4-FFF2-40B4-BE49-F238E27FC236}">
                <a16:creationId xmlns:a16="http://schemas.microsoft.com/office/drawing/2014/main" id="{A31C320E-2695-41DF-8E27-4103C932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952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cene-index-12">
            <a:extLst xmlns:a="http://schemas.openxmlformats.org/drawingml/2006/main">
              <a:ext uri="{FF2B5EF4-FFF2-40B4-BE49-F238E27FC236}">
                <a16:creationId xmlns:a16="http://schemas.microsoft.com/office/drawing/2014/main" id="{6003CCED-CFAA-481D-AAA4-DC5285B8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3979B8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3979B8"/>
                </a:solidFill>
                <a:latin typeface="PingFang TC"/>
                <a:ea typeface="PingFang TC"/>
                <a:cs typeface="PingFang TC"/>
              </a:rPr>
              <a:t>SC 07</a:t>
            </a:r>
          </a:p>
        </p:txBody>
      </p:sp>
      <p:sp>
        <p:nvSpPr>
          <p:cNvPr id="9" name="visual-label-12">
            <a:extLst xmlns:a="http://schemas.openxmlformats.org/drawingml/2006/main">
              <a:ext uri="{FF2B5EF4-FFF2-40B4-BE49-F238E27FC236}">
                <a16:creationId xmlns:a16="http://schemas.microsoft.com/office/drawing/2014/main" id="{124896B3-E13F-4FA5-9DD5-8A593BA2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畫面 / VISUAL</a:t>
            </a:r>
          </a:p>
        </p:txBody>
      </p:sp>
      <p:sp>
        <p:nvSpPr>
          <p:cNvPr id="10" name="visual-copy-12">
            <a:extLst xmlns:a="http://schemas.openxmlformats.org/drawingml/2006/main">
              <a:ext uri="{FF2B5EF4-FFF2-40B4-BE49-F238E27FC236}">
                <a16:creationId xmlns:a16="http://schemas.microsoft.com/office/drawing/2014/main" id="{02EE5F15-D9A7-4726-9D3D-B27BD33B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3000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溪流、茶園、山路與聚落晨霧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原住民族、青年與長者生活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地名：深坑、石碇、坪林、平溪、雙溪、烏來；29區匯聚</a:t>
            </a:r>
          </a:p>
        </p:txBody>
      </p:sp>
      <p:sp>
        <p:nvSpPr>
          <p:cNvPr id="11" name="onscreen-label-12">
            <a:extLst xmlns:a="http://schemas.openxmlformats.org/drawingml/2006/main">
              <a:ext uri="{FF2B5EF4-FFF2-40B4-BE49-F238E27FC236}">
                <a16:creationId xmlns:a16="http://schemas.microsoft.com/office/drawing/2014/main" id="{0C92A57F-4EA8-44EA-9A2D-3F567BE7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字卡 / ON SCREEN</a:t>
            </a:r>
          </a:p>
        </p:txBody>
      </p:sp>
      <p:sp>
        <p:nvSpPr>
          <p:cNvPr id="12" name="onscreen-copy-12">
            <a:extLst xmlns:a="http://schemas.openxmlformats.org/drawingml/2006/main">
              <a:ext uri="{FF2B5EF4-FFF2-40B4-BE49-F238E27FC236}">
                <a16:creationId xmlns:a16="http://schemas.microsoft.com/office/drawing/2014/main" id="{6B6F322E-A495-4E80-B339-DD6DA748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300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13" b="1">
                <a:solidFill>
                  <a:srgbClr val="3979B8"/>
                </a:solidFill>
                <a:latin typeface="PingFang TC"/>
                <a:ea typeface="PingFang TC"/>
                <a:cs typeface="PingFang TC"/>
              </a:defRPr>
            </a:pPr>
            <a:r>
              <a:rPr sz="1613" b="1">
                <a:solidFill>
                  <a:srgbClr val="3979B8"/>
                </a:solidFill>
                <a:latin typeface="PingFang TC"/>
                <a:ea typeface="PingFang TC"/>
                <a:cs typeface="PingFang TC"/>
              </a:rPr>
              <a:t>多元，不只是並列；是彼此被理解</a:t>
            </a:r>
          </a:p>
        </p:txBody>
      </p:sp>
      <p:sp>
        <p:nvSpPr>
          <p:cNvPr id="13" name="vo-label-12">
            <a:extLst xmlns:a="http://schemas.openxmlformats.org/drawingml/2006/main">
              <a:ext uri="{FF2B5EF4-FFF2-40B4-BE49-F238E27FC236}">
                <a16:creationId xmlns:a16="http://schemas.microsoft.com/office/drawing/2014/main" id="{F3BA4EAD-9BD1-4FE3-B2DD-11CB620D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47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旁白 / VOICE OVER</a:t>
            </a:r>
          </a:p>
        </p:txBody>
      </p:sp>
      <p:sp>
        <p:nvSpPr>
          <p:cNvPr id="14" name="vo-rule-12">
            <a:extLst xmlns:a="http://schemas.openxmlformats.org/drawingml/2006/main">
              <a:ext uri="{FF2B5EF4-FFF2-40B4-BE49-F238E27FC236}">
                <a16:creationId xmlns:a16="http://schemas.microsoft.com/office/drawing/2014/main" id="{888C5AC6-9373-4FDF-8680-4392E9C8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809750"/>
            <a:ext cx="693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o-copy-12">
            <a:extLst xmlns:a="http://schemas.openxmlformats.org/drawingml/2006/main">
              <a:ext uri="{FF2B5EF4-FFF2-40B4-BE49-F238E27FC236}">
                <a16:creationId xmlns:a16="http://schemas.microsoft.com/office/drawing/2014/main" id="{9E1D363B-1F10-49F5-9029-2E432C44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69342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走進山林與聚落，距離、照顧、文化傳承與安全，都有不同的答案。原住民族的聲音、地方長者的經驗、青年返鄉的選擇，讓新北不只有一種樣貌。議會的責任，是讓少數不被淹沒、讓偏遠不被忽略，也讓每一種生活方式，都能在公共討論中擁有位置。看見差異，才有可能一起走向共好。</a:t>
            </a:r>
          </a:p>
        </p:txBody>
      </p:sp>
      <p:sp>
        <p:nvSpPr>
          <p:cNvPr id="16" name="sound-bar-12">
            <a:extLst xmlns:a="http://schemas.openxmlformats.org/drawingml/2006/main">
              <a:ext uri="{FF2B5EF4-FFF2-40B4-BE49-F238E27FC236}">
                <a16:creationId xmlns:a16="http://schemas.microsoft.com/office/drawing/2014/main" id="{EB032D94-2650-4A77-9DB4-BAAD84F5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5257800"/>
            <a:ext cx="6934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nd-label-12">
            <a:extLst xmlns:a="http://schemas.openxmlformats.org/drawingml/2006/main">
              <a:ext uri="{FF2B5EF4-FFF2-40B4-BE49-F238E27FC236}">
                <a16:creationId xmlns:a16="http://schemas.microsoft.com/office/drawing/2014/main" id="{BF20AEA8-786A-4B3D-BE3D-B82FA333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429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979B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979B8"/>
                </a:solidFill>
                <a:latin typeface="PingFang TC"/>
                <a:ea typeface="PingFang TC"/>
                <a:cs typeface="PingFang TC"/>
              </a:rPr>
              <a:t>聲音</a:t>
            </a:r>
          </a:p>
        </p:txBody>
      </p:sp>
      <p:sp>
        <p:nvSpPr>
          <p:cNvPr id="18" name="sound-copy-12">
            <a:extLst xmlns:a="http://schemas.openxmlformats.org/drawingml/2006/main">
              <a:ext uri="{FF2B5EF4-FFF2-40B4-BE49-F238E27FC236}">
                <a16:creationId xmlns:a16="http://schemas.microsoft.com/office/drawing/2014/main" id="{8F3BA87D-44BD-44E9-895A-DED7E2DD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3911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溪流、鳥鳴與族群生活環境音；尾端加入溫暖弦樂，帶入議事段落。</a:t>
            </a:r>
          </a:p>
        </p:txBody>
      </p:sp>
      <p:sp>
        <p:nvSpPr>
          <p:cNvPr id="19" name="footer-section-12">
            <a:extLst xmlns:a="http://schemas.openxmlformats.org/drawingml/2006/main">
              <a:ext uri="{FF2B5EF4-FFF2-40B4-BE49-F238E27FC236}">
                <a16:creationId xmlns:a16="http://schemas.microsoft.com/office/drawing/2014/main" id="{0BCBB47C-1295-463E-B422-8A66363C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第三章｜看見多元</a:t>
            </a:r>
          </a:p>
        </p:txBody>
      </p:sp>
      <p:sp>
        <p:nvSpPr>
          <p:cNvPr id="20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FB11DCD7-60CA-4B08-AA65-E3E824DD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945426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band-13">
            <a:extLst xmlns:a="http://schemas.openxmlformats.org/drawingml/2006/main">
              <a:ext uri="{FF2B5EF4-FFF2-40B4-BE49-F238E27FC236}">
                <a16:creationId xmlns:a16="http://schemas.microsoft.com/office/drawing/2014/main" id="{33E28152-1274-4A96-B46B-2686180B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-13">
            <a:extLst xmlns:a="http://schemas.openxmlformats.org/drawingml/2006/main">
              <a:ext uri="{FF2B5EF4-FFF2-40B4-BE49-F238E27FC236}">
                <a16:creationId xmlns:a16="http://schemas.microsoft.com/office/drawing/2014/main" id="{0E9839EC-1B81-43AF-A4A9-714B32FB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71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section-13">
            <a:extLst xmlns:a="http://schemas.openxmlformats.org/drawingml/2006/main">
              <a:ext uri="{FF2B5EF4-FFF2-40B4-BE49-F238E27FC236}">
                <a16:creationId xmlns:a16="http://schemas.microsoft.com/office/drawing/2014/main" id="{3BCC08AD-CB83-4C44-BA19-4DAA43EF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第四章｜看見議事</a:t>
            </a:r>
          </a:p>
        </p:txBody>
      </p:sp>
      <p:sp>
        <p:nvSpPr>
          <p:cNvPr id="4" name="top-title-13">
            <a:extLst xmlns:a="http://schemas.openxmlformats.org/drawingml/2006/main">
              <a:ext uri="{FF2B5EF4-FFF2-40B4-BE49-F238E27FC236}">
                <a16:creationId xmlns:a16="http://schemas.microsoft.com/office/drawing/2014/main" id="{142F9372-F32D-4AFA-AE0E-E0C47F3D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民意抵達議會之前，先從地方被好好聽見</a:t>
            </a:r>
          </a:p>
        </p:txBody>
      </p:sp>
      <p:sp>
        <p:nvSpPr>
          <p:cNvPr id="5" name="top-subtitle-13">
            <a:extLst xmlns:a="http://schemas.openxmlformats.org/drawingml/2006/main">
              <a:ext uri="{FF2B5EF4-FFF2-40B4-BE49-F238E27FC236}">
                <a16:creationId xmlns:a16="http://schemas.microsoft.com/office/drawing/2014/main" id="{566B44CF-90F7-4AE1-80CF-C482F77E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5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rPr>
              <a:t>05:50—06:40</a:t>
            </a:r>
          </a:p>
        </p:txBody>
      </p:sp>
      <p:sp>
        <p:nvSpPr>
          <p:cNvPr id="6" name="left-rail-13">
            <a:extLst xmlns:a="http://schemas.openxmlformats.org/drawingml/2006/main">
              <a:ext uri="{FF2B5EF4-FFF2-40B4-BE49-F238E27FC236}">
                <a16:creationId xmlns:a16="http://schemas.microsoft.com/office/drawing/2014/main" id="{049B75F5-BD37-4570-931E-D1560020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36004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7" name="rail-accent-13">
            <a:extLst xmlns:a="http://schemas.openxmlformats.org/drawingml/2006/main">
              <a:ext uri="{FF2B5EF4-FFF2-40B4-BE49-F238E27FC236}">
                <a16:creationId xmlns:a16="http://schemas.microsoft.com/office/drawing/2014/main" id="{7B745AEB-2FD1-4763-B9CE-9B3CFC55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952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cene-index-13">
            <a:extLst xmlns:a="http://schemas.openxmlformats.org/drawingml/2006/main">
              <a:ext uri="{FF2B5EF4-FFF2-40B4-BE49-F238E27FC236}">
                <a16:creationId xmlns:a16="http://schemas.microsoft.com/office/drawing/2014/main" id="{178DBBB1-4DE8-4389-A6D2-C161E438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SC 08</a:t>
            </a:r>
          </a:p>
        </p:txBody>
      </p:sp>
      <p:sp>
        <p:nvSpPr>
          <p:cNvPr id="9" name="visual-label-13">
            <a:extLst xmlns:a="http://schemas.openxmlformats.org/drawingml/2006/main">
              <a:ext uri="{FF2B5EF4-FFF2-40B4-BE49-F238E27FC236}">
                <a16:creationId xmlns:a16="http://schemas.microsoft.com/office/drawing/2014/main" id="{66E19455-44FA-43B7-B6C9-68F008EE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畫面 / VISUAL</a:t>
            </a:r>
          </a:p>
        </p:txBody>
      </p:sp>
      <p:sp>
        <p:nvSpPr>
          <p:cNvPr id="10" name="visual-copy-13">
            <a:extLst xmlns:a="http://schemas.openxmlformats.org/drawingml/2006/main">
              <a:ext uri="{FF2B5EF4-FFF2-40B4-BE49-F238E27FC236}">
                <a16:creationId xmlns:a16="http://schemas.microsoft.com/office/drawing/2014/main" id="{541B3FD3-7A06-436D-9708-7F4018C9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3000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服務處接聽、陳情資料與座談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市場／校園／社區／災害現場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會勘測量、記錄，便條整理成議題</a:t>
            </a:r>
          </a:p>
        </p:txBody>
      </p:sp>
      <p:sp>
        <p:nvSpPr>
          <p:cNvPr id="11" name="onscreen-label-13">
            <a:extLst xmlns:a="http://schemas.openxmlformats.org/drawingml/2006/main">
              <a:ext uri="{FF2B5EF4-FFF2-40B4-BE49-F238E27FC236}">
                <a16:creationId xmlns:a16="http://schemas.microsoft.com/office/drawing/2014/main" id="{23E7E5D9-F07B-4045-8B81-6C709BDA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字卡 / ON SCREEN</a:t>
            </a:r>
          </a:p>
        </p:txBody>
      </p:sp>
      <p:sp>
        <p:nvSpPr>
          <p:cNvPr id="12" name="onscreen-copy-13">
            <a:extLst xmlns:a="http://schemas.openxmlformats.org/drawingml/2006/main">
              <a:ext uri="{FF2B5EF4-FFF2-40B4-BE49-F238E27FC236}">
                <a16:creationId xmlns:a16="http://schemas.microsoft.com/office/drawing/2014/main" id="{7062A1D2-B31E-441B-AF87-28B380CD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300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13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1613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傾聽 → 釐清 → 帶進議會</a:t>
            </a:r>
          </a:p>
        </p:txBody>
      </p:sp>
      <p:sp>
        <p:nvSpPr>
          <p:cNvPr id="13" name="vo-label-13">
            <a:extLst xmlns:a="http://schemas.openxmlformats.org/drawingml/2006/main">
              <a:ext uri="{FF2B5EF4-FFF2-40B4-BE49-F238E27FC236}">
                <a16:creationId xmlns:a16="http://schemas.microsoft.com/office/drawing/2014/main" id="{09ABC2F4-CBD4-4B63-AB51-128A54ED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47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旁白 / VOICE OVER</a:t>
            </a:r>
          </a:p>
        </p:txBody>
      </p:sp>
      <p:sp>
        <p:nvSpPr>
          <p:cNvPr id="14" name="vo-rule-13">
            <a:extLst xmlns:a="http://schemas.openxmlformats.org/drawingml/2006/main">
              <a:ext uri="{FF2B5EF4-FFF2-40B4-BE49-F238E27FC236}">
                <a16:creationId xmlns:a16="http://schemas.microsoft.com/office/drawing/2014/main" id="{8C584823-CFAB-4AD5-B3F0-97BFF968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809750"/>
            <a:ext cx="693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o-copy-13">
            <a:extLst xmlns:a="http://schemas.openxmlformats.org/drawingml/2006/main">
              <a:ext uri="{FF2B5EF4-FFF2-40B4-BE49-F238E27FC236}">
                <a16:creationId xmlns:a16="http://schemas.microsoft.com/office/drawing/2014/main" id="{19F0521E-76F5-4814-BCD9-66A504D6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69342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一個問題走進議會，常常不是從麥克風開始，而是從一通電話、一場座談、一次現場會勘開始。議員在地方傾聽，把分散的感受釐清成具體問題；把個別遭遇放回公共制度中思考。民意不是被收下就結束，而是要被整理、被查證，找到能夠追問、提案與推動改變的方向。</a:t>
            </a:r>
          </a:p>
        </p:txBody>
      </p:sp>
      <p:sp>
        <p:nvSpPr>
          <p:cNvPr id="16" name="sound-bar-13">
            <a:extLst xmlns:a="http://schemas.openxmlformats.org/drawingml/2006/main">
              <a:ext uri="{FF2B5EF4-FFF2-40B4-BE49-F238E27FC236}">
                <a16:creationId xmlns:a16="http://schemas.microsoft.com/office/drawing/2014/main" id="{9947AE32-BD16-4C6C-8123-2CD03420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5257800"/>
            <a:ext cx="6934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nd-label-13">
            <a:extLst xmlns:a="http://schemas.openxmlformats.org/drawingml/2006/main">
              <a:ext uri="{FF2B5EF4-FFF2-40B4-BE49-F238E27FC236}">
                <a16:creationId xmlns:a16="http://schemas.microsoft.com/office/drawing/2014/main" id="{ABF35CEA-CA35-4790-A911-74BCE777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429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聲音</a:t>
            </a:r>
          </a:p>
        </p:txBody>
      </p:sp>
      <p:sp>
        <p:nvSpPr>
          <p:cNvPr id="18" name="sound-copy-13">
            <a:extLst xmlns:a="http://schemas.openxmlformats.org/drawingml/2006/main">
              <a:ext uri="{FF2B5EF4-FFF2-40B4-BE49-F238E27FC236}">
                <a16:creationId xmlns:a16="http://schemas.microsoft.com/office/drawing/2014/main" id="{22F39BEC-065F-420E-964B-57CDBFF2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3911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電話鈴聲、街區環境音、筆記聲；音樂轉為清楚而穩定的脈動。</a:t>
            </a:r>
          </a:p>
        </p:txBody>
      </p:sp>
      <p:sp>
        <p:nvSpPr>
          <p:cNvPr id="19" name="footer-section-13">
            <a:extLst xmlns:a="http://schemas.openxmlformats.org/drawingml/2006/main">
              <a:ext uri="{FF2B5EF4-FFF2-40B4-BE49-F238E27FC236}">
                <a16:creationId xmlns:a16="http://schemas.microsoft.com/office/drawing/2014/main" id="{B06483AA-0927-4D0A-A100-48576855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第四章｜看見議事</a:t>
            </a:r>
          </a:p>
        </p:txBody>
      </p:sp>
      <p:sp>
        <p:nvSpPr>
          <p:cNvPr id="20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5D6A4F8F-436A-4F13-87EC-BBC40FA4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065910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band-14">
            <a:extLst xmlns:a="http://schemas.openxmlformats.org/drawingml/2006/main">
              <a:ext uri="{FF2B5EF4-FFF2-40B4-BE49-F238E27FC236}">
                <a16:creationId xmlns:a16="http://schemas.microsoft.com/office/drawing/2014/main" id="{7CE79576-7AFB-40E1-817D-08BE258C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-14">
            <a:extLst xmlns:a="http://schemas.openxmlformats.org/drawingml/2006/main">
              <a:ext uri="{FF2B5EF4-FFF2-40B4-BE49-F238E27FC236}">
                <a16:creationId xmlns:a16="http://schemas.microsoft.com/office/drawing/2014/main" id="{4BE1323B-FD10-4EBD-918D-285591E5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71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section-14">
            <a:extLst xmlns:a="http://schemas.openxmlformats.org/drawingml/2006/main">
              <a:ext uri="{FF2B5EF4-FFF2-40B4-BE49-F238E27FC236}">
                <a16:creationId xmlns:a16="http://schemas.microsoft.com/office/drawing/2014/main" id="{AC648DAE-E76C-4D41-B1F1-60B39240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第四章｜看見議事</a:t>
            </a:r>
          </a:p>
        </p:txBody>
      </p:sp>
      <p:sp>
        <p:nvSpPr>
          <p:cNvPr id="4" name="top-title-14">
            <a:extLst xmlns:a="http://schemas.openxmlformats.org/drawingml/2006/main">
              <a:ext uri="{FF2B5EF4-FFF2-40B4-BE49-F238E27FC236}">
                <a16:creationId xmlns:a16="http://schemas.microsoft.com/office/drawing/2014/main" id="{F14A2FA7-5B2C-4419-9D63-592A2FFB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不同意見進入制度，問題才有被解決的可能</a:t>
            </a:r>
          </a:p>
        </p:txBody>
      </p:sp>
      <p:sp>
        <p:nvSpPr>
          <p:cNvPr id="5" name="top-subtitle-14">
            <a:extLst xmlns:a="http://schemas.openxmlformats.org/drawingml/2006/main">
              <a:ext uri="{FF2B5EF4-FFF2-40B4-BE49-F238E27FC236}">
                <a16:creationId xmlns:a16="http://schemas.microsoft.com/office/drawing/2014/main" id="{40E9197F-7F22-46F3-ACFE-ECEA3F85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5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rPr>
              <a:t>06:40—07:35</a:t>
            </a:r>
          </a:p>
        </p:txBody>
      </p:sp>
      <p:sp>
        <p:nvSpPr>
          <p:cNvPr id="6" name="left-rail-14">
            <a:extLst xmlns:a="http://schemas.openxmlformats.org/drawingml/2006/main">
              <a:ext uri="{FF2B5EF4-FFF2-40B4-BE49-F238E27FC236}">
                <a16:creationId xmlns:a16="http://schemas.microsoft.com/office/drawing/2014/main" id="{CE8716E6-8267-485B-8830-5BB79369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36004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7" name="rail-accent-14">
            <a:extLst xmlns:a="http://schemas.openxmlformats.org/drawingml/2006/main">
              <a:ext uri="{FF2B5EF4-FFF2-40B4-BE49-F238E27FC236}">
                <a16:creationId xmlns:a16="http://schemas.microsoft.com/office/drawing/2014/main" id="{5DA571BA-72DC-4FCD-AD50-3B2803D9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952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cene-index-14">
            <a:extLst xmlns:a="http://schemas.openxmlformats.org/drawingml/2006/main">
              <a:ext uri="{FF2B5EF4-FFF2-40B4-BE49-F238E27FC236}">
                <a16:creationId xmlns:a16="http://schemas.microsoft.com/office/drawing/2014/main" id="{1BA1D61D-FEBD-486E-8FC2-05D7EB8E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SC 09</a:t>
            </a:r>
          </a:p>
        </p:txBody>
      </p:sp>
      <p:sp>
        <p:nvSpPr>
          <p:cNvPr id="9" name="visual-label-14">
            <a:extLst xmlns:a="http://schemas.openxmlformats.org/drawingml/2006/main">
              <a:ext uri="{FF2B5EF4-FFF2-40B4-BE49-F238E27FC236}">
                <a16:creationId xmlns:a16="http://schemas.microsoft.com/office/drawing/2014/main" id="{37A99A8B-36F2-44F9-B265-31BEC1FD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畫面 / VISUAL</a:t>
            </a:r>
          </a:p>
        </p:txBody>
      </p:sp>
      <p:sp>
        <p:nvSpPr>
          <p:cNvPr id="10" name="visual-copy-14">
            <a:extLst xmlns:a="http://schemas.openxmlformats.org/drawingml/2006/main">
              <a:ext uri="{FF2B5EF4-FFF2-40B4-BE49-F238E27FC236}">
                <a16:creationId xmlns:a16="http://schemas.microsoft.com/office/drawing/2014/main" id="{FC4238B5-4122-4687-9F71-BF8CE7A9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3000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議程確認、資料送達、幕僚準備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大會質詢／委員會審查／局處回應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計時器、表決器、議案與傾聽特寫</a:t>
            </a:r>
          </a:p>
        </p:txBody>
      </p:sp>
      <p:sp>
        <p:nvSpPr>
          <p:cNvPr id="11" name="onscreen-label-14">
            <a:extLst xmlns:a="http://schemas.openxmlformats.org/drawingml/2006/main">
              <a:ext uri="{FF2B5EF4-FFF2-40B4-BE49-F238E27FC236}">
                <a16:creationId xmlns:a16="http://schemas.microsoft.com/office/drawing/2014/main" id="{FCC86B2A-F5A7-4CCE-B10A-2D5099ED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字卡 / ON SCREEN</a:t>
            </a:r>
          </a:p>
        </p:txBody>
      </p:sp>
      <p:sp>
        <p:nvSpPr>
          <p:cNvPr id="12" name="onscreen-copy-14">
            <a:extLst xmlns:a="http://schemas.openxmlformats.org/drawingml/2006/main">
              <a:ext uri="{FF2B5EF4-FFF2-40B4-BE49-F238E27FC236}">
                <a16:creationId xmlns:a16="http://schemas.microsoft.com/office/drawing/2014/main" id="{1DC1C4AE-CC26-4849-AD77-DE3E60F3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300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13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1613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質詢｜審查｜議決</a:t>
            </a:r>
          </a:p>
        </p:txBody>
      </p:sp>
      <p:sp>
        <p:nvSpPr>
          <p:cNvPr id="13" name="vo-label-14">
            <a:extLst xmlns:a="http://schemas.openxmlformats.org/drawingml/2006/main">
              <a:ext uri="{FF2B5EF4-FFF2-40B4-BE49-F238E27FC236}">
                <a16:creationId xmlns:a16="http://schemas.microsoft.com/office/drawing/2014/main" id="{3E259459-D24F-464F-B05C-742176EF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47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旁白 / VOICE OVER</a:t>
            </a:r>
          </a:p>
        </p:txBody>
      </p:sp>
      <p:sp>
        <p:nvSpPr>
          <p:cNvPr id="14" name="vo-rule-14">
            <a:extLst xmlns:a="http://schemas.openxmlformats.org/drawingml/2006/main">
              <a:ext uri="{FF2B5EF4-FFF2-40B4-BE49-F238E27FC236}">
                <a16:creationId xmlns:a16="http://schemas.microsoft.com/office/drawing/2014/main" id="{54501979-CAF4-4F6E-9C7D-2B367B3D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809750"/>
            <a:ext cx="693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o-copy-14">
            <a:extLst xmlns:a="http://schemas.openxmlformats.org/drawingml/2006/main">
              <a:ext uri="{FF2B5EF4-FFF2-40B4-BE49-F238E27FC236}">
                <a16:creationId xmlns:a16="http://schemas.microsoft.com/office/drawing/2014/main" id="{F927482B-A2F4-4F93-81ED-5720300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69342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問題來到議會，不是終點，而是被檢驗的開始。議員在大會與委員會中提出質詢、審查議案，要求市府說明政策的依據、進度與影響。不同立場可以交鋒，資料必須接受檢視，公共資源更需要被仔細衡量。民主不保證每個人立刻得到相同答案，卻讓不同意見都必須被看見、被回應。</a:t>
            </a:r>
          </a:p>
        </p:txBody>
      </p:sp>
      <p:sp>
        <p:nvSpPr>
          <p:cNvPr id="16" name="sound-bar-14">
            <a:extLst xmlns:a="http://schemas.openxmlformats.org/drawingml/2006/main">
              <a:ext uri="{FF2B5EF4-FFF2-40B4-BE49-F238E27FC236}">
                <a16:creationId xmlns:a16="http://schemas.microsoft.com/office/drawing/2014/main" id="{2EC8FBC4-2275-4AF2-B7CF-A1D22C18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5257800"/>
            <a:ext cx="6934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nd-label-14">
            <a:extLst xmlns:a="http://schemas.openxmlformats.org/drawingml/2006/main">
              <a:ext uri="{FF2B5EF4-FFF2-40B4-BE49-F238E27FC236}">
                <a16:creationId xmlns:a16="http://schemas.microsoft.com/office/drawing/2014/main" id="{09E8A4F3-81A5-4472-847B-3F893770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429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聲音</a:t>
            </a:r>
          </a:p>
        </p:txBody>
      </p:sp>
      <p:sp>
        <p:nvSpPr>
          <p:cNvPr id="18" name="sound-copy-14">
            <a:extLst xmlns:a="http://schemas.openxmlformats.org/drawingml/2006/main">
              <a:ext uri="{FF2B5EF4-FFF2-40B4-BE49-F238E27FC236}">
                <a16:creationId xmlns:a16="http://schemas.microsoft.com/office/drawing/2014/main" id="{51C73F72-FE0A-4E4A-B6CF-B391509D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3911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保留質詢與回應原音片段；議事槌或表決提示音作節奏切點。</a:t>
            </a:r>
          </a:p>
        </p:txBody>
      </p:sp>
      <p:sp>
        <p:nvSpPr>
          <p:cNvPr id="19" name="footer-section-14">
            <a:extLst xmlns:a="http://schemas.openxmlformats.org/drawingml/2006/main">
              <a:ext uri="{FF2B5EF4-FFF2-40B4-BE49-F238E27FC236}">
                <a16:creationId xmlns:a16="http://schemas.microsoft.com/office/drawing/2014/main" id="{0763877C-03BF-4854-9031-829E5B97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第四章｜看見議事</a:t>
            </a:r>
          </a:p>
        </p:txBody>
      </p:sp>
      <p:sp>
        <p:nvSpPr>
          <p:cNvPr id="20" name="footer-page-14">
            <a:extLst xmlns:a="http://schemas.openxmlformats.org/drawingml/2006/main">
              <a:ext uri="{FF2B5EF4-FFF2-40B4-BE49-F238E27FC236}">
                <a16:creationId xmlns:a16="http://schemas.microsoft.com/office/drawing/2014/main" id="{D0E3126A-01CA-4CF0-8F61-C89D7987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546870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band-15">
            <a:extLst xmlns:a="http://schemas.openxmlformats.org/drawingml/2006/main">
              <a:ext uri="{FF2B5EF4-FFF2-40B4-BE49-F238E27FC236}">
                <a16:creationId xmlns:a16="http://schemas.microsoft.com/office/drawing/2014/main" id="{BC593ECB-8C76-4309-8E93-152F4084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-15">
            <a:extLst xmlns:a="http://schemas.openxmlformats.org/drawingml/2006/main">
              <a:ext uri="{FF2B5EF4-FFF2-40B4-BE49-F238E27FC236}">
                <a16:creationId xmlns:a16="http://schemas.microsoft.com/office/drawing/2014/main" id="{AEF2290E-AC12-4A53-B7CC-3FD327E8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71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section-15">
            <a:extLst xmlns:a="http://schemas.openxmlformats.org/drawingml/2006/main">
              <a:ext uri="{FF2B5EF4-FFF2-40B4-BE49-F238E27FC236}">
                <a16:creationId xmlns:a16="http://schemas.microsoft.com/office/drawing/2014/main" id="{3A0B1682-EA98-4A1B-9B8A-86A468FD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第四章｜看見議事</a:t>
            </a:r>
          </a:p>
        </p:txBody>
      </p:sp>
      <p:sp>
        <p:nvSpPr>
          <p:cNvPr id="4" name="top-title-15">
            <a:extLst xmlns:a="http://schemas.openxmlformats.org/drawingml/2006/main">
              <a:ext uri="{FF2B5EF4-FFF2-40B4-BE49-F238E27FC236}">
                <a16:creationId xmlns:a16="http://schemas.microsoft.com/office/drawing/2014/main" id="{1FB1DC1E-FFE4-469D-8451-42DA4708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每一條法規、每一筆預算，都牽動真實生活</a:t>
            </a:r>
          </a:p>
        </p:txBody>
      </p:sp>
      <p:sp>
        <p:nvSpPr>
          <p:cNvPr id="5" name="top-subtitle-15">
            <a:extLst xmlns:a="http://schemas.openxmlformats.org/drawingml/2006/main">
              <a:ext uri="{FF2B5EF4-FFF2-40B4-BE49-F238E27FC236}">
                <a16:creationId xmlns:a16="http://schemas.microsoft.com/office/drawing/2014/main" id="{1E29A911-504E-40AC-AA67-F408F8D0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5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rPr>
              <a:t>07:35—08:20</a:t>
            </a:r>
          </a:p>
        </p:txBody>
      </p:sp>
      <p:sp>
        <p:nvSpPr>
          <p:cNvPr id="6" name="left-rail-15">
            <a:extLst xmlns:a="http://schemas.openxmlformats.org/drawingml/2006/main">
              <a:ext uri="{FF2B5EF4-FFF2-40B4-BE49-F238E27FC236}">
                <a16:creationId xmlns:a16="http://schemas.microsoft.com/office/drawing/2014/main" id="{2D75B80E-05F6-4D15-8CF5-A649F844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36004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7" name="rail-accent-15">
            <a:extLst xmlns:a="http://schemas.openxmlformats.org/drawingml/2006/main">
              <a:ext uri="{FF2B5EF4-FFF2-40B4-BE49-F238E27FC236}">
                <a16:creationId xmlns:a16="http://schemas.microsoft.com/office/drawing/2014/main" id="{D8531DC4-C498-4BEB-9B37-0EC777B4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952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cene-index-15">
            <a:extLst xmlns:a="http://schemas.openxmlformats.org/drawingml/2006/main">
              <a:ext uri="{FF2B5EF4-FFF2-40B4-BE49-F238E27FC236}">
                <a16:creationId xmlns:a16="http://schemas.microsoft.com/office/drawing/2014/main" id="{2E98DB21-F0F0-43AB-9C27-EED7700F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SC 10</a:t>
            </a:r>
          </a:p>
        </p:txBody>
      </p:sp>
      <p:sp>
        <p:nvSpPr>
          <p:cNvPr id="9" name="visual-label-15">
            <a:extLst xmlns:a="http://schemas.openxmlformats.org/drawingml/2006/main">
              <a:ext uri="{FF2B5EF4-FFF2-40B4-BE49-F238E27FC236}">
                <a16:creationId xmlns:a16="http://schemas.microsoft.com/office/drawing/2014/main" id="{9C2CBE15-50AD-4B1C-9B5C-AF03F837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畫面 / VISUAL</a:t>
            </a:r>
          </a:p>
        </p:txBody>
      </p:sp>
      <p:sp>
        <p:nvSpPr>
          <p:cNvPr id="10" name="visual-copy-15">
            <a:extLst xmlns:a="http://schemas.openxmlformats.org/drawingml/2006/main">
              <a:ext uri="{FF2B5EF4-FFF2-40B4-BE49-F238E27FC236}">
                <a16:creationId xmlns:a16="http://schemas.microsoft.com/office/drawing/2014/main" id="{A272C25E-CF8F-48EA-B719-B2599043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3000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法規條文與預算書近拍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審查標記／數字核對／提案表決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數字轉化道路、校園、照顧現場</a:t>
            </a:r>
          </a:p>
        </p:txBody>
      </p:sp>
      <p:sp>
        <p:nvSpPr>
          <p:cNvPr id="11" name="onscreen-label-15">
            <a:extLst xmlns:a="http://schemas.openxmlformats.org/drawingml/2006/main">
              <a:ext uri="{FF2B5EF4-FFF2-40B4-BE49-F238E27FC236}">
                <a16:creationId xmlns:a16="http://schemas.microsoft.com/office/drawing/2014/main" id="{AF592683-A14B-4E1F-A580-96E19239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字卡 / ON SCREEN</a:t>
            </a:r>
          </a:p>
        </p:txBody>
      </p:sp>
      <p:sp>
        <p:nvSpPr>
          <p:cNvPr id="12" name="onscreen-copy-15">
            <a:extLst xmlns:a="http://schemas.openxmlformats.org/drawingml/2006/main">
              <a:ext uri="{FF2B5EF4-FFF2-40B4-BE49-F238E27FC236}">
                <a16:creationId xmlns:a16="http://schemas.microsoft.com/office/drawing/2014/main" id="{7C24A424-0EBA-457C-8114-2A82A96E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300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13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1613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把資源用在真正需要的地方</a:t>
            </a:r>
          </a:p>
        </p:txBody>
      </p:sp>
      <p:sp>
        <p:nvSpPr>
          <p:cNvPr id="13" name="vo-label-15">
            <a:extLst xmlns:a="http://schemas.openxmlformats.org/drawingml/2006/main">
              <a:ext uri="{FF2B5EF4-FFF2-40B4-BE49-F238E27FC236}">
                <a16:creationId xmlns:a16="http://schemas.microsoft.com/office/drawing/2014/main" id="{29B6B10D-997A-4A03-8293-D6C4F95B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47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旁白 / VOICE OVER</a:t>
            </a:r>
          </a:p>
        </p:txBody>
      </p:sp>
      <p:sp>
        <p:nvSpPr>
          <p:cNvPr id="14" name="vo-rule-15">
            <a:extLst xmlns:a="http://schemas.openxmlformats.org/drawingml/2006/main">
              <a:ext uri="{FF2B5EF4-FFF2-40B4-BE49-F238E27FC236}">
                <a16:creationId xmlns:a16="http://schemas.microsoft.com/office/drawing/2014/main" id="{64E6BCDB-488B-4C0E-A6C3-4064B912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809750"/>
            <a:ext cx="693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o-copy-15">
            <a:extLst xmlns:a="http://schemas.openxmlformats.org/drawingml/2006/main">
              <a:ext uri="{FF2B5EF4-FFF2-40B4-BE49-F238E27FC236}">
                <a16:creationId xmlns:a16="http://schemas.microsoft.com/office/drawing/2014/main" id="{C1AB72F7-D3C7-4C8C-BB01-AF804D50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69342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一條自治法規，可能改變城市運作的規則；一筆預算，可能決定一項服務能不能走進社區。議會審議法規、預算與決算，也議決市府及議員提案，接受人民請願。每一次逐條討論、每一次追問數字，目的都不是讓文件更厚，而是讓公共資源更透明、更合理，真正用在需要的地方。</a:t>
            </a:r>
          </a:p>
        </p:txBody>
      </p:sp>
      <p:sp>
        <p:nvSpPr>
          <p:cNvPr id="16" name="sound-bar-15">
            <a:extLst xmlns:a="http://schemas.openxmlformats.org/drawingml/2006/main">
              <a:ext uri="{FF2B5EF4-FFF2-40B4-BE49-F238E27FC236}">
                <a16:creationId xmlns:a16="http://schemas.microsoft.com/office/drawing/2014/main" id="{CB80745A-F2CB-4E02-A23D-E56C90E6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5257800"/>
            <a:ext cx="6934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nd-label-15">
            <a:extLst xmlns:a="http://schemas.openxmlformats.org/drawingml/2006/main">
              <a:ext uri="{FF2B5EF4-FFF2-40B4-BE49-F238E27FC236}">
                <a16:creationId xmlns:a16="http://schemas.microsoft.com/office/drawing/2014/main" id="{51483312-14F4-4837-B3F1-E79A6134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429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聲音</a:t>
            </a:r>
          </a:p>
        </p:txBody>
      </p:sp>
      <p:sp>
        <p:nvSpPr>
          <p:cNvPr id="18" name="sound-copy-15">
            <a:extLst xmlns:a="http://schemas.openxmlformats.org/drawingml/2006/main">
              <a:ext uri="{FF2B5EF4-FFF2-40B4-BE49-F238E27FC236}">
                <a16:creationId xmlns:a16="http://schemas.microsoft.com/office/drawing/2014/main" id="{68667222-422F-43A9-BA6B-1A77DF4D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3911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翻頁、鍵盤與計算機聲；生活畫面出現時，音樂轉為溫暖。</a:t>
            </a:r>
          </a:p>
        </p:txBody>
      </p:sp>
      <p:sp>
        <p:nvSpPr>
          <p:cNvPr id="19" name="footer-section-15">
            <a:extLst xmlns:a="http://schemas.openxmlformats.org/drawingml/2006/main">
              <a:ext uri="{FF2B5EF4-FFF2-40B4-BE49-F238E27FC236}">
                <a16:creationId xmlns:a16="http://schemas.microsoft.com/office/drawing/2014/main" id="{EC6D8933-80A7-4AAE-9FE1-8D8770B8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第四章｜看見議事</a:t>
            </a:r>
          </a:p>
        </p:txBody>
      </p:sp>
      <p:sp>
        <p:nvSpPr>
          <p:cNvPr id="20" name="footer-page-15">
            <a:extLst xmlns:a="http://schemas.openxmlformats.org/drawingml/2006/main">
              <a:ext uri="{FF2B5EF4-FFF2-40B4-BE49-F238E27FC236}">
                <a16:creationId xmlns:a16="http://schemas.microsoft.com/office/drawing/2014/main" id="{C97C7A52-1E2E-43F8-B2A5-236F775C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273749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band-16">
            <a:extLst xmlns:a="http://schemas.openxmlformats.org/drawingml/2006/main">
              <a:ext uri="{FF2B5EF4-FFF2-40B4-BE49-F238E27FC236}">
                <a16:creationId xmlns:a16="http://schemas.microsoft.com/office/drawing/2014/main" id="{70354343-4D5B-40C1-9A77-3FD9B022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-16">
            <a:extLst xmlns:a="http://schemas.openxmlformats.org/drawingml/2006/main">
              <a:ext uri="{FF2B5EF4-FFF2-40B4-BE49-F238E27FC236}">
                <a16:creationId xmlns:a16="http://schemas.microsoft.com/office/drawing/2014/main" id="{C9E2F6FF-A7D3-4149-90C6-BAA44C65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71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section-16">
            <a:extLst xmlns:a="http://schemas.openxmlformats.org/drawingml/2006/main">
              <a:ext uri="{FF2B5EF4-FFF2-40B4-BE49-F238E27FC236}">
                <a16:creationId xmlns:a16="http://schemas.microsoft.com/office/drawing/2014/main" id="{A893EAEF-4028-4F79-A8A4-FBC20B84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第四章｜看見議事</a:t>
            </a:r>
          </a:p>
        </p:txBody>
      </p:sp>
      <p:sp>
        <p:nvSpPr>
          <p:cNvPr id="4" name="top-title-16">
            <a:extLst xmlns:a="http://schemas.openxmlformats.org/drawingml/2006/main">
              <a:ext uri="{FF2B5EF4-FFF2-40B4-BE49-F238E27FC236}">
                <a16:creationId xmlns:a16="http://schemas.microsoft.com/office/drawing/2014/main" id="{03715B6C-3874-43D3-BBD9-A0899E3A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監督不是一次問答，而是把承諾追到落地</a:t>
            </a:r>
          </a:p>
        </p:txBody>
      </p:sp>
      <p:sp>
        <p:nvSpPr>
          <p:cNvPr id="5" name="top-subtitle-16">
            <a:extLst xmlns:a="http://schemas.openxmlformats.org/drawingml/2006/main">
              <a:ext uri="{FF2B5EF4-FFF2-40B4-BE49-F238E27FC236}">
                <a16:creationId xmlns:a16="http://schemas.microsoft.com/office/drawing/2014/main" id="{CDBF8D81-A699-4A3A-AA53-27F67E15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5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rPr>
              <a:t>08:20—09:15</a:t>
            </a:r>
          </a:p>
        </p:txBody>
      </p:sp>
      <p:sp>
        <p:nvSpPr>
          <p:cNvPr id="6" name="left-rail-16">
            <a:extLst xmlns:a="http://schemas.openxmlformats.org/drawingml/2006/main">
              <a:ext uri="{FF2B5EF4-FFF2-40B4-BE49-F238E27FC236}">
                <a16:creationId xmlns:a16="http://schemas.microsoft.com/office/drawing/2014/main" id="{1D51310B-4C5D-4944-B7C0-8819CC9B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36004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7" name="rail-accent-16">
            <a:extLst xmlns:a="http://schemas.openxmlformats.org/drawingml/2006/main">
              <a:ext uri="{FF2B5EF4-FFF2-40B4-BE49-F238E27FC236}">
                <a16:creationId xmlns:a16="http://schemas.microsoft.com/office/drawing/2014/main" id="{87D127AA-F8EA-4906-A430-5979A41D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952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cene-index-16">
            <a:extLst xmlns:a="http://schemas.openxmlformats.org/drawingml/2006/main">
              <a:ext uri="{FF2B5EF4-FFF2-40B4-BE49-F238E27FC236}">
                <a16:creationId xmlns:a16="http://schemas.microsoft.com/office/drawing/2014/main" id="{A99B9845-F65D-4660-81D6-8B61655D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SC 11</a:t>
            </a:r>
          </a:p>
        </p:txBody>
      </p:sp>
      <p:sp>
        <p:nvSpPr>
          <p:cNvPr id="9" name="visual-label-16">
            <a:extLst xmlns:a="http://schemas.openxmlformats.org/drawingml/2006/main">
              <a:ext uri="{FF2B5EF4-FFF2-40B4-BE49-F238E27FC236}">
                <a16:creationId xmlns:a16="http://schemas.microsoft.com/office/drawing/2014/main" id="{26756893-0B81-49D7-B20C-06C1423C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畫面 / VISUAL</a:t>
            </a:r>
          </a:p>
        </p:txBody>
      </p:sp>
      <p:sp>
        <p:nvSpPr>
          <p:cNvPr id="10" name="visual-copy-16">
            <a:extLst xmlns:a="http://schemas.openxmlformats.org/drawingml/2006/main">
              <a:ext uri="{FF2B5EF4-FFF2-40B4-BE49-F238E27FC236}">
                <a16:creationId xmlns:a16="http://schemas.microsoft.com/office/drawing/2014/main" id="{11A2E968-7DE9-4078-83B2-E3D634B5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3000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議場答詢接工程現場會勘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改善前／施工中／完成後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議員、局處、居民確認，待辦逐項追蹤</a:t>
            </a:r>
          </a:p>
        </p:txBody>
      </p:sp>
      <p:sp>
        <p:nvSpPr>
          <p:cNvPr id="11" name="onscreen-label-16">
            <a:extLst xmlns:a="http://schemas.openxmlformats.org/drawingml/2006/main">
              <a:ext uri="{FF2B5EF4-FFF2-40B4-BE49-F238E27FC236}">
                <a16:creationId xmlns:a16="http://schemas.microsoft.com/office/drawing/2014/main" id="{075E2879-40D6-4C8C-98BA-11273FBF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字卡 / ON SCREEN</a:t>
            </a:r>
          </a:p>
        </p:txBody>
      </p:sp>
      <p:sp>
        <p:nvSpPr>
          <p:cNvPr id="12" name="onscreen-copy-16">
            <a:extLst xmlns:a="http://schemas.openxmlformats.org/drawingml/2006/main">
              <a:ext uri="{FF2B5EF4-FFF2-40B4-BE49-F238E27FC236}">
                <a16:creationId xmlns:a16="http://schemas.microsoft.com/office/drawing/2014/main" id="{55680DC2-A9D8-48FF-9856-A2081B42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300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13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1613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提出問題，更要追蹤答案</a:t>
            </a:r>
          </a:p>
        </p:txBody>
      </p:sp>
      <p:sp>
        <p:nvSpPr>
          <p:cNvPr id="13" name="vo-label-16">
            <a:extLst xmlns:a="http://schemas.openxmlformats.org/drawingml/2006/main">
              <a:ext uri="{FF2B5EF4-FFF2-40B4-BE49-F238E27FC236}">
                <a16:creationId xmlns:a16="http://schemas.microsoft.com/office/drawing/2014/main" id="{4E291869-9F03-4565-BE38-84404027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47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旁白 / VOICE OVER</a:t>
            </a:r>
          </a:p>
        </p:txBody>
      </p:sp>
      <p:sp>
        <p:nvSpPr>
          <p:cNvPr id="14" name="vo-rule-16">
            <a:extLst xmlns:a="http://schemas.openxmlformats.org/drawingml/2006/main">
              <a:ext uri="{FF2B5EF4-FFF2-40B4-BE49-F238E27FC236}">
                <a16:creationId xmlns:a16="http://schemas.microsoft.com/office/drawing/2014/main" id="{70797342-3D03-4845-876F-54D2E824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809750"/>
            <a:ext cx="693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o-copy-16">
            <a:extLst xmlns:a="http://schemas.openxmlformats.org/drawingml/2006/main">
              <a:ext uri="{FF2B5EF4-FFF2-40B4-BE49-F238E27FC236}">
                <a16:creationId xmlns:a16="http://schemas.microsoft.com/office/drawing/2014/main" id="{A4622DD7-3C75-45D2-BF50-844E9431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69342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監督不只發生在議事廳。會議上的一個承諾，還要回到現場，被一次次確認。從工程品質到服務進度，從政策成效到突發事件，議員透過質詢、考察、會勘與持續追蹤，要求問題不能只被回答，更要被處理。當制度願意留下紀錄、接受檢驗，市民才看得見改變走到哪裡。</a:t>
            </a:r>
          </a:p>
        </p:txBody>
      </p:sp>
      <p:sp>
        <p:nvSpPr>
          <p:cNvPr id="16" name="sound-bar-16">
            <a:extLst xmlns:a="http://schemas.openxmlformats.org/drawingml/2006/main">
              <a:ext uri="{FF2B5EF4-FFF2-40B4-BE49-F238E27FC236}">
                <a16:creationId xmlns:a16="http://schemas.microsoft.com/office/drawing/2014/main" id="{20E775BB-469B-4365-8C1F-46CC1F32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5257800"/>
            <a:ext cx="6934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nd-label-16">
            <a:extLst xmlns:a="http://schemas.openxmlformats.org/drawingml/2006/main">
              <a:ext uri="{FF2B5EF4-FFF2-40B4-BE49-F238E27FC236}">
                <a16:creationId xmlns:a16="http://schemas.microsoft.com/office/drawing/2014/main" id="{708E2C24-0FD4-4E36-8BFC-BC143EC2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429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聲音</a:t>
            </a:r>
          </a:p>
        </p:txBody>
      </p:sp>
      <p:sp>
        <p:nvSpPr>
          <p:cNvPr id="18" name="sound-copy-16">
            <a:extLst xmlns:a="http://schemas.openxmlformats.org/drawingml/2006/main">
              <a:ext uri="{FF2B5EF4-FFF2-40B4-BE49-F238E27FC236}">
                <a16:creationId xmlns:a16="http://schemas.microsoft.com/office/drawing/2014/main" id="{EA0C2170-105A-47FF-90A2-0A4964D5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3911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議場原音切至工地與現場環境音；節奏逐步推進，完成畫面留半秒呼吸。</a:t>
            </a:r>
          </a:p>
        </p:txBody>
      </p:sp>
      <p:sp>
        <p:nvSpPr>
          <p:cNvPr id="19" name="footer-section-16">
            <a:extLst xmlns:a="http://schemas.openxmlformats.org/drawingml/2006/main">
              <a:ext uri="{FF2B5EF4-FFF2-40B4-BE49-F238E27FC236}">
                <a16:creationId xmlns:a16="http://schemas.microsoft.com/office/drawing/2014/main" id="{4FD05F17-94A6-40F3-B604-73E0C4C5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第四章｜看見議事</a:t>
            </a:r>
          </a:p>
        </p:txBody>
      </p:sp>
      <p:sp>
        <p:nvSpPr>
          <p:cNvPr id="20" name="footer-page-16">
            <a:extLst xmlns:a="http://schemas.openxmlformats.org/drawingml/2006/main">
              <a:ext uri="{FF2B5EF4-FFF2-40B4-BE49-F238E27FC236}">
                <a16:creationId xmlns:a16="http://schemas.microsoft.com/office/drawing/2014/main" id="{E6CCC19F-1375-4571-BB02-5CDD5140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3300166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band-17">
            <a:extLst xmlns:a="http://schemas.openxmlformats.org/drawingml/2006/main">
              <a:ext uri="{FF2B5EF4-FFF2-40B4-BE49-F238E27FC236}">
                <a16:creationId xmlns:a16="http://schemas.microsoft.com/office/drawing/2014/main" id="{BB48FEF4-2541-4E0F-925F-5575F8AE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-17">
            <a:extLst xmlns:a="http://schemas.openxmlformats.org/drawingml/2006/main">
              <a:ext uri="{FF2B5EF4-FFF2-40B4-BE49-F238E27FC236}">
                <a16:creationId xmlns:a16="http://schemas.microsoft.com/office/drawing/2014/main" id="{A42F66A9-17F2-4FF0-B67C-F1483813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71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section-17">
            <a:extLst xmlns:a="http://schemas.openxmlformats.org/drawingml/2006/main">
              <a:ext uri="{FF2B5EF4-FFF2-40B4-BE49-F238E27FC236}">
                <a16:creationId xmlns:a16="http://schemas.microsoft.com/office/drawing/2014/main" id="{55FB2B3B-BF3E-475C-89C9-56F347B8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E5A93D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5A93D"/>
                </a:solidFill>
                <a:latin typeface="PingFang TC"/>
                <a:ea typeface="PingFang TC"/>
                <a:cs typeface="PingFang TC"/>
              </a:rPr>
              <a:t>第五章｜看見專業</a:t>
            </a:r>
          </a:p>
        </p:txBody>
      </p:sp>
      <p:sp>
        <p:nvSpPr>
          <p:cNvPr id="4" name="top-title-17">
            <a:extLst xmlns:a="http://schemas.openxmlformats.org/drawingml/2006/main">
              <a:ext uri="{FF2B5EF4-FFF2-40B4-BE49-F238E27FC236}">
                <a16:creationId xmlns:a16="http://schemas.microsoft.com/office/drawing/2014/main" id="{4B3C834D-32D5-4458-A39C-34776C7F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議事能穩定運作，背後是一整個團隊的接力</a:t>
            </a:r>
          </a:p>
        </p:txBody>
      </p:sp>
      <p:sp>
        <p:nvSpPr>
          <p:cNvPr id="5" name="top-subtitle-17">
            <a:extLst xmlns:a="http://schemas.openxmlformats.org/drawingml/2006/main">
              <a:ext uri="{FF2B5EF4-FFF2-40B4-BE49-F238E27FC236}">
                <a16:creationId xmlns:a16="http://schemas.microsoft.com/office/drawing/2014/main" id="{1CA323C2-489C-4363-8463-C055AFEE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5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rPr>
              <a:t>09:15—10:00</a:t>
            </a:r>
          </a:p>
        </p:txBody>
      </p:sp>
      <p:sp>
        <p:nvSpPr>
          <p:cNvPr id="6" name="left-rail-17">
            <a:extLst xmlns:a="http://schemas.openxmlformats.org/drawingml/2006/main">
              <a:ext uri="{FF2B5EF4-FFF2-40B4-BE49-F238E27FC236}">
                <a16:creationId xmlns:a16="http://schemas.microsoft.com/office/drawing/2014/main" id="{2248042B-687B-4EE6-BA72-B64794EE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36004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7" name="rail-accent-17">
            <a:extLst xmlns:a="http://schemas.openxmlformats.org/drawingml/2006/main">
              <a:ext uri="{FF2B5EF4-FFF2-40B4-BE49-F238E27FC236}">
                <a16:creationId xmlns:a16="http://schemas.microsoft.com/office/drawing/2014/main" id="{B2DAFDE3-302F-41EF-8647-034863D3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952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cene-index-17">
            <a:extLst xmlns:a="http://schemas.openxmlformats.org/drawingml/2006/main">
              <a:ext uri="{FF2B5EF4-FFF2-40B4-BE49-F238E27FC236}">
                <a16:creationId xmlns:a16="http://schemas.microsoft.com/office/drawing/2014/main" id="{1E239F5A-2411-4239-ADCF-2D7CF39C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E5A93D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E5A93D"/>
                </a:solidFill>
                <a:latin typeface="PingFang TC"/>
                <a:ea typeface="PingFang TC"/>
                <a:cs typeface="PingFang TC"/>
              </a:rPr>
              <a:t>SC 12</a:t>
            </a:r>
          </a:p>
        </p:txBody>
      </p:sp>
      <p:sp>
        <p:nvSpPr>
          <p:cNvPr id="9" name="visual-label-17">
            <a:extLst xmlns:a="http://schemas.openxmlformats.org/drawingml/2006/main">
              <a:ext uri="{FF2B5EF4-FFF2-40B4-BE49-F238E27FC236}">
                <a16:creationId xmlns:a16="http://schemas.microsoft.com/office/drawing/2014/main" id="{88D32019-DEE1-439E-A046-D692CDA1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畫面 / VISUAL</a:t>
            </a:r>
          </a:p>
        </p:txBody>
      </p:sp>
      <p:sp>
        <p:nvSpPr>
          <p:cNvPr id="10" name="visual-copy-17">
            <a:extLst xmlns:a="http://schemas.openxmlformats.org/drawingml/2006/main">
              <a:ext uri="{FF2B5EF4-FFF2-40B4-BE49-F238E27FC236}">
                <a16:creationId xmlns:a16="http://schemas.microsoft.com/office/drawing/2014/main" id="{F28ADBF6-5324-4CD2-96A9-FB398657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3000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議事、法制、文書、資訊與行政支援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會前測試／資料編整／影音上架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影音隨選系統，議場門準時開啟</a:t>
            </a:r>
          </a:p>
        </p:txBody>
      </p:sp>
      <p:sp>
        <p:nvSpPr>
          <p:cNvPr id="11" name="onscreen-label-17">
            <a:extLst xmlns:a="http://schemas.openxmlformats.org/drawingml/2006/main">
              <a:ext uri="{FF2B5EF4-FFF2-40B4-BE49-F238E27FC236}">
                <a16:creationId xmlns:a16="http://schemas.microsoft.com/office/drawing/2014/main" id="{076A7485-B454-4772-A6C9-9FA58DEE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字卡 / ON SCREEN</a:t>
            </a:r>
          </a:p>
        </p:txBody>
      </p:sp>
      <p:sp>
        <p:nvSpPr>
          <p:cNvPr id="12" name="onscreen-copy-17">
            <a:extLst xmlns:a="http://schemas.openxmlformats.org/drawingml/2006/main">
              <a:ext uri="{FF2B5EF4-FFF2-40B4-BE49-F238E27FC236}">
                <a16:creationId xmlns:a16="http://schemas.microsoft.com/office/drawing/2014/main" id="{13E165EB-0BDF-40E7-ABFA-3F984F09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300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13" b="1">
                <a:solidFill>
                  <a:srgbClr val="E5A93D"/>
                </a:solidFill>
                <a:latin typeface="PingFang TC"/>
                <a:ea typeface="PingFang TC"/>
                <a:cs typeface="PingFang TC"/>
              </a:defRPr>
            </a:pPr>
            <a:r>
              <a:rPr sz="1613" b="1">
                <a:solidFill>
                  <a:srgbClr val="E5A93D"/>
                </a:solidFill>
                <a:latin typeface="PingFang TC"/>
                <a:ea typeface="PingFang TC"/>
                <a:cs typeface="PingFang TC"/>
              </a:rPr>
              <a:t>專業支援，讓民主準時發生</a:t>
            </a:r>
          </a:p>
        </p:txBody>
      </p:sp>
      <p:sp>
        <p:nvSpPr>
          <p:cNvPr id="13" name="vo-label-17">
            <a:extLst xmlns:a="http://schemas.openxmlformats.org/drawingml/2006/main">
              <a:ext uri="{FF2B5EF4-FFF2-40B4-BE49-F238E27FC236}">
                <a16:creationId xmlns:a16="http://schemas.microsoft.com/office/drawing/2014/main" id="{32603ED2-67F3-4E95-94D8-4B00F625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47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旁白 / VOICE OVER</a:t>
            </a:r>
          </a:p>
        </p:txBody>
      </p:sp>
      <p:sp>
        <p:nvSpPr>
          <p:cNvPr id="14" name="vo-rule-17">
            <a:extLst xmlns:a="http://schemas.openxmlformats.org/drawingml/2006/main">
              <a:ext uri="{FF2B5EF4-FFF2-40B4-BE49-F238E27FC236}">
                <a16:creationId xmlns:a16="http://schemas.microsoft.com/office/drawing/2014/main" id="{D886A48A-2EEB-4678-BC0D-F3472BEF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809750"/>
            <a:ext cx="693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o-copy-17">
            <a:extLst xmlns:a="http://schemas.openxmlformats.org/drawingml/2006/main">
              <a:ext uri="{FF2B5EF4-FFF2-40B4-BE49-F238E27FC236}">
                <a16:creationId xmlns:a16="http://schemas.microsoft.com/office/drawing/2014/main" id="{BD5EB969-0629-4269-B3CC-649FB72D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69342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每一次會議準時開始，背後都有一整個團隊的接力。從議事與法制，到文書、資訊、公共關係與行政支援，工作人員整理資料、維護設備、留下紀錄，也讓議事資訊與影音能被查詢。看不見的準備，支撐看得見的民主；穩定、正確與公開，讓市民更容易理解議會正在做什麼。</a:t>
            </a:r>
          </a:p>
        </p:txBody>
      </p:sp>
      <p:sp>
        <p:nvSpPr>
          <p:cNvPr id="16" name="sound-bar-17">
            <a:extLst xmlns:a="http://schemas.openxmlformats.org/drawingml/2006/main">
              <a:ext uri="{FF2B5EF4-FFF2-40B4-BE49-F238E27FC236}">
                <a16:creationId xmlns:a16="http://schemas.microsoft.com/office/drawing/2014/main" id="{303C0CD3-B58F-45CF-90FF-CA456E47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5257800"/>
            <a:ext cx="6934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nd-label-17">
            <a:extLst xmlns:a="http://schemas.openxmlformats.org/drawingml/2006/main">
              <a:ext uri="{FF2B5EF4-FFF2-40B4-BE49-F238E27FC236}">
                <a16:creationId xmlns:a16="http://schemas.microsoft.com/office/drawing/2014/main" id="{4BDB25EC-59C7-4D5F-81C1-3E48ECD9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429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E5A93D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5A93D"/>
                </a:solidFill>
                <a:latin typeface="PingFang TC"/>
                <a:ea typeface="PingFang TC"/>
                <a:cs typeface="PingFang TC"/>
              </a:rPr>
              <a:t>聲音</a:t>
            </a:r>
          </a:p>
        </p:txBody>
      </p:sp>
      <p:sp>
        <p:nvSpPr>
          <p:cNvPr id="18" name="sound-copy-17">
            <a:extLst xmlns:a="http://schemas.openxmlformats.org/drawingml/2006/main">
              <a:ext uri="{FF2B5EF4-FFF2-40B4-BE49-F238E27FC236}">
                <a16:creationId xmlns:a16="http://schemas.microsoft.com/office/drawing/2014/main" id="{0C6A93E5-E8E4-4602-80CB-2C2B1278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3911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鍵盤、對講機、設備測試音；議場門開啟時轉為寬廣空間聲。</a:t>
            </a:r>
          </a:p>
        </p:txBody>
      </p:sp>
      <p:sp>
        <p:nvSpPr>
          <p:cNvPr id="19" name="footer-section-17">
            <a:extLst xmlns:a="http://schemas.openxmlformats.org/drawingml/2006/main">
              <a:ext uri="{FF2B5EF4-FFF2-40B4-BE49-F238E27FC236}">
                <a16:creationId xmlns:a16="http://schemas.microsoft.com/office/drawing/2014/main" id="{BB6C34A0-7A3D-4250-9192-434C55E6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第五章｜看見專業</a:t>
            </a:r>
          </a:p>
        </p:txBody>
      </p:sp>
      <p:sp>
        <p:nvSpPr>
          <p:cNvPr id="20" name="footer-page-17">
            <a:extLst xmlns:a="http://schemas.openxmlformats.org/drawingml/2006/main">
              <a:ext uri="{FF2B5EF4-FFF2-40B4-BE49-F238E27FC236}">
                <a16:creationId xmlns:a16="http://schemas.microsoft.com/office/drawing/2014/main" id="{C3849E92-DB30-4CCF-96EE-CE269ECE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7064014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band-18">
            <a:extLst xmlns:a="http://schemas.openxmlformats.org/drawingml/2006/main">
              <a:ext uri="{FF2B5EF4-FFF2-40B4-BE49-F238E27FC236}">
                <a16:creationId xmlns:a16="http://schemas.microsoft.com/office/drawing/2014/main" id="{5E4CB45F-4FBA-4173-A796-2D47224E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-18">
            <a:extLst xmlns:a="http://schemas.openxmlformats.org/drawingml/2006/main">
              <a:ext uri="{FF2B5EF4-FFF2-40B4-BE49-F238E27FC236}">
                <a16:creationId xmlns:a16="http://schemas.microsoft.com/office/drawing/2014/main" id="{72B19D3F-8682-42E7-9B0C-2AB0867F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71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section-18">
            <a:extLst xmlns:a="http://schemas.openxmlformats.org/drawingml/2006/main">
              <a:ext uri="{FF2B5EF4-FFF2-40B4-BE49-F238E27FC236}">
                <a16:creationId xmlns:a16="http://schemas.microsoft.com/office/drawing/2014/main" id="{6455E736-74DD-4626-BA5C-D54B2FFA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E5A93D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5A93D"/>
                </a:solidFill>
                <a:latin typeface="PingFang TC"/>
                <a:ea typeface="PingFang TC"/>
                <a:cs typeface="PingFang TC"/>
              </a:rPr>
              <a:t>第五章｜看見傳承</a:t>
            </a:r>
          </a:p>
        </p:txBody>
      </p:sp>
      <p:sp>
        <p:nvSpPr>
          <p:cNvPr id="4" name="top-title-18">
            <a:extLst xmlns:a="http://schemas.openxmlformats.org/drawingml/2006/main">
              <a:ext uri="{FF2B5EF4-FFF2-40B4-BE49-F238E27FC236}">
                <a16:creationId xmlns:a16="http://schemas.microsoft.com/office/drawing/2014/main" id="{70D769AB-9EDF-4B70-A0AE-01F17A16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保存歷史，不是回頭；是讓下一次選擇更有根據</a:t>
            </a:r>
          </a:p>
        </p:txBody>
      </p:sp>
      <p:sp>
        <p:nvSpPr>
          <p:cNvPr id="5" name="top-subtitle-18">
            <a:extLst xmlns:a="http://schemas.openxmlformats.org/drawingml/2006/main">
              <a:ext uri="{FF2B5EF4-FFF2-40B4-BE49-F238E27FC236}">
                <a16:creationId xmlns:a16="http://schemas.microsoft.com/office/drawing/2014/main" id="{6A2C559D-B25B-48C2-B700-78A4721F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5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rPr>
              <a:t>10:00—10:40</a:t>
            </a:r>
          </a:p>
        </p:txBody>
      </p:sp>
      <p:sp>
        <p:nvSpPr>
          <p:cNvPr id="6" name="left-rail-18">
            <a:extLst xmlns:a="http://schemas.openxmlformats.org/drawingml/2006/main">
              <a:ext uri="{FF2B5EF4-FFF2-40B4-BE49-F238E27FC236}">
                <a16:creationId xmlns:a16="http://schemas.microsoft.com/office/drawing/2014/main" id="{90D83DB5-4CB6-4441-A831-E483E116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36004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7" name="rail-accent-18">
            <a:extLst xmlns:a="http://schemas.openxmlformats.org/drawingml/2006/main">
              <a:ext uri="{FF2B5EF4-FFF2-40B4-BE49-F238E27FC236}">
                <a16:creationId xmlns:a16="http://schemas.microsoft.com/office/drawing/2014/main" id="{7548E58A-4435-4784-BD04-775A6A10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952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cene-index-18">
            <a:extLst xmlns:a="http://schemas.openxmlformats.org/drawingml/2006/main">
              <a:ext uri="{FF2B5EF4-FFF2-40B4-BE49-F238E27FC236}">
                <a16:creationId xmlns:a16="http://schemas.microsoft.com/office/drawing/2014/main" id="{652BB1FE-6CF0-4301-8EA6-97FD76C2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E5A93D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E5A93D"/>
                </a:solidFill>
                <a:latin typeface="PingFang TC"/>
                <a:ea typeface="PingFang TC"/>
                <a:cs typeface="PingFang TC"/>
              </a:rPr>
              <a:t>SC 13</a:t>
            </a:r>
          </a:p>
        </p:txBody>
      </p:sp>
      <p:sp>
        <p:nvSpPr>
          <p:cNvPr id="9" name="visual-label-18">
            <a:extLst xmlns:a="http://schemas.openxmlformats.org/drawingml/2006/main">
              <a:ext uri="{FF2B5EF4-FFF2-40B4-BE49-F238E27FC236}">
                <a16:creationId xmlns:a16="http://schemas.microsoft.com/office/drawing/2014/main" id="{EF410EC1-B3B6-4FB1-87DD-B9E90EF9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畫面 / VISUAL</a:t>
            </a:r>
          </a:p>
        </p:txBody>
      </p:sp>
      <p:sp>
        <p:nvSpPr>
          <p:cNvPr id="10" name="visual-copy-18">
            <a:extLst xmlns:a="http://schemas.openxmlformats.org/drawingml/2006/main">
              <a:ext uri="{FF2B5EF4-FFF2-40B4-BE49-F238E27FC236}">
                <a16:creationId xmlns:a16="http://schemas.microsoft.com/office/drawing/2014/main" id="{0B306142-07A3-41DB-B167-06F4197D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3000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增修後會史館與互動媒體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歷屆照片、議事紀錄、紀念物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學生、親子、訪賓觀看展覽</a:t>
            </a:r>
          </a:p>
        </p:txBody>
      </p:sp>
      <p:sp>
        <p:nvSpPr>
          <p:cNvPr id="11" name="onscreen-label-18">
            <a:extLst xmlns:a="http://schemas.openxmlformats.org/drawingml/2006/main">
              <a:ext uri="{FF2B5EF4-FFF2-40B4-BE49-F238E27FC236}">
                <a16:creationId xmlns:a16="http://schemas.microsoft.com/office/drawing/2014/main" id="{3E24CDFB-D498-48F1-A5D5-3DD69ECD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字卡 / ON SCREEN</a:t>
            </a:r>
          </a:p>
        </p:txBody>
      </p:sp>
      <p:sp>
        <p:nvSpPr>
          <p:cNvPr id="12" name="onscreen-copy-18">
            <a:extLst xmlns:a="http://schemas.openxmlformats.org/drawingml/2006/main">
              <a:ext uri="{FF2B5EF4-FFF2-40B4-BE49-F238E27FC236}">
                <a16:creationId xmlns:a16="http://schemas.microsoft.com/office/drawing/2014/main" id="{42415111-9604-4134-AB5E-1F2BBEC9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300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13" b="1">
                <a:solidFill>
                  <a:srgbClr val="E5A93D"/>
                </a:solidFill>
                <a:latin typeface="PingFang TC"/>
                <a:ea typeface="PingFang TC"/>
                <a:cs typeface="PingFang TC"/>
              </a:defRPr>
            </a:pPr>
            <a:r>
              <a:rPr sz="1613" b="1">
                <a:solidFill>
                  <a:srgbClr val="E5A93D"/>
                </a:solidFill>
                <a:latin typeface="PingFang TC"/>
                <a:ea typeface="PingFang TC"/>
                <a:cs typeface="PingFang TC"/>
              </a:rPr>
              <a:t>記得來路，才能看清方向</a:t>
            </a:r>
          </a:p>
        </p:txBody>
      </p:sp>
      <p:sp>
        <p:nvSpPr>
          <p:cNvPr id="13" name="vo-label-18">
            <a:extLst xmlns:a="http://schemas.openxmlformats.org/drawingml/2006/main">
              <a:ext uri="{FF2B5EF4-FFF2-40B4-BE49-F238E27FC236}">
                <a16:creationId xmlns:a16="http://schemas.microsoft.com/office/drawing/2014/main" id="{84618B31-3CA4-45D5-9C7D-E820E689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47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旁白 / VOICE OVER</a:t>
            </a:r>
          </a:p>
        </p:txBody>
      </p:sp>
      <p:sp>
        <p:nvSpPr>
          <p:cNvPr id="14" name="vo-rule-18">
            <a:extLst xmlns:a="http://schemas.openxmlformats.org/drawingml/2006/main">
              <a:ext uri="{FF2B5EF4-FFF2-40B4-BE49-F238E27FC236}">
                <a16:creationId xmlns:a16="http://schemas.microsoft.com/office/drawing/2014/main" id="{EF3417D7-60CA-44FA-8F5B-3DD2131C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809750"/>
            <a:ext cx="693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o-copy-18">
            <a:extLst xmlns:a="http://schemas.openxmlformats.org/drawingml/2006/main">
              <a:ext uri="{FF2B5EF4-FFF2-40B4-BE49-F238E27FC236}">
                <a16:creationId xmlns:a16="http://schemas.microsoft.com/office/drawing/2014/main" id="{DECF601D-6961-4FC4-A3E0-EA9B8BAF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69342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議會的歷史，不只屬於一棟建築，也屬於每一代參與地方自治的人。會史館保存照片、文件與重要紀錄，透過更新的展示與互動內容，讓過去不只是被陳列，而能被理解。當下一代看見民主如何一步步走來，也更能明白：今天擁有的每一次發言與選擇，都值得珍惜。</a:t>
            </a:r>
          </a:p>
        </p:txBody>
      </p:sp>
      <p:sp>
        <p:nvSpPr>
          <p:cNvPr id="16" name="sound-bar-18">
            <a:extLst xmlns:a="http://schemas.openxmlformats.org/drawingml/2006/main">
              <a:ext uri="{FF2B5EF4-FFF2-40B4-BE49-F238E27FC236}">
                <a16:creationId xmlns:a16="http://schemas.microsoft.com/office/drawing/2014/main" id="{18FFD1A6-FAAF-45D5-BE7E-26DD5A9C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5257800"/>
            <a:ext cx="6934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nd-label-18">
            <a:extLst xmlns:a="http://schemas.openxmlformats.org/drawingml/2006/main">
              <a:ext uri="{FF2B5EF4-FFF2-40B4-BE49-F238E27FC236}">
                <a16:creationId xmlns:a16="http://schemas.microsoft.com/office/drawing/2014/main" id="{BD458A7E-ECD1-448E-BB1C-2EEBA8B9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429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E5A93D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5A93D"/>
                </a:solidFill>
                <a:latin typeface="PingFang TC"/>
                <a:ea typeface="PingFang TC"/>
                <a:cs typeface="PingFang TC"/>
              </a:rPr>
              <a:t>聲音</a:t>
            </a:r>
          </a:p>
        </p:txBody>
      </p:sp>
      <p:sp>
        <p:nvSpPr>
          <p:cNvPr id="18" name="sound-copy-18">
            <a:extLst xmlns:a="http://schemas.openxmlformats.org/drawingml/2006/main">
              <a:ext uri="{FF2B5EF4-FFF2-40B4-BE49-F238E27FC236}">
                <a16:creationId xmlns:a16="http://schemas.microsoft.com/office/drawing/2014/main" id="{D9F91E0B-9336-458F-952A-F5D42647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3911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空間環境音與輕柔木質打擊；孩子停步觀看時降低音樂。</a:t>
            </a:r>
          </a:p>
        </p:txBody>
      </p:sp>
      <p:sp>
        <p:nvSpPr>
          <p:cNvPr id="19" name="footer-section-18">
            <a:extLst xmlns:a="http://schemas.openxmlformats.org/drawingml/2006/main">
              <a:ext uri="{FF2B5EF4-FFF2-40B4-BE49-F238E27FC236}">
                <a16:creationId xmlns:a16="http://schemas.microsoft.com/office/drawing/2014/main" id="{ED410D87-CB29-409C-AC8A-39B25D20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第五章｜看見傳承</a:t>
            </a:r>
          </a:p>
        </p:txBody>
      </p:sp>
      <p:sp>
        <p:nvSpPr>
          <p:cNvPr id="20" name="footer-page-18">
            <a:extLst xmlns:a="http://schemas.openxmlformats.org/drawingml/2006/main">
              <a:ext uri="{FF2B5EF4-FFF2-40B4-BE49-F238E27FC236}">
                <a16:creationId xmlns:a16="http://schemas.microsoft.com/office/drawing/2014/main" id="{3F7FE95E-D0AF-4227-836F-599A246F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38117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band-19">
            <a:extLst xmlns:a="http://schemas.openxmlformats.org/drawingml/2006/main">
              <a:ext uri="{FF2B5EF4-FFF2-40B4-BE49-F238E27FC236}">
                <a16:creationId xmlns:a16="http://schemas.microsoft.com/office/drawing/2014/main" id="{6EB8D9A2-4E9E-49CC-B105-48B81269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-19">
            <a:extLst xmlns:a="http://schemas.openxmlformats.org/drawingml/2006/main">
              <a:ext uri="{FF2B5EF4-FFF2-40B4-BE49-F238E27FC236}">
                <a16:creationId xmlns:a16="http://schemas.microsoft.com/office/drawing/2014/main" id="{0DBE24EA-03CB-49CD-B3F2-5388D36E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71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section-19">
            <a:extLst xmlns:a="http://schemas.openxmlformats.org/drawingml/2006/main">
              <a:ext uri="{FF2B5EF4-FFF2-40B4-BE49-F238E27FC236}">
                <a16:creationId xmlns:a16="http://schemas.microsoft.com/office/drawing/2014/main" id="{3239A607-483B-4C31-876A-9EA13AA5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E5A93D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5A93D"/>
                </a:solidFill>
                <a:latin typeface="PingFang TC"/>
                <a:ea typeface="PingFang TC"/>
                <a:cs typeface="PingFang TC"/>
              </a:rPr>
              <a:t>第五章｜看見世界</a:t>
            </a:r>
          </a:p>
        </p:txBody>
      </p:sp>
      <p:sp>
        <p:nvSpPr>
          <p:cNvPr id="4" name="top-title-19">
            <a:extLst xmlns:a="http://schemas.openxmlformats.org/drawingml/2006/main">
              <a:ext uri="{FF2B5EF4-FFF2-40B4-BE49-F238E27FC236}">
                <a16:creationId xmlns:a16="http://schemas.microsoft.com/office/drawing/2014/main" id="{564D3D70-D21F-4AEB-A881-F3286DAF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交流讓經驗互相照亮，也讓世界看見新北</a:t>
            </a:r>
          </a:p>
        </p:txBody>
      </p:sp>
      <p:sp>
        <p:nvSpPr>
          <p:cNvPr id="5" name="top-subtitle-19">
            <a:extLst xmlns:a="http://schemas.openxmlformats.org/drawingml/2006/main">
              <a:ext uri="{FF2B5EF4-FFF2-40B4-BE49-F238E27FC236}">
                <a16:creationId xmlns:a16="http://schemas.microsoft.com/office/drawing/2014/main" id="{F6E71515-ECB0-495D-8AA6-EEC7D24E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5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rPr>
              <a:t>10:40—11:00</a:t>
            </a:r>
          </a:p>
        </p:txBody>
      </p:sp>
      <p:sp>
        <p:nvSpPr>
          <p:cNvPr id="6" name="left-rail-19">
            <a:extLst xmlns:a="http://schemas.openxmlformats.org/drawingml/2006/main">
              <a:ext uri="{FF2B5EF4-FFF2-40B4-BE49-F238E27FC236}">
                <a16:creationId xmlns:a16="http://schemas.microsoft.com/office/drawing/2014/main" id="{BFA9AADA-F3FD-45EA-BAD3-2122FFC2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36004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7" name="rail-accent-19">
            <a:extLst xmlns:a="http://schemas.openxmlformats.org/drawingml/2006/main">
              <a:ext uri="{FF2B5EF4-FFF2-40B4-BE49-F238E27FC236}">
                <a16:creationId xmlns:a16="http://schemas.microsoft.com/office/drawing/2014/main" id="{AD0A518B-491B-436B-BEAD-486A0355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952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cene-index-19">
            <a:extLst xmlns:a="http://schemas.openxmlformats.org/drawingml/2006/main">
              <a:ext uri="{FF2B5EF4-FFF2-40B4-BE49-F238E27FC236}">
                <a16:creationId xmlns:a16="http://schemas.microsoft.com/office/drawing/2014/main" id="{9EFB99CE-0AB7-4411-97EA-D0A35B50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E5A93D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E5A93D"/>
                </a:solidFill>
                <a:latin typeface="PingFang TC"/>
                <a:ea typeface="PingFang TC"/>
                <a:cs typeface="PingFang TC"/>
              </a:rPr>
              <a:t>SC 14</a:t>
            </a:r>
          </a:p>
        </p:txBody>
      </p:sp>
      <p:sp>
        <p:nvSpPr>
          <p:cNvPr id="9" name="visual-label-19">
            <a:extLst xmlns:a="http://schemas.openxmlformats.org/drawingml/2006/main">
              <a:ext uri="{FF2B5EF4-FFF2-40B4-BE49-F238E27FC236}">
                <a16:creationId xmlns:a16="http://schemas.microsoft.com/office/drawing/2014/main" id="{93913B29-04AF-4C89-A1E4-D1F8CFE9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畫面 / VISUAL</a:t>
            </a:r>
          </a:p>
        </p:txBody>
      </p:sp>
      <p:sp>
        <p:nvSpPr>
          <p:cNvPr id="10" name="visual-copy-19">
            <a:extLst xmlns:a="http://schemas.openxmlformats.org/drawingml/2006/main">
              <a:ext uri="{FF2B5EF4-FFF2-40B4-BE49-F238E27FC236}">
                <a16:creationId xmlns:a16="http://schemas.microsoft.com/office/drawing/2014/main" id="{A0D27F7D-A5F4-4B20-8A82-5EBCAF7D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3000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國內外議會交流與外賓參訪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城市資料／同步口譯／握手合影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城市風景交錯，回到議會夜景</a:t>
            </a:r>
          </a:p>
        </p:txBody>
      </p:sp>
      <p:sp>
        <p:nvSpPr>
          <p:cNvPr id="11" name="onscreen-label-19">
            <a:extLst xmlns:a="http://schemas.openxmlformats.org/drawingml/2006/main">
              <a:ext uri="{FF2B5EF4-FFF2-40B4-BE49-F238E27FC236}">
                <a16:creationId xmlns:a16="http://schemas.microsoft.com/office/drawing/2014/main" id="{CBBB2495-A41F-4899-8A81-41C441F1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字卡 / ON SCREEN</a:t>
            </a:r>
          </a:p>
        </p:txBody>
      </p:sp>
      <p:sp>
        <p:nvSpPr>
          <p:cNvPr id="12" name="onscreen-copy-19">
            <a:extLst xmlns:a="http://schemas.openxmlformats.org/drawingml/2006/main">
              <a:ext uri="{FF2B5EF4-FFF2-40B4-BE49-F238E27FC236}">
                <a16:creationId xmlns:a16="http://schemas.microsoft.com/office/drawing/2014/main" id="{6C01ADF7-B44D-4300-9AA4-166F2169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300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13" b="1">
                <a:solidFill>
                  <a:srgbClr val="E5A93D"/>
                </a:solidFill>
                <a:latin typeface="PingFang TC"/>
                <a:ea typeface="PingFang TC"/>
                <a:cs typeface="PingFang TC"/>
              </a:defRPr>
            </a:pPr>
            <a:r>
              <a:rPr sz="1613" b="1">
                <a:solidFill>
                  <a:srgbClr val="E5A93D"/>
                </a:solidFill>
                <a:latin typeface="PingFang TC"/>
                <a:ea typeface="PingFang TC"/>
                <a:cs typeface="PingFang TC"/>
              </a:rPr>
              <a:t>看見世界｜讓世界看見新北</a:t>
            </a:r>
          </a:p>
        </p:txBody>
      </p:sp>
      <p:sp>
        <p:nvSpPr>
          <p:cNvPr id="13" name="vo-label-19">
            <a:extLst xmlns:a="http://schemas.openxmlformats.org/drawingml/2006/main">
              <a:ext uri="{FF2B5EF4-FFF2-40B4-BE49-F238E27FC236}">
                <a16:creationId xmlns:a16="http://schemas.microsoft.com/office/drawing/2014/main" id="{550EFFCC-53E7-4452-A23D-E588CFF8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47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旁白 / VOICE OVER</a:t>
            </a:r>
          </a:p>
        </p:txBody>
      </p:sp>
      <p:sp>
        <p:nvSpPr>
          <p:cNvPr id="14" name="vo-rule-19">
            <a:extLst xmlns:a="http://schemas.openxmlformats.org/drawingml/2006/main">
              <a:ext uri="{FF2B5EF4-FFF2-40B4-BE49-F238E27FC236}">
                <a16:creationId xmlns:a16="http://schemas.microsoft.com/office/drawing/2014/main" id="{29DDD553-5676-4114-958F-7CF666F4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809750"/>
            <a:ext cx="693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o-copy-19">
            <a:extLst xmlns:a="http://schemas.openxmlformats.org/drawingml/2006/main">
              <a:ext uri="{FF2B5EF4-FFF2-40B4-BE49-F238E27FC236}">
                <a16:creationId xmlns:a16="http://schemas.microsoft.com/office/drawing/2014/main" id="{F1FD9A6B-AEC8-4768-B092-96993720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69342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城市面對的交通、環境、照顧與治理課題，從來不只存在於一個地方。透過議會交流與城市對話，我們分享經驗，也學習不同做法。看見世界，是為了把更好的方法帶回新北；讓世界看見新北，則是把地方民主的努力，放進更寬廣的連結裡。</a:t>
            </a:r>
          </a:p>
        </p:txBody>
      </p:sp>
      <p:sp>
        <p:nvSpPr>
          <p:cNvPr id="16" name="sound-bar-19">
            <a:extLst xmlns:a="http://schemas.openxmlformats.org/drawingml/2006/main">
              <a:ext uri="{FF2B5EF4-FFF2-40B4-BE49-F238E27FC236}">
                <a16:creationId xmlns:a16="http://schemas.microsoft.com/office/drawing/2014/main" id="{73CC21B7-002B-4A0B-9FE3-FB90DB02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5257800"/>
            <a:ext cx="6934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nd-label-19">
            <a:extLst xmlns:a="http://schemas.openxmlformats.org/drawingml/2006/main">
              <a:ext uri="{FF2B5EF4-FFF2-40B4-BE49-F238E27FC236}">
                <a16:creationId xmlns:a16="http://schemas.microsoft.com/office/drawing/2014/main" id="{AC1DE938-76CB-4A0E-B9C2-1E24CB36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429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E5A93D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5A93D"/>
                </a:solidFill>
                <a:latin typeface="PingFang TC"/>
                <a:ea typeface="PingFang TC"/>
                <a:cs typeface="PingFang TC"/>
              </a:rPr>
              <a:t>聲音</a:t>
            </a:r>
          </a:p>
        </p:txBody>
      </p:sp>
      <p:sp>
        <p:nvSpPr>
          <p:cNvPr id="18" name="sound-copy-19">
            <a:extLst xmlns:a="http://schemas.openxmlformats.org/drawingml/2006/main">
              <a:ext uri="{FF2B5EF4-FFF2-40B4-BE49-F238E27FC236}">
                <a16:creationId xmlns:a16="http://schemas.microsoft.com/office/drawing/2014/main" id="{C15808FE-2770-4CA3-8A2B-C133C26C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3911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音樂加入明亮弦樂；保留迎賓與交流現場自然聲。</a:t>
            </a:r>
          </a:p>
        </p:txBody>
      </p:sp>
      <p:sp>
        <p:nvSpPr>
          <p:cNvPr id="19" name="footer-section-19">
            <a:extLst xmlns:a="http://schemas.openxmlformats.org/drawingml/2006/main">
              <a:ext uri="{FF2B5EF4-FFF2-40B4-BE49-F238E27FC236}">
                <a16:creationId xmlns:a16="http://schemas.microsoft.com/office/drawing/2014/main" id="{652621F9-CA33-47EE-A2F8-3EB982A8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第五章｜看見世界</a:t>
            </a:r>
          </a:p>
        </p:txBody>
      </p:sp>
      <p:sp>
        <p:nvSpPr>
          <p:cNvPr id="20" name="footer-page-19">
            <a:extLst xmlns:a="http://schemas.openxmlformats.org/drawingml/2006/main">
              <a:ext uri="{FF2B5EF4-FFF2-40B4-BE49-F238E27FC236}">
                <a16:creationId xmlns:a16="http://schemas.microsoft.com/office/drawing/2014/main" id="{6A09EAF3-37B5-49EA-808E-839FBADE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992199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band-20">
            <a:extLst xmlns:a="http://schemas.openxmlformats.org/drawingml/2006/main">
              <a:ext uri="{FF2B5EF4-FFF2-40B4-BE49-F238E27FC236}">
                <a16:creationId xmlns:a16="http://schemas.microsoft.com/office/drawing/2014/main" id="{ED29A215-A590-4792-8337-1B74DC01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-20">
            <a:extLst xmlns:a="http://schemas.openxmlformats.org/drawingml/2006/main">
              <a:ext uri="{FF2B5EF4-FFF2-40B4-BE49-F238E27FC236}">
                <a16:creationId xmlns:a16="http://schemas.microsoft.com/office/drawing/2014/main" id="{25FA944E-BFA2-455C-B1CB-FCD3189C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71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section-20">
            <a:extLst xmlns:a="http://schemas.openxmlformats.org/drawingml/2006/main">
              <a:ext uri="{FF2B5EF4-FFF2-40B4-BE49-F238E27FC236}">
                <a16:creationId xmlns:a16="http://schemas.microsoft.com/office/drawing/2014/main" id="{435BBC0F-0E14-4D7D-8884-267C34D7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E96C5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96C57"/>
                </a:solidFill>
                <a:latin typeface="PingFang TC"/>
                <a:ea typeface="PingFang TC"/>
                <a:cs typeface="PingFang TC"/>
              </a:rPr>
              <a:t>第六章｜看見未來</a:t>
            </a:r>
          </a:p>
        </p:txBody>
      </p:sp>
      <p:sp>
        <p:nvSpPr>
          <p:cNvPr id="4" name="top-title-20">
            <a:extLst xmlns:a="http://schemas.openxmlformats.org/drawingml/2006/main">
              <a:ext uri="{FF2B5EF4-FFF2-40B4-BE49-F238E27FC236}">
                <a16:creationId xmlns:a16="http://schemas.microsoft.com/office/drawing/2014/main" id="{3E0E8EF2-445E-4CFE-85EC-F5A0024A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議長建議致詞：從市民需要出發，與城市一起前進</a:t>
            </a:r>
          </a:p>
        </p:txBody>
      </p:sp>
      <p:sp>
        <p:nvSpPr>
          <p:cNvPr id="5" name="top-subtitle-20">
            <a:extLst xmlns:a="http://schemas.openxmlformats.org/drawingml/2006/main">
              <a:ext uri="{FF2B5EF4-FFF2-40B4-BE49-F238E27FC236}">
                <a16:creationId xmlns:a16="http://schemas.microsoft.com/office/drawing/2014/main" id="{C9D28B57-2B97-46A8-AA6C-6837CC4C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5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rPr>
              <a:t>11:00—11:20</a:t>
            </a:r>
          </a:p>
        </p:txBody>
      </p:sp>
      <p:sp>
        <p:nvSpPr>
          <p:cNvPr id="6" name="left-rail-20">
            <a:extLst xmlns:a="http://schemas.openxmlformats.org/drawingml/2006/main">
              <a:ext uri="{FF2B5EF4-FFF2-40B4-BE49-F238E27FC236}">
                <a16:creationId xmlns:a16="http://schemas.microsoft.com/office/drawing/2014/main" id="{C709AA0A-E5D2-4A75-8915-796371AB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36004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7" name="rail-accent-20">
            <a:extLst xmlns:a="http://schemas.openxmlformats.org/drawingml/2006/main">
              <a:ext uri="{FF2B5EF4-FFF2-40B4-BE49-F238E27FC236}">
                <a16:creationId xmlns:a16="http://schemas.microsoft.com/office/drawing/2014/main" id="{75A7A928-F96B-4BE4-9B3C-EFB13701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952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cene-index-20">
            <a:extLst xmlns:a="http://schemas.openxmlformats.org/drawingml/2006/main">
              <a:ext uri="{FF2B5EF4-FFF2-40B4-BE49-F238E27FC236}">
                <a16:creationId xmlns:a16="http://schemas.microsoft.com/office/drawing/2014/main" id="{C93D294C-B51B-4777-BD49-95908AE6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E96C57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E96C57"/>
                </a:solidFill>
                <a:latin typeface="PingFang TC"/>
                <a:ea typeface="PingFang TC"/>
                <a:cs typeface="PingFang TC"/>
              </a:rPr>
              <a:t>SC 15</a:t>
            </a:r>
          </a:p>
        </p:txBody>
      </p:sp>
      <p:sp>
        <p:nvSpPr>
          <p:cNvPr id="9" name="visual-label-20">
            <a:extLst xmlns:a="http://schemas.openxmlformats.org/drawingml/2006/main">
              <a:ext uri="{FF2B5EF4-FFF2-40B4-BE49-F238E27FC236}">
                <a16:creationId xmlns:a16="http://schemas.microsoft.com/office/drawing/2014/main" id="{23596D58-3306-4BC2-A8E2-493E3838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畫面 / VISUAL</a:t>
            </a:r>
          </a:p>
        </p:txBody>
      </p:sp>
      <p:sp>
        <p:nvSpPr>
          <p:cNvPr id="10" name="visual-copy-20">
            <a:extLst xmlns:a="http://schemas.openxmlformats.org/drawingml/2006/main">
              <a:ext uri="{FF2B5EF4-FFF2-40B4-BE49-F238E27FC236}">
                <a16:creationId xmlns:a16="http://schemas.microsoft.com/office/drawing/2014/main" id="{69CA3D79-965D-4084-B5A2-1FA9F5D4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3000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議長自然光中近景面向鏡頭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穿插議場傾聽、市民互動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就職後依實際議長身份錄製</a:t>
            </a:r>
          </a:p>
        </p:txBody>
      </p:sp>
      <p:sp>
        <p:nvSpPr>
          <p:cNvPr id="11" name="onscreen-label-20">
            <a:extLst xmlns:a="http://schemas.openxmlformats.org/drawingml/2006/main">
              <a:ext uri="{FF2B5EF4-FFF2-40B4-BE49-F238E27FC236}">
                <a16:creationId xmlns:a16="http://schemas.microsoft.com/office/drawing/2014/main" id="{DD9B4A8D-2D65-4A11-9576-D57AC60B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字卡 / ON SCREEN</a:t>
            </a:r>
          </a:p>
        </p:txBody>
      </p:sp>
      <p:sp>
        <p:nvSpPr>
          <p:cNvPr id="12" name="onscreen-copy-20">
            <a:extLst xmlns:a="http://schemas.openxmlformats.org/drawingml/2006/main">
              <a:ext uri="{FF2B5EF4-FFF2-40B4-BE49-F238E27FC236}">
                <a16:creationId xmlns:a16="http://schemas.microsoft.com/office/drawing/2014/main" id="{CB4BE6AA-B963-4287-8764-1A356060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300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13" b="1">
                <a:solidFill>
                  <a:srgbClr val="E96C57"/>
                </a:solidFill>
                <a:latin typeface="PingFang TC"/>
                <a:ea typeface="PingFang TC"/>
                <a:cs typeface="PingFang TC"/>
              </a:defRPr>
            </a:pPr>
            <a:r>
              <a:rPr sz="1613" b="1">
                <a:solidFill>
                  <a:srgbClr val="E96C57"/>
                </a:solidFill>
                <a:latin typeface="PingFang TC"/>
                <a:ea typeface="PingFang TC"/>
                <a:cs typeface="PingFang TC"/>
              </a:rPr>
              <a:t>第5屆新北市議會｜議長（姓名後補）</a:t>
            </a:r>
          </a:p>
        </p:txBody>
      </p:sp>
      <p:sp>
        <p:nvSpPr>
          <p:cNvPr id="13" name="vo-label-20">
            <a:extLst xmlns:a="http://schemas.openxmlformats.org/drawingml/2006/main">
              <a:ext uri="{FF2B5EF4-FFF2-40B4-BE49-F238E27FC236}">
                <a16:creationId xmlns:a16="http://schemas.microsoft.com/office/drawing/2014/main" id="{8B065E10-0815-4433-AC63-C99AD871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47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旁白 / VOICE OVER</a:t>
            </a:r>
          </a:p>
        </p:txBody>
      </p:sp>
      <p:sp>
        <p:nvSpPr>
          <p:cNvPr id="14" name="vo-rule-20">
            <a:extLst xmlns:a="http://schemas.openxmlformats.org/drawingml/2006/main">
              <a:ext uri="{FF2B5EF4-FFF2-40B4-BE49-F238E27FC236}">
                <a16:creationId xmlns:a16="http://schemas.microsoft.com/office/drawing/2014/main" id="{34406FFB-EE6C-499E-8180-9B2B4DE0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809750"/>
            <a:ext cx="693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o-copy-20">
            <a:extLst xmlns:a="http://schemas.openxmlformats.org/drawingml/2006/main">
              <a:ext uri="{FF2B5EF4-FFF2-40B4-BE49-F238E27FC236}">
                <a16:creationId xmlns:a16="http://schemas.microsoft.com/office/drawing/2014/main" id="{A67683A1-C6BF-410E-9664-019E3342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69342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第5屆新北市議會，將以市民的需要為起點，在多元意見中尋找共識，在監督與合作中推動城市前進。讓每一個聲音被聽見、每一項託付被看見；讓議會成為市民可以理解、可以靠近，也可以共同參與的民主殿堂。未來，我們會和所有新北市民一起，為更好的生活努力。</a:t>
            </a:r>
          </a:p>
        </p:txBody>
      </p:sp>
      <p:sp>
        <p:nvSpPr>
          <p:cNvPr id="16" name="sound-bar-20">
            <a:extLst xmlns:a="http://schemas.openxmlformats.org/drawingml/2006/main">
              <a:ext uri="{FF2B5EF4-FFF2-40B4-BE49-F238E27FC236}">
                <a16:creationId xmlns:a16="http://schemas.microsoft.com/office/drawing/2014/main" id="{D633A9CD-B60A-4804-A3F5-B0B185F4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5257800"/>
            <a:ext cx="6934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D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nd-label-20">
            <a:extLst xmlns:a="http://schemas.openxmlformats.org/drawingml/2006/main">
              <a:ext uri="{FF2B5EF4-FFF2-40B4-BE49-F238E27FC236}">
                <a16:creationId xmlns:a16="http://schemas.microsoft.com/office/drawing/2014/main" id="{B53D10F3-000B-4E28-BD14-1B59C1FD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429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E96C57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96C57"/>
                </a:solidFill>
                <a:latin typeface="PingFang TC"/>
                <a:ea typeface="PingFang TC"/>
                <a:cs typeface="PingFang TC"/>
              </a:rPr>
              <a:t>聲音</a:t>
            </a:r>
          </a:p>
        </p:txBody>
      </p:sp>
      <p:sp>
        <p:nvSpPr>
          <p:cNvPr id="18" name="sound-copy-20">
            <a:extLst xmlns:a="http://schemas.openxmlformats.org/drawingml/2006/main">
              <a:ext uri="{FF2B5EF4-FFF2-40B4-BE49-F238E27FC236}">
                <a16:creationId xmlns:a16="http://schemas.microsoft.com/office/drawing/2014/main" id="{0D20257F-1BAA-4EC6-97A6-7EB39B54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3911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以同期原音為主，音樂降低；最後一句後留一秒停頓再進片尾。</a:t>
            </a:r>
          </a:p>
        </p:txBody>
      </p:sp>
      <p:sp>
        <p:nvSpPr>
          <p:cNvPr id="19" name="footer-section-20">
            <a:extLst xmlns:a="http://schemas.openxmlformats.org/drawingml/2006/main">
              <a:ext uri="{FF2B5EF4-FFF2-40B4-BE49-F238E27FC236}">
                <a16:creationId xmlns:a16="http://schemas.microsoft.com/office/drawing/2014/main" id="{A8D4469F-EFB2-48F5-9E10-C8252D06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第六章｜看見未來</a:t>
            </a:r>
          </a:p>
        </p:txBody>
      </p:sp>
      <p:sp>
        <p:nvSpPr>
          <p:cNvPr id="20" name="footer-page-20">
            <a:extLst xmlns:a="http://schemas.openxmlformats.org/drawingml/2006/main">
              <a:ext uri="{FF2B5EF4-FFF2-40B4-BE49-F238E27FC236}">
                <a16:creationId xmlns:a16="http://schemas.microsoft.com/office/drawing/2014/main" id="{BC1C097A-B581-46DC-BD33-CFBE32AD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52454938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band-21">
            <a:extLst xmlns:a="http://schemas.openxmlformats.org/drawingml/2006/main">
              <a:ext uri="{FF2B5EF4-FFF2-40B4-BE49-F238E27FC236}">
                <a16:creationId xmlns:a16="http://schemas.microsoft.com/office/drawing/2014/main" id="{9FE99F64-C18E-4A58-AD92-CC4A7192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-21">
            <a:extLst xmlns:a="http://schemas.openxmlformats.org/drawingml/2006/main">
              <a:ext uri="{FF2B5EF4-FFF2-40B4-BE49-F238E27FC236}">
                <a16:creationId xmlns:a16="http://schemas.microsoft.com/office/drawing/2014/main" id="{C965127E-24E9-4CAC-8CB2-901D128E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71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section-21">
            <a:extLst xmlns:a="http://schemas.openxmlformats.org/drawingml/2006/main">
              <a:ext uri="{FF2B5EF4-FFF2-40B4-BE49-F238E27FC236}">
                <a16:creationId xmlns:a16="http://schemas.microsoft.com/office/drawing/2014/main" id="{5EDC8461-377C-40FA-9728-A050B24B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E96C5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96C57"/>
                </a:solidFill>
                <a:latin typeface="PingFang TC"/>
                <a:ea typeface="PingFang TC"/>
                <a:cs typeface="PingFang TC"/>
              </a:rPr>
              <a:t>片尾｜看見共好</a:t>
            </a:r>
          </a:p>
        </p:txBody>
      </p:sp>
      <p:sp>
        <p:nvSpPr>
          <p:cNvPr id="4" name="top-title-21">
            <a:extLst xmlns:a="http://schemas.openxmlformats.org/drawingml/2006/main">
              <a:ext uri="{FF2B5EF4-FFF2-40B4-BE49-F238E27FC236}">
                <a16:creationId xmlns:a16="http://schemas.microsoft.com/office/drawing/2014/main" id="{DE8411EF-948C-47A3-94DA-22BB43F1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看見彼此相連，城市才會一起變好</a:t>
            </a:r>
          </a:p>
        </p:txBody>
      </p:sp>
      <p:sp>
        <p:nvSpPr>
          <p:cNvPr id="5" name="top-subtitle-21">
            <a:extLst xmlns:a="http://schemas.openxmlformats.org/drawingml/2006/main">
              <a:ext uri="{FF2B5EF4-FFF2-40B4-BE49-F238E27FC236}">
                <a16:creationId xmlns:a16="http://schemas.microsoft.com/office/drawing/2014/main" id="{3E7CE66C-7338-4F0C-BF6D-07B2EF0E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5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rPr>
              <a:t>11:20—11:35</a:t>
            </a:r>
          </a:p>
        </p:txBody>
      </p:sp>
      <p:sp>
        <p:nvSpPr>
          <p:cNvPr id="6" name="left-rail-21">
            <a:extLst xmlns:a="http://schemas.openxmlformats.org/drawingml/2006/main">
              <a:ext uri="{FF2B5EF4-FFF2-40B4-BE49-F238E27FC236}">
                <a16:creationId xmlns:a16="http://schemas.microsoft.com/office/drawing/2014/main" id="{9F0FC6BD-3C07-4E51-AB8A-7FFDA740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36004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  <a:prstDash val="solid"/>
          </a:ln>
        </p:spPr>
      </p:sp>
      <p:sp>
        <p:nvSpPr>
          <p:cNvPr id="7" name="rail-accent-21">
            <a:extLst xmlns:a="http://schemas.openxmlformats.org/drawingml/2006/main">
              <a:ext uri="{FF2B5EF4-FFF2-40B4-BE49-F238E27FC236}">
                <a16:creationId xmlns:a16="http://schemas.microsoft.com/office/drawing/2014/main" id="{46F54058-A209-4832-B3F5-FD9B6A8A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14450"/>
            <a:ext cx="952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cene-index-21">
            <a:extLst xmlns:a="http://schemas.openxmlformats.org/drawingml/2006/main">
              <a:ext uri="{FF2B5EF4-FFF2-40B4-BE49-F238E27FC236}">
                <a16:creationId xmlns:a16="http://schemas.microsoft.com/office/drawing/2014/main" id="{D23D7787-254A-4FD6-AA32-AA6DCC7C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E96C57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E96C57"/>
                </a:solidFill>
                <a:latin typeface="PingFang TC"/>
                <a:ea typeface="PingFang TC"/>
                <a:cs typeface="PingFang TC"/>
              </a:rPr>
              <a:t>SC 16</a:t>
            </a:r>
          </a:p>
        </p:txBody>
      </p:sp>
      <p:sp>
        <p:nvSpPr>
          <p:cNvPr id="9" name="visual-label-21">
            <a:extLst xmlns:a="http://schemas.openxmlformats.org/drawingml/2006/main">
              <a:ext uri="{FF2B5EF4-FFF2-40B4-BE49-F238E27FC236}">
                <a16:creationId xmlns:a16="http://schemas.microsoft.com/office/drawing/2014/main" id="{16190CE1-2EEB-40E7-940D-BA4D2564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畫面 / VISUAL</a:t>
            </a:r>
          </a:p>
        </p:txBody>
      </p:sp>
      <p:sp>
        <p:nvSpPr>
          <p:cNvPr id="10" name="visual-copy-21">
            <a:extLst xmlns:a="http://schemas.openxmlformats.org/drawingml/2006/main">
              <a:ext uri="{FF2B5EF4-FFF2-40B4-BE49-F238E27FC236}">
                <a16:creationId xmlns:a16="http://schemas.microsoft.com/office/drawing/2014/main" id="{D01CF9A1-4B1C-4FB7-972D-4796F059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3000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市民面孔、議場、29區地景回看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畫面匯聚成一扇發光的「窗」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613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片名與議會識別落版</a:t>
            </a:r>
          </a:p>
        </p:txBody>
      </p:sp>
      <p:sp>
        <p:nvSpPr>
          <p:cNvPr id="11" name="onscreen-label-21">
            <a:extLst xmlns:a="http://schemas.openxmlformats.org/drawingml/2006/main">
              <a:ext uri="{FF2B5EF4-FFF2-40B4-BE49-F238E27FC236}">
                <a16:creationId xmlns:a16="http://schemas.microsoft.com/office/drawing/2014/main" id="{CEC361A3-30B7-4038-9EA5-EECCECEA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字卡 / ON SCREEN</a:t>
            </a:r>
          </a:p>
        </p:txBody>
      </p:sp>
      <p:sp>
        <p:nvSpPr>
          <p:cNvPr id="12" name="onscreen-copy-21">
            <a:extLst xmlns:a="http://schemas.openxmlformats.org/drawingml/2006/main">
              <a:ext uri="{FF2B5EF4-FFF2-40B4-BE49-F238E27FC236}">
                <a16:creationId xmlns:a16="http://schemas.microsoft.com/office/drawing/2014/main" id="{81957D5B-2009-4A0B-B3ED-98876C0A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300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13" b="1">
                <a:solidFill>
                  <a:srgbClr val="E96C57"/>
                </a:solidFill>
                <a:latin typeface="PingFang TC"/>
                <a:ea typeface="PingFang TC"/>
                <a:cs typeface="PingFang TC"/>
              </a:defRPr>
            </a:pPr>
            <a:r>
              <a:rPr sz="1613" b="1">
                <a:solidFill>
                  <a:srgbClr val="E96C57"/>
                </a:solidFill>
                <a:latin typeface="PingFang TC"/>
                <a:ea typeface="PingFang TC"/>
                <a:cs typeface="PingFang TC"/>
              </a:rPr>
              <a:t>看見．共好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13" b="1">
                <a:solidFill>
                  <a:srgbClr val="E96C57"/>
                </a:solidFill>
                <a:latin typeface="PingFang TC"/>
                <a:ea typeface="PingFang TC"/>
                <a:cs typeface="PingFang TC"/>
              </a:defRPr>
            </a:pPr>
            <a:r>
              <a:rPr sz="1613" b="1">
                <a:solidFill>
                  <a:srgbClr val="E96C57"/>
                </a:solidFill>
                <a:latin typeface="PingFang TC"/>
                <a:ea typeface="PingFang TC"/>
                <a:cs typeface="PingFang TC"/>
              </a:rPr>
              <a:t>第5屆新北市議會</a:t>
            </a:r>
          </a:p>
        </p:txBody>
      </p:sp>
      <p:sp>
        <p:nvSpPr>
          <p:cNvPr id="13" name="vo-label-21">
            <a:extLst xmlns:a="http://schemas.openxmlformats.org/drawingml/2006/main">
              <a:ext uri="{FF2B5EF4-FFF2-40B4-BE49-F238E27FC236}">
                <a16:creationId xmlns:a16="http://schemas.microsoft.com/office/drawing/2014/main" id="{E17CC453-3440-4B90-8CF8-FE9E47AE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47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旁白 / VOICE OVER</a:t>
            </a:r>
          </a:p>
        </p:txBody>
      </p:sp>
      <p:sp>
        <p:nvSpPr>
          <p:cNvPr id="14" name="vo-rule-21">
            <a:extLst xmlns:a="http://schemas.openxmlformats.org/drawingml/2006/main">
              <a:ext uri="{FF2B5EF4-FFF2-40B4-BE49-F238E27FC236}">
                <a16:creationId xmlns:a16="http://schemas.microsoft.com/office/drawing/2014/main" id="{5F898B97-C9FD-4DF0-9178-5349AC40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809750"/>
            <a:ext cx="693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o-copy-21">
            <a:extLst xmlns:a="http://schemas.openxmlformats.org/drawingml/2006/main">
              <a:ext uri="{FF2B5EF4-FFF2-40B4-BE49-F238E27FC236}">
                <a16:creationId xmlns:a16="http://schemas.microsoft.com/office/drawing/2014/main" id="{D44F0131-E85B-42D7-AAFB-F1D02CAD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69342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看見每一個人，也看見我們彼此相連。讓民意有回聲，讓行動有方向，讓新北在共好中持續前進。看見．共好——第5屆新北市議會。</a:t>
            </a:r>
          </a:p>
        </p:txBody>
      </p:sp>
      <p:sp>
        <p:nvSpPr>
          <p:cNvPr id="16" name="sound-bar-21">
            <a:extLst xmlns:a="http://schemas.openxmlformats.org/drawingml/2006/main">
              <a:ext uri="{FF2B5EF4-FFF2-40B4-BE49-F238E27FC236}">
                <a16:creationId xmlns:a16="http://schemas.microsoft.com/office/drawing/2014/main" id="{A8C4EE48-9336-4DD6-BD7F-3CC634EB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5257800"/>
            <a:ext cx="6934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D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nd-label-21">
            <a:extLst xmlns:a="http://schemas.openxmlformats.org/drawingml/2006/main">
              <a:ext uri="{FF2B5EF4-FFF2-40B4-BE49-F238E27FC236}">
                <a16:creationId xmlns:a16="http://schemas.microsoft.com/office/drawing/2014/main" id="{CAAB4647-5262-4A1E-8F00-E346FCA3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429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E96C57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96C57"/>
                </a:solidFill>
                <a:latin typeface="PingFang TC"/>
                <a:ea typeface="PingFang TC"/>
                <a:cs typeface="PingFang TC"/>
              </a:rPr>
              <a:t>聲音</a:t>
            </a:r>
          </a:p>
        </p:txBody>
      </p:sp>
      <p:sp>
        <p:nvSpPr>
          <p:cNvPr id="18" name="sound-copy-21">
            <a:extLst xmlns:a="http://schemas.openxmlformats.org/drawingml/2006/main">
              <a:ext uri="{FF2B5EF4-FFF2-40B4-BE49-F238E27FC236}">
                <a16:creationId xmlns:a16="http://schemas.microsoft.com/office/drawing/2014/main" id="{E71BE928-82BA-4D26-89AF-0C33A531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3911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主題旋律完整收束；片名落版後保留兩秒尾韻。</a:t>
            </a:r>
          </a:p>
        </p:txBody>
      </p:sp>
      <p:sp>
        <p:nvSpPr>
          <p:cNvPr id="19" name="footer-section-21">
            <a:extLst xmlns:a="http://schemas.openxmlformats.org/drawingml/2006/main">
              <a:ext uri="{FF2B5EF4-FFF2-40B4-BE49-F238E27FC236}">
                <a16:creationId xmlns:a16="http://schemas.microsoft.com/office/drawing/2014/main" id="{FF37C05A-A187-48C2-83B8-03FFBB1D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片尾｜看見共好</a:t>
            </a:r>
          </a:p>
        </p:txBody>
      </p:sp>
      <p:sp>
        <p:nvSpPr>
          <p:cNvPr id="20" name="footer-page-21">
            <a:extLst xmlns:a="http://schemas.openxmlformats.org/drawingml/2006/main">
              <a:ext uri="{FF2B5EF4-FFF2-40B4-BE49-F238E27FC236}">
                <a16:creationId xmlns:a16="http://schemas.microsoft.com/office/drawing/2014/main" id="{8D3A8179-83BC-40FB-9CB8-4FB7C78C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3660166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band-22">
            <a:extLst xmlns:a="http://schemas.openxmlformats.org/drawingml/2006/main">
              <a:ext uri="{FF2B5EF4-FFF2-40B4-BE49-F238E27FC236}">
                <a16:creationId xmlns:a16="http://schemas.microsoft.com/office/drawing/2014/main" id="{2F728962-FD72-4441-A3B7-2FAC5565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-22">
            <a:extLst xmlns:a="http://schemas.openxmlformats.org/drawingml/2006/main">
              <a:ext uri="{FF2B5EF4-FFF2-40B4-BE49-F238E27FC236}">
                <a16:creationId xmlns:a16="http://schemas.microsoft.com/office/drawing/2014/main" id="{1EEB9B05-0B2D-4864-A89E-3CE003BC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71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section-22">
            <a:extLst xmlns:a="http://schemas.openxmlformats.org/drawingml/2006/main">
              <a:ext uri="{FF2B5EF4-FFF2-40B4-BE49-F238E27FC236}">
                <a16:creationId xmlns:a16="http://schemas.microsoft.com/office/drawing/2014/main" id="{479E8517-8F06-40E9-85BE-C3C2C593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拍攝清單</a:t>
            </a:r>
          </a:p>
        </p:txBody>
      </p:sp>
      <p:sp>
        <p:nvSpPr>
          <p:cNvPr id="4" name="top-title-22">
            <a:extLst xmlns:a="http://schemas.openxmlformats.org/drawingml/2006/main">
              <a:ext uri="{FF2B5EF4-FFF2-40B4-BE49-F238E27FC236}">
                <a16:creationId xmlns:a16="http://schemas.microsoft.com/office/drawing/2014/main" id="{119C8820-9B4E-4E30-AD80-41812275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先把不可重來的畫面拍完整，再讓故事成立</a:t>
            </a:r>
          </a:p>
        </p:txBody>
      </p:sp>
      <p:sp>
        <p:nvSpPr>
          <p:cNvPr id="5" name="top-subtitle-22">
            <a:extLst xmlns:a="http://schemas.openxmlformats.org/drawingml/2006/main">
              <a:ext uri="{FF2B5EF4-FFF2-40B4-BE49-F238E27FC236}">
                <a16:creationId xmlns:a16="http://schemas.microsoft.com/office/drawing/2014/main" id="{75236475-F9C4-4AB1-B340-DA1F0C71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5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rPr>
              <a:t>PRODUCTION</a:t>
            </a:r>
          </a:p>
        </p:txBody>
      </p:sp>
      <p:sp>
        <p:nvSpPr>
          <p:cNvPr id="6" name="asset-left-title">
            <a:extLst xmlns:a="http://schemas.openxmlformats.org/drawingml/2006/main">
              <a:ext uri="{FF2B5EF4-FFF2-40B4-BE49-F238E27FC236}">
                <a16:creationId xmlns:a16="http://schemas.microsoft.com/office/drawing/2014/main" id="{19D5EB62-8FE2-496E-8A8B-E4C14ABA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A｜典禮與議會核心素材</a:t>
            </a:r>
          </a:p>
        </p:txBody>
      </p:sp>
      <p:sp>
        <p:nvSpPr>
          <p:cNvPr id="7" name="asset-left-copy">
            <a:extLst xmlns:a="http://schemas.openxmlformats.org/drawingml/2006/main">
              <a:ext uri="{FF2B5EF4-FFF2-40B4-BE49-F238E27FC236}">
                <a16:creationId xmlns:a16="http://schemas.microsoft.com/office/drawing/2014/main" id="{72524288-8054-4BB7-AE4B-EA6E946A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□  第5屆議員報到與宣誓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□  議長、副議長選舉與開票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□  全體大合照＋個別／分組備份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□  議事廳空景、席位、議事設備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□  議長建議致詞（兩機位＋乾淨收音）</a:t>
            </a:r>
          </a:p>
        </p:txBody>
      </p:sp>
      <p:sp>
        <p:nvSpPr>
          <p:cNvPr id="8" name="asset-divider">
            <a:extLst xmlns:a="http://schemas.openxmlformats.org/drawingml/2006/main">
              <a:ext uri="{FF2B5EF4-FFF2-40B4-BE49-F238E27FC236}">
                <a16:creationId xmlns:a16="http://schemas.microsoft.com/office/drawing/2014/main" id="{806769F6-83AC-4ECF-96B4-10642E8E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24550" y="1524000"/>
            <a:ext cx="285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et-right-title">
            <a:extLst xmlns:a="http://schemas.openxmlformats.org/drawingml/2006/main">
              <a:ext uri="{FF2B5EF4-FFF2-40B4-BE49-F238E27FC236}">
                <a16:creationId xmlns:a16="http://schemas.microsoft.com/office/drawing/2014/main" id="{22AF5B98-F986-4FAA-89A1-E13EF30E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B｜城市、議事與傳承素材</a:t>
            </a:r>
          </a:p>
        </p:txBody>
      </p:sp>
      <p:sp>
        <p:nvSpPr>
          <p:cNvPr id="10" name="asset-right-copy">
            <a:extLst xmlns:a="http://schemas.openxmlformats.org/drawingml/2006/main">
              <a:ext uri="{FF2B5EF4-FFF2-40B4-BE49-F238E27FC236}">
                <a16:creationId xmlns:a16="http://schemas.microsoft.com/office/drawing/2014/main" id="{B3FA4831-EAB7-41AA-97F2-B2CA4657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□  29區地景與市民日常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□  服務處、座談、會勘與質詢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□  預算／法規審查與幕後行政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□  會史館增修後展區與參觀者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62536"/>
                </a:solidFill>
                <a:latin typeface="PingFang TC"/>
                <a:ea typeface="PingFang TC"/>
                <a:cs typeface="PingFang TC"/>
              </a:rPr>
              <a:t>□  國際交流及授權歷史素材</a:t>
            </a:r>
          </a:p>
        </p:txBody>
      </p:sp>
      <p:sp>
        <p:nvSpPr>
          <p:cNvPr id="11" name="asset-bottom">
            <a:extLst xmlns:a="http://schemas.openxmlformats.org/drawingml/2006/main">
              <a:ext uri="{FF2B5EF4-FFF2-40B4-BE49-F238E27FC236}">
                <a16:creationId xmlns:a16="http://schemas.microsoft.com/office/drawing/2014/main" id="{F46A1E66-5841-4839-AC0A-1E857DAE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381625"/>
            <a:ext cx="10553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et-bottom-copy">
            <a:extLst xmlns:a="http://schemas.openxmlformats.org/drawingml/2006/main">
              <a:ext uri="{FF2B5EF4-FFF2-40B4-BE49-F238E27FC236}">
                <a16:creationId xmlns:a16="http://schemas.microsoft.com/office/drawing/2014/main" id="{F3B579DF-73BE-4020-9684-3219FA07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05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就職典禮素材建議同步備份：主檔、代理檔、照片 RAW、場記與姓名核對表。</a:t>
            </a:r>
          </a:p>
        </p:txBody>
      </p:sp>
      <p:sp>
        <p:nvSpPr>
          <p:cNvPr id="13" name="footer-section-22">
            <a:extLst xmlns:a="http://schemas.openxmlformats.org/drawingml/2006/main">
              <a:ext uri="{FF2B5EF4-FFF2-40B4-BE49-F238E27FC236}">
                <a16:creationId xmlns:a16="http://schemas.microsoft.com/office/drawing/2014/main" id="{056AAD0B-0BF8-4174-8D6B-55FE4890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拍攝清單</a:t>
            </a:r>
          </a:p>
        </p:txBody>
      </p:sp>
      <p:sp>
        <p:nvSpPr>
          <p:cNvPr id="14" name="footer-page-22">
            <a:extLst xmlns:a="http://schemas.openxmlformats.org/drawingml/2006/main">
              <a:ext uri="{FF2B5EF4-FFF2-40B4-BE49-F238E27FC236}">
                <a16:creationId xmlns:a16="http://schemas.microsoft.com/office/drawing/2014/main" id="{289480CB-4541-4EB3-A061-2929A8E4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87956771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band-23">
            <a:extLst xmlns:a="http://schemas.openxmlformats.org/drawingml/2006/main">
              <a:ext uri="{FF2B5EF4-FFF2-40B4-BE49-F238E27FC236}">
                <a16:creationId xmlns:a16="http://schemas.microsoft.com/office/drawing/2014/main" id="{7AC97BD2-91BB-4396-B36D-5B578C64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-23">
            <a:extLst xmlns:a="http://schemas.openxmlformats.org/drawingml/2006/main">
              <a:ext uri="{FF2B5EF4-FFF2-40B4-BE49-F238E27FC236}">
                <a16:creationId xmlns:a16="http://schemas.microsoft.com/office/drawing/2014/main" id="{ACD2045E-3199-4D4E-8D9C-740E11BC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71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section-23">
            <a:extLst xmlns:a="http://schemas.openxmlformats.org/drawingml/2006/main">
              <a:ext uri="{FF2B5EF4-FFF2-40B4-BE49-F238E27FC236}">
                <a16:creationId xmlns:a16="http://schemas.microsoft.com/office/drawing/2014/main" id="{43118587-789E-412A-99A3-1FBEFA4C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E5A93D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5A93D"/>
                </a:solidFill>
                <a:latin typeface="PingFang TC"/>
                <a:ea typeface="PingFang TC"/>
                <a:cs typeface="PingFang TC"/>
              </a:rPr>
              <a:t>五語與交付</a:t>
            </a:r>
          </a:p>
        </p:txBody>
      </p:sp>
      <p:sp>
        <p:nvSpPr>
          <p:cNvPr id="4" name="top-title-23">
            <a:extLst xmlns:a="http://schemas.openxmlformats.org/drawingml/2006/main">
              <a:ext uri="{FF2B5EF4-FFF2-40B4-BE49-F238E27FC236}">
                <a16:creationId xmlns:a16="http://schemas.microsoft.com/office/drawing/2014/main" id="{82F45406-2AFB-41AB-8341-051B4C5D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先鎖定中文母版，再維持五個版本同一個節奏</a:t>
            </a:r>
          </a:p>
        </p:txBody>
      </p:sp>
      <p:sp>
        <p:nvSpPr>
          <p:cNvPr id="5" name="top-subtitle-23">
            <a:extLst xmlns:a="http://schemas.openxmlformats.org/drawingml/2006/main">
              <a:ext uri="{FF2B5EF4-FFF2-40B4-BE49-F238E27FC236}">
                <a16:creationId xmlns:a16="http://schemas.microsoft.com/office/drawing/2014/main" id="{05E25829-F387-4C3E-A2A8-C422FBCA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5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CAD6E2"/>
                </a:solidFill>
                <a:latin typeface="PingFang TC"/>
                <a:ea typeface="PingFang TC"/>
                <a:cs typeface="PingFang TC"/>
              </a:rPr>
              <a:t>LOCALIZATION</a:t>
            </a:r>
          </a:p>
        </p:txBody>
      </p:sp>
      <p:sp>
        <p:nvSpPr>
          <p:cNvPr id="6" name="loc-no-0">
            <a:extLst xmlns:a="http://schemas.openxmlformats.org/drawingml/2006/main">
              <a:ext uri="{FF2B5EF4-FFF2-40B4-BE49-F238E27FC236}">
                <a16:creationId xmlns:a16="http://schemas.microsoft.com/office/drawing/2014/main" id="{9F2CDB9E-8D6A-404E-8E89-BD03DDD1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7" name="loc-title-0">
            <a:extLst xmlns:a="http://schemas.openxmlformats.org/drawingml/2006/main">
              <a:ext uri="{FF2B5EF4-FFF2-40B4-BE49-F238E27FC236}">
                <a16:creationId xmlns:a16="http://schemas.microsoft.com/office/drawing/2014/main" id="{42DFB75D-DE3D-4043-8E78-39D43915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763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中文定稿</a:t>
            </a:r>
          </a:p>
        </p:txBody>
      </p:sp>
      <p:sp>
        <p:nvSpPr>
          <p:cNvPr id="8" name="loc-copy-0">
            <a:extLst xmlns:a="http://schemas.openxmlformats.org/drawingml/2006/main">
              <a:ext uri="{FF2B5EF4-FFF2-40B4-BE49-F238E27FC236}">
                <a16:creationId xmlns:a16="http://schemas.microsoft.com/office/drawing/2014/main" id="{07C4C342-FF7F-4C27-802D-9417CC20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1447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確認專有名詞、姓名、職稱與地名</a:t>
            </a:r>
          </a:p>
        </p:txBody>
      </p:sp>
      <p:sp>
        <p:nvSpPr>
          <p:cNvPr id="9" name="loc-line-0">
            <a:extLst xmlns:a="http://schemas.openxmlformats.org/drawingml/2006/main">
              <a:ext uri="{FF2B5EF4-FFF2-40B4-BE49-F238E27FC236}">
                <a16:creationId xmlns:a16="http://schemas.microsoft.com/office/drawing/2014/main" id="{24D57665-7793-4C11-A243-FC2F557C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0383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c-no-1">
            <a:extLst xmlns:a="http://schemas.openxmlformats.org/drawingml/2006/main">
              <a:ext uri="{FF2B5EF4-FFF2-40B4-BE49-F238E27FC236}">
                <a16:creationId xmlns:a16="http://schemas.microsoft.com/office/drawing/2014/main" id="{45C9B62B-FED7-456F-ACAF-44D4569C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E5A93D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E5A93D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1" name="loc-title-1">
            <a:extLst xmlns:a="http://schemas.openxmlformats.org/drawingml/2006/main">
              <a:ext uri="{FF2B5EF4-FFF2-40B4-BE49-F238E27FC236}">
                <a16:creationId xmlns:a16="http://schemas.microsoft.com/office/drawing/2014/main" id="{B467E2EC-0018-4BB4-B39F-12D8432A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717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五語翻譯</a:t>
            </a:r>
          </a:p>
        </p:txBody>
      </p:sp>
      <p:sp>
        <p:nvSpPr>
          <p:cNvPr id="12" name="loc-copy-1">
            <a:extLst xmlns:a="http://schemas.openxmlformats.org/drawingml/2006/main">
              <a:ext uri="{FF2B5EF4-FFF2-40B4-BE49-F238E27FC236}">
                <a16:creationId xmlns:a16="http://schemas.microsoft.com/office/drawing/2014/main" id="{62F2935F-7112-4DE0-8E46-8E6800B9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098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英、日、台、韓採自然口語，不逐字硬譯</a:t>
            </a:r>
          </a:p>
        </p:txBody>
      </p:sp>
      <p:sp>
        <p:nvSpPr>
          <p:cNvPr id="13" name="loc-line-1">
            <a:extLst xmlns:a="http://schemas.openxmlformats.org/drawingml/2006/main">
              <a:ext uri="{FF2B5EF4-FFF2-40B4-BE49-F238E27FC236}">
                <a16:creationId xmlns:a16="http://schemas.microsoft.com/office/drawing/2014/main" id="{EA99A31F-C424-408A-946D-A6C84D0F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9337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oc-no-2">
            <a:extLst xmlns:a="http://schemas.openxmlformats.org/drawingml/2006/main">
              <a:ext uri="{FF2B5EF4-FFF2-40B4-BE49-F238E27FC236}">
                <a16:creationId xmlns:a16="http://schemas.microsoft.com/office/drawing/2014/main" id="{0F1009C9-96AE-4F8C-9C9F-E2857776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5" name="loc-title-2">
            <a:extLst xmlns:a="http://schemas.openxmlformats.org/drawingml/2006/main">
              <a:ext uri="{FF2B5EF4-FFF2-40B4-BE49-F238E27FC236}">
                <a16:creationId xmlns:a16="http://schemas.microsoft.com/office/drawing/2014/main" id="{812D0900-0056-4CBF-8497-2F6CE4A6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670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配音對時</a:t>
            </a:r>
          </a:p>
        </p:txBody>
      </p:sp>
      <p:sp>
        <p:nvSpPr>
          <p:cNvPr id="16" name="loc-copy-2">
            <a:extLst xmlns:a="http://schemas.openxmlformats.org/drawingml/2006/main">
              <a:ext uri="{FF2B5EF4-FFF2-40B4-BE49-F238E27FC236}">
                <a16:creationId xmlns:a16="http://schemas.microsoft.com/office/drawing/2014/main" id="{C8882BAC-6AFC-4AB4-B6D1-71AA9820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0517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以段落時間為準，必要時調整句長不改畫面</a:t>
            </a:r>
          </a:p>
        </p:txBody>
      </p:sp>
      <p:sp>
        <p:nvSpPr>
          <p:cNvPr id="17" name="loc-line-2">
            <a:extLst xmlns:a="http://schemas.openxmlformats.org/drawingml/2006/main">
              <a:ext uri="{FF2B5EF4-FFF2-40B4-BE49-F238E27FC236}">
                <a16:creationId xmlns:a16="http://schemas.microsoft.com/office/drawing/2014/main" id="{68E1AC57-11E4-43D1-9169-814AEAAB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8290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oc-no-3">
            <a:extLst xmlns:a="http://schemas.openxmlformats.org/drawingml/2006/main">
              <a:ext uri="{FF2B5EF4-FFF2-40B4-BE49-F238E27FC236}">
                <a16:creationId xmlns:a16="http://schemas.microsoft.com/office/drawing/2014/main" id="{2E0C8B05-CBA0-47BE-B8DC-51F08BD3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E5A93D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E5A93D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19" name="loc-title-3">
            <a:extLst xmlns:a="http://schemas.openxmlformats.org/drawingml/2006/main">
              <a:ext uri="{FF2B5EF4-FFF2-40B4-BE49-F238E27FC236}">
                <a16:creationId xmlns:a16="http://schemas.microsoft.com/office/drawing/2014/main" id="{20BDCF65-E017-410B-B54C-41D43483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字幕校對</a:t>
            </a:r>
          </a:p>
        </p:txBody>
      </p:sp>
      <p:sp>
        <p:nvSpPr>
          <p:cNvPr id="20" name="loc-copy-3">
            <a:extLst xmlns:a="http://schemas.openxmlformats.org/drawingml/2006/main">
              <a:ext uri="{FF2B5EF4-FFF2-40B4-BE49-F238E27FC236}">
                <a16:creationId xmlns:a16="http://schemas.microsoft.com/office/drawing/2014/main" id="{FC944801-59C8-4E7B-8E62-1FC647F3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雙行安全區；台語另確認用字或羅馬字需求</a:t>
            </a:r>
          </a:p>
        </p:txBody>
      </p:sp>
      <p:sp>
        <p:nvSpPr>
          <p:cNvPr id="21" name="loc-line-3">
            <a:extLst xmlns:a="http://schemas.openxmlformats.org/drawingml/2006/main">
              <a:ext uri="{FF2B5EF4-FFF2-40B4-BE49-F238E27FC236}">
                <a16:creationId xmlns:a16="http://schemas.microsoft.com/office/drawing/2014/main" id="{F31CECCD-2FE6-4F81-8F95-DC27D779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7244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oc-no-4">
            <a:extLst xmlns:a="http://schemas.openxmlformats.org/drawingml/2006/main">
              <a:ext uri="{FF2B5EF4-FFF2-40B4-BE49-F238E27FC236}">
                <a16:creationId xmlns:a16="http://schemas.microsoft.com/office/drawing/2014/main" id="{93DF7C8E-EA86-449E-B663-5C99DAD4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8AFA3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8AFA3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23" name="loc-title-4">
            <a:extLst xmlns:a="http://schemas.openxmlformats.org/drawingml/2006/main">
              <a:ext uri="{FF2B5EF4-FFF2-40B4-BE49-F238E27FC236}">
                <a16:creationId xmlns:a16="http://schemas.microsoft.com/office/drawing/2014/main" id="{3599860B-7896-4BC0-9629-BA2BF34A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577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B1F3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0B1F3A"/>
                </a:solidFill>
                <a:latin typeface="PingFang TC"/>
                <a:ea typeface="PingFang TC"/>
                <a:cs typeface="PingFang TC"/>
              </a:rPr>
              <a:t>母版輸出</a:t>
            </a:r>
          </a:p>
        </p:txBody>
      </p:sp>
      <p:sp>
        <p:nvSpPr>
          <p:cNvPr id="24" name="loc-copy-4">
            <a:extLst xmlns:a="http://schemas.openxmlformats.org/drawingml/2006/main">
              <a:ext uri="{FF2B5EF4-FFF2-40B4-BE49-F238E27FC236}">
                <a16:creationId xmlns:a16="http://schemas.microsoft.com/office/drawing/2014/main" id="{C55513E1-933D-40FC-9E2D-EEEDB21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9587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16:9、2K以上；USB與藍光版本逐一驗播</a:t>
            </a:r>
          </a:p>
        </p:txBody>
      </p:sp>
      <p:sp>
        <p:nvSpPr>
          <p:cNvPr id="25" name="loc-line-4">
            <a:extLst xmlns:a="http://schemas.openxmlformats.org/drawingml/2006/main">
              <a:ext uri="{FF2B5EF4-FFF2-40B4-BE49-F238E27FC236}">
                <a16:creationId xmlns:a16="http://schemas.microsoft.com/office/drawing/2014/main" id="{1118D185-1E11-4CB5-9723-3FF127EE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6197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ooter-section-23">
            <a:extLst xmlns:a="http://schemas.openxmlformats.org/drawingml/2006/main">
              <a:ext uri="{FF2B5EF4-FFF2-40B4-BE49-F238E27FC236}">
                <a16:creationId xmlns:a16="http://schemas.microsoft.com/office/drawing/2014/main" id="{B1599680-CE59-438C-BD3A-107A2308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五語與交付</a:t>
            </a:r>
          </a:p>
        </p:txBody>
      </p:sp>
      <p:sp>
        <p:nvSpPr>
          <p:cNvPr id="27" name="footer-page-23">
            <a:extLst xmlns:a="http://schemas.openxmlformats.org/drawingml/2006/main">
              <a:ext uri="{FF2B5EF4-FFF2-40B4-BE49-F238E27FC236}">
                <a16:creationId xmlns:a16="http://schemas.microsoft.com/office/drawing/2014/main" id="{C50AED30-9435-4B88-B3DE-6364772A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B78"/>
                </a:solidFill>
                <a:latin typeface="PingFang TC"/>
                <a:ea typeface="PingFang TC"/>
                <a:cs typeface="PingFang TC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839696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2026-09-02T15:46:50.2030000Z</dcterms:created>
  <dcterms:modified xsi:type="dcterms:W3CDTF">2026-09-02T15:46:50.2030000Z</dcterms:modified>
</coreProperties>
</file>