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66aa76ca5642ab" /><Relationship Type="http://schemas.openxmlformats.org/officeDocument/2006/relationships/extended-properties" Target="/docProps/app.xml" Id="R1625e893a5954ef5" /><Relationship Type="http://schemas.openxmlformats.org/officeDocument/2006/relationships/officeDocument" Target="/ppt/presentation.xml" Id="R5605a013d3454e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390ac452164ef6"/>
  </p:sldMasterIdLst>
  <p:notesMasterIdLst>
    <p:notesMasterId xmlns:r="http://schemas.openxmlformats.org/officeDocument/2006/relationships" r:id="Rfed1d24112ad444e"/>
  </p:notesMasterIdLst>
  <p:sldIdLst>
    <p:sldId xmlns:r="http://schemas.openxmlformats.org/officeDocument/2006/relationships" id="256" r:id="Rcb9d6018cf174883"/>
    <p:sldId xmlns:r="http://schemas.openxmlformats.org/officeDocument/2006/relationships" id="257" r:id="Rb3c132a74a4b44a6"/>
    <p:sldId xmlns:r="http://schemas.openxmlformats.org/officeDocument/2006/relationships" id="258" r:id="R64486fae05434f08"/>
    <p:sldId xmlns:r="http://schemas.openxmlformats.org/officeDocument/2006/relationships" id="259" r:id="R8cc96dd20d024802"/>
    <p:sldId xmlns:r="http://schemas.openxmlformats.org/officeDocument/2006/relationships" id="260" r:id="R53b84ddbc27844a4"/>
    <p:sldId xmlns:r="http://schemas.openxmlformats.org/officeDocument/2006/relationships" id="261" r:id="R875018472a6449d1"/>
    <p:sldId xmlns:r="http://schemas.openxmlformats.org/officeDocument/2006/relationships" id="262" r:id="Rf949d6643e9a48c6"/>
    <p:sldId xmlns:r="http://schemas.openxmlformats.org/officeDocument/2006/relationships" id="263" r:id="R1914a296ccb44fd1"/>
    <p:sldId xmlns:r="http://schemas.openxmlformats.org/officeDocument/2006/relationships" id="264" r:id="Rd43f551562ab45e3"/>
    <p:sldId xmlns:r="http://schemas.openxmlformats.org/officeDocument/2006/relationships" id="265" r:id="R2fc9d1422a5b4933"/>
    <p:sldId xmlns:r="http://schemas.openxmlformats.org/officeDocument/2006/relationships" id="266" r:id="R31c5964ef0594c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a9f12e43be49a3" /><Relationship Type="http://schemas.openxmlformats.org/officeDocument/2006/relationships/slideMaster" Target="/ppt/slideMasters/slideMaster1.xml" Id="Rb1390ac452164ef6" /><Relationship Type="http://schemas.openxmlformats.org/officeDocument/2006/relationships/notesMaster" Target="/ppt/notesMasters/notesMaster1.xml" Id="Rfed1d24112ad444e" /><Relationship Type="http://schemas.openxmlformats.org/officeDocument/2006/relationships/presProps" Target="/ppt/presProps.xml" Id="Ra070ded69912419f" /><Relationship Type="http://schemas.openxmlformats.org/officeDocument/2006/relationships/tableStyles" Target="/ppt/tableStyles.xml" Id="R9965b418a25e4a34" /><Relationship Type="http://schemas.openxmlformats.org/officeDocument/2006/relationships/slide" Target="/ppt/slides/slide1.xml" Id="Rcb9d6018cf174883" /><Relationship Type="http://schemas.openxmlformats.org/officeDocument/2006/relationships/slide" Target="/ppt/slides/slide2.xml" Id="Rb3c132a74a4b44a6" /><Relationship Type="http://schemas.openxmlformats.org/officeDocument/2006/relationships/slide" Target="/ppt/slides/slide3.xml" Id="R64486fae05434f08" /><Relationship Type="http://schemas.openxmlformats.org/officeDocument/2006/relationships/slide" Target="/ppt/slides/slide4.xml" Id="R8cc96dd20d024802" /><Relationship Type="http://schemas.openxmlformats.org/officeDocument/2006/relationships/slide" Target="/ppt/slides/slide5.xml" Id="R53b84ddbc27844a4" /><Relationship Type="http://schemas.openxmlformats.org/officeDocument/2006/relationships/slide" Target="/ppt/slides/slide6.xml" Id="R875018472a6449d1" /><Relationship Type="http://schemas.openxmlformats.org/officeDocument/2006/relationships/slide" Target="/ppt/slides/slide7.xml" Id="Rf949d6643e9a48c6" /><Relationship Type="http://schemas.openxmlformats.org/officeDocument/2006/relationships/slide" Target="/ppt/slides/slide8.xml" Id="R1914a296ccb44fd1" /><Relationship Type="http://schemas.openxmlformats.org/officeDocument/2006/relationships/slide" Target="/ppt/slides/slide9.xml" Id="Rd43f551562ab45e3" /><Relationship Type="http://schemas.openxmlformats.org/officeDocument/2006/relationships/slide" Target="/ppt/slides/slide10.xml" Id="R2fc9d1422a5b4933" /><Relationship Type="http://schemas.openxmlformats.org/officeDocument/2006/relationships/slide" Target="/ppt/slides/slide11.xml" Id="R31c5964ef0594c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570ba0043648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fb7ff762b14d46" /><Relationship Type="http://schemas.openxmlformats.org/officeDocument/2006/relationships/notesMaster" Target="/ppt/notesMasters/notesMaster1.xml" Id="R6ee60de3f6b246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e969556ec24624" /><Relationship Type="http://schemas.openxmlformats.org/officeDocument/2006/relationships/notesMaster" Target="/ppt/notesMasters/notesMaster1.xml" Id="R016cc02811714d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32a0debf8343ea" /><Relationship Type="http://schemas.openxmlformats.org/officeDocument/2006/relationships/notesMaster" Target="/ppt/notesMasters/notesMaster1.xml" Id="Rc2000e4fbb0f44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b5ef0232cc44fa" /><Relationship Type="http://schemas.openxmlformats.org/officeDocument/2006/relationships/notesMaster" Target="/ppt/notesMasters/notesMaster1.xml" Id="R56e4fab1a3e342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c822b643fa40e5" /><Relationship Type="http://schemas.openxmlformats.org/officeDocument/2006/relationships/notesMaster" Target="/ppt/notesMasters/notesMaster1.xml" Id="R734951e46d744a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a7a8bbe11e4aa9" /><Relationship Type="http://schemas.openxmlformats.org/officeDocument/2006/relationships/notesMaster" Target="/ppt/notesMasters/notesMaster1.xml" Id="Rad97939d387a43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8bd10cbdc54c0e" /><Relationship Type="http://schemas.openxmlformats.org/officeDocument/2006/relationships/notesMaster" Target="/ppt/notesMasters/notesMaster1.xml" Id="R1221d80ba1ce42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2a22ffe4514ccf" /><Relationship Type="http://schemas.openxmlformats.org/officeDocument/2006/relationships/notesMaster" Target="/ppt/notesMasters/notesMaster1.xml" Id="R7b38e57522b740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c4e96b4d8d4b73" /><Relationship Type="http://schemas.openxmlformats.org/officeDocument/2006/relationships/notesMaster" Target="/ppt/notesMasters/notesMaster1.xml" Id="Rd072ccbba76e4b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8331203f0d42da" /><Relationship Type="http://schemas.openxmlformats.org/officeDocument/2006/relationships/notesMaster" Target="/ppt/notesMasters/notesMaster1.xml" Id="R9de5389f45f54b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096e035a0841d0" /><Relationship Type="http://schemas.openxmlformats.org/officeDocument/2006/relationships/notesMaster" Target="/ppt/notesMasters/notesMaster1.xml" Id="R56a07e9da6314b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使用者提供：115年新北市國慶_兩款前導影片腳本提案_細緻版.pdf（附件原腳本）</a:t>
            </a:r>
          </a:p>
          <a:p xmlns:a="http://schemas.openxmlformats.org/drawingml/2006/main">
            <a:r>
              <a:t>- 使用者提供：客戶回饋文字（本次需求）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使用者提供：115年新北市國慶_兩款前導影片腳本提案_細緻版.pdf（附件原腳本）</a:t>
            </a:r>
          </a:p>
          <a:p xmlns:a="http://schemas.openxmlformats.org/drawingml/2006/main">
            <a:r>
              <a:t>- 使用者提供：客戶回饋文字（本次需求）</a:t>
            </a:r>
          </a:p>
          <a:p xmlns:a="http://schemas.openxmlformats.org/drawingml/2006/main">
            <a:r>
              <a:t>- 視覺資產：附件 PDF 第 1 頁渲染圖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使用者提供：115年新北市國慶_兩款前導影片腳本提案_細緻版.pdf（附件原腳本）</a:t>
            </a:r>
          </a:p>
          <a:p xmlns:a="http://schemas.openxmlformats.org/drawingml/2006/main">
            <a:r>
              <a:t>- 使用者提供：客戶回饋文字（本次需求）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使用者提供：115年新北市國慶_兩款前導影片腳本提案_細緻版.pdf（附件原腳本）</a:t>
            </a:r>
          </a:p>
          <a:p xmlns:a="http://schemas.openxmlformats.org/drawingml/2006/main">
            <a:r>
              <a:t>- 使用者提供：客戶回饋文字（本次需求）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使用者提供：115年新北市國慶_兩款前導影片腳本提案_細緻版.pdf（附件原腳本）</a:t>
            </a:r>
          </a:p>
          <a:p xmlns:a="http://schemas.openxmlformats.org/drawingml/2006/main">
            <a:r>
              <a:t>- 使用者提供：客戶回饋文字（本次需求）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使用者提供：115年新北市國慶_兩款前導影片腳本提案_細緻版.pdf（附件原腳本）</a:t>
            </a:r>
          </a:p>
          <a:p xmlns:a="http://schemas.openxmlformats.org/drawingml/2006/main">
            <a:r>
              <a:t>- 使用者提供：客戶回饋文字（本次需求）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使用者提供：115年新北市國慶_兩款前導影片腳本提案_細緻版.pdf（附件原腳本）</a:t>
            </a:r>
          </a:p>
          <a:p xmlns:a="http://schemas.openxmlformats.org/drawingml/2006/main">
            <a:r>
              <a:t>- 使用者提供：客戶回饋文字（本次需求）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使用者提供：115年新北市國慶_兩款前導影片腳本提案_細緻版.pdf（附件原腳本）</a:t>
            </a:r>
          </a:p>
          <a:p xmlns:a="http://schemas.openxmlformats.org/drawingml/2006/main">
            <a:r>
              <a:t>- 使用者提供：客戶回饋文字（本次需求）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使用者提供：115年新北市國慶_兩款前導影片腳本提案_細緻版.pdf（附件原腳本）</a:t>
            </a:r>
          </a:p>
          <a:p xmlns:a="http://schemas.openxmlformats.org/drawingml/2006/main">
            <a:r>
              <a:t>- 使用者提供：客戶回饋文字（本次需求）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使用者提供：115年新北市國慶_兩款前導影片腳本提案_細緻版.pdf（附件原腳本）</a:t>
            </a:r>
          </a:p>
          <a:p xmlns:a="http://schemas.openxmlformats.org/drawingml/2006/main">
            <a:r>
              <a:t>- 使用者提供：客戶回饋文字（本次需求）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使用者提供：115年新北市國慶_兩款前導影片腳本提案_細緻版.pdf（附件原腳本）</a:t>
            </a:r>
          </a:p>
          <a:p xmlns:a="http://schemas.openxmlformats.org/drawingml/2006/main">
            <a:r>
              <a:t>- 使用者提供：客戶回饋文字（本次需求）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b1bb4ba724e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b61df2dcbe4417" /><Relationship Type="http://schemas.openxmlformats.org/officeDocument/2006/relationships/slideLayout" Target="/ppt/slideLayouts/slideLayout1.xml" Id="R0a67ee68dd0a4f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67ee68dd0a4f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ad55ff112490e" /><Relationship Type="http://schemas.openxmlformats.org/officeDocument/2006/relationships/notesSlide" Target="/ppt/notesSlides/notesSlide1.xml" Id="R96bfcad6c30f4d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f9dab90294051" /><Relationship Type="http://schemas.openxmlformats.org/officeDocument/2006/relationships/image" Target="/ppt/media/image.png" Id="R85f9ebf3195a41d8" /><Relationship Type="http://schemas.openxmlformats.org/officeDocument/2006/relationships/notesSlide" Target="/ppt/notesSlides/notesSlide2.xml" Id="R4dc69f0a1b4b43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2b0387e7b4952" /><Relationship Type="http://schemas.openxmlformats.org/officeDocument/2006/relationships/notesSlide" Target="/ppt/notesSlides/notesSlide3.xml" Id="R056a40738af24a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8fc8f6bc24d01" /><Relationship Type="http://schemas.openxmlformats.org/officeDocument/2006/relationships/notesSlide" Target="/ppt/notesSlides/notesSlide4.xml" Id="R3f6236af15d74e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28d18c564457d" /><Relationship Type="http://schemas.openxmlformats.org/officeDocument/2006/relationships/notesSlide" Target="/ppt/notesSlides/notesSlide5.xml" Id="R5409c87dc9ef47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7a4ebbd294dff" /><Relationship Type="http://schemas.openxmlformats.org/officeDocument/2006/relationships/notesSlide" Target="/ppt/notesSlides/notesSlide6.xml" Id="R7555e52bf21542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e6b5b9fdf4cbd" /><Relationship Type="http://schemas.openxmlformats.org/officeDocument/2006/relationships/notesSlide" Target="/ppt/notesSlides/notesSlide7.xml" Id="Rafeb4379996e46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7721157a746c6" /><Relationship Type="http://schemas.openxmlformats.org/officeDocument/2006/relationships/notesSlide" Target="/ppt/notesSlides/notesSlide8.xml" Id="R33978b2b255c47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8fa26d7784c8f" /><Relationship Type="http://schemas.openxmlformats.org/officeDocument/2006/relationships/notesSlide" Target="/ppt/notesSlides/notesSlide9.xml" Id="R80168455c40d48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fc0eb640848a9" /><Relationship Type="http://schemas.openxmlformats.org/officeDocument/2006/relationships/notesSlide" Target="/ppt/notesSlides/notesSlide10.xml" Id="Rc22e6cf91eba46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60cfa29284ee8" /><Relationship Type="http://schemas.openxmlformats.org/officeDocument/2006/relationships/notesSlide" Target="/ppt/notesSlides/notesSlide11.xml" Id="R483aa20836df4f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supertitle">
            <a:extLst xmlns:a="http://schemas.openxmlformats.org/drawingml/2006/main">
              <a:ext uri="{FF2B5EF4-FFF2-40B4-BE49-F238E27FC236}">
                <a16:creationId xmlns:a16="http://schemas.microsoft.com/office/drawing/2014/main" id="{CA1996CC-92E7-4B7E-9F54-AA7918BE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F80ED"/>
                </a:solidFill>
                <a:latin typeface="PingFang TC"/>
                <a:ea typeface="PingFang TC"/>
                <a:cs typeface="PingFang TC"/>
              </a:rPr>
              <a:t>115年新北市國慶升旗典禮｜前導影片腳本優化提案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0C4FF17-C0F0-4B70-AD19-73B7EE74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857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向前傳遞，</a:t>
            </a:r>
          </a:p>
          <a:p xmlns:a="http://schemas.openxmlformats.org/drawingml/2006/main">
            <a:pPr algn="l">
              <a:defRPr sz="510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安心同行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0AA2627-7B14-405B-A9CE-3CCB930A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752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在原有接力敘事上，加入第二行政中心作為</a:t>
            </a:r>
          </a:p>
          <a:p xmlns:a="http://schemas.openxmlformats.org/drawingml/2006/main">
            <a:pPr algn="l">
              <a:defRPr sz="18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「城市安全智慧中心」的安心落點</a:t>
            </a:r>
          </a:p>
        </p:txBody>
      </p:sp>
      <p:sp>
        <p:nvSpPr>
          <p:cNvPr id="4" name="cover-accent-field">
            <a:extLst xmlns:a="http://schemas.openxmlformats.org/drawingml/2006/main">
              <a:ext uri="{FF2B5EF4-FFF2-40B4-BE49-F238E27FC236}">
                <a16:creationId xmlns:a16="http://schemas.microsoft.com/office/drawing/2014/main" id="{1517526F-8B86-43AA-AFF8-5239A92C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accent-rule">
            <a:extLst xmlns:a="http://schemas.openxmlformats.org/drawingml/2006/main">
              <a:ext uri="{FF2B5EF4-FFF2-40B4-BE49-F238E27FC236}">
                <a16:creationId xmlns:a16="http://schemas.microsoft.com/office/drawing/2014/main" id="{37AB26AD-9DCE-450D-9AE3-473EAEF7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tag">
            <a:extLst xmlns:a="http://schemas.openxmlformats.org/drawingml/2006/main">
              <a:ext uri="{FF2B5EF4-FFF2-40B4-BE49-F238E27FC236}">
                <a16:creationId xmlns:a16="http://schemas.microsoft.com/office/drawing/2014/main" id="{E5670B25-493C-47F8-8A83-C557DEA0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095875"/>
            <a:ext cx="147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F80E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F80ED"/>
                </a:solidFill>
                <a:latin typeface="PingFang TC"/>
                <a:ea typeface="PingFang TC"/>
                <a:cs typeface="PingFang TC"/>
              </a:rPr>
              <a:t>SCRIPT</a:t>
            </a:r>
          </a:p>
          <a:p xmlns:a="http://schemas.openxmlformats.org/drawingml/2006/main">
            <a:pPr algn="r">
              <a:defRPr sz="1350" b="1">
                <a:solidFill>
                  <a:srgbClr val="2F80E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F80ED"/>
                </a:solidFill>
                <a:latin typeface="PingFang TC"/>
                <a:ea typeface="PingFang TC"/>
                <a:cs typeface="PingFang TC"/>
              </a:rPr>
              <a:t>REVISION</a:t>
            </a:r>
          </a:p>
        </p:txBody>
      </p:sp>
    </p:spTree>
    <p:extLst>
      <p:ext uri="{BB962C8B-B14F-4D97-AF65-F5344CB8AC3E}">
        <p14:creationId xmlns:p14="http://schemas.microsoft.com/office/powerpoint/2010/main" val="5816916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02A9D536-7F0A-4BC6-A464-57A524EA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這次修改，不是多加一段介紹，而是補上「守護」的意義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B575D6E7-2C59-4444-BEC7-5B899382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5AB61DC2-6E64-4C40-A5A8-FA91ED7A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115年新北市國慶｜前導影片腳本優化</a:t>
            </a:r>
          </a:p>
        </p:txBody>
      </p:sp>
      <p:sp>
        <p:nvSpPr>
          <p:cNvPr id="4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E175BFC3-A406-4D31-98EE-D74C439C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5" name="brief-kicker">
            <a:extLst xmlns:a="http://schemas.openxmlformats.org/drawingml/2006/main">
              <a:ext uri="{FF2B5EF4-FFF2-40B4-BE49-F238E27FC236}">
                <a16:creationId xmlns:a16="http://schemas.microsoft.com/office/drawing/2014/main" id="{BFD7ABBD-675E-40E7-AD08-5771DB75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80E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2F80ED"/>
                </a:solidFill>
                <a:latin typeface="PingFang TC"/>
                <a:ea typeface="PingFang TC"/>
                <a:cs typeface="PingFang TC"/>
              </a:rPr>
              <a:t>客戶希望觀眾理解</a:t>
            </a:r>
          </a:p>
        </p:txBody>
      </p:sp>
      <p:sp>
        <p:nvSpPr>
          <p:cNvPr id="6" name="brief-main">
            <a:extLst xmlns:a="http://schemas.openxmlformats.org/drawingml/2006/main">
              <a:ext uri="{FF2B5EF4-FFF2-40B4-BE49-F238E27FC236}">
                <a16:creationId xmlns:a16="http://schemas.microsoft.com/office/drawing/2014/main" id="{0F1E5BE5-2889-4BDC-8461-8FD98FFA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第二行政中心</a:t>
            </a:r>
          </a:p>
          <a:p xmlns:a="http://schemas.openxmlformats.org/drawingml/2006/main">
            <a:pPr algn="l">
              <a:defRPr sz="240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不只是政府辦公大樓</a:t>
            </a:r>
          </a:p>
        </p:txBody>
      </p:sp>
      <p:sp>
        <p:nvSpPr>
          <p:cNvPr id="7" name="brief-body">
            <a:extLst xmlns:a="http://schemas.openxmlformats.org/drawingml/2006/main">
              <a:ext uri="{FF2B5EF4-FFF2-40B4-BE49-F238E27FC236}">
                <a16:creationId xmlns:a16="http://schemas.microsoft.com/office/drawing/2014/main" id="{59AE21FA-22A1-4554-96E9-DAE38D4D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495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它也是守護市民生活、整合治安、防災、交通、食安與資訊系統的城市安全智慧中心。</a:t>
            </a:r>
          </a:p>
        </p:txBody>
      </p:sp>
      <p:sp>
        <p:nvSpPr>
          <p:cNvPr id="8" name="brief-pill">
            <a:extLst xmlns:a="http://schemas.openxmlformats.org/drawingml/2006/main">
              <a:ext uri="{FF2B5EF4-FFF2-40B4-BE49-F238E27FC236}">
                <a16:creationId xmlns:a16="http://schemas.microsoft.com/office/drawing/2014/main" id="{A6A8C516-E6E2-4BEA-AC1F-A56D4A04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4305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rief-pill-text">
            <a:extLst xmlns:a="http://schemas.openxmlformats.org/drawingml/2006/main">
              <a:ext uri="{FF2B5EF4-FFF2-40B4-BE49-F238E27FC236}">
                <a16:creationId xmlns:a16="http://schemas.microsoft.com/office/drawing/2014/main" id="{72E8337A-EE6F-4BDF-9CEB-DF256FB5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9675"/>
            <a:ext cx="403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80ED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2F80ED"/>
                </a:solidFill>
                <a:latin typeface="PingFang TC"/>
                <a:ea typeface="PingFang TC"/>
                <a:cs typeface="PingFang TC"/>
              </a:rPr>
              <a:t>原接力故事保留｜新增「安心」敘事層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9ebf3195a41d8"/>
          <a:stretch xmlns:a="http://schemas.openxmlformats.org/drawingml/2006/main"/>
        </p:blipFill>
        <p:spPr>
          <a:xfrm xmlns:a="http://schemas.openxmlformats.org/drawingml/2006/main">
            <a:off x="6191250" y="2000601"/>
            <a:ext cx="5486400" cy="3085399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11" name="source-caption">
            <a:extLst xmlns:a="http://schemas.openxmlformats.org/drawingml/2006/main">
              <a:ext uri="{FF2B5EF4-FFF2-40B4-BE49-F238E27FC236}">
                <a16:creationId xmlns:a16="http://schemas.microsoft.com/office/drawing/2014/main" id="{C1E02509-42DA-4971-BF5F-A323A0BE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72150"/>
            <a:ext cx="548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原腳本核心：接力棒傳遞城市精神、建設與下一代</a:t>
            </a:r>
          </a:p>
        </p:txBody>
      </p:sp>
    </p:spTree>
    <p:extLst>
      <p:ext uri="{BB962C8B-B14F-4D97-AF65-F5344CB8AC3E}">
        <p14:creationId xmlns:p14="http://schemas.microsoft.com/office/powerpoint/2010/main" val="64798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565E526-A2F4-4A5E-98D9-2E9DBDBC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原有的速度感保留，新增一條貫穿全片的「安心接力」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542B5F60-F99D-42BD-A609-99F970CC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130C80A9-0216-4BFF-995A-52C734A3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115年新北市國慶｜前導影片腳本優化</a:t>
            </a:r>
          </a:p>
        </p:txBody>
      </p:sp>
      <p:sp>
        <p:nvSpPr>
          <p:cNvPr id="4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C2EFFE86-5ED2-4773-9326-53DD9C2A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5" name="core-intro">
            <a:extLst xmlns:a="http://schemas.openxmlformats.org/drawingml/2006/main">
              <a:ext uri="{FF2B5EF4-FFF2-40B4-BE49-F238E27FC236}">
                <a16:creationId xmlns:a16="http://schemas.microsoft.com/office/drawing/2014/main" id="{CAB0BF98-8D4D-4BCB-BF3A-B7272029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不另開支線介紹大樓；把安全治理藏進既有的跑動、交棒與抵達，最後才完整揭示第二行政中心。</a:t>
            </a:r>
          </a:p>
        </p:txBody>
      </p:sp>
      <p:sp>
        <p:nvSpPr>
          <p:cNvPr id="6" name="core-left-panel">
            <a:extLst xmlns:a="http://schemas.openxmlformats.org/drawingml/2006/main">
              <a:ext uri="{FF2B5EF4-FFF2-40B4-BE49-F238E27FC236}">
                <a16:creationId xmlns:a16="http://schemas.microsoft.com/office/drawing/2014/main" id="{80861664-8EAB-4152-ABDA-7CAF64E5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53435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re-left-kicker">
            <a:extLst xmlns:a="http://schemas.openxmlformats.org/drawingml/2006/main">
              <a:ext uri="{FF2B5EF4-FFF2-40B4-BE49-F238E27FC236}">
                <a16:creationId xmlns:a16="http://schemas.microsoft.com/office/drawing/2014/main" id="{15948AB4-256B-4A7D-8731-EE75BECE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81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原核心｜向前傳遞</a:t>
            </a:r>
          </a:p>
        </p:txBody>
      </p:sp>
      <p:sp>
        <p:nvSpPr>
          <p:cNvPr id="8" name="core-left-heading">
            <a:extLst xmlns:a="http://schemas.openxmlformats.org/drawingml/2006/main">
              <a:ext uri="{FF2B5EF4-FFF2-40B4-BE49-F238E27FC236}">
                <a16:creationId xmlns:a16="http://schemas.microsoft.com/office/drawing/2014/main" id="{3175479A-1F53-46BC-B0F0-3211A85F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810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接力棒＝城市精神與國慶祝福</a:t>
            </a:r>
          </a:p>
        </p:txBody>
      </p:sp>
      <p:sp>
        <p:nvSpPr>
          <p:cNvPr id="9" name="core-left-body">
            <a:extLst xmlns:a="http://schemas.openxmlformats.org/drawingml/2006/main">
              <a:ext uri="{FF2B5EF4-FFF2-40B4-BE49-F238E27FC236}">
                <a16:creationId xmlns:a16="http://schemas.microsoft.com/office/drawing/2014/main" id="{7CF78832-1D07-4439-B8E0-F721466B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4810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城市建設 → 青年 → 活動 → 下一代</a:t>
            </a:r>
          </a:p>
        </p:txBody>
      </p:sp>
      <p:sp>
        <p:nvSpPr>
          <p:cNvPr id="10" name="core-left-details">
            <a:extLst xmlns:a="http://schemas.openxmlformats.org/drawingml/2006/main">
              <a:ext uri="{FF2B5EF4-FFF2-40B4-BE49-F238E27FC236}">
                <a16:creationId xmlns:a16="http://schemas.microsoft.com/office/drawing/2014/main" id="{A557A80F-75B7-46A8-9AC8-47EE5677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4810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38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強項是節奏明確、角色互動自然；但第二行政中心目前只作為活動場地出現。</a:t>
            </a:r>
          </a:p>
        </p:txBody>
      </p:sp>
      <p:sp>
        <p:nvSpPr>
          <p:cNvPr id="11" name="core-right-panel">
            <a:extLst xmlns:a="http://schemas.openxmlformats.org/drawingml/2006/main">
              <a:ext uri="{FF2B5EF4-FFF2-40B4-BE49-F238E27FC236}">
                <a16:creationId xmlns:a16="http://schemas.microsoft.com/office/drawing/2014/main" id="{BE0224FA-2F20-4C4D-A662-DA248889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05150"/>
            <a:ext cx="53435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re-right-kicker">
            <a:extLst xmlns:a="http://schemas.openxmlformats.org/drawingml/2006/main">
              <a:ext uri="{FF2B5EF4-FFF2-40B4-BE49-F238E27FC236}">
                <a16:creationId xmlns:a16="http://schemas.microsoft.com/office/drawing/2014/main" id="{5868D139-9E7D-4572-A423-0CCF331A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295650"/>
            <a:ext cx="481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2F80ED"/>
                </a:solidFill>
                <a:latin typeface="PingFang TC"/>
                <a:ea typeface="PingFang TC"/>
                <a:cs typeface="PingFang TC"/>
              </a:rPr>
              <a:t>修訂核心｜安心同行</a:t>
            </a:r>
          </a:p>
        </p:txBody>
      </p:sp>
      <p:sp>
        <p:nvSpPr>
          <p:cNvPr id="13" name="core-right-heading">
            <a:extLst xmlns:a="http://schemas.openxmlformats.org/drawingml/2006/main">
              <a:ext uri="{FF2B5EF4-FFF2-40B4-BE49-F238E27FC236}">
                <a16:creationId xmlns:a16="http://schemas.microsoft.com/office/drawing/2014/main" id="{87C267BC-9F20-402A-93A1-B375C705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38550"/>
            <a:ext cx="4810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接力棒＝城市持續在線的守護</a:t>
            </a:r>
          </a:p>
        </p:txBody>
      </p:sp>
      <p:sp>
        <p:nvSpPr>
          <p:cNvPr id="14" name="core-right-body">
            <a:extLst xmlns:a="http://schemas.openxmlformats.org/drawingml/2006/main">
              <a:ext uri="{FF2B5EF4-FFF2-40B4-BE49-F238E27FC236}">
                <a16:creationId xmlns:a16="http://schemas.microsoft.com/office/drawing/2014/main" id="{182AFD9F-91E6-4D43-9127-997C7659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762500"/>
            <a:ext cx="4810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城市建設 → 系統連線 → 安心 → 下一代</a:t>
            </a:r>
          </a:p>
        </p:txBody>
      </p:sp>
      <p:sp>
        <p:nvSpPr>
          <p:cNvPr id="15" name="core-right-details">
            <a:extLst xmlns:a="http://schemas.openxmlformats.org/drawingml/2006/main">
              <a:ext uri="{FF2B5EF4-FFF2-40B4-BE49-F238E27FC236}">
                <a16:creationId xmlns:a16="http://schemas.microsoft.com/office/drawing/2014/main" id="{9D2668A6-9622-4E82-B381-8BFC41B3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353050"/>
            <a:ext cx="4810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38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讓每一次交棒都多一層意義：城市向前的同時，守護也沒有中斷。</a:t>
            </a:r>
          </a:p>
        </p:txBody>
      </p:sp>
    </p:spTree>
    <p:extLst>
      <p:ext uri="{BB962C8B-B14F-4D97-AF65-F5344CB8AC3E}">
        <p14:creationId xmlns:p14="http://schemas.microsoft.com/office/powerpoint/2010/main" val="1525302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52310FC-BB6B-4657-81B1-661493F7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安心元素用三步出現：先感覺、再理解、最後記住</a:t>
            </a:r>
          </a:p>
        </p:txBody>
      </p:sp>
      <p:sp>
        <p:nvSpPr>
          <p:cNvPr id="2" name="slide-4-title-rule">
            <a:extLst xmlns:a="http://schemas.openxmlformats.org/drawingml/2006/main">
              <a:ext uri="{FF2B5EF4-FFF2-40B4-BE49-F238E27FC236}">
                <a16:creationId xmlns:a16="http://schemas.microsoft.com/office/drawing/2014/main" id="{6435A7D8-3B53-418D-AAD8-60F13FAD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D7AF9071-2673-4651-93CE-378CCD09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115年新北市國慶｜前導影片腳本優化</a:t>
            </a:r>
          </a:p>
        </p:txBody>
      </p:sp>
      <p:sp>
        <p:nvSpPr>
          <p:cNvPr id="4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41A81F21-0C3B-40F0-A27D-FD844219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5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C9985162-59DF-4362-962B-A91E333C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ammar-label-1">
            <a:extLst xmlns:a="http://schemas.openxmlformats.org/drawingml/2006/main">
              <a:ext uri="{FF2B5EF4-FFF2-40B4-BE49-F238E27FC236}">
                <a16:creationId xmlns:a16="http://schemas.microsoft.com/office/drawing/2014/main" id="{560FEABA-5CCE-4248-B1A7-7A6F34CC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01｜沿途提示</a:t>
            </a:r>
          </a:p>
        </p:txBody>
      </p:sp>
      <p:sp>
        <p:nvSpPr>
          <p:cNvPr id="7" name="grammar-dot-1">
            <a:extLst xmlns:a="http://schemas.openxmlformats.org/drawingml/2006/main">
              <a:ext uri="{FF2B5EF4-FFF2-40B4-BE49-F238E27FC236}">
                <a16:creationId xmlns:a16="http://schemas.microsoft.com/office/drawing/2014/main" id="{97AB8A37-B89B-4DD5-B55C-31DDB250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ammar-title-1">
            <a:extLst xmlns:a="http://schemas.openxmlformats.org/drawingml/2006/main">
              <a:ext uri="{FF2B5EF4-FFF2-40B4-BE49-F238E27FC236}">
                <a16:creationId xmlns:a16="http://schemas.microsoft.com/office/drawing/2014/main" id="{0BDADC61-15C1-400F-99ED-9E916EE8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71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安心正在運作</a:t>
            </a:r>
          </a:p>
        </p:txBody>
      </p:sp>
      <p:sp>
        <p:nvSpPr>
          <p:cNvPr id="9" name="grammar-body-1">
            <a:extLst xmlns:a="http://schemas.openxmlformats.org/drawingml/2006/main">
              <a:ext uri="{FF2B5EF4-FFF2-40B4-BE49-F238E27FC236}">
                <a16:creationId xmlns:a16="http://schemas.microsoft.com/office/drawing/2014/main" id="{F16BA682-77E5-4A7C-8ECC-C6784761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3333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接力棒出現微弱藍白光點；三鶯線、淡江大橋的交通畫面搭配極輕量資訊連線效果。</a:t>
            </a:r>
          </a:p>
        </p:txBody>
      </p:sp>
      <p:sp>
        <p:nvSpPr>
          <p:cNvPr id="10" name="grammar-label-2">
            <a:extLst xmlns:a="http://schemas.openxmlformats.org/drawingml/2006/main">
              <a:ext uri="{FF2B5EF4-FFF2-40B4-BE49-F238E27FC236}">
                <a16:creationId xmlns:a16="http://schemas.microsoft.com/office/drawing/2014/main" id="{C4A71ACE-EF4F-4063-A417-396A0807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90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F80ED"/>
                </a:solidFill>
                <a:latin typeface="PingFang TC"/>
                <a:ea typeface="PingFang TC"/>
                <a:cs typeface="PingFang TC"/>
              </a:rPr>
              <a:t>02｜活動快剪</a:t>
            </a:r>
          </a:p>
        </p:txBody>
      </p:sp>
      <p:sp>
        <p:nvSpPr>
          <p:cNvPr id="11" name="grammar-dot-2">
            <a:extLst xmlns:a="http://schemas.openxmlformats.org/drawingml/2006/main">
              <a:ext uri="{FF2B5EF4-FFF2-40B4-BE49-F238E27FC236}">
                <a16:creationId xmlns:a16="http://schemas.microsoft.com/office/drawing/2014/main" id="{A25EA6E9-2D76-4886-A867-69F54741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ammar-title-2">
            <a:extLst xmlns:a="http://schemas.openxmlformats.org/drawingml/2006/main">
              <a:ext uri="{FF2B5EF4-FFF2-40B4-BE49-F238E27FC236}">
                <a16:creationId xmlns:a16="http://schemas.microsoft.com/office/drawing/2014/main" id="{04170371-F146-4CED-9982-02003884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671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守護來自系統整合</a:t>
            </a:r>
          </a:p>
        </p:txBody>
      </p:sp>
      <p:sp>
        <p:nvSpPr>
          <p:cNvPr id="13" name="grammar-body-2">
            <a:extLst xmlns:a="http://schemas.openxmlformats.org/drawingml/2006/main">
              <a:ext uri="{FF2B5EF4-FFF2-40B4-BE49-F238E27FC236}">
                <a16:creationId xmlns:a16="http://schemas.microsoft.com/office/drawing/2014/main" id="{219D049F-8553-4FA8-B9C8-9222B4BA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38600"/>
            <a:ext cx="3333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只在這一段完整說明一次：治安、防災、交通、食安與資訊系統同步守護。</a:t>
            </a:r>
          </a:p>
        </p:txBody>
      </p:sp>
      <p:sp>
        <p:nvSpPr>
          <p:cNvPr id="14" name="grammar-label-3">
            <a:extLst xmlns:a="http://schemas.openxmlformats.org/drawingml/2006/main">
              <a:ext uri="{FF2B5EF4-FFF2-40B4-BE49-F238E27FC236}">
                <a16:creationId xmlns:a16="http://schemas.microsoft.com/office/drawing/2014/main" id="{3A534A6F-083C-4BE2-AFC4-8924E054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90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03｜抵達場地</a:t>
            </a:r>
          </a:p>
        </p:txBody>
      </p:sp>
      <p:sp>
        <p:nvSpPr>
          <p:cNvPr id="15" name="grammar-dot-3">
            <a:extLst xmlns:a="http://schemas.openxmlformats.org/drawingml/2006/main">
              <a:ext uri="{FF2B5EF4-FFF2-40B4-BE49-F238E27FC236}">
                <a16:creationId xmlns:a16="http://schemas.microsoft.com/office/drawing/2014/main" id="{5810267A-AEFC-4874-8218-C83460AC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ammar-title-3">
            <a:extLst xmlns:a="http://schemas.openxmlformats.org/drawingml/2006/main">
              <a:ext uri="{FF2B5EF4-FFF2-40B4-BE49-F238E27FC236}">
                <a16:creationId xmlns:a16="http://schemas.microsoft.com/office/drawing/2014/main" id="{C3EE5E13-E613-43DE-A0A8-BFD41122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671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第二行政中心是安心落點</a:t>
            </a:r>
          </a:p>
        </p:txBody>
      </p:sp>
      <p:sp>
        <p:nvSpPr>
          <p:cNvPr id="17" name="grammar-body-3">
            <a:extLst xmlns:a="http://schemas.openxmlformats.org/drawingml/2006/main">
              <a:ext uri="{FF2B5EF4-FFF2-40B4-BE49-F238E27FC236}">
                <a16:creationId xmlns:a16="http://schemas.microsoft.com/office/drawing/2014/main" id="{FB854C1D-0F19-49D3-B1EB-6CF47258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38600"/>
            <a:ext cx="3333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所有光線與資訊匯聚建築；用一句定位字卡完成城市安全智慧中心的揭示。</a:t>
            </a:r>
          </a:p>
        </p:txBody>
      </p:sp>
    </p:spTree>
    <p:extLst>
      <p:ext uri="{BB962C8B-B14F-4D97-AF65-F5344CB8AC3E}">
        <p14:creationId xmlns:p14="http://schemas.microsoft.com/office/powerpoint/2010/main" val="11323593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7A740F1-CA69-4230-B183-507B25E8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推薦只改三個關鍵節點，避免 90 秒影片變成設施介紹</a:t>
            </a:r>
          </a:p>
        </p:txBody>
      </p:sp>
      <p:sp>
        <p:nvSpPr>
          <p:cNvPr id="2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4A206CA8-BFEA-432A-A1ED-1596D331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4C5AF5F2-9134-4636-82C1-73FBC8DF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115年新北市國慶｜前導影片腳本優化</a:t>
            </a:r>
          </a:p>
        </p:txBody>
      </p:sp>
      <p:sp>
        <p:nvSpPr>
          <p:cNvPr id="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1502F14C-09E9-4C2A-BA11-2B883AF2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5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008581B3-62D5-4D37-8193-9ED230BC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nsert-label-1">
            <a:extLst xmlns:a="http://schemas.openxmlformats.org/drawingml/2006/main">
              <a:ext uri="{FF2B5EF4-FFF2-40B4-BE49-F238E27FC236}">
                <a16:creationId xmlns:a16="http://schemas.microsoft.com/office/drawing/2014/main" id="{0971F4B5-7274-4CC0-BE20-933BEB6D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0:15-0:23</a:t>
            </a:r>
          </a:p>
        </p:txBody>
      </p:sp>
      <p:sp>
        <p:nvSpPr>
          <p:cNvPr id="7" name="insert-dot-1">
            <a:extLst xmlns:a="http://schemas.openxmlformats.org/drawingml/2006/main">
              <a:ext uri="{FF2B5EF4-FFF2-40B4-BE49-F238E27FC236}">
                <a16:creationId xmlns:a16="http://schemas.microsoft.com/office/drawing/2014/main" id="{9851A4D5-3170-4FC1-B2C4-C31EB375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sert-title-1">
            <a:extLst xmlns:a="http://schemas.openxmlformats.org/drawingml/2006/main">
              <a:ext uri="{FF2B5EF4-FFF2-40B4-BE49-F238E27FC236}">
                <a16:creationId xmlns:a16="http://schemas.microsoft.com/office/drawing/2014/main" id="{98BF04BB-CF77-4CAA-824C-4B7BD223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71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第一次提示｜交通安心</a:t>
            </a:r>
          </a:p>
        </p:txBody>
      </p:sp>
      <p:sp>
        <p:nvSpPr>
          <p:cNvPr id="9" name="insert-body-1">
            <a:extLst xmlns:a="http://schemas.openxmlformats.org/drawingml/2006/main">
              <a:ext uri="{FF2B5EF4-FFF2-40B4-BE49-F238E27FC236}">
                <a16:creationId xmlns:a16="http://schemas.microsoft.com/office/drawing/2014/main" id="{C3336D61-81F2-423D-BBC0-F3147128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3333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三鶯線字卡保留重大建設資訊，再補上「交通資訊即時整合」，讓安心先被觀眾感覺到。</a:t>
            </a:r>
          </a:p>
        </p:txBody>
      </p:sp>
      <p:sp>
        <p:nvSpPr>
          <p:cNvPr id="10" name="insert-label-2">
            <a:extLst xmlns:a="http://schemas.openxmlformats.org/drawingml/2006/main">
              <a:ext uri="{FF2B5EF4-FFF2-40B4-BE49-F238E27FC236}">
                <a16:creationId xmlns:a16="http://schemas.microsoft.com/office/drawing/2014/main" id="{5DCDE8C2-96EA-42FB-86AC-31F16B46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90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F80ED"/>
                </a:solidFill>
                <a:latin typeface="PingFang TC"/>
                <a:ea typeface="PingFang TC"/>
                <a:cs typeface="PingFang TC"/>
              </a:rPr>
              <a:t>0:43-0:59</a:t>
            </a:r>
          </a:p>
        </p:txBody>
      </p:sp>
      <p:sp>
        <p:nvSpPr>
          <p:cNvPr id="11" name="insert-dot-2">
            <a:extLst xmlns:a="http://schemas.openxmlformats.org/drawingml/2006/main">
              <a:ext uri="{FF2B5EF4-FFF2-40B4-BE49-F238E27FC236}">
                <a16:creationId xmlns:a16="http://schemas.microsoft.com/office/drawing/2014/main" id="{31EABBC7-6047-4841-ACC0-6A99772F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nsert-title-2">
            <a:extLst xmlns:a="http://schemas.openxmlformats.org/drawingml/2006/main">
              <a:ext uri="{FF2B5EF4-FFF2-40B4-BE49-F238E27FC236}">
                <a16:creationId xmlns:a16="http://schemas.microsoft.com/office/drawing/2014/main" id="{3D635785-A105-44B5-ACE0-62F74416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671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一次說清｜五大系統</a:t>
            </a:r>
          </a:p>
        </p:txBody>
      </p:sp>
      <p:sp>
        <p:nvSpPr>
          <p:cNvPr id="13" name="insert-body-2">
            <a:extLst xmlns:a="http://schemas.openxmlformats.org/drawingml/2006/main">
              <a:ext uri="{FF2B5EF4-FFF2-40B4-BE49-F238E27FC236}">
                <a16:creationId xmlns:a16="http://schemas.microsoft.com/office/drawing/2014/main" id="{E5157D93-9FE2-44CA-B4E4-47F3F78D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38600"/>
            <a:ext cx="3333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活動快剪加入值勤、監控與稽核畫面；完整列出治安、防災、交通、食安與資訊系統。</a:t>
            </a:r>
          </a:p>
        </p:txBody>
      </p:sp>
      <p:sp>
        <p:nvSpPr>
          <p:cNvPr id="14" name="insert-label-3">
            <a:extLst xmlns:a="http://schemas.openxmlformats.org/drawingml/2006/main">
              <a:ext uri="{FF2B5EF4-FFF2-40B4-BE49-F238E27FC236}">
                <a16:creationId xmlns:a16="http://schemas.microsoft.com/office/drawing/2014/main" id="{CD838B41-1ED1-480B-A35B-45B75C90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90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1:04-1:27</a:t>
            </a:r>
          </a:p>
        </p:txBody>
      </p:sp>
      <p:sp>
        <p:nvSpPr>
          <p:cNvPr id="15" name="insert-dot-3">
            <a:extLst xmlns:a="http://schemas.openxmlformats.org/drawingml/2006/main">
              <a:ext uri="{FF2B5EF4-FFF2-40B4-BE49-F238E27FC236}">
                <a16:creationId xmlns:a16="http://schemas.microsoft.com/office/drawing/2014/main" id="{868A7477-D0A7-4F74-AB66-BDED37BF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nsert-title-3">
            <a:extLst xmlns:a="http://schemas.openxmlformats.org/drawingml/2006/main">
              <a:ext uri="{FF2B5EF4-FFF2-40B4-BE49-F238E27FC236}">
                <a16:creationId xmlns:a16="http://schemas.microsoft.com/office/drawing/2014/main" id="{B1A6A06F-9FD7-4E5D-80AE-90996358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671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最後揭示｜安心落點</a:t>
            </a:r>
          </a:p>
        </p:txBody>
      </p:sp>
      <p:sp>
        <p:nvSpPr>
          <p:cNvPr id="17" name="insert-body-3">
            <a:extLst xmlns:a="http://schemas.openxmlformats.org/drawingml/2006/main">
              <a:ext uri="{FF2B5EF4-FFF2-40B4-BE49-F238E27FC236}">
                <a16:creationId xmlns:a16="http://schemas.microsoft.com/office/drawing/2014/main" id="{F32825C1-2C9C-480D-BF55-A5E876F4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38600"/>
            <a:ext cx="3333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孩子跑入第二行政中心前廣場，建築與系統連線同框；收在「新北向前，安心一直都在」。</a:t>
            </a:r>
          </a:p>
        </p:txBody>
      </p:sp>
    </p:spTree>
    <p:extLst>
      <p:ext uri="{BB962C8B-B14F-4D97-AF65-F5344CB8AC3E}">
        <p14:creationId xmlns:p14="http://schemas.microsoft.com/office/powerpoint/2010/main" val="18834886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A061921C-3BE1-49BA-93F3-7231302F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分鏡修訂①｜第一棒起跑：先埋下「安心訊號」</a:t>
            </a:r>
          </a:p>
        </p:txBody>
      </p:sp>
      <p:sp>
        <p:nvSpPr>
          <p:cNvPr id="2" name="slide-6-title-rule">
            <a:extLst xmlns:a="http://schemas.openxmlformats.org/drawingml/2006/main">
              <a:ext uri="{FF2B5EF4-FFF2-40B4-BE49-F238E27FC236}">
                <a16:creationId xmlns:a16="http://schemas.microsoft.com/office/drawing/2014/main" id="{3C85619F-F2A6-482B-AE50-5B4AF405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837C8405-4194-49A0-8856-C27E511B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115年新北市國慶｜前導影片腳本優化</a:t>
            </a:r>
          </a:p>
        </p:txBody>
      </p:sp>
      <p:sp>
        <p:nvSpPr>
          <p:cNvPr id="4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D2F464E3-39E5-4C3B-BC3E-E1C0592B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5" name="story-1-intro">
            <a:extLst xmlns:a="http://schemas.openxmlformats.org/drawingml/2006/main">
              <a:ext uri="{FF2B5EF4-FFF2-40B4-BE49-F238E27FC236}">
                <a16:creationId xmlns:a16="http://schemas.microsoft.com/office/drawing/2014/main" id="{9185EC99-2FDF-4376-A80F-B28ED49A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前段儀式感與 Match Cut 全數保留，安心元素只以聲音與光點進場。</a:t>
            </a:r>
          </a:p>
        </p:txBody>
      </p:sp>
      <p:sp>
        <p:nvSpPr>
          <p:cNvPr id="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90124B21-DD1B-4DEF-A873-2961EC8A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ory1-label-1">
            <a:extLst xmlns:a="http://schemas.openxmlformats.org/drawingml/2006/main">
              <a:ext uri="{FF2B5EF4-FFF2-40B4-BE49-F238E27FC236}">
                <a16:creationId xmlns:a16="http://schemas.microsoft.com/office/drawing/2014/main" id="{DA38A4DB-1FAC-4C5F-93C3-CCDAD9E0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0:00-0:15｜保留</a:t>
            </a:r>
          </a:p>
        </p:txBody>
      </p:sp>
      <p:sp>
        <p:nvSpPr>
          <p:cNvPr id="8" name="story1-dot-1">
            <a:extLst xmlns:a="http://schemas.openxmlformats.org/drawingml/2006/main">
              <a:ext uri="{FF2B5EF4-FFF2-40B4-BE49-F238E27FC236}">
                <a16:creationId xmlns:a16="http://schemas.microsoft.com/office/drawing/2014/main" id="{DDFB9905-F7C1-41EB-875E-D0EFD880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ory1-title-1">
            <a:extLst xmlns:a="http://schemas.openxmlformats.org/drawingml/2006/main">
              <a:ext uri="{FF2B5EF4-FFF2-40B4-BE49-F238E27FC236}">
                <a16:creationId xmlns:a16="http://schemas.microsoft.com/office/drawing/2014/main" id="{EB54B88F-E856-4DB6-A8DE-C988D68C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眼神、國旗、第一棒</a:t>
            </a:r>
          </a:p>
        </p:txBody>
      </p:sp>
      <p:sp>
        <p:nvSpPr>
          <p:cNvPr id="10" name="story1-body-1">
            <a:extLst xmlns:a="http://schemas.openxmlformats.org/drawingml/2006/main">
              <a:ext uri="{FF2B5EF4-FFF2-40B4-BE49-F238E27FC236}">
                <a16:creationId xmlns:a16="http://schemas.microsoft.com/office/drawing/2014/main" id="{1A1C0105-3C86-444F-80E0-FC5B91F2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3333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畫面：維持眼部特寫、儀隊進場、國旗遮鏡轉龍埔站。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新增：接力棒尾端亮起一次微弱藍白光點。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聲音：低頻呼吸中加入一次短促電子提示音。</a:t>
            </a:r>
          </a:p>
        </p:txBody>
      </p:sp>
      <p:sp>
        <p:nvSpPr>
          <p:cNvPr id="11" name="story1-label-2">
            <a:extLst xmlns:a="http://schemas.openxmlformats.org/drawingml/2006/main">
              <a:ext uri="{FF2B5EF4-FFF2-40B4-BE49-F238E27FC236}">
                <a16:creationId xmlns:a16="http://schemas.microsoft.com/office/drawing/2014/main" id="{4C39DF9B-33D6-433A-81D5-DF27C624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F80ED"/>
                </a:solidFill>
                <a:latin typeface="PingFang TC"/>
                <a:ea typeface="PingFang TC"/>
                <a:cs typeface="PingFang TC"/>
              </a:rPr>
              <a:t>0:15-0:23｜修改</a:t>
            </a:r>
          </a:p>
        </p:txBody>
      </p:sp>
      <p:sp>
        <p:nvSpPr>
          <p:cNvPr id="12" name="story1-dot-2">
            <a:extLst xmlns:a="http://schemas.openxmlformats.org/drawingml/2006/main">
              <a:ext uri="{FF2B5EF4-FFF2-40B4-BE49-F238E27FC236}">
                <a16:creationId xmlns:a16="http://schemas.microsoft.com/office/drawing/2014/main" id="{78263E72-7601-443E-B9C7-897E1F94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19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ory1-title-2">
            <a:extLst xmlns:a="http://schemas.openxmlformats.org/drawingml/2006/main">
              <a:ext uri="{FF2B5EF4-FFF2-40B4-BE49-F238E27FC236}">
                <a16:creationId xmlns:a16="http://schemas.microsoft.com/office/drawing/2014/main" id="{53D853EB-EA64-4877-9DC5-612D3C57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三鶯線＝交通安心</a:t>
            </a:r>
          </a:p>
        </p:txBody>
      </p:sp>
      <p:sp>
        <p:nvSpPr>
          <p:cNvPr id="14" name="story1-body-2">
            <a:extLst xmlns:a="http://schemas.openxmlformats.org/drawingml/2006/main">
              <a:ext uri="{FF2B5EF4-FFF2-40B4-BE49-F238E27FC236}">
                <a16:creationId xmlns:a16="http://schemas.microsoft.com/office/drawing/2014/main" id="{7B5B4AC5-DA7F-4086-A41D-34CF710D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29050"/>
            <a:ext cx="3333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畫面：空拍與跑動間，疊入極淡交通資訊線。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字卡：2026 三鶯線，串連三峽、鶯歌與雙北生活圈；交通資訊即時整合，把便利與安心帶進每一天。</a:t>
            </a:r>
          </a:p>
        </p:txBody>
      </p:sp>
      <p:sp>
        <p:nvSpPr>
          <p:cNvPr id="15" name="story1-label-3">
            <a:extLst xmlns:a="http://schemas.openxmlformats.org/drawingml/2006/main">
              <a:ext uri="{FF2B5EF4-FFF2-40B4-BE49-F238E27FC236}">
                <a16:creationId xmlns:a16="http://schemas.microsoft.com/office/drawing/2014/main" id="{65AF69DD-C0B3-4294-9AC4-E5775DE3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0:24-0:29｜保留</a:t>
            </a:r>
          </a:p>
        </p:txBody>
      </p:sp>
      <p:sp>
        <p:nvSpPr>
          <p:cNvPr id="16" name="story1-dot-3">
            <a:extLst xmlns:a="http://schemas.openxmlformats.org/drawingml/2006/main">
              <a:ext uri="{FF2B5EF4-FFF2-40B4-BE49-F238E27FC236}">
                <a16:creationId xmlns:a16="http://schemas.microsoft.com/office/drawing/2014/main" id="{CBC475BF-3886-4453-A4FE-E97A6335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19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ory1-title-3">
            <a:extLst xmlns:a="http://schemas.openxmlformats.org/drawingml/2006/main">
              <a:ext uri="{FF2B5EF4-FFF2-40B4-BE49-F238E27FC236}">
                <a16:creationId xmlns:a16="http://schemas.microsoft.com/office/drawing/2014/main" id="{71FF77CA-4F7D-45A6-9B5E-D77A4971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儀隊節奏插入</a:t>
            </a:r>
          </a:p>
        </p:txBody>
      </p:sp>
      <p:sp>
        <p:nvSpPr>
          <p:cNvPr id="18" name="story1-body-3">
            <a:extLst xmlns:a="http://schemas.openxmlformats.org/drawingml/2006/main">
              <a:ext uri="{FF2B5EF4-FFF2-40B4-BE49-F238E27FC236}">
                <a16:creationId xmlns:a16="http://schemas.microsoft.com/office/drawing/2014/main" id="{FF785870-20E4-4794-8B02-65525715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29050"/>
            <a:ext cx="3333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畫面：踏步、轉槍、隊形變化不變。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新增：在動作落點讓同一個藍白光點閃現一次，延續母題。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原則：此處不加新字卡，讓節奏呼吸。</a:t>
            </a:r>
          </a:p>
        </p:txBody>
      </p:sp>
    </p:spTree>
    <p:extLst>
      <p:ext uri="{BB962C8B-B14F-4D97-AF65-F5344CB8AC3E}">
        <p14:creationId xmlns:p14="http://schemas.microsoft.com/office/powerpoint/2010/main" val="4034343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A38199CE-EA4F-4E79-B44E-8A867228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分鏡修訂②｜交棒淡江：把熱鬧背後的守護說清楚</a:t>
            </a:r>
          </a:p>
        </p:txBody>
      </p:sp>
      <p:sp>
        <p:nvSpPr>
          <p:cNvPr id="2" name="slide-7-title-rule">
            <a:extLst xmlns:a="http://schemas.openxmlformats.org/drawingml/2006/main">
              <a:ext uri="{FF2B5EF4-FFF2-40B4-BE49-F238E27FC236}">
                <a16:creationId xmlns:a16="http://schemas.microsoft.com/office/drawing/2014/main" id="{E0E074C7-95B3-4C12-AA80-B6E50E05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147A9A9E-1D73-4E27-B890-5E68B546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115年新北市國慶｜前導影片腳本優化</a:t>
            </a:r>
          </a:p>
        </p:txBody>
      </p:sp>
      <p:sp>
        <p:nvSpPr>
          <p:cNvPr id="4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9372D127-08EB-4BFB-92DB-72F5F85F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5" name="story-2-intro">
            <a:extLst xmlns:a="http://schemas.openxmlformats.org/drawingml/2006/main">
              <a:ext uri="{FF2B5EF4-FFF2-40B4-BE49-F238E27FC236}">
                <a16:creationId xmlns:a16="http://schemas.microsoft.com/office/drawing/2014/main" id="{D5A1044E-8639-40A0-B956-390E0201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中段是唯一完整列出五大系統的段落；前後都回到人物與動作。</a:t>
            </a:r>
          </a:p>
        </p:txBody>
      </p:sp>
      <p:sp>
        <p:nvSpPr>
          <p:cNvPr id="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FB3E6E5C-9E63-48FD-B647-ACA2B26C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ory2-label-1">
            <a:extLst xmlns:a="http://schemas.openxmlformats.org/drawingml/2006/main">
              <a:ext uri="{FF2B5EF4-FFF2-40B4-BE49-F238E27FC236}">
                <a16:creationId xmlns:a16="http://schemas.microsoft.com/office/drawing/2014/main" id="{9B985724-FA94-4F7F-A799-D68C0F3A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0:29-0:43｜微調</a:t>
            </a:r>
          </a:p>
        </p:txBody>
      </p:sp>
      <p:sp>
        <p:nvSpPr>
          <p:cNvPr id="8" name="story2-dot-1">
            <a:extLst xmlns:a="http://schemas.openxmlformats.org/drawingml/2006/main">
              <a:ext uri="{FF2B5EF4-FFF2-40B4-BE49-F238E27FC236}">
                <a16:creationId xmlns:a16="http://schemas.microsoft.com/office/drawing/2014/main" id="{81B8906A-A45B-49FB-9F7B-033B37E5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ory2-title-1">
            <a:extLst xmlns:a="http://schemas.openxmlformats.org/drawingml/2006/main">
              <a:ext uri="{FF2B5EF4-FFF2-40B4-BE49-F238E27FC236}">
                <a16:creationId xmlns:a16="http://schemas.microsoft.com/office/drawing/2014/main" id="{DD9639D3-F14C-43E5-823F-7BD0305B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淡江大橋＝連線守護</a:t>
            </a:r>
          </a:p>
        </p:txBody>
      </p:sp>
      <p:sp>
        <p:nvSpPr>
          <p:cNvPr id="10" name="story2-body-1">
            <a:extLst xmlns:a="http://schemas.openxmlformats.org/drawingml/2006/main">
              <a:ext uri="{FF2B5EF4-FFF2-40B4-BE49-F238E27FC236}">
                <a16:creationId xmlns:a16="http://schemas.microsoft.com/office/drawing/2014/main" id="{903214EA-86D9-4E79-9EDF-3EFD4322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3333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畫面：交棒後，安心光點沿橋塔與車流前進。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字卡：2026 淡江大橋，串聯淡水、八里；橋梁、交通與防災資訊同步連線，守護每一次出發與抵達。</a:t>
            </a:r>
          </a:p>
        </p:txBody>
      </p:sp>
      <p:sp>
        <p:nvSpPr>
          <p:cNvPr id="11" name="story2-label-2">
            <a:extLst xmlns:a="http://schemas.openxmlformats.org/drawingml/2006/main">
              <a:ext uri="{FF2B5EF4-FFF2-40B4-BE49-F238E27FC236}">
                <a16:creationId xmlns:a16="http://schemas.microsoft.com/office/drawing/2014/main" id="{0D2A89EE-1261-4E25-833C-44D8AB86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F80ED"/>
                </a:solidFill>
                <a:latin typeface="PingFang TC"/>
                <a:ea typeface="PingFang TC"/>
                <a:cs typeface="PingFang TC"/>
              </a:rPr>
              <a:t>0:43-0:59｜重點修改</a:t>
            </a:r>
          </a:p>
        </p:txBody>
      </p:sp>
      <p:sp>
        <p:nvSpPr>
          <p:cNvPr id="12" name="story2-dot-2">
            <a:extLst xmlns:a="http://schemas.openxmlformats.org/drawingml/2006/main">
              <a:ext uri="{FF2B5EF4-FFF2-40B4-BE49-F238E27FC236}">
                <a16:creationId xmlns:a16="http://schemas.microsoft.com/office/drawing/2014/main" id="{0CEAED0C-B125-4C65-B746-695FED59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19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ory2-title-2">
            <a:extLst xmlns:a="http://schemas.openxmlformats.org/drawingml/2006/main">
              <a:ext uri="{FF2B5EF4-FFF2-40B4-BE49-F238E27FC236}">
                <a16:creationId xmlns:a16="http://schemas.microsoft.com/office/drawing/2014/main" id="{C21BDCC4-5336-4209-9BE2-55F40470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活動快剪＝五大系統</a:t>
            </a:r>
          </a:p>
        </p:txBody>
      </p:sp>
      <p:sp>
        <p:nvSpPr>
          <p:cNvPr id="14" name="story2-body-2">
            <a:extLst xmlns:a="http://schemas.openxmlformats.org/drawingml/2006/main">
              <a:ext uri="{FF2B5EF4-FFF2-40B4-BE49-F238E27FC236}">
                <a16:creationId xmlns:a16="http://schemas.microsoft.com/office/drawing/2014/main" id="{E50F6BCC-6BA5-408D-996F-BAB3A7C2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29050"/>
            <a:ext cx="3333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畫面：在表演、市集、AR 之間插入 3-4 個值勤／監控／稽核快切。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字卡：活動的熱鬧背後，治安、防災、交通、食安與資訊系統同步守護。</a:t>
            </a:r>
          </a:p>
        </p:txBody>
      </p:sp>
      <p:sp>
        <p:nvSpPr>
          <p:cNvPr id="15" name="story2-label-3">
            <a:extLst xmlns:a="http://schemas.openxmlformats.org/drawingml/2006/main">
              <a:ext uri="{FF2B5EF4-FFF2-40B4-BE49-F238E27FC236}">
                <a16:creationId xmlns:a16="http://schemas.microsoft.com/office/drawing/2014/main" id="{D38BF7FB-019B-405A-A35B-27CE251A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0:59-1:03｜保留</a:t>
            </a:r>
          </a:p>
        </p:txBody>
      </p:sp>
      <p:sp>
        <p:nvSpPr>
          <p:cNvPr id="16" name="story2-dot-3">
            <a:extLst xmlns:a="http://schemas.openxmlformats.org/drawingml/2006/main">
              <a:ext uri="{FF2B5EF4-FFF2-40B4-BE49-F238E27FC236}">
                <a16:creationId xmlns:a16="http://schemas.microsoft.com/office/drawing/2014/main" id="{168D29FA-F9B4-406D-A0B5-F7B89674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19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ory2-title-3">
            <a:extLst xmlns:a="http://schemas.openxmlformats.org/drawingml/2006/main">
              <a:ext uri="{FF2B5EF4-FFF2-40B4-BE49-F238E27FC236}">
                <a16:creationId xmlns:a16="http://schemas.microsoft.com/office/drawing/2014/main" id="{F2DA6A20-E4A4-4D77-9A5B-F15E2283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第三棒交給孩子</a:t>
            </a:r>
          </a:p>
        </p:txBody>
      </p:sp>
      <p:sp>
        <p:nvSpPr>
          <p:cNvPr id="18" name="story2-body-3">
            <a:extLst xmlns:a="http://schemas.openxmlformats.org/drawingml/2006/main">
              <a:ext uri="{FF2B5EF4-FFF2-40B4-BE49-F238E27FC236}">
                <a16:creationId xmlns:a16="http://schemas.microsoft.com/office/drawing/2014/main" id="{93BF8684-B9C4-4F86-AA10-324B3554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29050"/>
            <a:ext cx="3333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畫面：女生蹲低交棒，孩子立刻往前跑。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新增：接棒瞬間，光點由冷藍轉為較溫暖、穩定的光。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原則：不再重複五大系統，讓情緒回到人物。</a:t>
            </a:r>
          </a:p>
        </p:txBody>
      </p:sp>
    </p:spTree>
    <p:extLst>
      <p:ext uri="{BB962C8B-B14F-4D97-AF65-F5344CB8AC3E}">
        <p14:creationId xmlns:p14="http://schemas.microsoft.com/office/powerpoint/2010/main" val="1961230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68EE2F10-B475-472E-BD12-B40A611D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分鏡修訂③｜抵達現場：揭示安心落點</a:t>
            </a:r>
          </a:p>
        </p:txBody>
      </p:sp>
      <p:sp>
        <p:nvSpPr>
          <p:cNvPr id="2" name="slide-8-title-rule">
            <a:extLst xmlns:a="http://schemas.openxmlformats.org/drawingml/2006/main">
              <a:ext uri="{FF2B5EF4-FFF2-40B4-BE49-F238E27FC236}">
                <a16:creationId xmlns:a16="http://schemas.microsoft.com/office/drawing/2014/main" id="{83B51322-0D72-4B42-9DD1-D2042A40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6AD2562F-5B08-42DE-8B48-F3DE3C4E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115年新北市國慶｜前導影片腳本優化</a:t>
            </a:r>
          </a:p>
        </p:txBody>
      </p:sp>
      <p:sp>
        <p:nvSpPr>
          <p:cNvPr id="4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3F1C4ACA-7E7E-4232-879B-58E77209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5" name="story-3-intro">
            <a:extLst xmlns:a="http://schemas.openxmlformats.org/drawingml/2006/main">
              <a:ext uri="{FF2B5EF4-FFF2-40B4-BE49-F238E27FC236}">
                <a16:creationId xmlns:a16="http://schemas.microsoft.com/office/drawing/2014/main" id="{A45D088C-6120-4F71-A594-2EF6B96A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收尾仍然熱血溫暖，但必須讓建築、系統與下一代在同一個情緒上落地。</a:t>
            </a:r>
          </a:p>
        </p:txBody>
      </p:sp>
      <p:sp>
        <p:nvSpPr>
          <p:cNvPr id="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C091DB06-E7F5-4A86-B6FA-F958AA20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ory3-label-1">
            <a:extLst xmlns:a="http://schemas.openxmlformats.org/drawingml/2006/main">
              <a:ext uri="{FF2B5EF4-FFF2-40B4-BE49-F238E27FC236}">
                <a16:creationId xmlns:a16="http://schemas.microsoft.com/office/drawing/2014/main" id="{6D3E2882-4219-4EC1-ACA2-0DCF8C5D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F80ED"/>
                </a:solidFill>
                <a:latin typeface="PingFang TC"/>
                <a:ea typeface="PingFang TC"/>
                <a:cs typeface="PingFang TC"/>
              </a:rPr>
              <a:t>1:04-1:11｜核心修改</a:t>
            </a:r>
          </a:p>
        </p:txBody>
      </p:sp>
      <p:sp>
        <p:nvSpPr>
          <p:cNvPr id="8" name="story3-dot-1">
            <a:extLst xmlns:a="http://schemas.openxmlformats.org/drawingml/2006/main">
              <a:ext uri="{FF2B5EF4-FFF2-40B4-BE49-F238E27FC236}">
                <a16:creationId xmlns:a16="http://schemas.microsoft.com/office/drawing/2014/main" id="{878DB6C0-8FAE-4334-A0BB-4E8DCDF4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ory3-title-1">
            <a:extLst xmlns:a="http://schemas.openxmlformats.org/drawingml/2006/main">
              <a:ext uri="{FF2B5EF4-FFF2-40B4-BE49-F238E27FC236}">
                <a16:creationId xmlns:a16="http://schemas.microsoft.com/office/drawing/2014/main" id="{8257774D-C811-479E-B626-F09075FD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建築＝城市安全智慧中心</a:t>
            </a:r>
          </a:p>
        </p:txBody>
      </p:sp>
      <p:sp>
        <p:nvSpPr>
          <p:cNvPr id="10" name="story3-body-1">
            <a:extLst xmlns:a="http://schemas.openxmlformats.org/drawingml/2006/main">
              <a:ext uri="{FF2B5EF4-FFF2-40B4-BE49-F238E27FC236}">
                <a16:creationId xmlns:a16="http://schemas.microsoft.com/office/drawing/2014/main" id="{762A2E55-AE11-42D3-8834-03864641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3333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畫面：孩子跑進前廣場，廣角完整帶出第二行政中心；五道細線匯聚建築。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字卡：不只是辦公大樓，更是整合治安、防災、交通、食安與資訊系統的城市安全智慧中心。</a:t>
            </a:r>
          </a:p>
        </p:txBody>
      </p:sp>
      <p:sp>
        <p:nvSpPr>
          <p:cNvPr id="11" name="story3-label-2">
            <a:extLst xmlns:a="http://schemas.openxmlformats.org/drawingml/2006/main">
              <a:ext uri="{FF2B5EF4-FFF2-40B4-BE49-F238E27FC236}">
                <a16:creationId xmlns:a16="http://schemas.microsoft.com/office/drawing/2014/main" id="{F07DE165-FC59-4BF7-A52A-D7AA1FA0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1:11-1:17｜微調</a:t>
            </a:r>
          </a:p>
        </p:txBody>
      </p:sp>
      <p:sp>
        <p:nvSpPr>
          <p:cNvPr id="12" name="story3-dot-2">
            <a:extLst xmlns:a="http://schemas.openxmlformats.org/drawingml/2006/main">
              <a:ext uri="{FF2B5EF4-FFF2-40B4-BE49-F238E27FC236}">
                <a16:creationId xmlns:a16="http://schemas.microsoft.com/office/drawing/2014/main" id="{EA1BEC0F-0F3E-4959-97E2-FB68397F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19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ory3-title-2">
            <a:extLst xmlns:a="http://schemas.openxmlformats.org/drawingml/2006/main">
              <a:ext uri="{FF2B5EF4-FFF2-40B4-BE49-F238E27FC236}">
                <a16:creationId xmlns:a16="http://schemas.microsoft.com/office/drawing/2014/main" id="{C878BA52-4FFA-45D5-B8E2-F6291487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儀隊高潮＋守護快切</a:t>
            </a:r>
          </a:p>
        </p:txBody>
      </p:sp>
      <p:sp>
        <p:nvSpPr>
          <p:cNvPr id="14" name="story3-body-2">
            <a:extLst xmlns:a="http://schemas.openxmlformats.org/drawingml/2006/main">
              <a:ext uri="{FF2B5EF4-FFF2-40B4-BE49-F238E27FC236}">
                <a16:creationId xmlns:a16="http://schemas.microsoft.com/office/drawing/2014/main" id="{4DDBA451-CC32-49A5-9405-13A2BABD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29050"/>
            <a:ext cx="3333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畫面：儀隊最後一段演出中，穿插 2-3 個指揮／監控畫面，單格或雙格即可。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聲音：安心提示音與音樂最高點合拍。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原則：不追加說明台詞。</a:t>
            </a:r>
          </a:p>
        </p:txBody>
      </p:sp>
      <p:sp>
        <p:nvSpPr>
          <p:cNvPr id="15" name="story3-label-3">
            <a:extLst xmlns:a="http://schemas.openxmlformats.org/drawingml/2006/main">
              <a:ext uri="{FF2B5EF4-FFF2-40B4-BE49-F238E27FC236}">
                <a16:creationId xmlns:a16="http://schemas.microsoft.com/office/drawing/2014/main" id="{D42EAD3D-5273-4BA2-A1EB-94101C80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1:17-1:27｜修改收束</a:t>
            </a:r>
          </a:p>
        </p:txBody>
      </p:sp>
      <p:sp>
        <p:nvSpPr>
          <p:cNvPr id="16" name="story3-dot-3">
            <a:extLst xmlns:a="http://schemas.openxmlformats.org/drawingml/2006/main">
              <a:ext uri="{FF2B5EF4-FFF2-40B4-BE49-F238E27FC236}">
                <a16:creationId xmlns:a16="http://schemas.microsoft.com/office/drawing/2014/main" id="{44E6B698-25D3-4D93-AD70-65C66868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19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ory3-title-3">
            <a:extLst xmlns:a="http://schemas.openxmlformats.org/drawingml/2006/main">
              <a:ext uri="{FF2B5EF4-FFF2-40B4-BE49-F238E27FC236}">
                <a16:creationId xmlns:a16="http://schemas.microsoft.com/office/drawing/2014/main" id="{3B0452D8-97F5-4EDA-B5EC-A1558AEF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把安心交給下一代</a:t>
            </a:r>
          </a:p>
        </p:txBody>
      </p:sp>
      <p:sp>
        <p:nvSpPr>
          <p:cNvPr id="18" name="story3-body-3">
            <a:extLst xmlns:a="http://schemas.openxmlformats.org/drawingml/2006/main">
              <a:ext uri="{FF2B5EF4-FFF2-40B4-BE49-F238E27FC236}">
                <a16:creationId xmlns:a16="http://schemas.microsoft.com/office/drawing/2014/main" id="{49CB7405-101D-4955-8076-B92E17D4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29050"/>
            <a:ext cx="3333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畫面：全員面向場地，構圖保留第二行政中心。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情緒字卡：把每一份安心，交給下一代。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CTA：115年新北市國慶升旗典禮｜10/10；新北向前，安心一直都在。</a:t>
            </a:r>
          </a:p>
        </p:txBody>
      </p:sp>
    </p:spTree>
    <p:extLst>
      <p:ext uri="{BB962C8B-B14F-4D97-AF65-F5344CB8AC3E}">
        <p14:creationId xmlns:p14="http://schemas.microsoft.com/office/powerpoint/2010/main" val="185254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DB84005E-D019-41E7-9179-0373DA30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建議字卡可直接採用：前段輕、中央說清、最後留下記憶</a:t>
            </a:r>
          </a:p>
        </p:txBody>
      </p:sp>
      <p:sp>
        <p:nvSpPr>
          <p:cNvPr id="2" name="slide-9-title-rule">
            <a:extLst xmlns:a="http://schemas.openxmlformats.org/drawingml/2006/main">
              <a:ext uri="{FF2B5EF4-FFF2-40B4-BE49-F238E27FC236}">
                <a16:creationId xmlns:a16="http://schemas.microsoft.com/office/drawing/2014/main" id="{D7FA4BC9-CBBD-4071-A84A-4C2AB1EC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4F813427-1998-4862-929E-784C0B08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115年新北市國慶｜前導影片腳本優化</a:t>
            </a:r>
          </a:p>
        </p:txBody>
      </p:sp>
      <p:sp>
        <p:nvSpPr>
          <p:cNvPr id="4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877E10A6-DF97-4D79-A4FB-D7AC0446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5" name="copy-intro">
            <a:extLst xmlns:a="http://schemas.openxmlformats.org/drawingml/2006/main">
              <a:ext uri="{FF2B5EF4-FFF2-40B4-BE49-F238E27FC236}">
                <a16:creationId xmlns:a16="http://schemas.microsoft.com/office/drawing/2014/main" id="{EF179E01-8A62-4BF4-B0FC-E47C3C59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字卡避免每段都列系統名稱；資訊層級由「路線」逐步走向「城市安全智慧中心」。</a:t>
            </a:r>
          </a:p>
        </p:txBody>
      </p:sp>
      <p:sp>
        <p:nvSpPr>
          <p:cNvPr id="6" name="copy-left-panel">
            <a:extLst xmlns:a="http://schemas.openxmlformats.org/drawingml/2006/main">
              <a:ext uri="{FF2B5EF4-FFF2-40B4-BE49-F238E27FC236}">
                <a16:creationId xmlns:a16="http://schemas.microsoft.com/office/drawing/2014/main" id="{FBB072D8-A358-4B07-B9BF-5BB76061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53435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py-left-kicker">
            <a:extLst xmlns:a="http://schemas.openxmlformats.org/drawingml/2006/main">
              <a:ext uri="{FF2B5EF4-FFF2-40B4-BE49-F238E27FC236}">
                <a16:creationId xmlns:a16="http://schemas.microsoft.com/office/drawing/2014/main" id="{08932295-4B01-47B9-9482-CEF6B135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81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0:15-0:59</a:t>
            </a:r>
          </a:p>
        </p:txBody>
      </p:sp>
      <p:sp>
        <p:nvSpPr>
          <p:cNvPr id="8" name="copy-left-heading">
            <a:extLst xmlns:a="http://schemas.openxmlformats.org/drawingml/2006/main">
              <a:ext uri="{FF2B5EF4-FFF2-40B4-BE49-F238E27FC236}">
                <a16:creationId xmlns:a16="http://schemas.microsoft.com/office/drawing/2014/main" id="{D8D6F24C-ABA4-4ADF-98AE-772A0747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810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路線與活動段｜鋪陳安心</a:t>
            </a:r>
          </a:p>
        </p:txBody>
      </p:sp>
      <p:sp>
        <p:nvSpPr>
          <p:cNvPr id="9" name="copy-left-body">
            <a:extLst xmlns:a="http://schemas.openxmlformats.org/drawingml/2006/main">
              <a:ext uri="{FF2B5EF4-FFF2-40B4-BE49-F238E27FC236}">
                <a16:creationId xmlns:a16="http://schemas.microsoft.com/office/drawing/2014/main" id="{DD846C64-5F70-4C25-A3DF-5EBB364D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4810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① 交通資訊即時整合，把便利與安心帶進每一天。</a:t>
            </a:r>
          </a:p>
        </p:txBody>
      </p:sp>
      <p:sp>
        <p:nvSpPr>
          <p:cNvPr id="10" name="copy-left-details">
            <a:extLst xmlns:a="http://schemas.openxmlformats.org/drawingml/2006/main">
              <a:ext uri="{FF2B5EF4-FFF2-40B4-BE49-F238E27FC236}">
                <a16:creationId xmlns:a16="http://schemas.microsoft.com/office/drawing/2014/main" id="{C5971DA6-D819-4C61-B22D-5074534C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4810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38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② 橋梁、交通與防災資訊同步連線，守護每一次出發與抵達。</a:t>
            </a:r>
          </a:p>
          <a:p xmlns:a="http://schemas.openxmlformats.org/drawingml/2006/main">
            <a:pPr algn="l">
              <a:defRPr sz="1238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38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③ 活動的熱鬧背後，五大系統同步守護。</a:t>
            </a:r>
          </a:p>
        </p:txBody>
      </p:sp>
      <p:sp>
        <p:nvSpPr>
          <p:cNvPr id="11" name="copy-right-panel">
            <a:extLst xmlns:a="http://schemas.openxmlformats.org/drawingml/2006/main">
              <a:ext uri="{FF2B5EF4-FFF2-40B4-BE49-F238E27FC236}">
                <a16:creationId xmlns:a16="http://schemas.microsoft.com/office/drawing/2014/main" id="{E4E35B71-AA28-41C5-A61A-2C8C64C9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05150"/>
            <a:ext cx="53435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py-right-kicker">
            <a:extLst xmlns:a="http://schemas.openxmlformats.org/drawingml/2006/main">
              <a:ext uri="{FF2B5EF4-FFF2-40B4-BE49-F238E27FC236}">
                <a16:creationId xmlns:a16="http://schemas.microsoft.com/office/drawing/2014/main" id="{DD725EE0-94DA-4E6C-A6A2-10EB6B2F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295650"/>
            <a:ext cx="481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2F80ED"/>
                </a:solidFill>
                <a:latin typeface="PingFang TC"/>
                <a:ea typeface="PingFang TC"/>
                <a:cs typeface="PingFang TC"/>
              </a:rPr>
              <a:t>1:04-1:27</a:t>
            </a:r>
          </a:p>
        </p:txBody>
      </p:sp>
      <p:sp>
        <p:nvSpPr>
          <p:cNvPr id="13" name="copy-right-heading">
            <a:extLst xmlns:a="http://schemas.openxmlformats.org/drawingml/2006/main">
              <a:ext uri="{FF2B5EF4-FFF2-40B4-BE49-F238E27FC236}">
                <a16:creationId xmlns:a16="http://schemas.microsoft.com/office/drawing/2014/main" id="{86377D72-A0BB-4818-865E-6BC09486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38550"/>
            <a:ext cx="4810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抵達與收尾｜完整定位</a:t>
            </a:r>
          </a:p>
        </p:txBody>
      </p:sp>
      <p:sp>
        <p:nvSpPr>
          <p:cNvPr id="14" name="copy-right-body">
            <a:extLst xmlns:a="http://schemas.openxmlformats.org/drawingml/2006/main">
              <a:ext uri="{FF2B5EF4-FFF2-40B4-BE49-F238E27FC236}">
                <a16:creationId xmlns:a16="http://schemas.microsoft.com/office/drawing/2014/main" id="{ACD59450-C8BA-4C5B-A256-B3C01503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762500"/>
            <a:ext cx="4810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① 不只是辦公大樓，更是城市安全智慧中心。</a:t>
            </a:r>
          </a:p>
        </p:txBody>
      </p:sp>
      <p:sp>
        <p:nvSpPr>
          <p:cNvPr id="15" name="copy-right-details">
            <a:extLst xmlns:a="http://schemas.openxmlformats.org/drawingml/2006/main">
              <a:ext uri="{FF2B5EF4-FFF2-40B4-BE49-F238E27FC236}">
                <a16:creationId xmlns:a16="http://schemas.microsoft.com/office/drawing/2014/main" id="{53BC6CCB-4754-414C-84A2-4CD218BF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353050"/>
            <a:ext cx="4810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38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② 把每一份安心，交給下一代。</a:t>
            </a:r>
          </a:p>
          <a:p xmlns:a="http://schemas.openxmlformats.org/drawingml/2006/main">
            <a:pPr algn="l">
              <a:defRPr sz="1238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238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③ 新北向前，安心一直都在。</a:t>
            </a:r>
          </a:p>
        </p:txBody>
      </p:sp>
    </p:spTree>
    <p:extLst>
      <p:ext uri="{BB962C8B-B14F-4D97-AF65-F5344CB8AC3E}">
        <p14:creationId xmlns:p14="http://schemas.microsoft.com/office/powerpoint/2010/main" val="8842586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38FC9892-39E5-488A-9EF6-4992E3DB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6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拍攝與後期只要抓住三個原則，安全元素就不會顯得生硬</a:t>
            </a:r>
          </a:p>
        </p:txBody>
      </p:sp>
      <p:sp>
        <p:nvSpPr>
          <p:cNvPr id="2" name="slide-10-title-rule">
            <a:extLst xmlns:a="http://schemas.openxmlformats.org/drawingml/2006/main">
              <a:ext uri="{FF2B5EF4-FFF2-40B4-BE49-F238E27FC236}">
                <a16:creationId xmlns:a16="http://schemas.microsoft.com/office/drawing/2014/main" id="{6484F164-F296-4379-8396-CBCFED91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38054A4B-4C59-4E32-AD1B-B1A0C014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115年新北市國慶｜前導影片腳本優化</a:t>
            </a:r>
          </a:p>
        </p:txBody>
      </p:sp>
      <p:sp>
        <p:nvSpPr>
          <p:cNvPr id="4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7A4D4723-42C2-48A9-B747-25505DB6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5" name="production-left-head">
            <a:extLst xmlns:a="http://schemas.openxmlformats.org/drawingml/2006/main">
              <a:ext uri="{FF2B5EF4-FFF2-40B4-BE49-F238E27FC236}">
                <a16:creationId xmlns:a16="http://schemas.microsoft.com/office/drawing/2014/main" id="{B82CCEFF-94DD-4C86-9480-6EF8A912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80E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2F80ED"/>
                </a:solidFill>
                <a:latin typeface="PingFang TC"/>
                <a:ea typeface="PingFang TC"/>
                <a:cs typeface="PingFang TC"/>
              </a:rPr>
              <a:t>拍攝素材</a:t>
            </a:r>
          </a:p>
        </p:txBody>
      </p:sp>
      <p:sp>
        <p:nvSpPr>
          <p:cNvPr id="6" name="production-left-body">
            <a:extLst xmlns:a="http://schemas.openxmlformats.org/drawingml/2006/main">
              <a:ext uri="{FF2B5EF4-FFF2-40B4-BE49-F238E27FC236}">
                <a16:creationId xmlns:a16="http://schemas.microsoft.com/office/drawing/2014/main" id="{15B63968-EA09-43A7-91D4-C802F234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4953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• 第二行政中心完整建築與前廣場廣角</a:t>
            </a:r>
          </a:p>
          <a:p xmlns:a="http://schemas.openxmlformats.org/drawingml/2006/main">
            <a:pPr algn="l">
              <a:defRPr sz="1425" b="0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• 真實值勤／監控／指揮畫面</a:t>
            </a:r>
          </a:p>
          <a:p xmlns:a="http://schemas.openxmlformats.org/drawingml/2006/main">
            <a:pPr algn="l">
              <a:defRPr sz="1425" b="0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• 治安、防災、交通、食安中選 3-4 個代表快切</a:t>
            </a:r>
          </a:p>
          <a:p xmlns:a="http://schemas.openxmlformats.org/drawingml/2006/main">
            <a:pPr algn="l">
              <a:defRPr sz="1425" b="0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• 每個系統畫面控制在 0.5-1 秒，保留社群節奏</a:t>
            </a:r>
          </a:p>
        </p:txBody>
      </p:sp>
      <p:sp>
        <p:nvSpPr>
          <p:cNvPr id="7" name="production-divider">
            <a:extLst xmlns:a="http://schemas.openxmlformats.org/drawingml/2006/main">
              <a:ext uri="{FF2B5EF4-FFF2-40B4-BE49-F238E27FC236}">
                <a16:creationId xmlns:a16="http://schemas.microsoft.com/office/drawing/2014/main" id="{91138332-5D52-415B-806D-B8744F1D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43050"/>
            <a:ext cx="190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duction-right-head">
            <a:extLst xmlns:a="http://schemas.openxmlformats.org/drawingml/2006/main">
              <a:ext uri="{FF2B5EF4-FFF2-40B4-BE49-F238E27FC236}">
                <a16:creationId xmlns:a16="http://schemas.microsoft.com/office/drawing/2014/main" id="{5A981506-9728-43E0-A5C6-54454009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573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80E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2F80ED"/>
                </a:solidFill>
                <a:latin typeface="PingFang TC"/>
                <a:ea typeface="PingFang TC"/>
                <a:cs typeface="PingFang TC"/>
              </a:rPr>
              <a:t>後期語言</a:t>
            </a:r>
          </a:p>
        </p:txBody>
      </p:sp>
      <p:sp>
        <p:nvSpPr>
          <p:cNvPr id="9" name="production-right-body">
            <a:extLst xmlns:a="http://schemas.openxmlformats.org/drawingml/2006/main">
              <a:ext uri="{FF2B5EF4-FFF2-40B4-BE49-F238E27FC236}">
                <a16:creationId xmlns:a16="http://schemas.microsoft.com/office/drawing/2014/main" id="{9DE5D3FB-DEE5-4A60-819D-238FFB5A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4953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• 全片只用一種藍白「安心訊號」</a:t>
            </a:r>
          </a:p>
          <a:p xmlns:a="http://schemas.openxmlformats.org/drawingml/2006/main">
            <a:pPr algn="l">
              <a:defRPr sz="1425" b="0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• 線條在沿途只輕描，結尾才匯聚建築</a:t>
            </a:r>
          </a:p>
          <a:p xmlns:a="http://schemas.openxmlformats.org/drawingml/2006/main">
            <a:pPr algn="l">
              <a:defRPr sz="1425" b="0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• 五大系統只完整出現一次</a:t>
            </a:r>
          </a:p>
          <a:p xmlns:a="http://schemas.openxmlformats.org/drawingml/2006/main">
            <a:pPr algn="l">
              <a:defRPr sz="1425" b="0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• 避免滿畫面 HUD、漂浮圖示與長時間辦公室導覽</a:t>
            </a:r>
          </a:p>
        </p:txBody>
      </p:sp>
      <p:sp>
        <p:nvSpPr>
          <p:cNvPr id="10" name="production-bottom-callout">
            <a:extLst xmlns:a="http://schemas.openxmlformats.org/drawingml/2006/main">
              <a:ext uri="{FF2B5EF4-FFF2-40B4-BE49-F238E27FC236}">
                <a16:creationId xmlns:a16="http://schemas.microsoft.com/office/drawing/2014/main" id="{2FB46497-1EC4-40E5-80DC-0016095E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11010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duction-bottom-text">
            <a:extLst xmlns:a="http://schemas.openxmlformats.org/drawingml/2006/main">
              <a:ext uri="{FF2B5EF4-FFF2-40B4-BE49-F238E27FC236}">
                <a16:creationId xmlns:a16="http://schemas.microsoft.com/office/drawing/2014/main" id="{47C69DCC-C6DB-4FA2-9C13-4FF83C1C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判斷標準｜觀眾先覺得「這座城市有人在守護」，最後才知道這份守護匯聚在第二行政中心。</a:t>
            </a:r>
          </a:p>
        </p:txBody>
      </p:sp>
    </p:spTree>
    <p:extLst>
      <p:ext uri="{BB962C8B-B14F-4D97-AF65-F5344CB8AC3E}">
        <p14:creationId xmlns:p14="http://schemas.microsoft.com/office/powerpoint/2010/main" val="10571878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CD602BC5-E76F-4F3B-8708-D8B15D0C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F80ED"/>
                </a:solidFill>
                <a:latin typeface="PingFang TC"/>
                <a:ea typeface="PingFang TC"/>
                <a:cs typeface="PingFang TC"/>
              </a:rPr>
              <a:t>最終建議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721E8EB5-9FAB-489A-988A-673F9403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10287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讓第二行政中心，</a:t>
            </a:r>
          </a:p>
          <a:p xmlns:a="http://schemas.openxmlformats.org/drawingml/2006/main">
            <a:pPr algn="l">
              <a:defRPr sz="4350" b="1">
                <a:solidFill>
                  <a:srgbClr val="101114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101114"/>
                </a:solidFill>
                <a:latin typeface="PingFang TC"/>
                <a:ea typeface="PingFang TC"/>
                <a:cs typeface="PingFang TC"/>
              </a:rPr>
              <a:t>成為這支影片的「安心落點」</a:t>
            </a:r>
          </a:p>
        </p:txBody>
      </p:sp>
      <p:sp>
        <p:nvSpPr>
          <p:cNvPr id="3" name="closing-subtitle">
            <a:extLst xmlns:a="http://schemas.openxmlformats.org/drawingml/2006/main">
              <a:ext uri="{FF2B5EF4-FFF2-40B4-BE49-F238E27FC236}">
                <a16:creationId xmlns:a16="http://schemas.microsoft.com/office/drawing/2014/main" id="{4A701391-84F4-409C-8826-E3667D96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752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保留向前的速度，也讓市民感受到：</a:t>
            </a:r>
          </a:p>
          <a:p xmlns:a="http://schemas.openxmlformats.org/drawingml/2006/main">
            <a:pPr algn="l">
              <a:defRPr sz="1875" b="0">
                <a:solidFill>
                  <a:srgbClr val="5D657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D6572"/>
                </a:solidFill>
                <a:latin typeface="PingFang TC"/>
                <a:ea typeface="PingFang TC"/>
                <a:cs typeface="PingFang TC"/>
              </a:rPr>
              <a:t>熱鬧與建設的背後，一直有人把城市照顧好。</a:t>
            </a:r>
          </a:p>
        </p:txBody>
      </p:sp>
      <p:sp>
        <p:nvSpPr>
          <p:cNvPr id="4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18DC36CE-642B-4EBF-B06F-D4BCFA51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581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signoff">
            <a:extLst xmlns:a="http://schemas.openxmlformats.org/drawingml/2006/main">
              <a:ext uri="{FF2B5EF4-FFF2-40B4-BE49-F238E27FC236}">
                <a16:creationId xmlns:a16="http://schemas.microsoft.com/office/drawing/2014/main" id="{0941308C-76D8-419B-BAB1-E9FF8D6C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82930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80ED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2F80ED"/>
                </a:solidFill>
                <a:latin typeface="PingFang TC"/>
                <a:ea typeface="PingFang TC"/>
                <a:cs typeface="PingFang TC"/>
              </a:rPr>
              <a:t>新北向前，安心一直都在。</a:t>
            </a:r>
          </a:p>
        </p:txBody>
      </p:sp>
    </p:spTree>
    <p:extLst>
      <p:ext uri="{BB962C8B-B14F-4D97-AF65-F5344CB8AC3E}">
        <p14:creationId xmlns:p14="http://schemas.microsoft.com/office/powerpoint/2010/main" val="1508923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2026-08-29T15:27:49.0390000Z</dcterms:created>
  <dcterms:modified xsi:type="dcterms:W3CDTF">2026-08-29T15:27:49.0390000Z</dcterms:modified>
</coreProperties>
</file>