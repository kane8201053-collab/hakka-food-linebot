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de65cf26a04255" /><Relationship Type="http://schemas.openxmlformats.org/officeDocument/2006/relationships/extended-properties" Target="/docProps/app.xml" Id="R438a92ebfa684a0a" /><Relationship Type="http://schemas.openxmlformats.org/officeDocument/2006/relationships/officeDocument" Target="/ppt/presentation.xml" Id="R762e418d7cfa4b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fa1ce0d1c247c9"/>
  </p:sldMasterIdLst>
  <p:notesMasterIdLst>
    <p:notesMasterId xmlns:r="http://schemas.openxmlformats.org/officeDocument/2006/relationships" r:id="Rba952b6a39504f59"/>
  </p:notesMasterIdLst>
  <p:sldIdLst>
    <p:sldId xmlns:r="http://schemas.openxmlformats.org/officeDocument/2006/relationships" id="256" r:id="R6954a9ab40a5460d"/>
    <p:sldId xmlns:r="http://schemas.openxmlformats.org/officeDocument/2006/relationships" id="257" r:id="R9ed29a84a31f42b3"/>
    <p:sldId xmlns:r="http://schemas.openxmlformats.org/officeDocument/2006/relationships" id="258" r:id="R89512887d1c8478d"/>
    <p:sldId xmlns:r="http://schemas.openxmlformats.org/officeDocument/2006/relationships" id="259" r:id="R1b6f5fb0d6e042b6"/>
    <p:sldId xmlns:r="http://schemas.openxmlformats.org/officeDocument/2006/relationships" id="260" r:id="Rc53624e96dc74c07"/>
    <p:sldId xmlns:r="http://schemas.openxmlformats.org/officeDocument/2006/relationships" id="261" r:id="Rac21dd0142e245c0"/>
    <p:sldId xmlns:r="http://schemas.openxmlformats.org/officeDocument/2006/relationships" id="262" r:id="R39fc5b2eb3164494"/>
    <p:sldId xmlns:r="http://schemas.openxmlformats.org/officeDocument/2006/relationships" id="263" r:id="Rb46713f16a8747dd"/>
    <p:sldId xmlns:r="http://schemas.openxmlformats.org/officeDocument/2006/relationships" id="264" r:id="Red22ff94fe6f41f3"/>
    <p:sldId xmlns:r="http://schemas.openxmlformats.org/officeDocument/2006/relationships" id="265" r:id="R50d92180ff3d45bf"/>
    <p:sldId xmlns:r="http://schemas.openxmlformats.org/officeDocument/2006/relationships" id="266" r:id="R2b5124737cb84841"/>
    <p:sldId xmlns:r="http://schemas.openxmlformats.org/officeDocument/2006/relationships" id="267" r:id="R93b5fb98e61f47b8"/>
    <p:sldId xmlns:r="http://schemas.openxmlformats.org/officeDocument/2006/relationships" id="268" r:id="Ra863dfcbed8f4347"/>
    <p:sldId xmlns:r="http://schemas.openxmlformats.org/officeDocument/2006/relationships" id="269" r:id="R9901da1bb76d4deb"/>
    <p:sldId xmlns:r="http://schemas.openxmlformats.org/officeDocument/2006/relationships" id="270" r:id="R5b71fd3bb236482d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44b402bb34a18" /><Relationship Type="http://schemas.openxmlformats.org/officeDocument/2006/relationships/slideMaster" Target="/ppt/slideMasters/slideMaster1.xml" Id="R73fa1ce0d1c247c9" /><Relationship Type="http://schemas.openxmlformats.org/officeDocument/2006/relationships/notesMaster" Target="/ppt/notesMasters/notesMaster1.xml" Id="Rba952b6a39504f59" /><Relationship Type="http://schemas.openxmlformats.org/officeDocument/2006/relationships/presProps" Target="/ppt/presProps.xml" Id="Rb0d40d593d8e4158" /><Relationship Type="http://schemas.openxmlformats.org/officeDocument/2006/relationships/viewProps" Target="/ppt/viewProps.xml" Id="Rb8294674f7af4e8b" /><Relationship Type="http://schemas.openxmlformats.org/officeDocument/2006/relationships/tableStyles" Target="/ppt/tableStyles.xml" Id="R126a801ab7664cb3" /><Relationship Type="http://schemas.openxmlformats.org/officeDocument/2006/relationships/slide" Target="/ppt/slides/slide1.xml" Id="R6954a9ab40a5460d" /><Relationship Type="http://schemas.openxmlformats.org/officeDocument/2006/relationships/slide" Target="/ppt/slides/slide2.xml" Id="R9ed29a84a31f42b3" /><Relationship Type="http://schemas.openxmlformats.org/officeDocument/2006/relationships/slide" Target="/ppt/slides/slide3.xml" Id="R89512887d1c8478d" /><Relationship Type="http://schemas.openxmlformats.org/officeDocument/2006/relationships/slide" Target="/ppt/slides/slide4.xml" Id="R1b6f5fb0d6e042b6" /><Relationship Type="http://schemas.openxmlformats.org/officeDocument/2006/relationships/slide" Target="/ppt/slides/slide5.xml" Id="Rc53624e96dc74c07" /><Relationship Type="http://schemas.openxmlformats.org/officeDocument/2006/relationships/slide" Target="/ppt/slides/slide6.xml" Id="Rac21dd0142e245c0" /><Relationship Type="http://schemas.openxmlformats.org/officeDocument/2006/relationships/slide" Target="/ppt/slides/slide7.xml" Id="R39fc5b2eb3164494" /><Relationship Type="http://schemas.openxmlformats.org/officeDocument/2006/relationships/slide" Target="/ppt/slides/slide8.xml" Id="Rb46713f16a8747dd" /><Relationship Type="http://schemas.openxmlformats.org/officeDocument/2006/relationships/slide" Target="/ppt/slides/slide9.xml" Id="Red22ff94fe6f41f3" /><Relationship Type="http://schemas.openxmlformats.org/officeDocument/2006/relationships/slide" Target="/ppt/slides/slide10.xml" Id="R50d92180ff3d45bf" /><Relationship Type="http://schemas.openxmlformats.org/officeDocument/2006/relationships/slide" Target="/ppt/slides/slide11.xml" Id="R2b5124737cb84841" /><Relationship Type="http://schemas.openxmlformats.org/officeDocument/2006/relationships/slide" Target="/ppt/slides/slide12.xml" Id="R93b5fb98e61f47b8" /><Relationship Type="http://schemas.openxmlformats.org/officeDocument/2006/relationships/slide" Target="/ppt/slides/slide13.xml" Id="Ra863dfcbed8f4347" /><Relationship Type="http://schemas.openxmlformats.org/officeDocument/2006/relationships/slide" Target="/ppt/slides/slide14.xml" Id="R9901da1bb76d4deb" /><Relationship Type="http://schemas.openxmlformats.org/officeDocument/2006/relationships/slide" Target="/ppt/slides/slide15.xml" Id="R5b71fd3bb236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cea44865814b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7cb3282cc4475" /><Relationship Type="http://schemas.openxmlformats.org/officeDocument/2006/relationships/notesMaster" Target="/ppt/notesMasters/notesMaster1.xml" Id="R65643c06cada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dbad9f571f4b2e" /><Relationship Type="http://schemas.openxmlformats.org/officeDocument/2006/relationships/notesMaster" Target="/ppt/notesMasters/notesMaster1.xml" Id="Rcb6a94df7ff04f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98d4886a149b5" /><Relationship Type="http://schemas.openxmlformats.org/officeDocument/2006/relationships/notesMaster" Target="/ppt/notesMasters/notesMaster1.xml" Id="Rb504209ca6f9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b8750c66df48a2" /><Relationship Type="http://schemas.openxmlformats.org/officeDocument/2006/relationships/notesMaster" Target="/ppt/notesMasters/notesMaster1.xml" Id="Rdddf56ff4c3d4d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c3afbf191c46ca" /><Relationship Type="http://schemas.openxmlformats.org/officeDocument/2006/relationships/notesMaster" Target="/ppt/notesMasters/notesMaster1.xml" Id="R7eacc2f557864b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756666b78c4598" /><Relationship Type="http://schemas.openxmlformats.org/officeDocument/2006/relationships/notesMaster" Target="/ppt/notesMasters/notesMaster1.xml" Id="R227ab1408f0443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5e7a96d34f46c3" /><Relationship Type="http://schemas.openxmlformats.org/officeDocument/2006/relationships/notesMaster" Target="/ppt/notesMasters/notesMaster1.xml" Id="R41a351ab6d674e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6e507297be4093" /><Relationship Type="http://schemas.openxmlformats.org/officeDocument/2006/relationships/notesMaster" Target="/ppt/notesMasters/notesMaster1.xml" Id="Rc7a6a20807e046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a9ff58aa2340cc" /><Relationship Type="http://schemas.openxmlformats.org/officeDocument/2006/relationships/notesMaster" Target="/ppt/notesMasters/notesMaster1.xml" Id="R5e58e282a73f43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100a7dffd4ada" /><Relationship Type="http://schemas.openxmlformats.org/officeDocument/2006/relationships/notesMaster" Target="/ppt/notesMasters/notesMaster1.xml" Id="R23430834396c41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f9ff6945cd46f7" /><Relationship Type="http://schemas.openxmlformats.org/officeDocument/2006/relationships/notesMaster" Target="/ppt/notesMasters/notesMaster1.xml" Id="R0e98248237c345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821441ede4b4034" /><Relationship Type="http://schemas.openxmlformats.org/officeDocument/2006/relationships/notesMaster" Target="/ppt/notesMasters/notesMaster1.xml" Id="R491f468d6d98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a55c590ec149bf" /><Relationship Type="http://schemas.openxmlformats.org/officeDocument/2006/relationships/notesMaster" Target="/ppt/notesMasters/notesMaster1.xml" Id="R13802716554e4b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2f2d15fa4c4c11" /><Relationship Type="http://schemas.openxmlformats.org/officeDocument/2006/relationships/notesMaster" Target="/ppt/notesMasters/notesMaster1.xml" Id="R97f9d4f052414a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cfa82152814934" /><Relationship Type="http://schemas.openxmlformats.org/officeDocument/2006/relationships/notesMaster" Target="/ppt/notesMasters/notesMaster1.xml" Id="Rea73528c6423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https://web.cec.gov.tw/api/file/49859749-3bbe-444c-b516-a4fc724d7e94.pdf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https://bms1.ntp.gov.tw/billsystem/mam/ScheduleAnnex/0407T/f0b20b98-9369-4730-9423-bc95900d22c4.pdf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- https://gazette.nat.gov.tw/egFront/eguploadpubWrapper?file=%2FEG_FileManager%2Feguploadpub%2Feg032154%2Fch02%2Ftype3%2Fgov15%2Fnum2%2FEg.htm&amp;metaid=167808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/Users/zhangzixuan/Desktop/4.需求書.pdf</a:t>
            </a:r>
          </a:p>
          <a:p xmlns:a="http://schemas.openxmlformats.org/drawingml/2006/main">
            <a:r>
              <a:t>- /Users/zhangzixuan/Desktop/(OK-列印版)2022新北市議會-企劃書0629(成)B.pdf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6f7b8681547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cb90799a7942b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df5ca7a2d483c" /><Relationship Type="http://schemas.openxmlformats.org/officeDocument/2006/relationships/slideLayout" Target="/ppt/slideLayouts/slideLayout1.xml" Id="Rfe71f114ac5f417c" /><Relationship Type="http://schemas.openxmlformats.org/officeDocument/2006/relationships/slideLayout" Target="/ppt/slideLayouts/slideLayout2.xml" Id="R48b9805f81cd40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71f114ac5f417c"/>
    <p:sldLayoutId xmlns:r="http://schemas.openxmlformats.org/officeDocument/2006/relationships" id="2147483650" r:id="R48b9805f81cd405c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de6d15484bee" /><Relationship Type="http://schemas.openxmlformats.org/officeDocument/2006/relationships/notesSlide" Target="/ppt/notesSlides/notesSlide1.xml" Id="R626b895a27f045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0e0249a26641e9" /><Relationship Type="http://schemas.openxmlformats.org/officeDocument/2006/relationships/notesSlide" Target="/ppt/notesSlides/notesSlide2.xml" Id="Rcc39499e309445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f1176f2f2f4e83" /><Relationship Type="http://schemas.openxmlformats.org/officeDocument/2006/relationships/image" Target="/ppt/media/image.png" Id="Reebfb55b285047be" /><Relationship Type="http://schemas.openxmlformats.org/officeDocument/2006/relationships/notesSlide" Target="/ppt/notesSlides/notesSlide3.xml" Id="R0164c647277b42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6d09f45b164736" /><Relationship Type="http://schemas.openxmlformats.org/officeDocument/2006/relationships/notesSlide" Target="/ppt/notesSlides/notesSlide4.xml" Id="R1bf081c0b4cd48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27e964abcc495f" /><Relationship Type="http://schemas.openxmlformats.org/officeDocument/2006/relationships/notesSlide" Target="/ppt/notesSlides/notesSlide5.xml" Id="R7580788988b844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267ab32b6147aa" /><Relationship Type="http://schemas.openxmlformats.org/officeDocument/2006/relationships/notesSlide" Target="/ppt/notesSlides/notesSlide6.xml" Id="Re66e38c7e943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217e0675f4349" /><Relationship Type="http://schemas.openxmlformats.org/officeDocument/2006/relationships/notesSlide" Target="/ppt/notesSlides/notesSlide7.xml" Id="R21b7ece7359446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5c89ee3bbf4278" /><Relationship Type="http://schemas.openxmlformats.org/officeDocument/2006/relationships/notesSlide" Target="/ppt/notesSlides/notesSlide8.xml" Id="R7f0372dd13df4d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c0b1354f8f49e9" /><Relationship Type="http://schemas.openxmlformats.org/officeDocument/2006/relationships/notesSlide" Target="/ppt/notesSlides/notesSlide9.xml" Id="Rbb67c77685e14a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7074abf34401c" /><Relationship Type="http://schemas.openxmlformats.org/officeDocument/2006/relationships/notesSlide" Target="/ppt/notesSlides/notesSlide10.xml" Id="Rd320b32fd6ba49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1e9eeccbca4596" /><Relationship Type="http://schemas.openxmlformats.org/officeDocument/2006/relationships/notesSlide" Target="/ppt/notesSlides/notesSlide11.xml" Id="R530b073faedf4d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9d9b3720c346a1" /><Relationship Type="http://schemas.openxmlformats.org/officeDocument/2006/relationships/notesSlide" Target="/ppt/notesSlides/notesSlide12.xml" Id="R78c682a0297e4c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4bb33947a24f48" /><Relationship Type="http://schemas.openxmlformats.org/officeDocument/2006/relationships/notesSlide" Target="/ppt/notesSlides/notesSlide13.xml" Id="Re576315ec4c144b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a2ea8e8ff449b9" /><Relationship Type="http://schemas.openxmlformats.org/officeDocument/2006/relationships/notesSlide" Target="/ppt/notesSlides/notesSlide14.xml" Id="Rb160f235f8b74c0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316d4a6d54338" /><Relationship Type="http://schemas.openxmlformats.org/officeDocument/2006/relationships/notesSlide" Target="/ppt/notesSlides/notesSlide15.xml" Id="R6ee874d19450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44127D-66C7-4693-9A3E-E5D7EEAB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CONCEPT</a:t>
            </a:r>
            <a:endParaRPr sz="10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3A7798C-33ED-4006-9F93-CCAD989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腳本核心概念：看見生活，讓民意走向共好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C4116510-24BC-435A-813C-36C39539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 sz="9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CDB60BC-C8E4-4C68-B40C-012945642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115568"/>
            <a:ext cx="6464808" cy="132588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C3A232E-0FA7-4B66-8BB3-C243604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280160"/>
            <a:ext cx="600760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核心推進｜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影片從城市日常與議會沿革建立『看見』，再讓13個選區、68席民意走進議事殿堂；中段跟著一個問題，呈現民意如何被查證、審查與追蹤，最後由第5屆承諾收束成『共好』。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CE62EDA-9549-448D-9312-1A9E34FB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5176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分鏡腳本的四段敘事推進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9A9671C-15E5-4327-BBFC-E6FAB4C6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063240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BD2BE9D-72B9-4E07-B039-B845D338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46120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9547B00-3132-45AB-89AD-D7D6A44D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36976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城市與託付</a:t>
            </a:r>
            <a:endParaRPr sz="12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8C1F0DA-9B92-42AE-B6C9-E8DECEC3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264408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00:00–02:35｜看見城市、傳承與就職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C95C6EA-7D7B-4B94-82C6-08F8C811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30168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以眼睛與光開場，從山海、日常與議會沿革，走到第 5 屆宣誓與每一席託付。</a:t>
            </a:r>
            <a:endParaRPr sz="14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98CBE770-7CD1-4BC8-9CD8-0A20DC37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471416"/>
            <a:ext cx="6464808" cy="1481328"/>
          </a:xfrm>
          <a:prstGeom xmlns:a="http://schemas.openxmlformats.org/drawingml/2006/main" prst="roundRect">
            <a:avLst>
              <a:gd name="adj" fmla="val 617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EA99A5F-3D9B-4A21-99B9-18CF5C28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5429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3A21F93-F080-4E3E-8A03-B4E5F0BC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64515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生活全景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8B6A627-6E5E-4524-8321-F0CBB1FF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467258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02:35–04:55｜13 個選區、68 席民意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B995EAC-9960-4920-81FB-4FE9D3E3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038344"/>
            <a:ext cx="4636008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分三組呈現第 1 至第 13 選區，讓海岸、都會、山城與原住民族生活都被看見。</a:t>
            </a:r>
            <a:endParaRPr sz="14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BA86E7-899B-49C2-B4BE-9D223437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17336"/>
            <a:ext cx="6464808" cy="1243584"/>
          </a:xfrm>
          <a:prstGeom xmlns:a="http://schemas.openxmlformats.org/drawingml/2006/main" prst="roundRect">
            <a:avLst>
              <a:gd name="adj" fmla="val 7353"/>
            </a:avLst>
          </a:prstGeom>
          <a:solidFill xmlns:a="http://schemas.openxmlformats.org/drawingml/2006/main">
            <a:srgbClr val="F4F6FA"/>
          </a:solidFill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93DAF8F-933E-459C-8BC3-B9F16708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300216"/>
            <a:ext cx="12344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B2A4A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4DD52E7-BF9C-4943-9A1E-7ACA66BB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6291072"/>
            <a:ext cx="12344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民意行動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3CFF64F-EDDF-4928-879E-BDDBA036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318504"/>
            <a:ext cx="463600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04:55–09:10｜問題走進制度</a:t>
            </a:r>
            <a:endParaRPr sz="1600" b="1"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7371740-4EFD-4428-BCCF-9EF6DC1C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6684264"/>
            <a:ext cx="463600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5000"/>
              </a:lnSpc>
              <a:buNone/>
            </a:pP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由積水、上學路與候車日常切入，完整走過受理、查證、現勘、質詢、審查、議決與追蹤。</a:t>
            </a:r>
            <a:endParaRPr sz="1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A194EB1-0E08-49B9-B42A-3DF251D6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616952"/>
            <a:ext cx="6464808" cy="128016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DF6E0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7091BA0-8981-45E0-B863-E4847FF3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7781544"/>
            <a:ext cx="6007608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承諾與回收｜09:10–11:10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議長期許承接前段制度與民意，片尾回到清晨人物與正式片名：『看見』是願意靠近每一種生活；『共好』是把不同聲音帶向共同未來。片頭與片尾互相呼應，敘事完成。</a:t>
            </a:r>
          </a:p>
        </p:txBody>
      </p:sp>
    </p:spTree>
    <p:extLst>
      <p:ext uri="{BB962C8B-B14F-4D97-AF65-F5344CB8AC3E}">
        <p14:creationId xmlns:p14="http://schemas.microsoft.com/office/powerpoint/2010/main" val="19937076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C5F5BF-8A48-46F6-B1A4-C8945410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4320"/>
            <a:ext cx="7315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spc="200">
                <a:solidFill>
                  <a:srgbClr val="C9A227"/>
                </a:solidFill>
                <a:latin typeface="Microsoft JhengHei"/>
                <a:ea typeface="Microsoft JhengHei"/>
                <a:cs typeface="Microsoft JhengHei"/>
              </a:rPr>
              <a:t>OUTLINE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311B18-098B-413D-AB8C-D6CB4FC7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7432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9AA3B2"/>
                </a:solidFill>
                <a:latin typeface="Microsoft JhengHei"/>
                <a:ea typeface="Microsoft JhengHei"/>
                <a:cs typeface="Microsoft JhengHei"/>
              </a:rPr>
              <a:t>看見.共好 － 第5屆新北市議會|影片腳本</a:t>
            </a:r>
            <a:endParaRPr sz="8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DACFA2E-6089-4F99-856C-58A554F1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"/>
            <a:ext cx="646480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影片腳本大綱（總長度：11 分 10 秒）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8C6E452-D1CC-4205-9A38-6AB475A0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284" y="10277856"/>
            <a:ext cx="731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6B728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950"/>
          </a:p>
        </p:txBody>
      </p:sp>
      <p:graphicFrame>
        <p:nvGraphicFramePr>
          <p:cNvPr id="11" name="Table 0"/>
          <p:cNvGraphicFramePr/>
          <p:nvPr/>
        </p:nvGraphicFramePr>
        <p:xfrm>
          <a:off xmlns:a="http://schemas.openxmlformats.org/drawingml/2006/main" x="548640" y="1115567"/>
          <a:ext xmlns:a="http://schemas.openxmlformats.org/drawingml/2006/main" cx="6464808" cy="7221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7240"/>
                <a:gridCol w="1188720"/>
                <a:gridCol w="3045372"/>
                <a:gridCol w="813396"/>
                <a:gridCol w="640080"/>
              </a:tblGrid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段落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名稱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內容綱要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長度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加總</a:t>
                      </a:r>
                      <a:endParaRPr sz="14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1B2A4A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片頭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看見城市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眼睛與光、城市群像、片名建立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沿革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看見傳承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地方自治沿革與議場光線承接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就職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每一席的託付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屆宣誓、議長選舉、大合照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2:35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A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1–4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海岸、成長、新舊交會、河岸生活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B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5–8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核心、密度、公共空間、文化產業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0:45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選區 C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9–13 選區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山海、城鄉、族群與文化傳承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6404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轉折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看見問題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由三個日常問題帶入議會核心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 A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受理到提案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受理、查證、現勘、定義問題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民意 B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議決與追蹤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質詢、審查、議決、追蹤、回現場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職權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公開討論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以真實議事動作說明五項職權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1:20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8:15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幕後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民主被保存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行政協作、典藏、會史館與多語測試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承諾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5 屆期許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議長原音與全體群像，承接託付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1:05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8A701B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10:15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DF6E0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片尾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看見未來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清晨回收、光點匯聚、正式片名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0:55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74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總計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完整片長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 3 至第 15 頁分鏡時間帶加總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93A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11:10</a:t>
                      </a:r>
                      <a:endParaRPr sz="1200"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 marL="41148" marR="41148" marT="41148" marB="41148" anchor="ctr">
                    <a:lnL w="6350" cmpd="sng">
                      <a:solidFill>
                        <a:srgbClr val="BFC7D4"/>
                      </a:solidFill>
                      <a:prstDash val="solid"/>
                    </a:lnL>
                    <a:lnR w="6350" cmpd="sng">
                      <a:solidFill>
                        <a:srgbClr val="BFC7D4"/>
                      </a:solidFill>
                      <a:prstDash val="solid"/>
                    </a:lnR>
                    <a:lnT w="6350" cmpd="sng">
                      <a:solidFill>
                        <a:srgbClr val="BFC7D4"/>
                      </a:solidFill>
                      <a:prstDash val="solid"/>
                    </a:lnT>
                    <a:lnB w="6350" cmpd="sng">
                      <a:solidFill>
                        <a:srgbClr val="BFC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105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6">
            <a:extLst xmlns:a="http://schemas.openxmlformats.org/drawingml/2006/main">
              <a:ext uri="{FF2B5EF4-FFF2-40B4-BE49-F238E27FC236}">
                <a16:creationId xmlns:a16="http://schemas.microsoft.com/office/drawing/2014/main" id="{A9C6311D-B81A-44FA-9755-949509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6">
            <a:extLst xmlns:a="http://schemas.openxmlformats.org/drawingml/2006/main">
              <a:ext uri="{FF2B5EF4-FFF2-40B4-BE49-F238E27FC236}">
                <a16:creationId xmlns:a16="http://schemas.microsoft.com/office/drawing/2014/main" id="{883FCB42-83F0-453F-B7AD-EA55CFBE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看見城市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6">
            <a:extLst xmlns:a="http://schemas.openxmlformats.org/drawingml/2006/main">
              <a:ext uri="{FF2B5EF4-FFF2-40B4-BE49-F238E27FC236}">
                <a16:creationId xmlns:a16="http://schemas.microsoft.com/office/drawing/2014/main" id="{7DB8D714-9EF5-466A-B073-3656509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6">
            <a:extLst xmlns:a="http://schemas.openxmlformats.org/drawingml/2006/main">
              <a:ext uri="{FF2B5EF4-FFF2-40B4-BE49-F238E27FC236}">
                <a16:creationId xmlns:a16="http://schemas.microsoft.com/office/drawing/2014/main" id="{988CC1F6-4AE0-47B2-9F63-9C868F9C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片頭｜先看見生活，再看見機關</a:t>
            </a:r>
          </a:p>
        </p:txBody>
      </p:sp>
      <p:sp>
        <p:nvSpPr>
          <p:cNvPr id="5" name="scene-duration-6">
            <a:extLst xmlns:a="http://schemas.openxmlformats.org/drawingml/2006/main">
              <a:ext uri="{FF2B5EF4-FFF2-40B4-BE49-F238E27FC236}">
                <a16:creationId xmlns:a16="http://schemas.microsoft.com/office/drawing/2014/main" id="{38005ED9-9DF6-4458-B196-A4DFCE08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00:00–0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6-0">
            <a:extLst xmlns:a="http://schemas.openxmlformats.org/drawingml/2006/main">
              <a:ext uri="{FF2B5EF4-FFF2-40B4-BE49-F238E27FC236}">
                <a16:creationId xmlns:a16="http://schemas.microsoft.com/office/drawing/2014/main" id="{19669B8E-2D11-491D-A43B-8602B390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6-0">
            <a:extLst xmlns:a="http://schemas.openxmlformats.org/drawingml/2006/main">
              <a:ext uri="{FF2B5EF4-FFF2-40B4-BE49-F238E27FC236}">
                <a16:creationId xmlns:a16="http://schemas.microsoft.com/office/drawing/2014/main" id="{24B01A00-1AAC-46FE-9FB6-E13CB6B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6-0">
            <a:extLst xmlns:a="http://schemas.openxmlformats.org/drawingml/2006/main">
              <a:ext uri="{FF2B5EF4-FFF2-40B4-BE49-F238E27FC236}">
                <a16:creationId xmlns:a16="http://schemas.microsoft.com/office/drawing/2014/main" id="{59493D12-D86D-44B7-9237-804063DB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6-1">
            <a:extLst xmlns:a="http://schemas.openxmlformats.org/drawingml/2006/main">
              <a:ext uri="{FF2B5EF4-FFF2-40B4-BE49-F238E27FC236}">
                <a16:creationId xmlns:a16="http://schemas.microsoft.com/office/drawing/2014/main" id="{2E81034E-4EBE-410E-B045-6D8B585A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6-1">
            <a:extLst xmlns:a="http://schemas.openxmlformats.org/drawingml/2006/main">
              <a:ext uri="{FF2B5EF4-FFF2-40B4-BE49-F238E27FC236}">
                <a16:creationId xmlns:a16="http://schemas.microsoft.com/office/drawing/2014/main" id="{ED320CF8-1D66-468D-81BA-DD1ED9A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6-1">
            <a:extLst xmlns:a="http://schemas.openxmlformats.org/drawingml/2006/main">
              <a:ext uri="{FF2B5EF4-FFF2-40B4-BE49-F238E27FC236}">
                <a16:creationId xmlns:a16="http://schemas.microsoft.com/office/drawing/2014/main" id="{059332D6-B943-4876-919A-7E2F754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6-2">
            <a:extLst xmlns:a="http://schemas.openxmlformats.org/drawingml/2006/main">
              <a:ext uri="{FF2B5EF4-FFF2-40B4-BE49-F238E27FC236}">
                <a16:creationId xmlns:a16="http://schemas.microsoft.com/office/drawing/2014/main" id="{ED6A7F36-E004-44C7-841B-AC497813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6-2">
            <a:extLst xmlns:a="http://schemas.openxmlformats.org/drawingml/2006/main">
              <a:ext uri="{FF2B5EF4-FFF2-40B4-BE49-F238E27FC236}">
                <a16:creationId xmlns:a16="http://schemas.microsoft.com/office/drawing/2014/main" id="{A4F2FB71-E77A-4757-8231-3A0F54C0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6-2">
            <a:extLst xmlns:a="http://schemas.openxmlformats.org/drawingml/2006/main">
              <a:ext uri="{FF2B5EF4-FFF2-40B4-BE49-F238E27FC236}">
                <a16:creationId xmlns:a16="http://schemas.microsoft.com/office/drawing/2014/main" id="{0A2AB64C-1128-4278-B16D-C7631C4B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6">
            <a:extLst xmlns:a="http://schemas.openxmlformats.org/drawingml/2006/main">
              <a:ext uri="{FF2B5EF4-FFF2-40B4-BE49-F238E27FC236}">
                <a16:creationId xmlns:a16="http://schemas.microsoft.com/office/drawing/2014/main" id="{9EFDD805-C73D-4346-87BF-1068958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01｜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黑幕一聲心跳→晨光穿雲縮時→淡水河面反光、山稜線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02｜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睜開的眼睛」特寫蒙太奇:孩子、長者、上班族、議事廳裡的眼神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萬千目光化為光點,匯聚成片名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3D LOGO</a:t>
            </a:r>
            <a:br/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04｜空拍由海岸、河川、山城推進都會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→29 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區地圖光點依序亮起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；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最後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再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看見議會外觀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6">
            <a:extLst xmlns:a="http://schemas.openxmlformats.org/drawingml/2006/main">
              <a:ext uri="{FF2B5EF4-FFF2-40B4-BE49-F238E27FC236}">
                <a16:creationId xmlns:a16="http://schemas.microsoft.com/office/drawing/2014/main" id="{A4DDD797-3BD2-4639-AADE-78EAF8AD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0–4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秒僅留環境音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4K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空拍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+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眼神特寫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「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眼睛與光」為全片視覺母題</a:t>
            </a:r>
            <a:br/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虹膜內映城市倒影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後期合成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br/>
            <a:br/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人口約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400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萬、面積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2,052 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平方公里、海岸線約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120 公里、29 行政區、</a:t>
            </a:r>
            <a:r>
              <a:rPr sz="12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13 選區</a:t>
            </a:r>
            <a:endParaRPr sz="1200"/>
          </a:p>
          <a:p xmlns:a="http://schemas.openxmlformats.org/drawingml/2006/main">
            <a:pPr>
              <a:lnSpc>
                <a:spcPct val="122000"/>
              </a:lnSpc>
              <a:buNone/>
            </a:pPr>
            <a:endParaRPr sz="1200">
              <a:solidFill>
                <a:srgbClr val="22293A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音樂從單一鋼琴音開始，弦樂慢慢展開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鏡頭切換不追求快，讓每個日常停留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2–3 </a:t>
            </a: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秒</a:t>
            </a:r>
          </a:p>
          <a:p xmlns:a="http://schemas.openxmlformats.org/drawingml/2006/main">
            <a:pPr>
              <a:lnSpc>
                <a:spcPct val="122000"/>
              </a:lnSpc>
              <a:buNone/>
            </a:pPr>
            <a:br/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6">
            <a:extLst xmlns:a="http://schemas.openxmlformats.org/drawingml/2006/main">
              <a:ext uri="{FF2B5EF4-FFF2-40B4-BE49-F238E27FC236}">
                <a16:creationId xmlns:a16="http://schemas.microsoft.com/office/drawing/2014/main" id="{AF934EB7-7E38-4CFF-8EAB-80BBE721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>
                <a:solidFill>
                  <a:srgbClr val="22293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每一天,新北在四百萬雙眼睛裡醒來。有人看見山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海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城市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有人看見孩子上學的路。而有一群人,把這四百萬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目光,看成自己的責任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br/>
            <a:br/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二千零五十二平方公里,從三千公尺的山,到一百二十公里的海岸線;二十九個行政區、四百萬市民,匯聚成臺灣最大的城市。這座城市的每一種樣貌,都值得被看見—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而看見,是所有改變的開始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。它由一個個被珍惜的日常，慢慢成為我們共同生活的地方。</a:t>
            </a:r>
            <a:r>
              <a:rPr sz="1400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
而議會要做的第一件事，就是看見。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br/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 《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看見.共好</a:t>
            </a:r>
            <a:r>
              <a:rPr sz="1400" b="1">
                <a:solidFill>
                  <a:srgbClr val="8A701B"/>
                </a:solidFill>
                <a:latin typeface="Microsoft JhengHei"/>
                <a:ea typeface="Microsoft JhengHei"/>
                <a:cs typeface="Microsoft JhengHei"/>
              </a:rPr>
              <a:t>》－ 第5屆新北市議會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6">
            <a:extLst xmlns:a="http://schemas.openxmlformats.org/drawingml/2006/main">
              <a:ext uri="{FF2B5EF4-FFF2-40B4-BE49-F238E27FC236}">
                <a16:creationId xmlns:a16="http://schemas.microsoft.com/office/drawing/2014/main" id="{CAE6F84A-937D-4012-9C7E-55B839C5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D104B25B-E980-42D1-9EFA-BE86A2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看見.共好｜第一章｜看見城市｜00:00–01:00</a:t>
            </a:r>
          </a:p>
        </p:txBody>
      </p:sp>
      <p:sp>
        <p:nvSpPr>
          <p:cNvPr id="20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59B061DD-7DFC-4BAE-BB7B-79F9F794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fb55b285047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408" y="7810500"/>
            <a:ext cx="2037143" cy="11458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3890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7">
            <a:extLst xmlns:a="http://schemas.openxmlformats.org/drawingml/2006/main">
              <a:ext uri="{FF2B5EF4-FFF2-40B4-BE49-F238E27FC236}">
                <a16:creationId xmlns:a16="http://schemas.microsoft.com/office/drawing/2014/main" id="{ACFE6A08-BC40-4BAA-8D0D-6C526A6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7">
            <a:extLst xmlns:a="http://schemas.openxmlformats.org/drawingml/2006/main">
              <a:ext uri="{FF2B5EF4-FFF2-40B4-BE49-F238E27FC236}">
                <a16:creationId xmlns:a16="http://schemas.microsoft.com/office/drawing/2014/main" id="{26EF534C-B57B-4787-8F2D-50F3E83A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看見傳承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(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 + 第5屆就職)</a:t>
            </a:r>
          </a:p>
        </p:txBody>
      </p:sp>
      <p:sp>
        <p:nvSpPr>
          <p:cNvPr id="3" name="scene-band-7">
            <a:extLst xmlns:a="http://schemas.openxmlformats.org/drawingml/2006/main">
              <a:ext uri="{FF2B5EF4-FFF2-40B4-BE49-F238E27FC236}">
                <a16:creationId xmlns:a16="http://schemas.microsoft.com/office/drawing/2014/main" id="{8393C4EC-950A-4E9C-8564-89AF3540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7">
            <a:extLst xmlns:a="http://schemas.openxmlformats.org/drawingml/2006/main">
              <a:ext uri="{FF2B5EF4-FFF2-40B4-BE49-F238E27FC236}">
                <a16:creationId xmlns:a16="http://schemas.microsoft.com/office/drawing/2014/main" id="{DACC5345-6392-47F0-8FA2-DB6AF8D7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議會沿革｜讓歷史成為民意的來路</a:t>
            </a:r>
          </a:p>
        </p:txBody>
      </p:sp>
      <p:sp>
        <p:nvSpPr>
          <p:cNvPr id="5" name="scene-duration-7">
            <a:extLst xmlns:a="http://schemas.openxmlformats.org/drawingml/2006/main">
              <a:ext uri="{FF2B5EF4-FFF2-40B4-BE49-F238E27FC236}">
                <a16:creationId xmlns:a16="http://schemas.microsoft.com/office/drawing/2014/main" id="{B35204C9-7809-4719-86DA-7E91C2A7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7-0">
            <a:extLst xmlns:a="http://schemas.openxmlformats.org/drawingml/2006/main">
              <a:ext uri="{FF2B5EF4-FFF2-40B4-BE49-F238E27FC236}">
                <a16:creationId xmlns:a16="http://schemas.microsoft.com/office/drawing/2014/main" id="{E620FC1D-484F-47C0-AF73-A46D09E4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7-0">
            <a:extLst xmlns:a="http://schemas.openxmlformats.org/drawingml/2006/main">
              <a:ext uri="{FF2B5EF4-FFF2-40B4-BE49-F238E27FC236}">
                <a16:creationId xmlns:a16="http://schemas.microsoft.com/office/drawing/2014/main" id="{56467B01-1203-47DC-9CCD-F032CBA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7-0">
            <a:extLst xmlns:a="http://schemas.openxmlformats.org/drawingml/2006/main">
              <a:ext uri="{FF2B5EF4-FFF2-40B4-BE49-F238E27FC236}">
                <a16:creationId xmlns:a16="http://schemas.microsoft.com/office/drawing/2014/main" id="{D418C139-F85D-48B5-B03C-E499016F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7-1">
            <a:extLst xmlns:a="http://schemas.openxmlformats.org/drawingml/2006/main">
              <a:ext uri="{FF2B5EF4-FFF2-40B4-BE49-F238E27FC236}">
                <a16:creationId xmlns:a16="http://schemas.microsoft.com/office/drawing/2014/main" id="{694AF972-F4F0-4F1B-B442-9B41AA2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7-1">
            <a:extLst xmlns:a="http://schemas.openxmlformats.org/drawingml/2006/main">
              <a:ext uri="{FF2B5EF4-FFF2-40B4-BE49-F238E27FC236}">
                <a16:creationId xmlns:a16="http://schemas.microsoft.com/office/drawing/2014/main" id="{6BD60779-984F-4E10-8FBC-E3037481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7-1">
            <a:extLst xmlns:a="http://schemas.openxmlformats.org/drawingml/2006/main">
              <a:ext uri="{FF2B5EF4-FFF2-40B4-BE49-F238E27FC236}">
                <a16:creationId xmlns:a16="http://schemas.microsoft.com/office/drawing/2014/main" id="{3774D5AD-D17B-48FD-AB50-7B98DC2B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7-2">
            <a:extLst xmlns:a="http://schemas.openxmlformats.org/drawingml/2006/main">
              <a:ext uri="{FF2B5EF4-FFF2-40B4-BE49-F238E27FC236}">
                <a16:creationId xmlns:a16="http://schemas.microsoft.com/office/drawing/2014/main" id="{7FA34333-A9AB-49F8-AA9B-6DE6A624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7-2">
            <a:extLst xmlns:a="http://schemas.openxmlformats.org/drawingml/2006/main">
              <a:ext uri="{FF2B5EF4-FFF2-40B4-BE49-F238E27FC236}">
                <a16:creationId xmlns:a16="http://schemas.microsoft.com/office/drawing/2014/main" id="{5634C708-D204-4AF0-8E21-2433F135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7-2">
            <a:extLst xmlns:a="http://schemas.openxmlformats.org/drawingml/2006/main">
              <a:ext uri="{FF2B5EF4-FFF2-40B4-BE49-F238E27FC236}">
                <a16:creationId xmlns:a16="http://schemas.microsoft.com/office/drawing/2014/main" id="{6E6C20E0-E656-400E-9128-F191EA06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7">
            <a:extLst xmlns:a="http://schemas.openxmlformats.org/drawingml/2006/main">
              <a:ext uri="{FF2B5EF4-FFF2-40B4-BE49-F238E27FC236}">
                <a16:creationId xmlns:a16="http://schemas.microsoft.com/office/drawing/2014/main" id="{C3A89C8B-0F7E-4366-8EB7-6FC461BF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05｜舊照片細節：會議桌、名牌、議事槌、手寫文件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06｜臺北縣參議會、歷屆臺北縣議會影像，採疊化與推鏡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07｜民國 99 年改制畫面，舊門牌過渡至「新北市議會」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08｜現代議場空鏡，座位燈逐排亮起</a:t>
            </a:r>
          </a:p>
        </p:txBody>
      </p:sp>
      <p:sp>
        <p:nvSpPr>
          <p:cNvPr id="16" name="audio-7">
            <a:extLst xmlns:a="http://schemas.openxmlformats.org/drawingml/2006/main">
              <a:ext uri="{FF2B5EF4-FFF2-40B4-BE49-F238E27FC236}">
                <a16:creationId xmlns:a16="http://schemas.microsoft.com/office/drawing/2014/main" id="{FD6B65CB-9B68-44CC-9C50-6FD43AC8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老照片以紙張翻頁聲串接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歷史照片修復與調色,以光的軌跡串接年代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音樂加入低音弦樂，維持莊重、清楚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最後一排座位亮起時，接入輕微議場空間聲</a:t>
            </a:r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7" name="narration-7">
            <a:extLst xmlns:a="http://schemas.openxmlformats.org/drawingml/2006/main">
              <a:ext uri="{FF2B5EF4-FFF2-40B4-BE49-F238E27FC236}">
                <a16:creationId xmlns:a16="http://schemas.microsoft.com/office/drawing/2014/main" id="{58DF1825-3C7C-41EF-92AA-52862360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民國三十五年，臺北縣參議會開啟地方自治的篇章；歷經十六屆臺北縣議會，地方的聲音在一次次討論、提案與監督中累積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民國九十九年，臺北縣改制為新北市，議會也以新的名稱，承接不變的責任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時代改變，城市擴大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，七十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多年來,這道光不曾熄滅。今天它傳到了第5屆——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68席民意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在四百萬市民的注視下宣誓:看見民意,守護共好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  <a:br/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看見傳承.民主如光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br/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從地方自治出發，讓民意一路被看見</a:t>
            </a:r>
            <a:r>
              <a:rPr sz="1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8" name="footer-line-7">
            <a:extLst xmlns:a="http://schemas.openxmlformats.org/drawingml/2006/main">
              <a:ext uri="{FF2B5EF4-FFF2-40B4-BE49-F238E27FC236}">
                <a16:creationId xmlns:a16="http://schemas.microsoft.com/office/drawing/2014/main" id="{B5C9742B-38C9-46CD-A7AB-DC1C0D76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1924344D-5F47-4F10-8C53-CD80794E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看見.共好｜第一章｜看見城市｜01:00–01:50</a:t>
            </a:r>
          </a:p>
        </p:txBody>
      </p:sp>
      <p:sp>
        <p:nvSpPr>
          <p:cNvPr id="20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3B9A0326-BB0C-41E0-AEE7-1E835117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263412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8">
            <a:extLst xmlns:a="http://schemas.openxmlformats.org/drawingml/2006/main">
              <a:ext uri="{FF2B5EF4-FFF2-40B4-BE49-F238E27FC236}">
                <a16:creationId xmlns:a16="http://schemas.microsoft.com/office/drawing/2014/main" id="{1097301B-5D56-476F-AB6A-76B35CE7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分鏡腳本｜第一章</a:t>
            </a:r>
            <a:endParaRPr sz="1049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8">
            <a:extLst xmlns:a="http://schemas.openxmlformats.org/drawingml/2006/main">
              <a:ext uri="{FF2B5EF4-FFF2-40B4-BE49-F238E27FC236}">
                <a16:creationId xmlns:a16="http://schemas.microsoft.com/office/drawing/2014/main" id="{911FA395-526B-4145-8FF0-6945FB8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每一席，都</a:t>
            </a:r>
            <a:r>
              <a:rPr sz="2400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是眾多希望的託付</a:t>
            </a:r>
            <a:endParaRPr sz="2400" b="1">
              <a:solidFill>
                <a:srgbClr val="147A7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8">
            <a:extLst xmlns:a="http://schemas.openxmlformats.org/drawingml/2006/main">
              <a:ext uri="{FF2B5EF4-FFF2-40B4-BE49-F238E27FC236}">
                <a16:creationId xmlns:a16="http://schemas.microsoft.com/office/drawing/2014/main" id="{DFE6FFFD-C6FC-41C6-8913-858D40E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8">
            <a:extLst xmlns:a="http://schemas.openxmlformats.org/drawingml/2006/main">
              <a:ext uri="{FF2B5EF4-FFF2-40B4-BE49-F238E27FC236}">
                <a16:creationId xmlns:a16="http://schemas.microsoft.com/office/drawing/2014/main" id="{4633B294-2359-49BA-AC95-CEECBC967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147A78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147A78"/>
                </a:solidFill>
                <a:latin typeface="PingFang TC"/>
                <a:ea typeface="PingFang TC"/>
                <a:cs typeface="PingFang TC"/>
              </a:rPr>
              <a:t>就職與片名｜從選票走進議事殿堂</a:t>
            </a:r>
          </a:p>
        </p:txBody>
      </p:sp>
      <p:sp>
        <p:nvSpPr>
          <p:cNvPr id="5" name="scene-duration-8">
            <a:extLst xmlns:a="http://schemas.openxmlformats.org/drawingml/2006/main">
              <a:ext uri="{FF2B5EF4-FFF2-40B4-BE49-F238E27FC236}">
                <a16:creationId xmlns:a16="http://schemas.microsoft.com/office/drawing/2014/main" id="{9D8CD050-50DA-4772-84A3-77FB1BDA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–02: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02: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35</a:t>
            </a:r>
            <a:endParaRPr sz="8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6" name="col-head-8-0">
            <a:extLst xmlns:a="http://schemas.openxmlformats.org/drawingml/2006/main">
              <a:ext uri="{FF2B5EF4-FFF2-40B4-BE49-F238E27FC236}">
                <a16:creationId xmlns:a16="http://schemas.microsoft.com/office/drawing/2014/main" id="{FA140226-8437-4BFD-A94E-D355F2D7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8-0">
            <a:extLst xmlns:a="http://schemas.openxmlformats.org/drawingml/2006/main">
              <a:ext uri="{FF2B5EF4-FFF2-40B4-BE49-F238E27FC236}">
                <a16:creationId xmlns:a16="http://schemas.microsoft.com/office/drawing/2014/main" id="{D1F32743-36F9-4D86-A5ED-6143B19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8-0">
            <a:extLst xmlns:a="http://schemas.openxmlformats.org/drawingml/2006/main">
              <a:ext uri="{FF2B5EF4-FFF2-40B4-BE49-F238E27FC236}">
                <a16:creationId xmlns:a16="http://schemas.microsoft.com/office/drawing/2014/main" id="{AD327E27-A5D3-481E-9F23-0F002108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8-1">
            <a:extLst xmlns:a="http://schemas.openxmlformats.org/drawingml/2006/main">
              <a:ext uri="{FF2B5EF4-FFF2-40B4-BE49-F238E27FC236}">
                <a16:creationId xmlns:a16="http://schemas.microsoft.com/office/drawing/2014/main" id="{448FBE10-F158-4FF0-AA55-3F844177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8-1">
            <a:extLst xmlns:a="http://schemas.openxmlformats.org/drawingml/2006/main">
              <a:ext uri="{FF2B5EF4-FFF2-40B4-BE49-F238E27FC236}">
                <a16:creationId xmlns:a16="http://schemas.microsoft.com/office/drawing/2014/main" id="{AA912C21-8DCE-4E78-AE97-80080A6D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8-1">
            <a:extLst xmlns:a="http://schemas.openxmlformats.org/drawingml/2006/main">
              <a:ext uri="{FF2B5EF4-FFF2-40B4-BE49-F238E27FC236}">
                <a16:creationId xmlns:a16="http://schemas.microsoft.com/office/drawing/2014/main" id="{347AA2CC-7C70-4C96-9A00-D648D3B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8-2">
            <a:extLst xmlns:a="http://schemas.openxmlformats.org/drawingml/2006/main">
              <a:ext uri="{FF2B5EF4-FFF2-40B4-BE49-F238E27FC236}">
                <a16:creationId xmlns:a16="http://schemas.microsoft.com/office/drawing/2014/main" id="{3B9D1D53-4BA4-491A-8CBB-F2AC72D8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8-2">
            <a:extLst xmlns:a="http://schemas.openxmlformats.org/drawingml/2006/main">
              <a:ext uri="{FF2B5EF4-FFF2-40B4-BE49-F238E27FC236}">
                <a16:creationId xmlns:a16="http://schemas.microsoft.com/office/drawing/2014/main" id="{1BF903AF-BE08-4114-8C5C-92657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8-2">
            <a:extLst xmlns:a="http://schemas.openxmlformats.org/drawingml/2006/main">
              <a:ext uri="{FF2B5EF4-FFF2-40B4-BE49-F238E27FC236}">
                <a16:creationId xmlns:a16="http://schemas.microsoft.com/office/drawing/2014/main" id="{4BDF6BD1-63D0-4B0B-8986-21A1C0C9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8">
            <a:extLst xmlns:a="http://schemas.openxmlformats.org/drawingml/2006/main">
              <a:ext uri="{FF2B5EF4-FFF2-40B4-BE49-F238E27FC236}">
                <a16:creationId xmlns:a16="http://schemas.microsoft.com/office/drawing/2014/main" id="{6C85AA93-CC00-458F-AB52-5DCDA4F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9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｜12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25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日就職典禮：報到、胸花、宣誓、簽名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｜議長／副議長選舉與握手、大合照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｜句點由選票印記化為節點，連成片名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TITLE｜看見.共好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6" name="audio-8">
            <a:extLst xmlns:a="http://schemas.openxmlformats.org/drawingml/2006/main">
              <a:ext uri="{FF2B5EF4-FFF2-40B4-BE49-F238E27FC236}">
                <a16:creationId xmlns:a16="http://schemas.microsoft.com/office/drawing/2014/main" id="{86015341-79D6-4D49-A268-D8D4141A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宣誓段落保留現場原音 8–10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快門聲只保留一次，避免過度煽情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片名出現時音樂第一次完整展開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畫面節奏：個人近景 → 群體全景 → 片名</a:t>
            </a:r>
          </a:p>
        </p:txBody>
      </p:sp>
      <p:sp>
        <p:nvSpPr>
          <p:cNvPr id="17" name="narration-8">
            <a:extLst xmlns:a="http://schemas.openxmlformats.org/drawingml/2006/main">
              <a:ext uri="{FF2B5EF4-FFF2-40B4-BE49-F238E27FC236}">
                <a16:creationId xmlns:a16="http://schemas.microsoft.com/office/drawing/2014/main" id="{05849887-1E41-40D6-8CF0-0629D742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一張選票，是一次託付；一席議員，是一個地區、一群人、一種生活的代表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民國一百一十五年十二月二十五日，第五屆新北市議會宣誓就職。六十八席民意，從十三個選舉區走進同一座議事殿堂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在這裡，不同立場將彼此相遇；共同的目標，是讓每一份託付都被認真回應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現場原音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擷取宣誓誓詞重點與全體回應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－ 第5屆新北市議會</a:t>
            </a:r>
          </a:p>
        </p:txBody>
      </p:sp>
      <p:sp>
        <p:nvSpPr>
          <p:cNvPr id="18" name="footer-line-8">
            <a:extLst xmlns:a="http://schemas.openxmlformats.org/drawingml/2006/main">
              <a:ext uri="{FF2B5EF4-FFF2-40B4-BE49-F238E27FC236}">
                <a16:creationId xmlns:a16="http://schemas.microsoft.com/office/drawing/2014/main" id="{9C9CEF3A-74C5-46D3-A090-C5CC38E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CBDDD11B-157E-443D-9ADC-9B05C295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看見.共好｜第一章｜看見城市｜01:50–02:35</a:t>
            </a:r>
          </a:p>
        </p:txBody>
      </p:sp>
      <p:sp>
        <p:nvSpPr>
          <p:cNvPr id="20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835E3A62-AE33-458C-B31B-D00C9A1F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249163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9">
            <a:extLst xmlns:a="http://schemas.openxmlformats.org/drawingml/2006/main">
              <a:ext uri="{FF2B5EF4-FFF2-40B4-BE49-F238E27FC236}">
                <a16:creationId xmlns:a16="http://schemas.microsoft.com/office/drawing/2014/main" id="{F32BBA73-9FE5-4CCC-8461-7F76066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9">
            <a:extLst xmlns:a="http://schemas.openxmlformats.org/drawingml/2006/main">
              <a:ext uri="{FF2B5EF4-FFF2-40B4-BE49-F238E27FC236}">
                <a16:creationId xmlns:a16="http://schemas.microsoft.com/office/drawing/2014/main" id="{82C10CF3-6720-4513-9828-4FD77A39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看見日常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 ，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不是地圖上的切線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9">
            <a:extLst xmlns:a="http://schemas.openxmlformats.org/drawingml/2006/main">
              <a:ext uri="{FF2B5EF4-FFF2-40B4-BE49-F238E27FC236}">
                <a16:creationId xmlns:a16="http://schemas.microsoft.com/office/drawing/2014/main" id="{32F8FAD0-FE2D-42FD-A9A5-7BE685AC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9">
            <a:extLst xmlns:a="http://schemas.openxmlformats.org/drawingml/2006/main">
              <a:ext uri="{FF2B5EF4-FFF2-40B4-BE49-F238E27FC236}">
                <a16:creationId xmlns:a16="http://schemas.microsoft.com/office/drawing/2014/main" id="{6B3F4B1D-60F1-44A6-8DAA-59C11FFF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A｜第 1 至第 4 選舉區</a:t>
            </a:r>
          </a:p>
        </p:txBody>
      </p:sp>
      <p:sp>
        <p:nvSpPr>
          <p:cNvPr id="5" name="scene-duration-9">
            <a:extLst xmlns:a="http://schemas.openxmlformats.org/drawingml/2006/main">
              <a:ext uri="{FF2B5EF4-FFF2-40B4-BE49-F238E27FC236}">
                <a16:creationId xmlns:a16="http://schemas.microsoft.com/office/drawing/2014/main" id="{BF604D09-2527-47BA-A327-52BBCE40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02:35–03:20｜45 秒｜累計 03:20</a:t>
            </a:r>
          </a:p>
        </p:txBody>
      </p:sp>
      <p:sp>
        <p:nvSpPr>
          <p:cNvPr id="6" name="col-head-9-0">
            <a:extLst xmlns:a="http://schemas.openxmlformats.org/drawingml/2006/main">
              <a:ext uri="{FF2B5EF4-FFF2-40B4-BE49-F238E27FC236}">
                <a16:creationId xmlns:a16="http://schemas.microsoft.com/office/drawing/2014/main" id="{4F695113-06CA-428D-B42F-8C66E609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9-0">
            <a:extLst xmlns:a="http://schemas.openxmlformats.org/drawingml/2006/main">
              <a:ext uri="{FF2B5EF4-FFF2-40B4-BE49-F238E27FC236}">
                <a16:creationId xmlns:a16="http://schemas.microsoft.com/office/drawing/2014/main" id="{25BD7A16-DAC2-4C12-863A-11D94D2D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9-0">
            <a:extLst xmlns:a="http://schemas.openxmlformats.org/drawingml/2006/main">
              <a:ext uri="{FF2B5EF4-FFF2-40B4-BE49-F238E27FC236}">
                <a16:creationId xmlns:a16="http://schemas.microsoft.com/office/drawing/2014/main" id="{80355854-ECB3-42EF-AC06-B821C4FA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9-1">
            <a:extLst xmlns:a="http://schemas.openxmlformats.org/drawingml/2006/main">
              <a:ext uri="{FF2B5EF4-FFF2-40B4-BE49-F238E27FC236}">
                <a16:creationId xmlns:a16="http://schemas.microsoft.com/office/drawing/2014/main" id="{2089D4FE-DD5F-4FE5-9461-B70F8CE9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9-1">
            <a:extLst xmlns:a="http://schemas.openxmlformats.org/drawingml/2006/main">
              <a:ext uri="{FF2B5EF4-FFF2-40B4-BE49-F238E27FC236}">
                <a16:creationId xmlns:a16="http://schemas.microsoft.com/office/drawing/2014/main" id="{17D168C8-C09A-4AF6-A16B-ECEC746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9-1">
            <a:extLst xmlns:a="http://schemas.openxmlformats.org/drawingml/2006/main">
              <a:ext uri="{FF2B5EF4-FFF2-40B4-BE49-F238E27FC236}">
                <a16:creationId xmlns:a16="http://schemas.microsoft.com/office/drawing/2014/main" id="{4E5088CE-5FD4-4995-8AD5-A311D86B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9-2">
            <a:extLst xmlns:a="http://schemas.openxmlformats.org/drawingml/2006/main">
              <a:ext uri="{FF2B5EF4-FFF2-40B4-BE49-F238E27FC236}">
                <a16:creationId xmlns:a16="http://schemas.microsoft.com/office/drawing/2014/main" id="{C5A9A1CE-C4C8-4E7A-99D2-D1DC89CE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9-2">
            <a:extLst xmlns:a="http://schemas.openxmlformats.org/drawingml/2006/main">
              <a:ext uri="{FF2B5EF4-FFF2-40B4-BE49-F238E27FC236}">
                <a16:creationId xmlns:a16="http://schemas.microsoft.com/office/drawing/2014/main" id="{6CD2343E-D896-401E-9ECC-D828DDD7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9-2">
            <a:extLst xmlns:a="http://schemas.openxmlformats.org/drawingml/2006/main">
              <a:ext uri="{FF2B5EF4-FFF2-40B4-BE49-F238E27FC236}">
                <a16:creationId xmlns:a16="http://schemas.microsoft.com/office/drawing/2014/main" id="{651EFEFD-1FA3-40E3-80D4-A306FD96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9">
            <a:extLst xmlns:a="http://schemas.openxmlformats.org/drawingml/2006/main">
              <a:ext uri="{FF2B5EF4-FFF2-40B4-BE49-F238E27FC236}">
                <a16:creationId xmlns:a16="http://schemas.microsoft.com/office/drawing/2014/main" id="{E1653382-33CE-4D33-B439-6D9C5F9A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 選區｜石門、三芝、淡水、八里：海岸、漁港、老街、輕軌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2 選區｜林口、五股、泰山：新市鎮、產業、交通節點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3 選區｜新莊：老街、工業脈絡、住宅與副都心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4 選區｜蘆洲、三重：河岸、密集街區、通勤與市場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每區採「人 3 秒＋地景 3 秒＋公共服務 3 秒」公平配置</a:t>
            </a:r>
          </a:p>
        </p:txBody>
      </p:sp>
      <p:sp>
        <p:nvSpPr>
          <p:cNvPr id="16" name="audio-9">
            <a:extLst xmlns:a="http://schemas.openxmlformats.org/drawingml/2006/main">
              <a:ext uri="{FF2B5EF4-FFF2-40B4-BE49-F238E27FC236}">
                <a16:creationId xmlns:a16="http://schemas.microsoft.com/office/drawing/2014/main" id="{F17FDDF7-1CED-4059-ADF5-8C1CAF5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以列車行進節奏串連選區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每個選區保留一個辨識度高的環境音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區名採固定位置出現，避免像觀光廣告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地圖只做定位，不做主畫面</a:t>
            </a:r>
          </a:p>
        </p:txBody>
      </p:sp>
      <p:sp>
        <p:nvSpPr>
          <p:cNvPr id="17" name="narration-9">
            <a:extLst xmlns:a="http://schemas.openxmlformats.org/drawingml/2006/main">
              <a:ext uri="{FF2B5EF4-FFF2-40B4-BE49-F238E27FC236}">
                <a16:creationId xmlns:a16="http://schemas.microsoft.com/office/drawing/2014/main" id="{C35A4969-855D-448E-BD3C-DE5B4CAD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選舉區，不只是地圖上的切線，而是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種觀看城市的角度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從石門、三芝、淡水與八里的海風吹進城市；到林口、五股、泰山快速成長的新生活；新莊在產業記憶與新都心之間持續前進；蘆洲、三重沿著河岸與街巷，承接最密集也最真切的日常。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地方不同，關心的事不同；每一種生活，都應該有被理解的位置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1–4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選舉區｜海岸．成長．新舊交會．河岸生活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9">
            <a:extLst xmlns:a="http://schemas.openxmlformats.org/drawingml/2006/main">
              <a:ext uri="{FF2B5EF4-FFF2-40B4-BE49-F238E27FC236}">
                <a16:creationId xmlns:a16="http://schemas.microsoft.com/office/drawing/2014/main" id="{6B3BD034-9D76-4B3E-A7A7-131E95F3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9AEE0355-6949-4F35-8152-9F382829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看見.共好｜第二章｜看見每一種生活｜02:35–03:20</a:t>
            </a:r>
          </a:p>
        </p:txBody>
      </p:sp>
      <p:sp>
        <p:nvSpPr>
          <p:cNvPr id="20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4F3D489-096B-45AE-84CB-E17B8E02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300929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0">
            <a:extLst xmlns:a="http://schemas.openxmlformats.org/drawingml/2006/main">
              <a:ext uri="{FF2B5EF4-FFF2-40B4-BE49-F238E27FC236}">
                <a16:creationId xmlns:a16="http://schemas.microsoft.com/office/drawing/2014/main" id="{C281F7DE-940F-4699-9650-023ECFEC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0">
            <a:extLst xmlns:a="http://schemas.openxmlformats.org/drawingml/2006/main">
              <a:ext uri="{FF2B5EF4-FFF2-40B4-BE49-F238E27FC236}">
                <a16:creationId xmlns:a16="http://schemas.microsoft.com/office/drawing/2014/main" id="{78A2B83A-653B-4321-8CE7-5552FEF8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城市的尺度不同，生活的重量相同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0">
            <a:extLst xmlns:a="http://schemas.openxmlformats.org/drawingml/2006/main">
              <a:ext uri="{FF2B5EF4-FFF2-40B4-BE49-F238E27FC236}">
                <a16:creationId xmlns:a16="http://schemas.microsoft.com/office/drawing/2014/main" id="{0D6575CB-EC13-44C5-ABBD-86B8BA60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0">
            <a:extLst xmlns:a="http://schemas.openxmlformats.org/drawingml/2006/main">
              <a:ext uri="{FF2B5EF4-FFF2-40B4-BE49-F238E27FC236}">
                <a16:creationId xmlns:a16="http://schemas.microsoft.com/office/drawing/2014/main" id="{EB89592C-06CF-42BB-8DFC-3517818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B｜第 5 至第 8 選舉區</a:t>
            </a:r>
          </a:p>
        </p:txBody>
      </p:sp>
      <p:sp>
        <p:nvSpPr>
          <p:cNvPr id="5" name="scene-duration-10">
            <a:extLst xmlns:a="http://schemas.openxmlformats.org/drawingml/2006/main">
              <a:ext uri="{FF2B5EF4-FFF2-40B4-BE49-F238E27FC236}">
                <a16:creationId xmlns:a16="http://schemas.microsoft.com/office/drawing/2014/main" id="{DDE0D45A-8960-4815-8D6F-69C586D4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03:20–04:05｜45 秒｜累計 04:05</a:t>
            </a:r>
          </a:p>
        </p:txBody>
      </p:sp>
      <p:sp>
        <p:nvSpPr>
          <p:cNvPr id="6" name="col-head-10-0">
            <a:extLst xmlns:a="http://schemas.openxmlformats.org/drawingml/2006/main">
              <a:ext uri="{FF2B5EF4-FFF2-40B4-BE49-F238E27FC236}">
                <a16:creationId xmlns:a16="http://schemas.microsoft.com/office/drawing/2014/main" id="{5C724964-1140-44EA-BFD1-72FF855B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0-0">
            <a:extLst xmlns:a="http://schemas.openxmlformats.org/drawingml/2006/main">
              <a:ext uri="{FF2B5EF4-FFF2-40B4-BE49-F238E27FC236}">
                <a16:creationId xmlns:a16="http://schemas.microsoft.com/office/drawing/2014/main" id="{5D66FFBA-DFFA-437E-A659-05526CC1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0-0">
            <a:extLst xmlns:a="http://schemas.openxmlformats.org/drawingml/2006/main">
              <a:ext uri="{FF2B5EF4-FFF2-40B4-BE49-F238E27FC236}">
                <a16:creationId xmlns:a16="http://schemas.microsoft.com/office/drawing/2014/main" id="{66AD9FB9-F18E-4E23-B95E-30738E12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0-1">
            <a:extLst xmlns:a="http://schemas.openxmlformats.org/drawingml/2006/main">
              <a:ext uri="{FF2B5EF4-FFF2-40B4-BE49-F238E27FC236}">
                <a16:creationId xmlns:a16="http://schemas.microsoft.com/office/drawing/2014/main" id="{6C8615C3-7090-4A78-A7E4-54F50B7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0-1">
            <a:extLst xmlns:a="http://schemas.openxmlformats.org/drawingml/2006/main">
              <a:ext uri="{FF2B5EF4-FFF2-40B4-BE49-F238E27FC236}">
                <a16:creationId xmlns:a16="http://schemas.microsoft.com/office/drawing/2014/main" id="{1FD902C9-32B1-4685-811F-352F8454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0-1">
            <a:extLst xmlns:a="http://schemas.openxmlformats.org/drawingml/2006/main">
              <a:ext uri="{FF2B5EF4-FFF2-40B4-BE49-F238E27FC236}">
                <a16:creationId xmlns:a16="http://schemas.microsoft.com/office/drawing/2014/main" id="{2C6FC810-35E0-4E74-81E5-3DB8EC6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0-2">
            <a:extLst xmlns:a="http://schemas.openxmlformats.org/drawingml/2006/main">
              <a:ext uri="{FF2B5EF4-FFF2-40B4-BE49-F238E27FC236}">
                <a16:creationId xmlns:a16="http://schemas.microsoft.com/office/drawing/2014/main" id="{A476EC80-113D-440F-B95F-22D3F99B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0-2">
            <a:extLst xmlns:a="http://schemas.openxmlformats.org/drawingml/2006/main">
              <a:ext uri="{FF2B5EF4-FFF2-40B4-BE49-F238E27FC236}">
                <a16:creationId xmlns:a16="http://schemas.microsoft.com/office/drawing/2014/main" id="{B773C727-6C03-4A73-A9FD-87245404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0-2">
            <a:extLst xmlns:a="http://schemas.openxmlformats.org/drawingml/2006/main">
              <a:ext uri="{FF2B5EF4-FFF2-40B4-BE49-F238E27FC236}">
                <a16:creationId xmlns:a16="http://schemas.microsoft.com/office/drawing/2014/main" id="{64E405FA-5360-44A3-9D80-35B009C1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0">
            <a:extLst xmlns:a="http://schemas.openxmlformats.org/drawingml/2006/main">
              <a:ext uri="{FF2B5EF4-FFF2-40B4-BE49-F238E27FC236}">
                <a16:creationId xmlns:a16="http://schemas.microsoft.com/office/drawing/2014/main" id="{D663D4D6-DA5D-4D26-8D6B-94BCDBF3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選區｜板橋：議會、市府、車站、文化街區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6 選區｜中和：住宅、產業園區、通勤節點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7 選區｜永和：巷弄、公園、橋梁與高密度生活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8 選區｜樹林、鶯歌、土城、三峽：陶瓷、老街、產業、校園、山景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畫面避開單一建設政績，聚焦人在空間裡的使用</a:t>
            </a:r>
          </a:p>
        </p:txBody>
      </p:sp>
      <p:sp>
        <p:nvSpPr>
          <p:cNvPr id="16" name="audio-10">
            <a:extLst xmlns:a="http://schemas.openxmlformats.org/drawingml/2006/main">
              <a:ext uri="{FF2B5EF4-FFF2-40B4-BE49-F238E27FC236}">
                <a16:creationId xmlns:a16="http://schemas.microsoft.com/office/drawing/2014/main" id="{F9B5E15C-F5BF-45F8-8FEB-8962159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聲音由都會節奏轉入陶土、樹葉與校園環境音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切換速度略加快，再於三峽河岸停留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不使用口號式配樂；以生活感維持可信度</a:t>
            </a:r>
          </a:p>
        </p:txBody>
      </p:sp>
      <p:sp>
        <p:nvSpPr>
          <p:cNvPr id="17" name="narration-10">
            <a:extLst xmlns:a="http://schemas.openxmlformats.org/drawingml/2006/main">
              <a:ext uri="{FF2B5EF4-FFF2-40B4-BE49-F238E27FC236}">
                <a16:creationId xmlns:a16="http://schemas.microsoft.com/office/drawing/2014/main" id="{520D18EE-E5D0-4AB1-AD9E-84AFB0A7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板橋是行政與交通交會的核心；中和在居住、產業與通勤之間尋找更好的平衡；永和以緊密的城市尺度，讓每一寸公共空間都格外重要。
再往西南，樹林、鶯歌、土城與三峽，把產業、工藝、校園、河川與山景放進同一幅生活圖像。
有的需求來自快速成長，有的來自老城更新；城市的尺度不同，生活的重量相同。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5–8 選舉區｜核心．密度．公共空間．文化與產業</a:t>
            </a:r>
          </a:p>
        </p:txBody>
      </p:sp>
      <p:sp>
        <p:nvSpPr>
          <p:cNvPr id="18" name="footer-line-10">
            <a:extLst xmlns:a="http://schemas.openxmlformats.org/drawingml/2006/main">
              <a:ext uri="{FF2B5EF4-FFF2-40B4-BE49-F238E27FC236}">
                <a16:creationId xmlns:a16="http://schemas.microsoft.com/office/drawing/2014/main" id="{4EA7BCBF-E90E-415C-95AF-6F88B0C9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75E96F3-3F55-4439-99EF-76B7AB9B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看見.共好｜第二章｜看見每一種生活｜03:20–04:05</a:t>
            </a:r>
          </a:p>
        </p:txBody>
      </p:sp>
      <p:sp>
        <p:nvSpPr>
          <p:cNvPr id="20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3531AB-7D51-4479-A391-FB21A20C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20602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1">
            <a:extLst xmlns:a="http://schemas.openxmlformats.org/drawingml/2006/main">
              <a:ext uri="{FF2B5EF4-FFF2-40B4-BE49-F238E27FC236}">
                <a16:creationId xmlns:a16="http://schemas.microsoft.com/office/drawing/2014/main" id="{E0EB8D69-DFB5-48B4-9A42-40264390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分鏡腳本｜第二章</a:t>
            </a:r>
            <a:endParaRPr sz="1049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1">
            <a:extLst xmlns:a="http://schemas.openxmlformats.org/drawingml/2006/main">
              <a:ext uri="{FF2B5EF4-FFF2-40B4-BE49-F238E27FC236}">
                <a16:creationId xmlns:a16="http://schemas.microsoft.com/office/drawing/2014/main" id="{06AF4F81-449B-404A-AE7C-3A9D4AF4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看見地理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1B2A4A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sz="2400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多元共榮的日常</a:t>
            </a:r>
            <a:endParaRPr sz="2400" b="1">
              <a:solidFill>
                <a:srgbClr val="D9962C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1">
            <a:extLst xmlns:a="http://schemas.openxmlformats.org/drawingml/2006/main">
              <a:ext uri="{FF2B5EF4-FFF2-40B4-BE49-F238E27FC236}">
                <a16:creationId xmlns:a16="http://schemas.microsoft.com/office/drawing/2014/main" id="{A30C5B9A-8240-484C-AF40-3D84FE2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1">
            <a:extLst xmlns:a="http://schemas.openxmlformats.org/drawingml/2006/main">
              <a:ext uri="{FF2B5EF4-FFF2-40B4-BE49-F238E27FC236}">
                <a16:creationId xmlns:a16="http://schemas.microsoft.com/office/drawing/2014/main" id="{75807745-5229-4A27-973C-14E3199D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D9962C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D9962C"/>
                </a:solidFill>
                <a:latin typeface="PingFang TC"/>
                <a:ea typeface="PingFang TC"/>
                <a:cs typeface="PingFang TC"/>
              </a:rPr>
              <a:t>選區群像 C｜第 9 至第 13 選舉區</a:t>
            </a:r>
          </a:p>
        </p:txBody>
      </p:sp>
      <p:sp>
        <p:nvSpPr>
          <p:cNvPr id="5" name="scene-duration-11">
            <a:extLst xmlns:a="http://schemas.openxmlformats.org/drawingml/2006/main">
              <a:ext uri="{FF2B5EF4-FFF2-40B4-BE49-F238E27FC236}">
                <a16:creationId xmlns:a16="http://schemas.microsoft.com/office/drawing/2014/main" id="{FA79D0A4-8702-480F-B814-65E58833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04:05–04:55｜50 秒｜累計 04:55</a:t>
            </a:r>
          </a:p>
        </p:txBody>
      </p:sp>
      <p:sp>
        <p:nvSpPr>
          <p:cNvPr id="6" name="col-head-11-0">
            <a:extLst xmlns:a="http://schemas.openxmlformats.org/drawingml/2006/main">
              <a:ext uri="{FF2B5EF4-FFF2-40B4-BE49-F238E27FC236}">
                <a16:creationId xmlns:a16="http://schemas.microsoft.com/office/drawing/2014/main" id="{95195B70-8CE1-47E3-A063-35C197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1-0">
            <a:extLst xmlns:a="http://schemas.openxmlformats.org/drawingml/2006/main">
              <a:ext uri="{FF2B5EF4-FFF2-40B4-BE49-F238E27FC236}">
                <a16:creationId xmlns:a16="http://schemas.microsoft.com/office/drawing/2014/main" id="{A4827FA2-4A32-4ACA-9B1B-9F0A5B24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1-0">
            <a:extLst xmlns:a="http://schemas.openxmlformats.org/drawingml/2006/main">
              <a:ext uri="{FF2B5EF4-FFF2-40B4-BE49-F238E27FC236}">
                <a16:creationId xmlns:a16="http://schemas.microsoft.com/office/drawing/2014/main" id="{F143B225-C48D-4524-9652-8E68083F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1-1">
            <a:extLst xmlns:a="http://schemas.openxmlformats.org/drawingml/2006/main">
              <a:ext uri="{FF2B5EF4-FFF2-40B4-BE49-F238E27FC236}">
                <a16:creationId xmlns:a16="http://schemas.microsoft.com/office/drawing/2014/main" id="{09B21417-1348-496E-9827-E14F0351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1-1">
            <a:extLst xmlns:a="http://schemas.openxmlformats.org/drawingml/2006/main">
              <a:ext uri="{FF2B5EF4-FFF2-40B4-BE49-F238E27FC236}">
                <a16:creationId xmlns:a16="http://schemas.microsoft.com/office/drawing/2014/main" id="{8B1186FE-95A3-4EC3-BE80-108502A9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1-1">
            <a:extLst xmlns:a="http://schemas.openxmlformats.org/drawingml/2006/main">
              <a:ext uri="{FF2B5EF4-FFF2-40B4-BE49-F238E27FC236}">
                <a16:creationId xmlns:a16="http://schemas.microsoft.com/office/drawing/2014/main" id="{5D6B82CE-8B10-4BD1-B5F2-D10F640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1-2">
            <a:extLst xmlns:a="http://schemas.openxmlformats.org/drawingml/2006/main">
              <a:ext uri="{FF2B5EF4-FFF2-40B4-BE49-F238E27FC236}">
                <a16:creationId xmlns:a16="http://schemas.microsoft.com/office/drawing/2014/main" id="{5AC3CD6A-C5D5-48D0-B631-A87F9225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1-2">
            <a:extLst xmlns:a="http://schemas.openxmlformats.org/drawingml/2006/main">
              <a:ext uri="{FF2B5EF4-FFF2-40B4-BE49-F238E27FC236}">
                <a16:creationId xmlns:a16="http://schemas.microsoft.com/office/drawing/2014/main" id="{0DA077E1-FC0C-479A-BAC2-0C44D4892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1-2">
            <a:extLst xmlns:a="http://schemas.openxmlformats.org/drawingml/2006/main">
              <a:ext uri="{FF2B5EF4-FFF2-40B4-BE49-F238E27FC236}">
                <a16:creationId xmlns:a16="http://schemas.microsoft.com/office/drawing/2014/main" id="{0A8E323D-93BF-44EE-AF90-4324C65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1">
            <a:extLst xmlns:a="http://schemas.openxmlformats.org/drawingml/2006/main">
              <a:ext uri="{FF2B5EF4-FFF2-40B4-BE49-F238E27FC236}">
                <a16:creationId xmlns:a16="http://schemas.microsoft.com/office/drawing/2014/main" id="{FB48F3C2-4955-4D77-B31C-A9C6AF76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9 選區｜新店、深坑、石碇、坪林、烏來：溪谷、茶鄉、山路、部落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10 選區｜平溪、瑞芳、雙溪、貢寮：山城、鐵道、海岸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11 選區｜金山、萬里、汐止：漁港、溫泉、科技與通勤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12 選區｜平地原住民：跨行政區的族人生活與文化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13 選區｜山地原住民：部落、語言、工藝、土地連結</a:t>
            </a:r>
          </a:p>
        </p:txBody>
      </p:sp>
      <p:sp>
        <p:nvSpPr>
          <p:cNvPr id="16" name="audio-11">
            <a:extLst xmlns:a="http://schemas.openxmlformats.org/drawingml/2006/main">
              <a:ext uri="{FF2B5EF4-FFF2-40B4-BE49-F238E27FC236}">
                <a16:creationId xmlns:a16="http://schemas.microsoft.com/office/drawing/2014/main" id="{CDDBCA6B-8D73-4238-93A5-C3EB67B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溪流與鐵道聲串起山海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進入原住民選區時，採現場族語問候或經授權歌聲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音樂不挪用儀式性歌謠；文化素材先取得族群同意</a:t>
            </a:r>
          </a:p>
        </p:txBody>
      </p:sp>
      <p:sp>
        <p:nvSpPr>
          <p:cNvPr id="17" name="narration-11">
            <a:extLst xmlns:a="http://schemas.openxmlformats.org/drawingml/2006/main">
              <a:ext uri="{FF2B5EF4-FFF2-40B4-BE49-F238E27FC236}">
                <a16:creationId xmlns:a16="http://schemas.microsoft.com/office/drawing/2014/main" id="{ED750354-02C6-477D-A4D4-26ED126A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新店、深坑、石碇、坪林與烏來，沿著溪谷連結都會、茶鄉與部落；平溪、瑞芳、雙溪、貢寮，讓山城、鐵道與海岸彼此相望；金山、萬里、汐止，則把海洋、溫泉、科技與通勤生活連成一線。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還有跨越行政邊界的平地與山地原住民選區，讓族人的生活、語言與文化，在城市裡持續被看見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十三個選區，六十八席民意；每一席，都連著一群人的現在與未來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多元,不只是共處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——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是彼此看見,一起變好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 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9–13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選舉區｜山海．城鄉．族群．文化傳承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1">
            <a:extLst xmlns:a="http://schemas.openxmlformats.org/drawingml/2006/main">
              <a:ext uri="{FF2B5EF4-FFF2-40B4-BE49-F238E27FC236}">
                <a16:creationId xmlns:a16="http://schemas.microsoft.com/office/drawing/2014/main" id="{307C2E46-CB21-4E72-96C5-7C266A48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1">
            <a:extLst xmlns:a="http://schemas.openxmlformats.org/drawingml/2006/main">
              <a:ext uri="{FF2B5EF4-FFF2-40B4-BE49-F238E27FC236}">
                <a16:creationId xmlns:a16="http://schemas.microsoft.com/office/drawing/2014/main" id="{F030A3B7-1391-447F-876D-859A8D15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看見.共好｜第二章｜看見每一種生活｜04:05–04:55</a:t>
            </a:r>
          </a:p>
        </p:txBody>
      </p:sp>
      <p:sp>
        <p:nvSpPr>
          <p:cNvPr id="20" name="footer-page-11">
            <a:extLst xmlns:a="http://schemas.openxmlformats.org/drawingml/2006/main">
              <a:ext uri="{FF2B5EF4-FFF2-40B4-BE49-F238E27FC236}">
                <a16:creationId xmlns:a16="http://schemas.microsoft.com/office/drawing/2014/main" id="{1286B14D-214B-43CA-911F-B9122CC1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33947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2">
            <a:extLst xmlns:a="http://schemas.openxmlformats.org/drawingml/2006/main">
              <a:ext uri="{FF2B5EF4-FFF2-40B4-BE49-F238E27FC236}">
                <a16:creationId xmlns:a16="http://schemas.microsoft.com/office/drawing/2014/main" id="{AADA789A-459B-4608-9F38-615BB58C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二</a:t>
            </a: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2">
            <a:extLst xmlns:a="http://schemas.openxmlformats.org/drawingml/2006/main">
              <a:ext uri="{FF2B5EF4-FFF2-40B4-BE49-F238E27FC236}">
                <a16:creationId xmlns:a16="http://schemas.microsoft.com/office/drawing/2014/main" id="{68A5CFED-7FBE-44C8-9D5B-3693F11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看見民意，面對問題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2">
            <a:extLst xmlns:a="http://schemas.openxmlformats.org/drawingml/2006/main">
              <a:ext uri="{FF2B5EF4-FFF2-40B4-BE49-F238E27FC236}">
                <a16:creationId xmlns:a16="http://schemas.microsoft.com/office/drawing/2014/main" id="{704ABBD9-266D-495A-868D-EBC5DB0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2">
            <a:extLst xmlns:a="http://schemas.openxmlformats.org/drawingml/2006/main">
              <a:ext uri="{FF2B5EF4-FFF2-40B4-BE49-F238E27FC236}">
                <a16:creationId xmlns:a16="http://schemas.microsoft.com/office/drawing/2014/main" id="{CA18AE02-065B-4032-8CDA-AFB6DC3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轉折｜從城市群像走入議會核心</a:t>
            </a:r>
          </a:p>
        </p:txBody>
      </p:sp>
      <p:sp>
        <p:nvSpPr>
          <p:cNvPr id="5" name="scene-duration-12">
            <a:extLst xmlns:a="http://schemas.openxmlformats.org/drawingml/2006/main">
              <a:ext uri="{FF2B5EF4-FFF2-40B4-BE49-F238E27FC236}">
                <a16:creationId xmlns:a16="http://schemas.microsoft.com/office/drawing/2014/main" id="{69354279-3ED1-4AB5-8BA8-E9BC4389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04:55–05:15｜20 秒｜累計 05:15</a:t>
            </a:r>
          </a:p>
        </p:txBody>
      </p:sp>
      <p:sp>
        <p:nvSpPr>
          <p:cNvPr id="6" name="col-head-12-0">
            <a:extLst xmlns:a="http://schemas.openxmlformats.org/drawingml/2006/main">
              <a:ext uri="{FF2B5EF4-FFF2-40B4-BE49-F238E27FC236}">
                <a16:creationId xmlns:a16="http://schemas.microsoft.com/office/drawing/2014/main" id="{D2582608-8EF8-461B-B292-373CD8E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2-0">
            <a:extLst xmlns:a="http://schemas.openxmlformats.org/drawingml/2006/main">
              <a:ext uri="{FF2B5EF4-FFF2-40B4-BE49-F238E27FC236}">
                <a16:creationId xmlns:a16="http://schemas.microsoft.com/office/drawing/2014/main" id="{4CA3B7F3-FCA5-4487-9574-D1CB38EF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2-0">
            <a:extLst xmlns:a="http://schemas.openxmlformats.org/drawingml/2006/main">
              <a:ext uri="{FF2B5EF4-FFF2-40B4-BE49-F238E27FC236}">
                <a16:creationId xmlns:a16="http://schemas.microsoft.com/office/drawing/2014/main" id="{8D3B92C4-D407-4C25-AB6B-A75700FC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2-1">
            <a:extLst xmlns:a="http://schemas.openxmlformats.org/drawingml/2006/main">
              <a:ext uri="{FF2B5EF4-FFF2-40B4-BE49-F238E27FC236}">
                <a16:creationId xmlns:a16="http://schemas.microsoft.com/office/drawing/2014/main" id="{04CCF04B-D7FB-4195-8677-1E045624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2-1">
            <a:extLst xmlns:a="http://schemas.openxmlformats.org/drawingml/2006/main">
              <a:ext uri="{FF2B5EF4-FFF2-40B4-BE49-F238E27FC236}">
                <a16:creationId xmlns:a16="http://schemas.microsoft.com/office/drawing/2014/main" id="{9F7A1922-8C97-4934-B43C-B38F345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2-1">
            <a:extLst xmlns:a="http://schemas.openxmlformats.org/drawingml/2006/main">
              <a:ext uri="{FF2B5EF4-FFF2-40B4-BE49-F238E27FC236}">
                <a16:creationId xmlns:a16="http://schemas.microsoft.com/office/drawing/2014/main" id="{8EE3FDEE-C3FE-4050-8FA5-38E0FE61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2-2">
            <a:extLst xmlns:a="http://schemas.openxmlformats.org/drawingml/2006/main">
              <a:ext uri="{FF2B5EF4-FFF2-40B4-BE49-F238E27FC236}">
                <a16:creationId xmlns:a16="http://schemas.microsoft.com/office/drawing/2014/main" id="{1CB18380-4547-49A9-A209-22EA0B69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2-2">
            <a:extLst xmlns:a="http://schemas.openxmlformats.org/drawingml/2006/main">
              <a:ext uri="{FF2B5EF4-FFF2-40B4-BE49-F238E27FC236}">
                <a16:creationId xmlns:a16="http://schemas.microsoft.com/office/drawing/2014/main" id="{B64E2CDC-D31A-43CC-94F2-A1B1DCE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2-2">
            <a:extLst xmlns:a="http://schemas.openxmlformats.org/drawingml/2006/main">
              <a:ext uri="{FF2B5EF4-FFF2-40B4-BE49-F238E27FC236}">
                <a16:creationId xmlns:a16="http://schemas.microsoft.com/office/drawing/2014/main" id="{7E2E3AE8-9AF8-43B2-9FB0-92E15359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2">
            <a:extLst xmlns:a="http://schemas.openxmlformats.org/drawingml/2006/main">
              <a:ext uri="{FF2B5EF4-FFF2-40B4-BE49-F238E27FC236}">
                <a16:creationId xmlns:a16="http://schemas.microsoft.com/office/drawing/2014/main" id="{1A0985D6-D10D-4C9E-BEB9-E39E2C1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13｜快速收斂三個日常細節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雨天積水停在鞋尖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家長牽孩子穿越路口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• 長者在候車亭等待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14｜市民手機畫面／陳情資料／照片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15｜畫面停在「已受理」或服務處筆記，不呈現個資</a:t>
            </a:r>
          </a:p>
        </p:txBody>
      </p:sp>
      <p:sp>
        <p:nvSpPr>
          <p:cNvPr id="16" name="audio-12">
            <a:extLst xmlns:a="http://schemas.openxmlformats.org/drawingml/2006/main">
              <a:ext uri="{FF2B5EF4-FFF2-40B4-BE49-F238E27FC236}">
                <a16:creationId xmlns:a16="http://schemas.microsoft.com/office/drawing/2014/main" id="{2910D265-7178-4C28-B05A-E444E76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音樂突然收斂，只留下雨聲、號誌聲、紙張聲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三個問題各 3 秒，不交代答案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最後以一聲訊息提示，帶入下一段</a:t>
            </a:r>
          </a:p>
        </p:txBody>
      </p:sp>
      <p:sp>
        <p:nvSpPr>
          <p:cNvPr id="17" name="narration-12">
            <a:extLst xmlns:a="http://schemas.openxmlformats.org/drawingml/2006/main">
              <a:ext uri="{FF2B5EF4-FFF2-40B4-BE49-F238E27FC236}">
                <a16:creationId xmlns:a16="http://schemas.microsoft.com/office/drawing/2014/main" id="{D3B4AA9C-DDF6-4CCC-9DDE-508880E8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一場雨後的積水、一條不安心的上學路、一段等不到車的日常，都可能是城市下一步要回答的問題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當一個聲音走進議會，它會怎麼成為改變的開始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？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動畫字卡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看見問題｜不是終點，是行動的起點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</p:txBody>
      </p:sp>
      <p:sp>
        <p:nvSpPr>
          <p:cNvPr id="18" name="footer-line-12">
            <a:extLst xmlns:a="http://schemas.openxmlformats.org/drawingml/2006/main">
              <a:ext uri="{FF2B5EF4-FFF2-40B4-BE49-F238E27FC236}">
                <a16:creationId xmlns:a16="http://schemas.microsoft.com/office/drawing/2014/main" id="{2DE6455A-29BF-41E7-A370-798F4370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2">
            <a:extLst xmlns:a="http://schemas.openxmlformats.org/drawingml/2006/main">
              <a:ext uri="{FF2B5EF4-FFF2-40B4-BE49-F238E27FC236}">
                <a16:creationId xmlns:a16="http://schemas.microsoft.com/office/drawing/2014/main" id="{9F413961-1D5E-463D-92E3-3C64F15F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看見.共好｜第三章｜看見民意如何成為行動｜04:55–05:15</a:t>
            </a:r>
          </a:p>
        </p:txBody>
      </p:sp>
      <p:sp>
        <p:nvSpPr>
          <p:cNvPr id="20" name="footer-page-12">
            <a:extLst xmlns:a="http://schemas.openxmlformats.org/drawingml/2006/main">
              <a:ext uri="{FF2B5EF4-FFF2-40B4-BE49-F238E27FC236}">
                <a16:creationId xmlns:a16="http://schemas.microsoft.com/office/drawing/2014/main" id="{042D3C44-2F66-415E-A94F-C288C8E7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0582398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3">
            <a:extLst xmlns:a="http://schemas.openxmlformats.org/drawingml/2006/main">
              <a:ext uri="{FF2B5EF4-FFF2-40B4-BE49-F238E27FC236}">
                <a16:creationId xmlns:a16="http://schemas.microsoft.com/office/drawing/2014/main" id="{CDA95771-A9F8-4A90-A012-FC7F9DDD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3">
            <a:extLst xmlns:a="http://schemas.openxmlformats.org/drawingml/2006/main">
              <a:ext uri="{FF2B5EF4-FFF2-40B4-BE49-F238E27FC236}">
                <a16:creationId xmlns:a16="http://schemas.microsoft.com/office/drawing/2014/main" id="{095A85D3-E498-4C52-973E-7D14CB46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723363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看見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問題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，</a:t>
            </a: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跟著一份提案走進議會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3">
            <a:extLst xmlns:a="http://schemas.openxmlformats.org/drawingml/2006/main">
              <a:ext uri="{FF2B5EF4-FFF2-40B4-BE49-F238E27FC236}">
                <a16:creationId xmlns:a16="http://schemas.microsoft.com/office/drawing/2014/main" id="{4F027AD6-C734-448D-9B99-01542C9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3">
            <a:extLst xmlns:a="http://schemas.openxmlformats.org/drawingml/2006/main">
              <a:ext uri="{FF2B5EF4-FFF2-40B4-BE49-F238E27FC236}">
                <a16:creationId xmlns:a16="http://schemas.microsoft.com/office/drawing/2014/main" id="{2BC5022E-1D52-4835-9130-6A697F69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A｜受理、查證、現勘、提案</a:t>
            </a:r>
          </a:p>
        </p:txBody>
      </p:sp>
      <p:sp>
        <p:nvSpPr>
          <p:cNvPr id="5" name="scene-duration-13">
            <a:extLst xmlns:a="http://schemas.openxmlformats.org/drawingml/2006/main">
              <a:ext uri="{FF2B5EF4-FFF2-40B4-BE49-F238E27FC236}">
                <a16:creationId xmlns:a16="http://schemas.microsoft.com/office/drawing/2014/main" id="{9BFEBDAD-8FAC-45B8-92D7-418B45C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05:15–06:05｜50 秒｜累計 06:05</a:t>
            </a:r>
          </a:p>
        </p:txBody>
      </p:sp>
      <p:sp>
        <p:nvSpPr>
          <p:cNvPr id="6" name="col-head-13-0">
            <a:extLst xmlns:a="http://schemas.openxmlformats.org/drawingml/2006/main">
              <a:ext uri="{FF2B5EF4-FFF2-40B4-BE49-F238E27FC236}">
                <a16:creationId xmlns:a16="http://schemas.microsoft.com/office/drawing/2014/main" id="{5FDB888E-8773-42CF-8B46-65C1BC0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3-0">
            <a:extLst xmlns:a="http://schemas.openxmlformats.org/drawingml/2006/main">
              <a:ext uri="{FF2B5EF4-FFF2-40B4-BE49-F238E27FC236}">
                <a16:creationId xmlns:a16="http://schemas.microsoft.com/office/drawing/2014/main" id="{EEEF866C-D705-4E8F-81E2-88384D7B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3-0">
            <a:extLst xmlns:a="http://schemas.openxmlformats.org/drawingml/2006/main">
              <a:ext uri="{FF2B5EF4-FFF2-40B4-BE49-F238E27FC236}">
                <a16:creationId xmlns:a16="http://schemas.microsoft.com/office/drawing/2014/main" id="{2CAF4D36-7499-458D-B550-8C34C2CC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3-1">
            <a:extLst xmlns:a="http://schemas.openxmlformats.org/drawingml/2006/main">
              <a:ext uri="{FF2B5EF4-FFF2-40B4-BE49-F238E27FC236}">
                <a16:creationId xmlns:a16="http://schemas.microsoft.com/office/drawing/2014/main" id="{C8C472FE-0751-4122-8E38-90E257B5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3-1">
            <a:extLst xmlns:a="http://schemas.openxmlformats.org/drawingml/2006/main">
              <a:ext uri="{FF2B5EF4-FFF2-40B4-BE49-F238E27FC236}">
                <a16:creationId xmlns:a16="http://schemas.microsoft.com/office/drawing/2014/main" id="{17DF658D-8587-4163-8648-B011C72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3-1">
            <a:extLst xmlns:a="http://schemas.openxmlformats.org/drawingml/2006/main">
              <a:ext uri="{FF2B5EF4-FFF2-40B4-BE49-F238E27FC236}">
                <a16:creationId xmlns:a16="http://schemas.microsoft.com/office/drawing/2014/main" id="{A72D4CB6-6757-4300-ACDC-70FDD9E6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3-2">
            <a:extLst xmlns:a="http://schemas.openxmlformats.org/drawingml/2006/main">
              <a:ext uri="{FF2B5EF4-FFF2-40B4-BE49-F238E27FC236}">
                <a16:creationId xmlns:a16="http://schemas.microsoft.com/office/drawing/2014/main" id="{128395E8-1EBC-4F94-AF49-8729252B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3-2">
            <a:extLst xmlns:a="http://schemas.openxmlformats.org/drawingml/2006/main">
              <a:ext uri="{FF2B5EF4-FFF2-40B4-BE49-F238E27FC236}">
                <a16:creationId xmlns:a16="http://schemas.microsoft.com/office/drawing/2014/main" id="{BB45A497-4E0C-4C3D-BA40-4D171B4C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3-2">
            <a:extLst xmlns:a="http://schemas.openxmlformats.org/drawingml/2006/main">
              <a:ext uri="{FF2B5EF4-FFF2-40B4-BE49-F238E27FC236}">
                <a16:creationId xmlns:a16="http://schemas.microsoft.com/office/drawing/2014/main" id="{F04AC031-7152-46AB-B3CC-23407D7C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3">
            <a:extLst xmlns:a="http://schemas.openxmlformats.org/drawingml/2006/main">
              <a:ext uri="{FF2B5EF4-FFF2-40B4-BE49-F238E27FC236}">
                <a16:creationId xmlns:a16="http://schemas.microsoft.com/office/drawing/2014/main" id="{62C3B58A-9C18-4808-A876-45F4A344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1｜市民陳情：電話、線上、服務處與當面反映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2｜資料整理：遮蔽個資後呈現案件照片、地圖、時間軸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3｜現地了解：議員、居民與相關單位共同會勘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4｜問題定義：把個案拆成安全、預算、權責與期程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5｜形成提案或質詢重點</a:t>
            </a:r>
          </a:p>
        </p:txBody>
      </p:sp>
      <p:sp>
        <p:nvSpPr>
          <p:cNvPr id="16" name="audio-13">
            <a:extLst xmlns:a="http://schemas.openxmlformats.org/drawingml/2006/main">
              <a:ext uri="{FF2B5EF4-FFF2-40B4-BE49-F238E27FC236}">
                <a16:creationId xmlns:a16="http://schemas.microsoft.com/office/drawing/2014/main" id="{26F6825C-57B8-4E2A-9688-2835B19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節奏由單點訊息逐步堆疊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保留市民一句原音：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「我們希望有人把這件事說清楚。」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會勘現場以同期聲為主，不另配過度情緒化音樂</a:t>
            </a:r>
          </a:p>
        </p:txBody>
      </p:sp>
      <p:sp>
        <p:nvSpPr>
          <p:cNvPr id="17" name="narration-13">
            <a:extLst xmlns:a="http://schemas.openxmlformats.org/drawingml/2006/main">
              <a:ext uri="{FF2B5EF4-FFF2-40B4-BE49-F238E27FC236}">
                <a16:creationId xmlns:a16="http://schemas.microsoft.com/office/drawing/2014/main" id="{9CD3DC35-75A1-4874-8B74-E6098509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市民看見的每一個改變,在這裡都有一段旅程。一份提案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與陳請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,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從服務處出發,走進委員會,被逐條檢視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
一個看似單純的困難，可能牽涉安全、預算、法規與不同機關的權責。議會的工作，是把零散感受整理成可以討論的問題，把個人的不方便，轉化為公共議題。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每一年,數千億的市政預算在這裡逐項把關;大會與各委員會分工合力,只為一件事:讓你的聲音,成為城市的決定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字卡</a:t>
            </a: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受理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查證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現勘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定義問題</a:t>
            </a:r>
            <a:endParaRPr sz="1349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8" name="footer-line-13">
            <a:extLst xmlns:a="http://schemas.openxmlformats.org/drawingml/2006/main">
              <a:ext uri="{FF2B5EF4-FFF2-40B4-BE49-F238E27FC236}">
                <a16:creationId xmlns:a16="http://schemas.microsoft.com/office/drawing/2014/main" id="{FE7B51E6-F5D5-43D2-BC3D-8B5E909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3">
            <a:extLst xmlns:a="http://schemas.openxmlformats.org/drawingml/2006/main">
              <a:ext uri="{FF2B5EF4-FFF2-40B4-BE49-F238E27FC236}">
                <a16:creationId xmlns:a16="http://schemas.microsoft.com/office/drawing/2014/main" id="{CC97CB1D-F7D9-4D53-BF82-55B4683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看見.共好｜第三章｜看見民意如何成為行動｜05:15–06:05</a:t>
            </a:r>
          </a:p>
        </p:txBody>
      </p:sp>
      <p:sp>
        <p:nvSpPr>
          <p:cNvPr id="20" name="footer-page-13">
            <a:extLst xmlns:a="http://schemas.openxmlformats.org/drawingml/2006/main">
              <a:ext uri="{FF2B5EF4-FFF2-40B4-BE49-F238E27FC236}">
                <a16:creationId xmlns:a16="http://schemas.microsoft.com/office/drawing/2014/main" id="{ECF06654-F5F2-49DA-96E4-C061F2C2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90447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4">
            <a:extLst xmlns:a="http://schemas.openxmlformats.org/drawingml/2006/main">
              <a:ext uri="{FF2B5EF4-FFF2-40B4-BE49-F238E27FC236}">
                <a16:creationId xmlns:a16="http://schemas.microsoft.com/office/drawing/2014/main" id="{117EDF47-2010-4246-B584-DDEDC33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分鏡腳本｜第三章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4">
            <a:extLst xmlns:a="http://schemas.openxmlformats.org/drawingml/2006/main">
              <a:ext uri="{FF2B5EF4-FFF2-40B4-BE49-F238E27FC236}">
                <a16:creationId xmlns:a16="http://schemas.microsoft.com/office/drawing/2014/main" id="{D6EF9010-9FA8-42B0-BB6F-A05F6B15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400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讓承諾有進度，讓改變被追蹤</a:t>
            </a:r>
            <a:endParaRPr sz="2400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4">
            <a:extLst xmlns:a="http://schemas.openxmlformats.org/drawingml/2006/main">
              <a:ext uri="{FF2B5EF4-FFF2-40B4-BE49-F238E27FC236}">
                <a16:creationId xmlns:a16="http://schemas.microsoft.com/office/drawing/2014/main" id="{88BCB0DA-3A0C-4B4A-9CA4-F7D462FC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4">
            <a:extLst xmlns:a="http://schemas.openxmlformats.org/drawingml/2006/main">
              <a:ext uri="{FF2B5EF4-FFF2-40B4-BE49-F238E27FC236}">
                <a16:creationId xmlns:a16="http://schemas.microsoft.com/office/drawing/2014/main" id="{351AB4AF-0577-4BC4-84E7-31D1615C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民意轉化 B｜質詢、審查、議決、追蹤</a:t>
            </a:r>
          </a:p>
        </p:txBody>
      </p:sp>
      <p:sp>
        <p:nvSpPr>
          <p:cNvPr id="5" name="scene-duration-14">
            <a:extLst xmlns:a="http://schemas.openxmlformats.org/drawingml/2006/main">
              <a:ext uri="{FF2B5EF4-FFF2-40B4-BE49-F238E27FC236}">
                <a16:creationId xmlns:a16="http://schemas.microsoft.com/office/drawing/2014/main" id="{CFD12C69-8AAB-4C3B-8277-2A450799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06:05–06:55｜50 秒｜累計 06:55</a:t>
            </a:r>
          </a:p>
        </p:txBody>
      </p:sp>
      <p:sp>
        <p:nvSpPr>
          <p:cNvPr id="6" name="col-head-14-0">
            <a:extLst xmlns:a="http://schemas.openxmlformats.org/drawingml/2006/main">
              <a:ext uri="{FF2B5EF4-FFF2-40B4-BE49-F238E27FC236}">
                <a16:creationId xmlns:a16="http://schemas.microsoft.com/office/drawing/2014/main" id="{603551B6-A92F-4378-AA85-81CB12E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4-0">
            <a:extLst xmlns:a="http://schemas.openxmlformats.org/drawingml/2006/main">
              <a:ext uri="{FF2B5EF4-FFF2-40B4-BE49-F238E27FC236}">
                <a16:creationId xmlns:a16="http://schemas.microsoft.com/office/drawing/2014/main" id="{BC5A12AF-B52D-4E8E-A51D-15F8B6D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4-0">
            <a:extLst xmlns:a="http://schemas.openxmlformats.org/drawingml/2006/main">
              <a:ext uri="{FF2B5EF4-FFF2-40B4-BE49-F238E27FC236}">
                <a16:creationId xmlns:a16="http://schemas.microsoft.com/office/drawing/2014/main" id="{37C7AA13-88CD-4668-A4D8-000D88F63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4-1">
            <a:extLst xmlns:a="http://schemas.openxmlformats.org/drawingml/2006/main">
              <a:ext uri="{FF2B5EF4-FFF2-40B4-BE49-F238E27FC236}">
                <a16:creationId xmlns:a16="http://schemas.microsoft.com/office/drawing/2014/main" id="{C21CE52D-D3AF-4F3B-95E7-01364768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4-1">
            <a:extLst xmlns:a="http://schemas.openxmlformats.org/drawingml/2006/main">
              <a:ext uri="{FF2B5EF4-FFF2-40B4-BE49-F238E27FC236}">
                <a16:creationId xmlns:a16="http://schemas.microsoft.com/office/drawing/2014/main" id="{168C172F-4121-4C2A-BBAA-16DB3AA4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4-1">
            <a:extLst xmlns:a="http://schemas.openxmlformats.org/drawingml/2006/main">
              <a:ext uri="{FF2B5EF4-FFF2-40B4-BE49-F238E27FC236}">
                <a16:creationId xmlns:a16="http://schemas.microsoft.com/office/drawing/2014/main" id="{0D5AABFD-D41D-4038-8CD1-86AEEB1E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4-2">
            <a:extLst xmlns:a="http://schemas.openxmlformats.org/drawingml/2006/main">
              <a:ext uri="{FF2B5EF4-FFF2-40B4-BE49-F238E27FC236}">
                <a16:creationId xmlns:a16="http://schemas.microsoft.com/office/drawing/2014/main" id="{9D0E1F00-B497-441B-8590-7285DA6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4-2">
            <a:extLst xmlns:a="http://schemas.openxmlformats.org/drawingml/2006/main">
              <a:ext uri="{FF2B5EF4-FFF2-40B4-BE49-F238E27FC236}">
                <a16:creationId xmlns:a16="http://schemas.microsoft.com/office/drawing/2014/main" id="{345BE1B6-A418-4C49-A33B-E9B7DEE1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4-2">
            <a:extLst xmlns:a="http://schemas.openxmlformats.org/drawingml/2006/main">
              <a:ext uri="{FF2B5EF4-FFF2-40B4-BE49-F238E27FC236}">
                <a16:creationId xmlns:a16="http://schemas.microsoft.com/office/drawing/2014/main" id="{BC667C5F-4392-4DC4-A0B7-4E5570F2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4">
            <a:extLst xmlns:a="http://schemas.openxmlformats.org/drawingml/2006/main">
              <a:ext uri="{FF2B5EF4-FFF2-40B4-BE49-F238E27FC236}">
                <a16:creationId xmlns:a16="http://schemas.microsoft.com/office/drawing/2014/main" id="{EFD239AE-8CE6-4922-B41C-F40EE9A6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6｜議事殿堂：口頭／書面質詢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7｜委員會：資料比對、專業審查、意見交換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8｜大會：討論、議決與公開紀錄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9｜後續追蹤：列管回覆、工程進度、政策修正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STEP 10｜回到現場：同一機位拍攝改善前後，未完成案件則呈現追蹤狀態</a:t>
            </a:r>
          </a:p>
        </p:txBody>
      </p:sp>
      <p:sp>
        <p:nvSpPr>
          <p:cNvPr id="16" name="audio-14">
            <a:extLst xmlns:a="http://schemas.openxmlformats.org/drawingml/2006/main">
              <a:ext uri="{FF2B5EF4-FFF2-40B4-BE49-F238E27FC236}">
                <a16:creationId xmlns:a16="http://schemas.microsoft.com/office/drawing/2014/main" id="{2E3F839D-A572-460A-978F-D5648ED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議事槌、麥克風開啟、翻頁與鍵盤聲形成節拍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重要數據以簡潔動態字卡同步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不以「完工」作為唯一結局；誠實呈現持續追蹤</a:t>
            </a:r>
          </a:p>
        </p:txBody>
      </p:sp>
      <p:sp>
        <p:nvSpPr>
          <p:cNvPr id="17" name="narration-14">
            <a:extLst xmlns:a="http://schemas.openxmlformats.org/drawingml/2006/main">
              <a:ext uri="{FF2B5EF4-FFF2-40B4-BE49-F238E27FC236}">
                <a16:creationId xmlns:a16="http://schemas.microsoft.com/office/drawing/2014/main" id="{16B68102-D29B-4D25-B581-10E4A08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接著，問題走進質詢與審查。議員要求說明、檢視資料、確認預算與期程；不同意見在會議中被提出，也在公開紀錄中留下軌跡。
有些事情能很快改善，有些需要跨局處協調，有些必須經過法規與預算程序。重要的不是一句承諾，而是每一步都有依據、每一個進度都能被追蹤。
從人民的聲音，到制度的行動，再回到生活的現場——這就是監督的意義，也是民主看得見的方式。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【動畫字卡】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質詢 → 審查 → 議決 → 追蹤 → 回到現場</a:t>
            </a:r>
          </a:p>
        </p:txBody>
      </p:sp>
      <p:sp>
        <p:nvSpPr>
          <p:cNvPr id="18" name="footer-line-14">
            <a:extLst xmlns:a="http://schemas.openxmlformats.org/drawingml/2006/main">
              <a:ext uri="{FF2B5EF4-FFF2-40B4-BE49-F238E27FC236}">
                <a16:creationId xmlns:a16="http://schemas.microsoft.com/office/drawing/2014/main" id="{889FB5AB-CA8F-4943-9CE7-78E387ED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4">
            <a:extLst xmlns:a="http://schemas.openxmlformats.org/drawingml/2006/main">
              <a:ext uri="{FF2B5EF4-FFF2-40B4-BE49-F238E27FC236}">
                <a16:creationId xmlns:a16="http://schemas.microsoft.com/office/drawing/2014/main" id="{54F1E0BA-01F5-422C-95BF-55195BE7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看見.共好｜第三章｜看見民意如何成為行動｜06:05–06:55</a:t>
            </a:r>
          </a:p>
        </p:txBody>
      </p:sp>
      <p:sp>
        <p:nvSpPr>
          <p:cNvPr id="20" name="footer-page-14">
            <a:extLst xmlns:a="http://schemas.openxmlformats.org/drawingml/2006/main">
              <a:ext uri="{FF2B5EF4-FFF2-40B4-BE49-F238E27FC236}">
                <a16:creationId xmlns:a16="http://schemas.microsoft.com/office/drawing/2014/main" id="{731FEDA5-566B-49EE-8882-15BA8C27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79076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5">
            <a:extLst xmlns:a="http://schemas.openxmlformats.org/drawingml/2006/main">
              <a:ext uri="{FF2B5EF4-FFF2-40B4-BE49-F238E27FC236}">
                <a16:creationId xmlns:a16="http://schemas.microsoft.com/office/drawing/2014/main" id="{65EB682D-CBB1-4916-B5D9-25685F36A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5">
            <a:extLst xmlns:a="http://schemas.openxmlformats.org/drawingml/2006/main">
              <a:ext uri="{FF2B5EF4-FFF2-40B4-BE49-F238E27FC236}">
                <a16:creationId xmlns:a16="http://schemas.microsoft.com/office/drawing/2014/main" id="{26EBE2F0-5E04-414D-87BC-B9CC11E8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每一項決定，都經得起公開討論</a:t>
            </a:r>
            <a:endParaRPr sz="2099" b="1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3" name="scene-band-15">
            <a:extLst xmlns:a="http://schemas.openxmlformats.org/drawingml/2006/main">
              <a:ext uri="{FF2B5EF4-FFF2-40B4-BE49-F238E27FC236}">
                <a16:creationId xmlns:a16="http://schemas.microsoft.com/office/drawing/2014/main" id="{51B69AD3-D8C5-4548-A3C1-D04C65BB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5">
            <a:extLst xmlns:a="http://schemas.openxmlformats.org/drawingml/2006/main">
              <a:ext uri="{FF2B5EF4-FFF2-40B4-BE49-F238E27FC236}">
                <a16:creationId xmlns:a16="http://schemas.microsoft.com/office/drawing/2014/main" id="{A6DD1198-CAB4-46E2-994A-A28E07A7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議會職權｜把制度拍成看得懂的流程</a:t>
            </a:r>
          </a:p>
        </p:txBody>
      </p:sp>
      <p:sp>
        <p:nvSpPr>
          <p:cNvPr id="5" name="scene-duration-15">
            <a:extLst xmlns:a="http://schemas.openxmlformats.org/drawingml/2006/main">
              <a:ext uri="{FF2B5EF4-FFF2-40B4-BE49-F238E27FC236}">
                <a16:creationId xmlns:a16="http://schemas.microsoft.com/office/drawing/2014/main" id="{F71EFABB-A35D-4634-B8D3-B6A3BA45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06:55–08:15｜80 秒｜累計 08:15</a:t>
            </a:r>
          </a:p>
        </p:txBody>
      </p:sp>
      <p:sp>
        <p:nvSpPr>
          <p:cNvPr id="6" name="col-head-15-0">
            <a:extLst xmlns:a="http://schemas.openxmlformats.org/drawingml/2006/main">
              <a:ext uri="{FF2B5EF4-FFF2-40B4-BE49-F238E27FC236}">
                <a16:creationId xmlns:a16="http://schemas.microsoft.com/office/drawing/2014/main" id="{9A13A44B-148E-4DD2-B511-573B5FEE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5-0">
            <a:extLst xmlns:a="http://schemas.openxmlformats.org/drawingml/2006/main">
              <a:ext uri="{FF2B5EF4-FFF2-40B4-BE49-F238E27FC236}">
                <a16:creationId xmlns:a16="http://schemas.microsoft.com/office/drawing/2014/main" id="{2390199E-AAEC-40FF-873A-D2D8B65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5-0">
            <a:extLst xmlns:a="http://schemas.openxmlformats.org/drawingml/2006/main">
              <a:ext uri="{FF2B5EF4-FFF2-40B4-BE49-F238E27FC236}">
                <a16:creationId xmlns:a16="http://schemas.microsoft.com/office/drawing/2014/main" id="{782D1824-2FC9-4F5F-BE5C-87E869DF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5-1">
            <a:extLst xmlns:a="http://schemas.openxmlformats.org/drawingml/2006/main">
              <a:ext uri="{FF2B5EF4-FFF2-40B4-BE49-F238E27FC236}">
                <a16:creationId xmlns:a16="http://schemas.microsoft.com/office/drawing/2014/main" id="{C44F42E8-B91F-443B-956D-D305574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5-1">
            <a:extLst xmlns:a="http://schemas.openxmlformats.org/drawingml/2006/main">
              <a:ext uri="{FF2B5EF4-FFF2-40B4-BE49-F238E27FC236}">
                <a16:creationId xmlns:a16="http://schemas.microsoft.com/office/drawing/2014/main" id="{BD7C2563-386E-4BE3-9CF6-5A18B4A7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5-1">
            <a:extLst xmlns:a="http://schemas.openxmlformats.org/drawingml/2006/main">
              <a:ext uri="{FF2B5EF4-FFF2-40B4-BE49-F238E27FC236}">
                <a16:creationId xmlns:a16="http://schemas.microsoft.com/office/drawing/2014/main" id="{79913849-3524-403D-8A97-0C8A3CD5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5-2">
            <a:extLst xmlns:a="http://schemas.openxmlformats.org/drawingml/2006/main">
              <a:ext uri="{FF2B5EF4-FFF2-40B4-BE49-F238E27FC236}">
                <a16:creationId xmlns:a16="http://schemas.microsoft.com/office/drawing/2014/main" id="{035586F8-0BC2-42BE-8881-B240FF22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5-2">
            <a:extLst xmlns:a="http://schemas.openxmlformats.org/drawingml/2006/main">
              <a:ext uri="{FF2B5EF4-FFF2-40B4-BE49-F238E27FC236}">
                <a16:creationId xmlns:a16="http://schemas.microsoft.com/office/drawing/2014/main" id="{871C56CB-1B50-4A2A-8233-2961CAAB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5-2">
            <a:extLst xmlns:a="http://schemas.openxmlformats.org/drawingml/2006/main">
              <a:ext uri="{FF2B5EF4-FFF2-40B4-BE49-F238E27FC236}">
                <a16:creationId xmlns:a16="http://schemas.microsoft.com/office/drawing/2014/main" id="{F29B1CA4-DEB9-4777-8937-CA9A840D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5">
            <a:extLst xmlns:a="http://schemas.openxmlformats.org/drawingml/2006/main">
              <a:ext uri="{FF2B5EF4-FFF2-40B4-BE49-F238E27FC236}">
                <a16:creationId xmlns:a16="http://schemas.microsoft.com/office/drawing/2014/main" id="{172FD095-22F4-4030-A9F6-334017D1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16｜大會全景＋議程字幕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17｜程序會、各審查委員會、法規審查、聯席會議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18｜市政總質詢、業務質詢、書面資料特寫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19｜預算書、決算審核報告、自治條例三讀畫面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20｜議事影音平台、表決與會議紀錄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民意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提案／市府提案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審查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大會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執行與監督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5">
            <a:extLst xmlns:a="http://schemas.openxmlformats.org/drawingml/2006/main">
              <a:ext uri="{FF2B5EF4-FFF2-40B4-BE49-F238E27FC236}">
                <a16:creationId xmlns:a16="http://schemas.microsoft.com/office/drawing/2014/main" id="{A988B9A1-0F5F-4CCF-B550-8896CED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旁白講職權時，每項搭配真實會議動作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避免長時間停留在組織圖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音樂降低，讓質詢原音穿插 2–3 句，每句不超過 4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字幕標示「實際議事畫面」與議程名稱</a:t>
            </a:r>
          </a:p>
        </p:txBody>
      </p:sp>
      <p:sp>
        <p:nvSpPr>
          <p:cNvPr id="17" name="narration-15">
            <a:extLst xmlns:a="http://schemas.openxmlformats.org/drawingml/2006/main">
              <a:ext uri="{FF2B5EF4-FFF2-40B4-BE49-F238E27FC236}">
                <a16:creationId xmlns:a16="http://schemas.microsoft.com/office/drawing/2014/main" id="{55317372-B963-4899-B9D6-AF8C123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議會，是地方自治中代表市民行使監督與議決權的機關。
從城市的法規、年度預算與決算，到市稅、公共財產、市府組織與各項提案，都必須透過議會的程序接受檢視。人民的請願，也能在這裡進入正式的制度。
議案依性質進入程序與各審查委員會，經資料審閱、詢答、討論，再送交大會議決；議員也透過市政總質詢、業務質詢、現勘與書面建議，要求行政部門說明並改善。
監督不是阻擋前進，而是讓每一筆公共資源用得更負責；討論也不是拖延，而是讓不同影響被充分看見。
每一項決定，都必須留下紀錄，也必須經得起公開討論。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議決｜審查｜質詢｜請願｜監督</a:t>
            </a:r>
          </a:p>
        </p:txBody>
      </p:sp>
      <p:sp>
        <p:nvSpPr>
          <p:cNvPr id="18" name="footer-line-15">
            <a:extLst xmlns:a="http://schemas.openxmlformats.org/drawingml/2006/main">
              <a:ext uri="{FF2B5EF4-FFF2-40B4-BE49-F238E27FC236}">
                <a16:creationId xmlns:a16="http://schemas.microsoft.com/office/drawing/2014/main" id="{D58E675F-4C3A-4456-94A3-9AD6BF77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5">
            <a:extLst xmlns:a="http://schemas.openxmlformats.org/drawingml/2006/main">
              <a:ext uri="{FF2B5EF4-FFF2-40B4-BE49-F238E27FC236}">
                <a16:creationId xmlns:a16="http://schemas.microsoft.com/office/drawing/2014/main" id="{89AA2BF8-DA3B-4366-8928-9D29746F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看見.共好｜第四章｜看見議會如何運作｜06:55–08:15</a:t>
            </a:r>
          </a:p>
        </p:txBody>
      </p:sp>
      <p:sp>
        <p:nvSpPr>
          <p:cNvPr id="20" name="footer-page-15">
            <a:extLst xmlns:a="http://schemas.openxmlformats.org/drawingml/2006/main">
              <a:ext uri="{FF2B5EF4-FFF2-40B4-BE49-F238E27FC236}">
                <a16:creationId xmlns:a16="http://schemas.microsoft.com/office/drawing/2014/main" id="{C80EA151-0155-42C2-A822-825ED52C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752410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6">
            <a:extLst xmlns:a="http://schemas.openxmlformats.org/drawingml/2006/main">
              <a:ext uri="{FF2B5EF4-FFF2-40B4-BE49-F238E27FC236}">
                <a16:creationId xmlns:a16="http://schemas.microsoft.com/office/drawing/2014/main" id="{97301798-40B2-46FC-9673-E527098F6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分鏡腳本｜第四章</a:t>
            </a:r>
            <a:endParaRPr sz="1049" b="1">
              <a:solidFill>
                <a:srgbClr val="416E8A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6">
            <a:extLst xmlns:a="http://schemas.openxmlformats.org/drawingml/2006/main">
              <a:ext uri="{FF2B5EF4-FFF2-40B4-BE49-F238E27FC236}">
                <a16:creationId xmlns:a16="http://schemas.microsoft.com/office/drawing/2014/main" id="{FB43A0ED-B6F6-4CA3-B0DD-F65B549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讓民主被理解，也被完整保存</a:t>
            </a:r>
          </a:p>
        </p:txBody>
      </p:sp>
      <p:sp>
        <p:nvSpPr>
          <p:cNvPr id="3" name="scene-band-16">
            <a:extLst xmlns:a="http://schemas.openxmlformats.org/drawingml/2006/main">
              <a:ext uri="{FF2B5EF4-FFF2-40B4-BE49-F238E27FC236}">
                <a16:creationId xmlns:a16="http://schemas.microsoft.com/office/drawing/2014/main" id="{7D06B2FC-90FF-4CF1-BCF5-1DE4294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6">
            <a:extLst xmlns:a="http://schemas.openxmlformats.org/drawingml/2006/main">
              <a:ext uri="{FF2B5EF4-FFF2-40B4-BE49-F238E27FC236}">
                <a16:creationId xmlns:a16="http://schemas.microsoft.com/office/drawing/2014/main" id="{83353A3F-48BD-4725-A397-1FF834A0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416E8A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416E8A"/>
                </a:solidFill>
                <a:latin typeface="PingFang TC"/>
                <a:ea typeface="PingFang TC"/>
                <a:cs typeface="PingFang TC"/>
              </a:rPr>
              <a:t>行政團隊｜讓每一場會議可信、可查</a:t>
            </a:r>
          </a:p>
        </p:txBody>
      </p:sp>
      <p:sp>
        <p:nvSpPr>
          <p:cNvPr id="5" name="scene-duration-16">
            <a:extLst xmlns:a="http://schemas.openxmlformats.org/drawingml/2006/main">
              <a:ext uri="{FF2B5EF4-FFF2-40B4-BE49-F238E27FC236}">
                <a16:creationId xmlns:a16="http://schemas.microsoft.com/office/drawing/2014/main" id="{518C8E5B-3130-4CE6-A42F-657F4F18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08:15–09:10｜55 秒｜累計 09:10</a:t>
            </a:r>
          </a:p>
        </p:txBody>
      </p:sp>
      <p:sp>
        <p:nvSpPr>
          <p:cNvPr id="6" name="col-head-16-0">
            <a:extLst xmlns:a="http://schemas.openxmlformats.org/drawingml/2006/main">
              <a:ext uri="{FF2B5EF4-FFF2-40B4-BE49-F238E27FC236}">
                <a16:creationId xmlns:a16="http://schemas.microsoft.com/office/drawing/2014/main" id="{05F6B5F8-7986-4EE8-A911-F4B889C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6-0">
            <a:extLst xmlns:a="http://schemas.openxmlformats.org/drawingml/2006/main">
              <a:ext uri="{FF2B5EF4-FFF2-40B4-BE49-F238E27FC236}">
                <a16:creationId xmlns:a16="http://schemas.microsoft.com/office/drawing/2014/main" id="{029CCD11-2220-4CA8-AD28-D8BB6C942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6-0">
            <a:extLst xmlns:a="http://schemas.openxmlformats.org/drawingml/2006/main">
              <a:ext uri="{FF2B5EF4-FFF2-40B4-BE49-F238E27FC236}">
                <a16:creationId xmlns:a16="http://schemas.microsoft.com/office/drawing/2014/main" id="{97D57F47-B42E-45FB-BE60-E6AC873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6-1">
            <a:extLst xmlns:a="http://schemas.openxmlformats.org/drawingml/2006/main">
              <a:ext uri="{FF2B5EF4-FFF2-40B4-BE49-F238E27FC236}">
                <a16:creationId xmlns:a16="http://schemas.microsoft.com/office/drawing/2014/main" id="{EC7A94C1-AB8A-4DA4-B55A-C792FC2D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6-1">
            <a:extLst xmlns:a="http://schemas.openxmlformats.org/drawingml/2006/main">
              <a:ext uri="{FF2B5EF4-FFF2-40B4-BE49-F238E27FC236}">
                <a16:creationId xmlns:a16="http://schemas.microsoft.com/office/drawing/2014/main" id="{2C5ED556-F55E-456F-81E8-9C4AECCF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6-1">
            <a:extLst xmlns:a="http://schemas.openxmlformats.org/drawingml/2006/main">
              <a:ext uri="{FF2B5EF4-FFF2-40B4-BE49-F238E27FC236}">
                <a16:creationId xmlns:a16="http://schemas.microsoft.com/office/drawing/2014/main" id="{19497590-D156-4EAE-9120-CB942300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6-2">
            <a:extLst xmlns:a="http://schemas.openxmlformats.org/drawingml/2006/main">
              <a:ext uri="{FF2B5EF4-FFF2-40B4-BE49-F238E27FC236}">
                <a16:creationId xmlns:a16="http://schemas.microsoft.com/office/drawing/2014/main" id="{11A0AAFA-4D9F-4125-9A60-1A04B37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6-2">
            <a:extLst xmlns:a="http://schemas.openxmlformats.org/drawingml/2006/main">
              <a:ext uri="{FF2B5EF4-FFF2-40B4-BE49-F238E27FC236}">
                <a16:creationId xmlns:a16="http://schemas.microsoft.com/office/drawing/2014/main" id="{EC5EC122-D852-4B46-9A77-C89B7E0C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6-2">
            <a:extLst xmlns:a="http://schemas.openxmlformats.org/drawingml/2006/main">
              <a:ext uri="{FF2B5EF4-FFF2-40B4-BE49-F238E27FC236}">
                <a16:creationId xmlns:a16="http://schemas.microsoft.com/office/drawing/2014/main" id="{E5E73552-F325-4F50-99D4-A2A2FF0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6">
            <a:extLst xmlns:a="http://schemas.openxmlformats.org/drawingml/2006/main">
              <a:ext uri="{FF2B5EF4-FFF2-40B4-BE49-F238E27FC236}">
                <a16:creationId xmlns:a16="http://schemas.microsoft.com/office/drawing/2014/main" id="{5A29FA93-B2DD-4927-BDA7-397DFEB6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21｜開會前：議程、席次、麥克風、文件與系統測試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22｜會議中：議事、法制、文書、資訊與影音人員協作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23｜會議後：紀錄整理、議案上網、影音典藏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24｜會史館展示更新、簡報室新 LED 與多語播放測試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25｜國內外訪賓參訪、公共關係與導覽服務</a:t>
            </a:r>
          </a:p>
        </p:txBody>
      </p:sp>
      <p:sp>
        <p:nvSpPr>
          <p:cNvPr id="16" name="audio-16">
            <a:extLst xmlns:a="http://schemas.openxmlformats.org/drawingml/2006/main">
              <a:ext uri="{FF2B5EF4-FFF2-40B4-BE49-F238E27FC236}">
                <a16:creationId xmlns:a16="http://schemas.microsoft.com/office/drawing/2014/main" id="{9C1B68A2-AD62-4F99-A1D8-7664CE43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以開會前倒數聲建立秩序感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不同處室動作採聲音接力：翻頁、插線、測麥、鍵盤、快門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音樂重新加入溫度，節奏穩定向前</a:t>
            </a:r>
          </a:p>
        </p:txBody>
      </p:sp>
      <p:sp>
        <p:nvSpPr>
          <p:cNvPr id="17" name="narration-16">
            <a:extLst xmlns:a="http://schemas.openxmlformats.org/drawingml/2006/main">
              <a:ext uri="{FF2B5EF4-FFF2-40B4-BE49-F238E27FC236}">
                <a16:creationId xmlns:a16="http://schemas.microsoft.com/office/drawing/2014/main" id="{49AB0F68-65FC-4922-BE29-B828F0B0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一場會議能順利進行，背後有許多看不見的準備。
從議程安排、法制研析、文書與會議紀錄，到資訊系統、影音轉播、公共關係與行政支援，議會團隊讓每一場討論有秩序、有依據，也有可以查詢的紀錄。
會史館保存地方自治走過的路；更新後的簡報室，則讓議會的故事以更清楚、更友善的方式被看見。
當資料可以查找、影像可以回看、內容可以用不同語言理解，民主就不只發生在會議當下，也能被認識、被保存、被傳承。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準備每一場會議｜保存每一段民主紀錄</a:t>
            </a:r>
          </a:p>
        </p:txBody>
      </p:sp>
      <p:sp>
        <p:nvSpPr>
          <p:cNvPr id="18" name="footer-line-16">
            <a:extLst xmlns:a="http://schemas.openxmlformats.org/drawingml/2006/main">
              <a:ext uri="{FF2B5EF4-FFF2-40B4-BE49-F238E27FC236}">
                <a16:creationId xmlns:a16="http://schemas.microsoft.com/office/drawing/2014/main" id="{9CAA4206-9610-46BA-B08A-7C9B1CA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6">
            <a:extLst xmlns:a="http://schemas.openxmlformats.org/drawingml/2006/main">
              <a:ext uri="{FF2B5EF4-FFF2-40B4-BE49-F238E27FC236}">
                <a16:creationId xmlns:a16="http://schemas.microsoft.com/office/drawing/2014/main" id="{DF3F98DD-DE97-4E2C-B4B4-E33A15F3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看見.共好｜第四章｜看見議會如何運作｜08:15–09:10</a:t>
            </a:r>
          </a:p>
        </p:txBody>
      </p:sp>
      <p:sp>
        <p:nvSpPr>
          <p:cNvPr id="20" name="footer-page-16">
            <a:extLst xmlns:a="http://schemas.openxmlformats.org/drawingml/2006/main">
              <a:ext uri="{FF2B5EF4-FFF2-40B4-BE49-F238E27FC236}">
                <a16:creationId xmlns:a16="http://schemas.microsoft.com/office/drawing/2014/main" id="{20577777-EC99-4C45-94BF-06C6016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6241537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8">
            <a:extLst xmlns:a="http://schemas.openxmlformats.org/drawingml/2006/main">
              <a:ext uri="{FF2B5EF4-FFF2-40B4-BE49-F238E27FC236}">
                <a16:creationId xmlns:a16="http://schemas.microsoft.com/office/drawing/2014/main" id="{1A45D042-25A6-4773-9C33-7FABD36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分鏡腳本｜第五章</a:t>
            </a:r>
            <a:endParaRPr sz="1049" b="1">
              <a:solidFill>
                <a:srgbClr val="C85B4B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2" name="scene-title-18">
            <a:extLst xmlns:a="http://schemas.openxmlformats.org/drawingml/2006/main">
              <a:ext uri="{FF2B5EF4-FFF2-40B4-BE49-F238E27FC236}">
                <a16:creationId xmlns:a16="http://schemas.microsoft.com/office/drawing/2014/main" id="{C0C6CFEC-A538-4059-94BE-9322975A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 5 屆的承諾，是讓每一份託付持續被看見</a:t>
            </a:r>
          </a:p>
        </p:txBody>
      </p:sp>
      <p:sp>
        <p:nvSpPr>
          <p:cNvPr id="3" name="scene-band-18">
            <a:extLst xmlns:a="http://schemas.openxmlformats.org/drawingml/2006/main">
              <a:ext uri="{FF2B5EF4-FFF2-40B4-BE49-F238E27FC236}">
                <a16:creationId xmlns:a16="http://schemas.microsoft.com/office/drawing/2014/main" id="{9603BE48-F247-49A4-A203-96C587D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8">
            <a:extLst xmlns:a="http://schemas.openxmlformats.org/drawingml/2006/main">
              <a:ext uri="{FF2B5EF4-FFF2-40B4-BE49-F238E27FC236}">
                <a16:creationId xmlns:a16="http://schemas.microsoft.com/office/drawing/2014/main" id="{E0F57F14-5EB3-4749-BDEF-CC40A61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議長期許｜建議口白可直接送審錄製</a:t>
            </a:r>
          </a:p>
        </p:txBody>
      </p:sp>
      <p:sp>
        <p:nvSpPr>
          <p:cNvPr id="6" name="col-head-18-0">
            <a:extLst xmlns:a="http://schemas.openxmlformats.org/drawingml/2006/main">
              <a:ext uri="{FF2B5EF4-FFF2-40B4-BE49-F238E27FC236}">
                <a16:creationId xmlns:a16="http://schemas.microsoft.com/office/drawing/2014/main" id="{990A3B5E-99D6-41FB-8605-783D899F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8-0">
            <a:extLst xmlns:a="http://schemas.openxmlformats.org/drawingml/2006/main">
              <a:ext uri="{FF2B5EF4-FFF2-40B4-BE49-F238E27FC236}">
                <a16:creationId xmlns:a16="http://schemas.microsoft.com/office/drawing/2014/main" id="{49530B3A-056D-4837-AC46-EFC764F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8-0">
            <a:extLst xmlns:a="http://schemas.openxmlformats.org/drawingml/2006/main">
              <a:ext uri="{FF2B5EF4-FFF2-40B4-BE49-F238E27FC236}">
                <a16:creationId xmlns:a16="http://schemas.microsoft.com/office/drawing/2014/main" id="{6024EEF8-94C0-410F-A352-416E3A2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8-1">
            <a:extLst xmlns:a="http://schemas.openxmlformats.org/drawingml/2006/main">
              <a:ext uri="{FF2B5EF4-FFF2-40B4-BE49-F238E27FC236}">
                <a16:creationId xmlns:a16="http://schemas.microsoft.com/office/drawing/2014/main" id="{77BFCBB0-0FDC-4C5E-88F9-6A77A05A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8-1">
            <a:extLst xmlns:a="http://schemas.openxmlformats.org/drawingml/2006/main">
              <a:ext uri="{FF2B5EF4-FFF2-40B4-BE49-F238E27FC236}">
                <a16:creationId xmlns:a16="http://schemas.microsoft.com/office/drawing/2014/main" id="{E0F9A63A-5716-4680-9C31-6E9CE242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8-1">
            <a:extLst xmlns:a="http://schemas.openxmlformats.org/drawingml/2006/main">
              <a:ext uri="{FF2B5EF4-FFF2-40B4-BE49-F238E27FC236}">
                <a16:creationId xmlns:a16="http://schemas.microsoft.com/office/drawing/2014/main" id="{E163E4EA-5F91-4B6E-AAF1-7D903EB5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8-2">
            <a:extLst xmlns:a="http://schemas.openxmlformats.org/drawingml/2006/main">
              <a:ext uri="{FF2B5EF4-FFF2-40B4-BE49-F238E27FC236}">
                <a16:creationId xmlns:a16="http://schemas.microsoft.com/office/drawing/2014/main" id="{EBF8D3CB-5A89-400F-98D7-A72E8727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8-2">
            <a:extLst xmlns:a="http://schemas.openxmlformats.org/drawingml/2006/main">
              <a:ext uri="{FF2B5EF4-FFF2-40B4-BE49-F238E27FC236}">
                <a16:creationId xmlns:a16="http://schemas.microsoft.com/office/drawing/2014/main" id="{F6254B14-6EEE-4F9A-A133-0268FF7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8-2">
            <a:extLst xmlns:a="http://schemas.openxmlformats.org/drawingml/2006/main">
              <a:ext uri="{FF2B5EF4-FFF2-40B4-BE49-F238E27FC236}">
                <a16:creationId xmlns:a16="http://schemas.microsoft.com/office/drawing/2014/main" id="{1FCF9AD8-A9FD-4343-ADE2-B1045C8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8">
            <a:extLst xmlns:a="http://schemas.openxmlformats.org/drawingml/2006/main">
              <a:ext uri="{FF2B5EF4-FFF2-40B4-BE49-F238E27FC236}">
                <a16:creationId xmlns:a16="http://schemas.microsoft.com/office/drawing/2014/main" id="{06ABE9E8-EF67-4923-B1B8-161A2038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｜議長於議事廳或自然採光空間受訪；鏡位平視、背景保留議會辨識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2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｜致詞間穿插：就職合照、議員傾聽、市民互動、現勘與質詢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3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｜第 5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屆全體成員在議場／階梯完成正式群像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4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｜鏡頭由群像拉遠，轉入城市夜景與清晨呼應</a:t>
            </a:r>
          </a:p>
        </p:txBody>
      </p:sp>
      <p:sp>
        <p:nvSpPr>
          <p:cNvPr id="16" name="audio-18">
            <a:extLst xmlns:a="http://schemas.openxmlformats.org/drawingml/2006/main">
              <a:ext uri="{FF2B5EF4-FFF2-40B4-BE49-F238E27FC236}">
                <a16:creationId xmlns:a16="http://schemas.microsoft.com/office/drawing/2014/main" id="{CE001C49-C2D4-4B0B-A46E-B52B8E26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議長原音建議 28–32 秒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不使用提詞感過重的正面背稿；採兩段訪談剪接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背景音樂降至 25%，保留自然呼吸與停頓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末句後停 1 秒再進旁白</a:t>
            </a:r>
          </a:p>
        </p:txBody>
      </p:sp>
      <p:sp>
        <p:nvSpPr>
          <p:cNvPr id="17" name="narration-18">
            <a:extLst xmlns:a="http://schemas.openxmlformats.org/drawingml/2006/main">
              <a:ext uri="{FF2B5EF4-FFF2-40B4-BE49-F238E27FC236}">
                <a16:creationId xmlns:a16="http://schemas.microsoft.com/office/drawing/2014/main" id="{588EFCC8-D945-49B6-96D1-7A800D7A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【議長建議原音】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第五屆新北市議會，承接的是六十八席民意，更是市民對這座城市的期待。
我們會尊重不同聲音，善盡審議與監督責任，讓公共資源回應真正的需要；也會持續走進地方、傾聽市民，讓每一項承諾都有進度、每一個問題都有回應。
新北的未來，需要市民、議會與市府一起努力。看見彼此，我們就能一起把城市變得更好。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每一屆議會，都站在前人走過的路上，也面向尚未完成的未來。第 5 屆的承諾，是讓每一份託付持續被看見，讓每一次討論，都更接近公共利益。</a:t>
            </a:r>
          </a:p>
        </p:txBody>
      </p:sp>
      <p:sp>
        <p:nvSpPr>
          <p:cNvPr id="18" name="footer-line-18">
            <a:extLst xmlns:a="http://schemas.openxmlformats.org/drawingml/2006/main">
              <a:ext uri="{FF2B5EF4-FFF2-40B4-BE49-F238E27FC236}">
                <a16:creationId xmlns:a16="http://schemas.microsoft.com/office/drawing/2014/main" id="{2EB84A32-E927-4A9A-8272-DAC91CA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8">
            <a:extLst xmlns:a="http://schemas.openxmlformats.org/drawingml/2006/main">
              <a:ext uri="{FF2B5EF4-FFF2-40B4-BE49-F238E27FC236}">
                <a16:creationId xmlns:a16="http://schemas.microsoft.com/office/drawing/2014/main" id="{9B904E02-534D-4033-ACF9-5D67219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看見.共好｜第五章｜走向共好｜09:10–10:15</a:t>
            </a:r>
          </a:p>
        </p:txBody>
      </p:sp>
      <p:sp>
        <p:nvSpPr>
          <p:cNvPr id="20" name="footer-page-18">
            <a:extLst xmlns:a="http://schemas.openxmlformats.org/drawingml/2006/main">
              <a:ext uri="{FF2B5EF4-FFF2-40B4-BE49-F238E27FC236}">
                <a16:creationId xmlns:a16="http://schemas.microsoft.com/office/drawing/2014/main" id="{519B1DFD-536B-4828-935B-542A92CB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  <p:sp>
        <p:nvSpPr>
          <p:cNvPr id="22" name="scene-duration-17">
            <a:extLst xmlns:a="http://schemas.openxmlformats.org/drawingml/2006/main">
              <a:ext uri="{FF2B5EF4-FFF2-40B4-BE49-F238E27FC236}">
                <a16:creationId xmlns:a16="http://schemas.microsoft.com/office/drawing/2014/main" id="{530DA148-63B3-2D49-82E0-D4DE9C08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09:10–10:15｜65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10:15</a:t>
            </a:r>
          </a:p>
        </p:txBody>
      </p:sp>
    </p:spTree>
    <p:extLst>
      <p:ext uri="{BB962C8B-B14F-4D97-AF65-F5344CB8AC3E}">
        <p14:creationId xmlns:p14="http://schemas.microsoft.com/office/powerpoint/2010/main" val="387315475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cene-kicker-19">
            <a:extLst xmlns:a="http://schemas.openxmlformats.org/drawingml/2006/main">
              <a:ext uri="{FF2B5EF4-FFF2-40B4-BE49-F238E27FC236}">
                <a16:creationId xmlns:a16="http://schemas.microsoft.com/office/drawing/2014/main" id="{6152CAC5-663C-4251-B237-24A16D9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342646"/>
            <a:ext cx="3426455" cy="266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分鏡腳本｜片尾｜回到片名</a:t>
            </a:r>
          </a:p>
        </p:txBody>
      </p:sp>
      <p:sp>
        <p:nvSpPr>
          <p:cNvPr id="2" name="scene-title-19">
            <a:extLst xmlns:a="http://schemas.openxmlformats.org/drawingml/2006/main">
              <a:ext uri="{FF2B5EF4-FFF2-40B4-BE49-F238E27FC236}">
                <a16:creationId xmlns:a16="http://schemas.microsoft.com/office/drawing/2014/main" id="{2081CBF3-9BCC-412B-98FA-D22A0426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666256"/>
            <a:ext cx="6643516" cy="571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20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看見未來，共好新北</a:t>
            </a:r>
          </a:p>
        </p:txBody>
      </p:sp>
      <p:sp>
        <p:nvSpPr>
          <p:cNvPr id="3" name="scene-band-19">
            <a:extLst xmlns:a="http://schemas.openxmlformats.org/drawingml/2006/main">
              <a:ext uri="{FF2B5EF4-FFF2-40B4-BE49-F238E27FC236}">
                <a16:creationId xmlns:a16="http://schemas.microsoft.com/office/drawing/2014/main" id="{897DD5F0-0D8E-4F2D-88C9-6374E0B7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408655"/>
            <a:ext cx="6643516" cy="456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cene-band-label-19">
            <a:extLst xmlns:a="http://schemas.openxmlformats.org/drawingml/2006/main">
              <a:ext uri="{FF2B5EF4-FFF2-40B4-BE49-F238E27FC236}">
                <a16:creationId xmlns:a16="http://schemas.microsoft.com/office/drawing/2014/main" id="{36CEAD27-2B63-4DB4-8108-DE338BDB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18" y="1446727"/>
            <a:ext cx="3616814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C85B4B"/>
                </a:solidFill>
                <a:latin typeface="PingFang TC"/>
                <a:ea typeface="PingFang TC"/>
                <a:cs typeface="PingFang TC"/>
              </a:defRPr>
            </a:pPr>
            <a:r>
              <a:rPr sz="1049" b="1">
                <a:solidFill>
                  <a:srgbClr val="C85B4B"/>
                </a:solidFill>
                <a:latin typeface="PingFang TC"/>
                <a:ea typeface="PingFang TC"/>
                <a:cs typeface="PingFang TC"/>
              </a:rPr>
              <a:t>結尾｜回收清晨，讓片名成為記憶</a:t>
            </a:r>
          </a:p>
        </p:txBody>
      </p:sp>
      <p:sp>
        <p:nvSpPr>
          <p:cNvPr id="5" name="scene-duration-19">
            <a:extLst xmlns:a="http://schemas.openxmlformats.org/drawingml/2006/main">
              <a:ext uri="{FF2B5EF4-FFF2-40B4-BE49-F238E27FC236}">
                <a16:creationId xmlns:a16="http://schemas.microsoft.com/office/drawing/2014/main" id="{ACB4DD8A-FB7E-4996-ACDB-9D712D07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947" y="1446727"/>
            <a:ext cx="2626949" cy="380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5–11: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0｜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55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秒｜累計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11: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</a:t>
            </a:r>
            <a:r>
              <a:rPr sz="8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0</a:t>
            </a:r>
          </a:p>
        </p:txBody>
      </p:sp>
      <p:sp>
        <p:nvSpPr>
          <p:cNvPr id="6" name="col-head-19-0">
            <a:extLst xmlns:a="http://schemas.openxmlformats.org/drawingml/2006/main">
              <a:ext uri="{FF2B5EF4-FFF2-40B4-BE49-F238E27FC236}">
                <a16:creationId xmlns:a16="http://schemas.microsoft.com/office/drawing/2014/main" id="{2BC61680-9777-45E2-995C-3E9E3595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979731"/>
            <a:ext cx="2141535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7" name="col-head-text-19-0">
            <a:extLst xmlns:a="http://schemas.openxmlformats.org/drawingml/2006/main">
              <a:ext uri="{FF2B5EF4-FFF2-40B4-BE49-F238E27FC236}">
                <a16:creationId xmlns:a16="http://schemas.microsoft.com/office/drawing/2014/main" id="{4C6A4348-73F8-4BC7-BC11-08867F35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739" y="1998766"/>
            <a:ext cx="2065391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畫面設計</a:t>
            </a:r>
          </a:p>
        </p:txBody>
      </p:sp>
      <p:sp>
        <p:nvSpPr>
          <p:cNvPr id="8" name="col-body-19-0">
            <a:extLst xmlns:a="http://schemas.openxmlformats.org/drawingml/2006/main">
              <a:ext uri="{FF2B5EF4-FFF2-40B4-BE49-F238E27FC236}">
                <a16:creationId xmlns:a16="http://schemas.microsoft.com/office/drawing/2014/main" id="{7B54169C-24B9-43F9-9A56-7319BCCA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2341412"/>
            <a:ext cx="2141535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9" name="col-head-19-1">
            <a:extLst xmlns:a="http://schemas.openxmlformats.org/drawingml/2006/main">
              <a:ext uri="{FF2B5EF4-FFF2-40B4-BE49-F238E27FC236}">
                <a16:creationId xmlns:a16="http://schemas.microsoft.com/office/drawing/2014/main" id="{ADA02019-3F8F-496D-92B1-DB4A2581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1979731"/>
            <a:ext cx="1751299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0" name="col-head-text-19-1">
            <a:extLst xmlns:a="http://schemas.openxmlformats.org/drawingml/2006/main">
              <a:ext uri="{FF2B5EF4-FFF2-40B4-BE49-F238E27FC236}">
                <a16:creationId xmlns:a16="http://schemas.microsoft.com/office/drawing/2014/main" id="{14B18A34-176B-4614-A9F7-5DD79852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273" y="1998766"/>
            <a:ext cx="1675156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剪輯／聲音</a:t>
            </a:r>
          </a:p>
        </p:txBody>
      </p:sp>
      <p:sp>
        <p:nvSpPr>
          <p:cNvPr id="11" name="col-body-19-1">
            <a:extLst xmlns:a="http://schemas.openxmlformats.org/drawingml/2006/main">
              <a:ext uri="{FF2B5EF4-FFF2-40B4-BE49-F238E27FC236}">
                <a16:creationId xmlns:a16="http://schemas.microsoft.com/office/drawing/2014/main" id="{31351A83-9B4C-44E8-9D7D-B4FC1DC4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202" y="2341412"/>
            <a:ext cx="1751299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5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2" name="col-head-19-2">
            <a:extLst xmlns:a="http://schemas.openxmlformats.org/drawingml/2006/main">
              <a:ext uri="{FF2B5EF4-FFF2-40B4-BE49-F238E27FC236}">
                <a16:creationId xmlns:a16="http://schemas.microsoft.com/office/drawing/2014/main" id="{F96992CC-C2EB-4967-A108-784C697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1979731"/>
            <a:ext cx="2750682" cy="361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3" name="col-head-text-19-2">
            <a:extLst xmlns:a="http://schemas.openxmlformats.org/drawingml/2006/main">
              <a:ext uri="{FF2B5EF4-FFF2-40B4-BE49-F238E27FC236}">
                <a16:creationId xmlns:a16="http://schemas.microsoft.com/office/drawing/2014/main" id="{E4D72F67-B323-4E4E-95C2-80557629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0573" y="1998766"/>
            <a:ext cx="2674539" cy="323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19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旁白／字卡</a:t>
            </a:r>
          </a:p>
        </p:txBody>
      </p:sp>
      <p:sp>
        <p:nvSpPr>
          <p:cNvPr id="14" name="col-body-19-2">
            <a:extLst xmlns:a="http://schemas.openxmlformats.org/drawingml/2006/main">
              <a:ext uri="{FF2B5EF4-FFF2-40B4-BE49-F238E27FC236}">
                <a16:creationId xmlns:a16="http://schemas.microsoft.com/office/drawing/2014/main" id="{E1B554B6-F2D2-421C-BA49-0DF618E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02" y="2341412"/>
            <a:ext cx="2750682" cy="770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5" name="visual-19">
            <a:extLst xmlns:a="http://schemas.openxmlformats.org/drawingml/2006/main">
              <a:ext uri="{FF2B5EF4-FFF2-40B4-BE49-F238E27FC236}">
                <a16:creationId xmlns:a16="http://schemas.microsoft.com/office/drawing/2014/main" id="{649B480E-8A3E-4C74-8E75-7BCFBF69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3" y="2474663"/>
            <a:ext cx="1913104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5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｜清晨同一組人物，此刻進入一天：孩子走進校門、店家迎客、列車抵站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6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｜議場燈光亮起，全體席位空鏡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SHOT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7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｜句點化為節點，多個節點匯成新北輪廓／議會識別</a:t>
            </a:r>
          </a:p>
          <a:p xmlns:a="http://schemas.openxmlformats.org/drawingml/2006/main"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END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CARD｜新北市議會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 </a:t>
            </a:r>
            <a:r>
              <a:rPr sz="1274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LOGO＋正式片名</a:t>
            </a:r>
            <a:endParaRPr sz="1274">
              <a:solidFill>
                <a:srgbClr val="142B34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6" name="audio-19">
            <a:extLst xmlns:a="http://schemas.openxmlformats.org/drawingml/2006/main">
              <a:ext uri="{FF2B5EF4-FFF2-40B4-BE49-F238E27FC236}">
                <a16:creationId xmlns:a16="http://schemas.microsoft.com/office/drawing/2014/main" id="{B17AE9B9-0ACB-4CF2-9056-47B0EBE2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417" y="2474663"/>
            <a:ext cx="1522869" cy="7443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音樂回到片頭鋼琴主題，再加入完整弦樂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最後一句旁白後留 2 秒畫面呼吸</a:t>
            </a:r>
          </a:p>
          <a:p xmlns:a="http://schemas.openxmlformats.org/drawingml/2006/main">
            <a:endParaRPr sz="1199">
              <a:solidFill>
                <a:srgbClr val="60727A"/>
              </a:solidFill>
              <a:latin typeface="PingFang TC"/>
              <a:ea typeface="PingFang TC"/>
              <a:cs typeface="PingFang TC"/>
            </a:endParaRP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11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LOGO 動畫結束保留 3 秒，便於簡報室播放銜接</a:t>
            </a:r>
          </a:p>
        </p:txBody>
      </p:sp>
      <p:sp>
        <p:nvSpPr>
          <p:cNvPr id="17" name="narration-19">
            <a:extLst xmlns:a="http://schemas.openxmlformats.org/drawingml/2006/main">
              <a:ext uri="{FF2B5EF4-FFF2-40B4-BE49-F238E27FC236}">
                <a16:creationId xmlns:a16="http://schemas.microsoft.com/office/drawing/2014/main" id="{55A9ACBB-62AC-4D95-B767-11B2E28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753" y="2455627"/>
            <a:ext cx="2484180" cy="7481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【旁白】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看見，是願意靠近每一種生活；共好，是把不同的聲音，帶向共同的未來。
當民意被聽見、行動被檢驗、承諾被追蹤，城市就能一步一步，走得更穩、更遠。
看見每一個聲音，共好每一個日常。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350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1349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【片名字卡】
</a:t>
            </a:r>
            <a:r>
              <a:rPr sz="1349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看見.共好 － 第5屆新北市議會</a:t>
            </a:r>
          </a:p>
        </p:txBody>
      </p:sp>
      <p:sp>
        <p:nvSpPr>
          <p:cNvPr id="18" name="footer-line-19">
            <a:extLst xmlns:a="http://schemas.openxmlformats.org/drawingml/2006/main">
              <a:ext uri="{FF2B5EF4-FFF2-40B4-BE49-F238E27FC236}">
                <a16:creationId xmlns:a16="http://schemas.microsoft.com/office/drawing/2014/main" id="{9508DB98-F8F4-4E2B-9574-068A28C1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31778"/>
            <a:ext cx="66435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5CB"/>
            </a:solidFill>
            <a:prstDash val="solid"/>
          </a:ln>
        </p:spPr>
      </p:sp>
      <p:sp>
        <p:nvSpPr>
          <p:cNvPr id="19" name="footer-label-19">
            <a:extLst xmlns:a="http://schemas.openxmlformats.org/drawingml/2006/main">
              <a:ext uri="{FF2B5EF4-FFF2-40B4-BE49-F238E27FC236}">
                <a16:creationId xmlns:a16="http://schemas.microsoft.com/office/drawing/2014/main" id="{6A31A6FD-C315-4182-A34B-4AE3A87F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67" y="10279367"/>
            <a:ext cx="5425221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00" b="0">
                <a:solidFill>
                  <a:srgbClr val="60727A"/>
                </a:solidFill>
                <a:latin typeface="PingFang TC"/>
                <a:ea typeface="PingFang TC"/>
                <a:cs typeface="PingFang TC"/>
              </a:defRPr>
            </a:pPr>
            <a:r>
              <a:rPr sz="899">
                <a:solidFill>
                  <a:srgbClr val="60727A"/>
                </a:solidFill>
                <a:latin typeface="PingFang TC"/>
                <a:ea typeface="PingFang TC"/>
                <a:cs typeface="PingFang TC"/>
              </a:rPr>
              <a:t>看見.共好｜片尾｜回到片名｜10:15–11:10</a:t>
            </a:r>
          </a:p>
        </p:txBody>
      </p:sp>
      <p:sp>
        <p:nvSpPr>
          <p:cNvPr id="20" name="footer-page-19">
            <a:extLst xmlns:a="http://schemas.openxmlformats.org/drawingml/2006/main">
              <a:ext uri="{FF2B5EF4-FFF2-40B4-BE49-F238E27FC236}">
                <a16:creationId xmlns:a16="http://schemas.microsoft.com/office/drawing/2014/main" id="{AA4DF830-BD6A-40E8-BA05-88B6B9FB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2107" y="10279367"/>
            <a:ext cx="571076" cy="2474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975" b="1">
                <a:solidFill>
                  <a:srgbClr val="142B34"/>
                </a:solidFill>
                <a:latin typeface="PingFang TC"/>
                <a:ea typeface="PingFang TC"/>
                <a:cs typeface="PingFang TC"/>
              </a:defRPr>
            </a:pPr>
            <a:r>
              <a:rPr sz="974" b="1">
                <a:solidFill>
                  <a:srgbClr val="142B34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23845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2026-09-03T02:53:19.7290000Z</dcterms:created>
  <dcterms:modified xsi:type="dcterms:W3CDTF">2026-09-03T02:53:19.7290000Z</dcterms:modified>
</coreProperties>
</file>