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8a6551859c467f" /><Relationship Type="http://schemas.openxmlformats.org/officeDocument/2006/relationships/extended-properties" Target="/docProps/app.xml" Id="R8b1f2144313c4053" /><Relationship Type="http://schemas.openxmlformats.org/officeDocument/2006/relationships/officeDocument" Target="/ppt/presentation.xml" Id="R6eb867fb949040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c3111245c042db"/>
  </p:sldMasterIdLst>
  <p:notesMasterIdLst>
    <p:notesMasterId xmlns:r="http://schemas.openxmlformats.org/officeDocument/2006/relationships" r:id="R91c246dd4d3e479d"/>
  </p:notesMasterIdLst>
  <p:sldIdLst>
    <p:sldId xmlns:r="http://schemas.openxmlformats.org/officeDocument/2006/relationships" id="256" r:id="R36eafab47887424b"/>
    <p:sldId xmlns:r="http://schemas.openxmlformats.org/officeDocument/2006/relationships" id="257" r:id="R9e1f498c6e364775"/>
    <p:sldId xmlns:r="http://schemas.openxmlformats.org/officeDocument/2006/relationships" id="258" r:id="R0682887de16c4c70"/>
    <p:sldId xmlns:r="http://schemas.openxmlformats.org/officeDocument/2006/relationships" id="259" r:id="R92967899b7774290"/>
    <p:sldId xmlns:r="http://schemas.openxmlformats.org/officeDocument/2006/relationships" id="260" r:id="R78b04050b3f441f0"/>
    <p:sldId xmlns:r="http://schemas.openxmlformats.org/officeDocument/2006/relationships" id="261" r:id="Rf54ab27d800c42bf"/>
    <p:sldId xmlns:r="http://schemas.openxmlformats.org/officeDocument/2006/relationships" id="262" r:id="Rd2a62ff1c67d4730"/>
    <p:sldId xmlns:r="http://schemas.openxmlformats.org/officeDocument/2006/relationships" id="263" r:id="R00e4a6d12b91482e"/>
    <p:sldId xmlns:r="http://schemas.openxmlformats.org/officeDocument/2006/relationships" id="264" r:id="R30a4cb9885044ec1"/>
    <p:sldId xmlns:r="http://schemas.openxmlformats.org/officeDocument/2006/relationships" id="265" r:id="Rd35c4802c7d643df"/>
    <p:sldId xmlns:r="http://schemas.openxmlformats.org/officeDocument/2006/relationships" id="266" r:id="Rf83ec54aff334aed"/>
    <p:sldId xmlns:r="http://schemas.openxmlformats.org/officeDocument/2006/relationships" id="267" r:id="R1a41590d0d894119"/>
    <p:sldId xmlns:r="http://schemas.openxmlformats.org/officeDocument/2006/relationships" id="268" r:id="Re70efb7e57074374"/>
    <p:sldId xmlns:r="http://schemas.openxmlformats.org/officeDocument/2006/relationships" id="269" r:id="R35a65e11255043f5"/>
    <p:sldId xmlns:r="http://schemas.openxmlformats.org/officeDocument/2006/relationships" id="270" r:id="Rad7e5d0ddda44820"/>
    <p:sldId xmlns:r="http://schemas.openxmlformats.org/officeDocument/2006/relationships" id="271" r:id="Rab0715ee31c3426c"/>
    <p:sldId xmlns:r="http://schemas.openxmlformats.org/officeDocument/2006/relationships" id="272" r:id="Rd0f30a945a4b4c60"/>
    <p:sldId xmlns:r="http://schemas.openxmlformats.org/officeDocument/2006/relationships" id="273" r:id="Rd44b5d8a7fec4ea6"/>
    <p:sldId xmlns:r="http://schemas.openxmlformats.org/officeDocument/2006/relationships" id="274" r:id="R28a3fc23bd8b4a91"/>
    <p:sldId xmlns:r="http://schemas.openxmlformats.org/officeDocument/2006/relationships" id="275" r:id="R7f44b7a914694950"/>
    <p:sldId xmlns:r="http://schemas.openxmlformats.org/officeDocument/2006/relationships" id="276" r:id="Rd00c382fb3964b0b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1ad0ace26a41bd" /><Relationship Type="http://schemas.openxmlformats.org/officeDocument/2006/relationships/slideMaster" Target="/ppt/slideMasters/slideMaster1.xml" Id="Rc9c3111245c042db" /><Relationship Type="http://schemas.openxmlformats.org/officeDocument/2006/relationships/notesMaster" Target="/ppt/notesMasters/notesMaster1.xml" Id="R91c246dd4d3e479d" /><Relationship Type="http://schemas.openxmlformats.org/officeDocument/2006/relationships/presProps" Target="/ppt/presProps.xml" Id="R74b96ecbdef9430c" /><Relationship Type="http://schemas.openxmlformats.org/officeDocument/2006/relationships/tableStyles" Target="/ppt/tableStyles.xml" Id="R28e6dfbd1d4846dd" /><Relationship Type="http://schemas.openxmlformats.org/officeDocument/2006/relationships/slide" Target="/ppt/slides/slide1.xml" Id="R36eafab47887424b" /><Relationship Type="http://schemas.openxmlformats.org/officeDocument/2006/relationships/slide" Target="/ppt/slides/slide2.xml" Id="R9e1f498c6e364775" /><Relationship Type="http://schemas.openxmlformats.org/officeDocument/2006/relationships/slide" Target="/ppt/slides/slide3.xml" Id="R0682887de16c4c70" /><Relationship Type="http://schemas.openxmlformats.org/officeDocument/2006/relationships/slide" Target="/ppt/slides/slide4.xml" Id="R92967899b7774290" /><Relationship Type="http://schemas.openxmlformats.org/officeDocument/2006/relationships/slide" Target="/ppt/slides/slide5.xml" Id="R78b04050b3f441f0" /><Relationship Type="http://schemas.openxmlformats.org/officeDocument/2006/relationships/slide" Target="/ppt/slides/slide6.xml" Id="Rf54ab27d800c42bf" /><Relationship Type="http://schemas.openxmlformats.org/officeDocument/2006/relationships/slide" Target="/ppt/slides/slide7.xml" Id="Rd2a62ff1c67d4730" /><Relationship Type="http://schemas.openxmlformats.org/officeDocument/2006/relationships/slide" Target="/ppt/slides/slide8.xml" Id="R00e4a6d12b91482e" /><Relationship Type="http://schemas.openxmlformats.org/officeDocument/2006/relationships/slide" Target="/ppt/slides/slide9.xml" Id="R30a4cb9885044ec1" /><Relationship Type="http://schemas.openxmlformats.org/officeDocument/2006/relationships/slide" Target="/ppt/slides/slide10.xml" Id="Rd35c4802c7d643df" /><Relationship Type="http://schemas.openxmlformats.org/officeDocument/2006/relationships/slide" Target="/ppt/slides/slide11.xml" Id="Rf83ec54aff334aed" /><Relationship Type="http://schemas.openxmlformats.org/officeDocument/2006/relationships/slide" Target="/ppt/slides/slide12.xml" Id="R1a41590d0d894119" /><Relationship Type="http://schemas.openxmlformats.org/officeDocument/2006/relationships/slide" Target="/ppt/slides/slide13.xml" Id="Re70efb7e57074374" /><Relationship Type="http://schemas.openxmlformats.org/officeDocument/2006/relationships/slide" Target="/ppt/slides/slide14.xml" Id="R35a65e11255043f5" /><Relationship Type="http://schemas.openxmlformats.org/officeDocument/2006/relationships/slide" Target="/ppt/slides/slide15.xml" Id="Rad7e5d0ddda44820" /><Relationship Type="http://schemas.openxmlformats.org/officeDocument/2006/relationships/slide" Target="/ppt/slides/slide16.xml" Id="Rab0715ee31c3426c" /><Relationship Type="http://schemas.openxmlformats.org/officeDocument/2006/relationships/slide" Target="/ppt/slides/slide17.xml" Id="Rd0f30a945a4b4c60" /><Relationship Type="http://schemas.openxmlformats.org/officeDocument/2006/relationships/slide" Target="/ppt/slides/slide18.xml" Id="Rd44b5d8a7fec4ea6" /><Relationship Type="http://schemas.openxmlformats.org/officeDocument/2006/relationships/slide" Target="/ppt/slides/slide19.xml" Id="R28a3fc23bd8b4a91" /><Relationship Type="http://schemas.openxmlformats.org/officeDocument/2006/relationships/slide" Target="/ppt/slides/slide20.xml" Id="R7f44b7a914694950" /><Relationship Type="http://schemas.openxmlformats.org/officeDocument/2006/relationships/slide" Target="/ppt/slides/slide21.xml" Id="Rd00c382fb3964b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512f3048e747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e03b0d744f41fe" /><Relationship Type="http://schemas.openxmlformats.org/officeDocument/2006/relationships/notesMaster" Target="/ppt/notesMasters/notesMaster1.xml" Id="R7121e3c2355b40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3ab38407954a94" /><Relationship Type="http://schemas.openxmlformats.org/officeDocument/2006/relationships/notesMaster" Target="/ppt/notesMasters/notesMaster1.xml" Id="Rbacf7e3a45a14b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83334be9ff4d63" /><Relationship Type="http://schemas.openxmlformats.org/officeDocument/2006/relationships/notesMaster" Target="/ppt/notesMasters/notesMaster1.xml" Id="Rc180025e14d34c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b1f94058e74f20" /><Relationship Type="http://schemas.openxmlformats.org/officeDocument/2006/relationships/notesMaster" Target="/ppt/notesMasters/notesMaster1.xml" Id="Rdd3529ab7cde42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e967796f3b4150" /><Relationship Type="http://schemas.openxmlformats.org/officeDocument/2006/relationships/notesMaster" Target="/ppt/notesMasters/notesMaster1.xml" Id="R1a98c03579a24a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e3c64e8b4443d1" /><Relationship Type="http://schemas.openxmlformats.org/officeDocument/2006/relationships/notesMaster" Target="/ppt/notesMasters/notesMaster1.xml" Id="R495cd070a1e841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308c80e7cc4078" /><Relationship Type="http://schemas.openxmlformats.org/officeDocument/2006/relationships/notesMaster" Target="/ppt/notesMasters/notesMaster1.xml" Id="R54eaca90d8744f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6d72bd623d4628" /><Relationship Type="http://schemas.openxmlformats.org/officeDocument/2006/relationships/notesMaster" Target="/ppt/notesMasters/notesMaster1.xml" Id="Rdc60eef194ea42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b718469022424b" /><Relationship Type="http://schemas.openxmlformats.org/officeDocument/2006/relationships/notesMaster" Target="/ppt/notesMasters/notesMaster1.xml" Id="R45342e77ea5f4f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d2493adf514270" /><Relationship Type="http://schemas.openxmlformats.org/officeDocument/2006/relationships/notesMaster" Target="/ppt/notesMasters/notesMaster1.xml" Id="Rab28698ca4404a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5c042aae5c4e2b" /><Relationship Type="http://schemas.openxmlformats.org/officeDocument/2006/relationships/notesMaster" Target="/ppt/notesMasters/notesMaster1.xml" Id="Rbf9e649ec7964f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aca7360b0542b4" /><Relationship Type="http://schemas.openxmlformats.org/officeDocument/2006/relationships/notesMaster" Target="/ppt/notesMasters/notesMaster1.xml" Id="R1f14c2bbdc0645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148bd02f3a40f5" /><Relationship Type="http://schemas.openxmlformats.org/officeDocument/2006/relationships/notesMaster" Target="/ppt/notesMasters/notesMaster1.xml" Id="Rff5f2566c57044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3b8e3389444a4e" /><Relationship Type="http://schemas.openxmlformats.org/officeDocument/2006/relationships/notesMaster" Target="/ppt/notesMasters/notesMaster1.xml" Id="R8d48059255a54e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77e2ae78914d9b" /><Relationship Type="http://schemas.openxmlformats.org/officeDocument/2006/relationships/notesMaster" Target="/ppt/notesMasters/notesMaster1.xml" Id="R39683f813f7e48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81c01ccf814b0e" /><Relationship Type="http://schemas.openxmlformats.org/officeDocument/2006/relationships/notesMaster" Target="/ppt/notesMasters/notesMaster1.xml" Id="R73cf6a1f3b3f44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2e59ebebc9421b" /><Relationship Type="http://schemas.openxmlformats.org/officeDocument/2006/relationships/notesMaster" Target="/ppt/notesMasters/notesMaster1.xml" Id="R61da567f3eae4eb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38e6e101f84152" /><Relationship Type="http://schemas.openxmlformats.org/officeDocument/2006/relationships/notesMaster" Target="/ppt/notesMasters/notesMaster1.xml" Id="R57e44ce1a1614f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d16b6b02bc4d63" /><Relationship Type="http://schemas.openxmlformats.org/officeDocument/2006/relationships/notesMaster" Target="/ppt/notesMasters/notesMaster1.xml" Id="R59eed5c7059e41e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a4c5f9a3b149b3" /><Relationship Type="http://schemas.openxmlformats.org/officeDocument/2006/relationships/notesMaster" Target="/ppt/notesMasters/notesMaster1.xml" Id="R2781e99f651c42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54720d5ef6342f9" /><Relationship Type="http://schemas.openxmlformats.org/officeDocument/2006/relationships/notesMaster" Target="/ppt/notesMasters/notesMaster1.xml" Id="R9e6de2c07e4047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https://bms1.ntp.gov.tw/billsystem/mam/ScheduleAnnex/0407T/f0b20b98-9369-4730-9423-bc95900d22c4.pdf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613e77a92c4f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d145a00ae54191" /><Relationship Type="http://schemas.openxmlformats.org/officeDocument/2006/relationships/slideLayout" Target="/ppt/slideLayouts/slideLayout1.xml" Id="R6a54c1c27d8e4b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54c1c27d8e4b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3030a7081459e" /><Relationship Type="http://schemas.openxmlformats.org/officeDocument/2006/relationships/notesSlide" Target="/ppt/notesSlides/notesSlide1.xml" Id="R404d452a0b2d49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2ac1f8760400c" /><Relationship Type="http://schemas.openxmlformats.org/officeDocument/2006/relationships/notesSlide" Target="/ppt/notesSlides/notesSlide2.xml" Id="Rca8e7bfd967642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5fff3e00441ec" /><Relationship Type="http://schemas.openxmlformats.org/officeDocument/2006/relationships/notesSlide" Target="/ppt/notesSlides/notesSlide3.xml" Id="Rb69721e514804c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371bf8a114f8d" /><Relationship Type="http://schemas.openxmlformats.org/officeDocument/2006/relationships/notesSlide" Target="/ppt/notesSlides/notesSlide4.xml" Id="Rcc0e0e41a5f44e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91bcabfa74c4d" /><Relationship Type="http://schemas.openxmlformats.org/officeDocument/2006/relationships/notesSlide" Target="/ppt/notesSlides/notesSlide5.xml" Id="R986bd17e69904c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8bf28c3a94b91" /><Relationship Type="http://schemas.openxmlformats.org/officeDocument/2006/relationships/notesSlide" Target="/ppt/notesSlides/notesSlide6.xml" Id="Rd0535414fd2b48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97a85680b41c1" /><Relationship Type="http://schemas.openxmlformats.org/officeDocument/2006/relationships/notesSlide" Target="/ppt/notesSlides/notesSlide7.xml" Id="R7460614cafe249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20c8cea1a4d51" /><Relationship Type="http://schemas.openxmlformats.org/officeDocument/2006/relationships/notesSlide" Target="/ppt/notesSlides/notesSlide8.xml" Id="R4c39a277d5d241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6d1cdee2849e9" /><Relationship Type="http://schemas.openxmlformats.org/officeDocument/2006/relationships/notesSlide" Target="/ppt/notesSlides/notesSlide9.xml" Id="Rc813ea10714743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57af3e13e4445" /><Relationship Type="http://schemas.openxmlformats.org/officeDocument/2006/relationships/notesSlide" Target="/ppt/notesSlides/notesSlide10.xml" Id="R9c376e88742043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800905f3b4431" /><Relationship Type="http://schemas.openxmlformats.org/officeDocument/2006/relationships/notesSlide" Target="/ppt/notesSlides/notesSlide11.xml" Id="R2820d4f8cfec4b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20f6d1ccc47c6" /><Relationship Type="http://schemas.openxmlformats.org/officeDocument/2006/relationships/notesSlide" Target="/ppt/notesSlides/notesSlide12.xml" Id="Rcc99c68a107749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dca5a87f147d2" /><Relationship Type="http://schemas.openxmlformats.org/officeDocument/2006/relationships/notesSlide" Target="/ppt/notesSlides/notesSlide13.xml" Id="R9d5dd79297aa4f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5337e8ade4f52" /><Relationship Type="http://schemas.openxmlformats.org/officeDocument/2006/relationships/notesSlide" Target="/ppt/notesSlides/notesSlide14.xml" Id="Rb0cead2486b34e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4647912ec439f" /><Relationship Type="http://schemas.openxmlformats.org/officeDocument/2006/relationships/notesSlide" Target="/ppt/notesSlides/notesSlide15.xml" Id="R5e792c64401e47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c766ec94e4868" /><Relationship Type="http://schemas.openxmlformats.org/officeDocument/2006/relationships/notesSlide" Target="/ppt/notesSlides/notesSlide16.xml" Id="R3f85ec4aa19f4e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c88c190424f35" /><Relationship Type="http://schemas.openxmlformats.org/officeDocument/2006/relationships/notesSlide" Target="/ppt/notesSlides/notesSlide17.xml" Id="Ra319b19d138e4e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b468b236946b8" /><Relationship Type="http://schemas.openxmlformats.org/officeDocument/2006/relationships/notesSlide" Target="/ppt/notesSlides/notesSlide18.xml" Id="R0418cdb2877942f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bd718b17c4f4f" /><Relationship Type="http://schemas.openxmlformats.org/officeDocument/2006/relationships/notesSlide" Target="/ppt/notesSlides/notesSlide19.xml" Id="Re1268a8411ea45c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5289e17f44d74" /><Relationship Type="http://schemas.openxmlformats.org/officeDocument/2006/relationships/notesSlide" Target="/ppt/notesSlides/notesSlide20.xml" Id="R1df2401e5d0246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f1349c2924e10" /><Relationship Type="http://schemas.openxmlformats.org/officeDocument/2006/relationships/notesSlide" Target="/ppt/notesSlides/notesSlide21.xml" Id="Rc456d438036e4d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ghost">
            <a:extLst xmlns:a="http://schemas.openxmlformats.org/drawingml/2006/main">
              <a:ext uri="{FF2B5EF4-FFF2-40B4-BE49-F238E27FC236}">
                <a16:creationId xmlns:a16="http://schemas.microsoft.com/office/drawing/2014/main" id="{C8B8F0C9-B828-4291-AEE3-086D5755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5300"/>
            <a:ext cx="35242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500" b="1">
                <a:solidFill>
                  <a:srgbClr val="214654"/>
                </a:solidFill>
                <a:latin typeface="Songti TC"/>
                <a:ea typeface="Songti TC"/>
                <a:cs typeface="Songti TC"/>
              </a:defRPr>
            </a:pPr>
            <a:r>
              <a:rPr sz="22500" b="1">
                <a:solidFill>
                  <a:srgbClr val="214654"/>
                </a:solidFill>
                <a:latin typeface="Songti TC"/>
                <a:ea typeface="Songti TC"/>
                <a:cs typeface="Songti TC"/>
              </a:rPr>
              <a:t>見</a:t>
            </a:r>
          </a:p>
        </p:txBody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77A8C4C-697D-42C9-8A2D-E22B177C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FD2CE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9FD2CE"/>
                </a:solidFill>
                <a:latin typeface="PingFang TC"/>
                <a:ea typeface="PingFang TC"/>
                <a:cs typeface="PingFang TC"/>
              </a:rPr>
              <a:t>第 5 屆新北市議會｜簡介影片分鏡腳本</a:t>
            </a:r>
          </a:p>
        </p:txBody>
      </p:sp>
      <p:sp>
        <p:nvSpPr>
          <p:cNvPr id="3" name="cover-main">
            <a:extLst xmlns:a="http://schemas.openxmlformats.org/drawingml/2006/main">
              <a:ext uri="{FF2B5EF4-FFF2-40B4-BE49-F238E27FC236}">
                <a16:creationId xmlns:a16="http://schemas.microsoft.com/office/drawing/2014/main" id="{243B159B-721F-433D-A057-4AACBA61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650" b="1">
                <a:solidFill>
                  <a:srgbClr val="FFFDFC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FFFDFC"/>
                </a:solidFill>
                <a:latin typeface="PingFang TC"/>
                <a:ea typeface="PingFang TC"/>
                <a:cs typeface="PingFang TC"/>
              </a:rPr>
              <a:t>看見.共好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D6C2C0FD-9F69-4CF0-A62B-D8CFDD3E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F1D39A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1D39A"/>
                </a:solidFill>
                <a:latin typeface="PingFang TC"/>
                <a:ea typeface="PingFang TC"/>
                <a:cs typeface="PingFang TC"/>
              </a:rPr>
              <a:t>－ 第5屆新北市議會</a:t>
            </a:r>
          </a:p>
        </p:txBody>
      </p:sp>
      <p:sp>
        <p:nvSpPr>
          <p:cNvPr id="5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0B1155F-0C2D-4A0F-91CA-48699183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102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D841A9CB-13AB-46B5-A02B-8F5A6B8B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025" b="1">
                <a:solidFill>
                  <a:srgbClr val="DCECE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DCECE9"/>
                </a:solidFill>
                <a:latin typeface="PingFang TC"/>
                <a:ea typeface="PingFang TC"/>
                <a:cs typeface="PingFang TC"/>
              </a:rPr>
              <a:t>看見每一種生活，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025" b="1">
                <a:solidFill>
                  <a:srgbClr val="DCECE9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DCECE9"/>
                </a:solidFill>
                <a:latin typeface="PingFang TC"/>
                <a:ea typeface="PingFang TC"/>
                <a:cs typeface="PingFang TC"/>
              </a:rPr>
              <a:t>讓每一個聲音走向共好。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532FF2EF-9544-43C6-A9A3-70C20EFF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6012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9FB2BA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9FB2BA"/>
                </a:solidFill>
                <a:latin typeface="PingFang TC"/>
                <a:ea typeface="PingFang TC"/>
                <a:cs typeface="PingFang TC"/>
              </a:rPr>
              <a:t>A4 直式提案版｜建議成片 11 分 50 秒｜2026.09</a:t>
            </a:r>
          </a:p>
        </p:txBody>
      </p:sp>
    </p:spTree>
    <p:extLst>
      <p:ext uri="{BB962C8B-B14F-4D97-AF65-F5344CB8AC3E}">
        <p14:creationId xmlns:p14="http://schemas.microsoft.com/office/powerpoint/2010/main" val="1251425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2">
            <a:extLst xmlns:a="http://schemas.openxmlformats.org/drawingml/2006/main">
              <a:ext uri="{FF2B5EF4-FFF2-40B4-BE49-F238E27FC236}">
                <a16:creationId xmlns:a16="http://schemas.microsoft.com/office/drawing/2014/main" id="{F6D0FA0F-0CB8-4F30-B9D5-A429A2FB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創意主張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70D4703-E095-495B-B9F4-D54FB113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664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片名就是整支影片的敘事方法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E92C3AC0-F334-422F-8437-4191DD72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7A78"/>
            </a:solidFill>
            <a:prstDash val="solid"/>
          </a:ln>
        </p:spPr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0652EB59-A535-45C1-A363-0C495802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664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不是把資訊排進影片，而是帶觀眾一步步看見：城市、民意、行動與共同未來。</a:t>
            </a:r>
          </a:p>
        </p:txBody>
      </p:sp>
      <p:sp>
        <p:nvSpPr>
          <p:cNvPr id="5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8701BD6C-F6E6-4401-A1D7-927EF214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6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2AD79DFF-8436-4694-A600-BDEE55B0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看見.共好｜第5屆新北市議會影片腳本</a:t>
            </a:r>
          </a:p>
        </p:txBody>
      </p:sp>
      <p:sp>
        <p:nvSpPr>
          <p:cNvPr id="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13A2B340-1E41-40A9-905A-7028A9D2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8" name="concept-bg-0">
            <a:extLst xmlns:a="http://schemas.openxmlformats.org/drawingml/2006/main">
              <a:ext uri="{FF2B5EF4-FFF2-40B4-BE49-F238E27FC236}">
                <a16:creationId xmlns:a16="http://schemas.microsoft.com/office/drawing/2014/main" id="{1A1DA059-35A2-4014-800B-F232F836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6484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cept-num-0">
            <a:extLst xmlns:a="http://schemas.openxmlformats.org/drawingml/2006/main">
              <a:ext uri="{FF2B5EF4-FFF2-40B4-BE49-F238E27FC236}">
                <a16:creationId xmlns:a16="http://schemas.microsoft.com/office/drawing/2014/main" id="{C9446A25-21B0-4D5B-9B6F-1542A64B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concept-title-0">
            <a:extLst xmlns:a="http://schemas.openxmlformats.org/drawingml/2006/main">
              <a:ext uri="{FF2B5EF4-FFF2-40B4-BE49-F238E27FC236}">
                <a16:creationId xmlns:a16="http://schemas.microsoft.com/office/drawing/2014/main" id="{C3D08FAE-4E1A-472D-AEA3-D4FA68F9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193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看見城市</a:t>
            </a:r>
          </a:p>
        </p:txBody>
      </p:sp>
      <p:sp>
        <p:nvSpPr>
          <p:cNvPr id="11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9B082627-7674-43B7-BAF0-9CD44495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813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從清晨、通勤、海岸、山城與街區日常出發，先讓觀眾感受到新北是一座由不同生活共同組成的城市。</a:t>
            </a:r>
          </a:p>
        </p:txBody>
      </p:sp>
      <p:sp>
        <p:nvSpPr>
          <p:cNvPr id="12" name="concept-bg-1">
            <a:extLst xmlns:a="http://schemas.openxmlformats.org/drawingml/2006/main">
              <a:ext uri="{FF2B5EF4-FFF2-40B4-BE49-F238E27FC236}">
                <a16:creationId xmlns:a16="http://schemas.microsoft.com/office/drawing/2014/main" id="{6F880758-48E4-4C23-8C6E-E2C1A7FA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14875"/>
            <a:ext cx="66484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ncept-num-1">
            <a:extLst xmlns:a="http://schemas.openxmlformats.org/drawingml/2006/main">
              <a:ext uri="{FF2B5EF4-FFF2-40B4-BE49-F238E27FC236}">
                <a16:creationId xmlns:a16="http://schemas.microsoft.com/office/drawing/2014/main" id="{4B61EBE9-C825-4425-9A85-F2F5AB45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4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1A1EF120-4BEF-4F7C-94FD-14A8F239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看見民意</a:t>
            </a:r>
          </a:p>
        </p:txBody>
      </p:sp>
      <p:sp>
        <p:nvSpPr>
          <p:cNvPr id="15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0DC8CD74-47AF-49AD-8DE4-1494557F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1497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讓鏡頭跟著一個聲音走進議會：陳情、現勘、質詢、審查、議決與追蹤，理解代議民主如何運作。</a:t>
            </a:r>
          </a:p>
        </p:txBody>
      </p:sp>
      <p:sp>
        <p:nvSpPr>
          <p:cNvPr id="16" name="concept-bg-2">
            <a:extLst xmlns:a="http://schemas.openxmlformats.org/drawingml/2006/main">
              <a:ext uri="{FF2B5EF4-FFF2-40B4-BE49-F238E27FC236}">
                <a16:creationId xmlns:a16="http://schemas.microsoft.com/office/drawing/2014/main" id="{CB41322A-A443-4568-BF76-B2BBCAC6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0"/>
            <a:ext cx="6648450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ncept-num-2">
            <a:extLst xmlns:a="http://schemas.openxmlformats.org/drawingml/2006/main">
              <a:ext uri="{FF2B5EF4-FFF2-40B4-BE49-F238E27FC236}">
                <a16:creationId xmlns:a16="http://schemas.microsoft.com/office/drawing/2014/main" id="{116819E9-F2B6-4B6B-A234-0822B7AC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F4453B1C-9911-489F-8297-FFAED270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2866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走向共好</a:t>
            </a:r>
          </a:p>
        </p:txBody>
      </p:sp>
      <p:sp>
        <p:nvSpPr>
          <p:cNvPr id="19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7B06C4F2-AB6E-4C74-8F6B-197C425B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486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差異不必被抹平；議會的價值，是讓不同地區、世代與族群都能被聽見，透過制度找到公共利益。</a:t>
            </a:r>
          </a:p>
        </p:txBody>
      </p:sp>
    </p:spTree>
    <p:extLst>
      <p:ext uri="{BB962C8B-B14F-4D97-AF65-F5344CB8AC3E}">
        <p14:creationId xmlns:p14="http://schemas.microsoft.com/office/powerpoint/2010/main" val="241871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kicker-3">
            <a:extLst xmlns:a="http://schemas.openxmlformats.org/drawingml/2006/main">
              <a:ext uri="{FF2B5EF4-FFF2-40B4-BE49-F238E27FC236}">
                <a16:creationId xmlns:a16="http://schemas.microsoft.com/office/drawing/2014/main" id="{A0AFEE21-1743-4B20-9E52-EA7A98F9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需求對照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445970C-C9B3-4F5C-AED5-12662773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664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規格要求已直接寫進腳本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C08263DF-726D-4F9F-8C2A-02963512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5B4B"/>
            </a:solidFill>
            <a:prstDash val="solid"/>
          </a:ln>
        </p:spPr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EA05C4B5-0DB5-4008-A0FC-185293E2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664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製作條件會成為拍攝、後製與交付檢核點，不只停留在文字說明。</a:t>
            </a:r>
          </a:p>
        </p:txBody>
      </p:sp>
      <p:sp>
        <p:nvSpPr>
          <p:cNvPr id="5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2C335F4F-5C05-4A04-B4FB-5AF40BF2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6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6CDD9902-E25C-41EA-9557-FA9CB24B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看見.共好｜第5屆新北市議會影片腳本</a:t>
            </a:r>
          </a:p>
        </p:txBody>
      </p:sp>
      <p:sp>
        <p:nvSpPr>
          <p:cNvPr id="7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084D782D-1798-4E4C-B705-DA9FBDDC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8" name="req-head-0">
            <a:extLst xmlns:a="http://schemas.openxmlformats.org/drawingml/2006/main">
              <a:ext uri="{FF2B5EF4-FFF2-40B4-BE49-F238E27FC236}">
                <a16:creationId xmlns:a16="http://schemas.microsoft.com/office/drawing/2014/main" id="{D17DF0F0-F529-4921-AC8E-4E05B85A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req-head-text-0">
            <a:extLst xmlns:a="http://schemas.openxmlformats.org/drawingml/2006/main">
              <a:ext uri="{FF2B5EF4-FFF2-40B4-BE49-F238E27FC236}">
                <a16:creationId xmlns:a16="http://schemas.microsoft.com/office/drawing/2014/main" id="{74AE1D03-F6F4-4E00-9424-4DB166AF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1457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項目</a:t>
            </a:r>
          </a:p>
        </p:txBody>
      </p:sp>
      <p:sp>
        <p:nvSpPr>
          <p:cNvPr id="10" name="req-head-1">
            <a:extLst xmlns:a="http://schemas.openxmlformats.org/drawingml/2006/main">
              <a:ext uri="{FF2B5EF4-FFF2-40B4-BE49-F238E27FC236}">
                <a16:creationId xmlns:a16="http://schemas.microsoft.com/office/drawing/2014/main" id="{9D995E6A-69C7-4D40-8DBC-CC3B1987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1" name="req-head-text-1">
            <a:extLst xmlns:a="http://schemas.openxmlformats.org/drawingml/2006/main">
              <a:ext uri="{FF2B5EF4-FFF2-40B4-BE49-F238E27FC236}">
                <a16:creationId xmlns:a16="http://schemas.microsoft.com/office/drawing/2014/main" id="{C36DEDB6-40F0-4172-AE9C-C6E159D3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1457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本稿設定</a:t>
            </a:r>
          </a:p>
        </p:txBody>
      </p:sp>
      <p:sp>
        <p:nvSpPr>
          <p:cNvPr id="12" name="req-head-2">
            <a:extLst xmlns:a="http://schemas.openxmlformats.org/drawingml/2006/main">
              <a:ext uri="{FF2B5EF4-FFF2-40B4-BE49-F238E27FC236}">
                <a16:creationId xmlns:a16="http://schemas.microsoft.com/office/drawing/2014/main" id="{871FA233-7518-47DD-AF6F-A440192E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377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req-head-text-2">
            <a:extLst xmlns:a="http://schemas.openxmlformats.org/drawingml/2006/main">
              <a:ext uri="{FF2B5EF4-FFF2-40B4-BE49-F238E27FC236}">
                <a16:creationId xmlns:a16="http://schemas.microsoft.com/office/drawing/2014/main" id="{63F8F845-9C7B-4767-A022-E8390EC4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14575"/>
            <a:ext cx="3695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對應方式</a:t>
            </a:r>
          </a:p>
        </p:txBody>
      </p:sp>
      <p:sp>
        <p:nvSpPr>
          <p:cNvPr id="14" name="req-cell-0-0">
            <a:extLst xmlns:a="http://schemas.openxmlformats.org/drawingml/2006/main">
              <a:ext uri="{FF2B5EF4-FFF2-40B4-BE49-F238E27FC236}">
                <a16:creationId xmlns:a16="http://schemas.microsoft.com/office/drawing/2014/main" id="{E13F9F57-41CA-4CF3-A282-597F3A26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1066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req-cell-text-0-0">
            <a:extLst xmlns:a="http://schemas.openxmlformats.org/drawingml/2006/main">
              <a:ext uri="{FF2B5EF4-FFF2-40B4-BE49-F238E27FC236}">
                <a16:creationId xmlns:a16="http://schemas.microsoft.com/office/drawing/2014/main" id="{79E51D42-FAA8-435C-AE11-43B21A81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片長</a:t>
            </a:r>
          </a:p>
        </p:txBody>
      </p:sp>
      <p:sp>
        <p:nvSpPr>
          <p:cNvPr id="16" name="req-cell-0-1">
            <a:extLst xmlns:a="http://schemas.openxmlformats.org/drawingml/2006/main">
              <a:ext uri="{FF2B5EF4-FFF2-40B4-BE49-F238E27FC236}">
                <a16:creationId xmlns:a16="http://schemas.microsoft.com/office/drawing/2014/main" id="{50D29B06-0F24-4530-9CFC-A6C9D136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F0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7" name="req-cell-text-0-1">
            <a:extLst xmlns:a="http://schemas.openxmlformats.org/drawingml/2006/main">
              <a:ext uri="{FF2B5EF4-FFF2-40B4-BE49-F238E27FC236}">
                <a16:creationId xmlns:a16="http://schemas.microsoft.com/office/drawing/2014/main" id="{2356CD64-E36E-42DD-AE04-3ABDBCBC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9875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11 分 50 秒</a:t>
            </a:r>
          </a:p>
        </p:txBody>
      </p:sp>
      <p:sp>
        <p:nvSpPr>
          <p:cNvPr id="18" name="req-cell-0-2">
            <a:extLst xmlns:a="http://schemas.openxmlformats.org/drawingml/2006/main">
              <a:ext uri="{FF2B5EF4-FFF2-40B4-BE49-F238E27FC236}">
                <a16:creationId xmlns:a16="http://schemas.microsoft.com/office/drawing/2014/main" id="{BE9AED78-9CB7-48A1-9E67-E5502AF8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377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req-cell-text-0-2">
            <a:extLst xmlns:a="http://schemas.openxmlformats.org/drawingml/2006/main">
              <a:ext uri="{FF2B5EF4-FFF2-40B4-BE49-F238E27FC236}">
                <a16:creationId xmlns:a16="http://schemas.microsoft.com/office/drawing/2014/main" id="{73D8C4AC-4A41-447F-86DD-41D0009E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3581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落在需求書 10 至 12 分鐘範圍內</a:t>
            </a:r>
          </a:p>
        </p:txBody>
      </p:sp>
      <p:sp>
        <p:nvSpPr>
          <p:cNvPr id="20" name="req-cell-1-0">
            <a:extLst xmlns:a="http://schemas.openxmlformats.org/drawingml/2006/main">
              <a:ext uri="{FF2B5EF4-FFF2-40B4-BE49-F238E27FC236}">
                <a16:creationId xmlns:a16="http://schemas.microsoft.com/office/drawing/2014/main" id="{283C847F-01B2-465E-ADB1-60647056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066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21" name="req-cell-text-1-0">
            <a:extLst xmlns:a="http://schemas.openxmlformats.org/drawingml/2006/main">
              <a:ext uri="{FF2B5EF4-FFF2-40B4-BE49-F238E27FC236}">
                <a16:creationId xmlns:a16="http://schemas.microsoft.com/office/drawing/2014/main" id="{78F2DA2D-3C50-4C76-A086-C5A37D9E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382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拍攝</a:t>
            </a:r>
          </a:p>
        </p:txBody>
      </p:sp>
      <p:sp>
        <p:nvSpPr>
          <p:cNvPr id="22" name="req-cell-1-1">
            <a:extLst xmlns:a="http://schemas.openxmlformats.org/drawingml/2006/main">
              <a:ext uri="{FF2B5EF4-FFF2-40B4-BE49-F238E27FC236}">
                <a16:creationId xmlns:a16="http://schemas.microsoft.com/office/drawing/2014/main" id="{D464DE4E-AE26-4062-AA94-6DAEBD42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481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F0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23" name="req-cell-text-1-1">
            <a:extLst xmlns:a="http://schemas.openxmlformats.org/drawingml/2006/main">
              <a:ext uri="{FF2B5EF4-FFF2-40B4-BE49-F238E27FC236}">
                <a16:creationId xmlns:a16="http://schemas.microsoft.com/office/drawing/2014/main" id="{2F719152-6B84-4E79-9B81-D4329B7A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33825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2K 以上規格</a:t>
            </a:r>
          </a:p>
        </p:txBody>
      </p:sp>
      <p:sp>
        <p:nvSpPr>
          <p:cNvPr id="24" name="req-cell-1-2">
            <a:extLst xmlns:a="http://schemas.openxmlformats.org/drawingml/2006/main">
              <a:ext uri="{FF2B5EF4-FFF2-40B4-BE49-F238E27FC236}">
                <a16:creationId xmlns:a16="http://schemas.microsoft.com/office/drawing/2014/main" id="{30A1B5CE-54B5-47AB-8E40-C93FF632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377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25" name="req-cell-text-1-2">
            <a:extLst xmlns:a="http://schemas.openxmlformats.org/drawingml/2006/main">
              <a:ext uri="{FF2B5EF4-FFF2-40B4-BE49-F238E27FC236}">
                <a16:creationId xmlns:a16="http://schemas.microsoft.com/office/drawing/2014/main" id="{B5ECA29A-C5CF-424E-9FF2-3FD925F1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33825"/>
            <a:ext cx="3581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就職典禮全程錄影、拍照與大合照；重要畫面預留多機位</a:t>
            </a:r>
          </a:p>
        </p:txBody>
      </p:sp>
      <p:sp>
        <p:nvSpPr>
          <p:cNvPr id="26" name="req-cell-2-0">
            <a:extLst xmlns:a="http://schemas.openxmlformats.org/drawingml/2006/main">
              <a:ext uri="{FF2B5EF4-FFF2-40B4-BE49-F238E27FC236}">
                <a16:creationId xmlns:a16="http://schemas.microsoft.com/office/drawing/2014/main" id="{1E1E2456-4FAE-4678-8F88-39F74E1D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1066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27" name="req-cell-text-2-0">
            <a:extLst xmlns:a="http://schemas.openxmlformats.org/drawingml/2006/main">
              <a:ext uri="{FF2B5EF4-FFF2-40B4-BE49-F238E27FC236}">
                <a16:creationId xmlns:a16="http://schemas.microsoft.com/office/drawing/2014/main" id="{51114BEB-1133-40E3-B52C-F5457FBA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577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版本</a:t>
            </a:r>
          </a:p>
        </p:txBody>
      </p:sp>
      <p:sp>
        <p:nvSpPr>
          <p:cNvPr id="28" name="req-cell-2-1">
            <a:extLst xmlns:a="http://schemas.openxmlformats.org/drawingml/2006/main">
              <a:ext uri="{FF2B5EF4-FFF2-40B4-BE49-F238E27FC236}">
                <a16:creationId xmlns:a16="http://schemas.microsoft.com/office/drawing/2014/main" id="{52C67933-45EB-40BC-9BF6-AEC7DB9B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720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F0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29" name="req-cell-text-2-1">
            <a:extLst xmlns:a="http://schemas.openxmlformats.org/drawingml/2006/main">
              <a:ext uri="{FF2B5EF4-FFF2-40B4-BE49-F238E27FC236}">
                <a16:creationId xmlns:a16="http://schemas.microsoft.com/office/drawing/2014/main" id="{E8355023-8F44-4F51-9CAC-8844D61E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57775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5 種語言</a:t>
            </a:r>
          </a:p>
        </p:txBody>
      </p:sp>
      <p:sp>
        <p:nvSpPr>
          <p:cNvPr id="30" name="req-cell-2-2">
            <a:extLst xmlns:a="http://schemas.openxmlformats.org/drawingml/2006/main">
              <a:ext uri="{FF2B5EF4-FFF2-40B4-BE49-F238E27FC236}">
                <a16:creationId xmlns:a16="http://schemas.microsoft.com/office/drawing/2014/main" id="{7F94CC90-408A-4A06-8FA3-EDAEB36A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72050"/>
            <a:ext cx="377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31" name="req-cell-text-2-2">
            <a:extLst xmlns:a="http://schemas.openxmlformats.org/drawingml/2006/main">
              <a:ext uri="{FF2B5EF4-FFF2-40B4-BE49-F238E27FC236}">
                <a16:creationId xmlns:a16="http://schemas.microsoft.com/office/drawing/2014/main" id="{F49587E1-9A6B-4CDC-A820-F918FB17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57775"/>
            <a:ext cx="3581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中、英、日、台、韓；旁白、字幕與字卡分軌管理</a:t>
            </a:r>
          </a:p>
        </p:txBody>
      </p:sp>
      <p:sp>
        <p:nvSpPr>
          <p:cNvPr id="32" name="req-cell-3-0">
            <a:extLst xmlns:a="http://schemas.openxmlformats.org/drawingml/2006/main">
              <a:ext uri="{FF2B5EF4-FFF2-40B4-BE49-F238E27FC236}">
                <a16:creationId xmlns:a16="http://schemas.microsoft.com/office/drawing/2014/main" id="{F4172081-60A5-42D5-B922-B0E8A24B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66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33" name="req-cell-text-3-0">
            <a:extLst xmlns:a="http://schemas.openxmlformats.org/drawingml/2006/main">
              <a:ext uri="{FF2B5EF4-FFF2-40B4-BE49-F238E27FC236}">
                <a16:creationId xmlns:a16="http://schemas.microsoft.com/office/drawing/2014/main" id="{73311640-3F71-4FF3-B12B-C691A007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8172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代表性</a:t>
            </a:r>
          </a:p>
        </p:txBody>
      </p:sp>
      <p:sp>
        <p:nvSpPr>
          <p:cNvPr id="34" name="req-cell-3-1">
            <a:extLst xmlns:a="http://schemas.openxmlformats.org/drawingml/2006/main">
              <a:ext uri="{FF2B5EF4-FFF2-40B4-BE49-F238E27FC236}">
                <a16:creationId xmlns:a16="http://schemas.microsoft.com/office/drawing/2014/main" id="{96163E44-27C0-4776-85FD-B18A3A90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960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F0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35" name="req-cell-text-3-1">
            <a:extLst xmlns:a="http://schemas.openxmlformats.org/drawingml/2006/main">
              <a:ext uri="{FF2B5EF4-FFF2-40B4-BE49-F238E27FC236}">
                <a16:creationId xmlns:a16="http://schemas.microsoft.com/office/drawing/2014/main" id="{243E0753-4BFD-4920-803F-20243C8B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81725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13 選區／68 席</a:t>
            </a:r>
          </a:p>
        </p:txBody>
      </p:sp>
      <p:sp>
        <p:nvSpPr>
          <p:cNvPr id="36" name="req-cell-3-2">
            <a:extLst xmlns:a="http://schemas.openxmlformats.org/drawingml/2006/main">
              <a:ext uri="{FF2B5EF4-FFF2-40B4-BE49-F238E27FC236}">
                <a16:creationId xmlns:a16="http://schemas.microsoft.com/office/drawing/2014/main" id="{A9A325A5-382E-49FB-9972-792AE39A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096000"/>
            <a:ext cx="377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37" name="req-cell-text-3-2">
            <a:extLst xmlns:a="http://schemas.openxmlformats.org/drawingml/2006/main">
              <a:ext uri="{FF2B5EF4-FFF2-40B4-BE49-F238E27FC236}">
                <a16:creationId xmlns:a16="http://schemas.microsoft.com/office/drawing/2014/main" id="{D5A1BADD-BE5E-463B-8D54-7E29C1F3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181725"/>
            <a:ext cx="3581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依 115 年正式公告更新，所有選區均有公平露出</a:t>
            </a:r>
          </a:p>
        </p:txBody>
      </p:sp>
      <p:sp>
        <p:nvSpPr>
          <p:cNvPr id="38" name="req-cell-4-0">
            <a:extLst xmlns:a="http://schemas.openxmlformats.org/drawingml/2006/main">
              <a:ext uri="{FF2B5EF4-FFF2-40B4-BE49-F238E27FC236}">
                <a16:creationId xmlns:a16="http://schemas.microsoft.com/office/drawing/2014/main" id="{D54CA148-4920-43C0-B02B-B0226702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19950"/>
            <a:ext cx="1066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39" name="req-cell-text-4-0">
            <a:extLst xmlns:a="http://schemas.openxmlformats.org/drawingml/2006/main">
              <a:ext uri="{FF2B5EF4-FFF2-40B4-BE49-F238E27FC236}">
                <a16:creationId xmlns:a16="http://schemas.microsoft.com/office/drawing/2014/main" id="{37F196EE-27E9-491C-8A1B-ABD20C82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056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敘事</a:t>
            </a:r>
          </a:p>
        </p:txBody>
      </p:sp>
      <p:sp>
        <p:nvSpPr>
          <p:cNvPr id="40" name="req-cell-4-1">
            <a:extLst xmlns:a="http://schemas.openxmlformats.org/drawingml/2006/main">
              <a:ext uri="{FF2B5EF4-FFF2-40B4-BE49-F238E27FC236}">
                <a16:creationId xmlns:a16="http://schemas.microsoft.com/office/drawing/2014/main" id="{CDBCF128-0F93-4CDC-9422-5B2EB30B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21995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F0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41" name="req-cell-text-4-1">
            <a:extLst xmlns:a="http://schemas.openxmlformats.org/drawingml/2006/main">
              <a:ext uri="{FF2B5EF4-FFF2-40B4-BE49-F238E27FC236}">
                <a16:creationId xmlns:a16="http://schemas.microsoft.com/office/drawing/2014/main" id="{06A8E011-8D1A-4CC5-B2CA-394AA0B0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305675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看見 → 共好</a:t>
            </a:r>
          </a:p>
        </p:txBody>
      </p:sp>
      <p:sp>
        <p:nvSpPr>
          <p:cNvPr id="42" name="req-cell-4-2">
            <a:extLst xmlns:a="http://schemas.openxmlformats.org/drawingml/2006/main">
              <a:ext uri="{FF2B5EF4-FFF2-40B4-BE49-F238E27FC236}">
                <a16:creationId xmlns:a16="http://schemas.microsoft.com/office/drawing/2014/main" id="{72210CD5-AB7C-4CF8-A9E2-599460F8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219950"/>
            <a:ext cx="377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43" name="req-cell-text-4-2">
            <a:extLst xmlns:a="http://schemas.openxmlformats.org/drawingml/2006/main">
              <a:ext uri="{FF2B5EF4-FFF2-40B4-BE49-F238E27FC236}">
                <a16:creationId xmlns:a16="http://schemas.microsoft.com/office/drawing/2014/main" id="{C0036CBA-919A-4DB1-B023-580913E1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305675"/>
            <a:ext cx="3581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以民意如何被看見、被討論、被追蹤為主線，不複製 2022 舊稿</a:t>
            </a:r>
          </a:p>
        </p:txBody>
      </p:sp>
      <p:sp>
        <p:nvSpPr>
          <p:cNvPr id="44" name="req-cell-5-0">
            <a:extLst xmlns:a="http://schemas.openxmlformats.org/drawingml/2006/main">
              <a:ext uri="{FF2B5EF4-FFF2-40B4-BE49-F238E27FC236}">
                <a16:creationId xmlns:a16="http://schemas.microsoft.com/office/drawing/2014/main" id="{9C9C0AA2-B7B5-439C-80B7-A3A9EE07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43900"/>
            <a:ext cx="1066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45" name="req-cell-text-5-0">
            <a:extLst xmlns:a="http://schemas.openxmlformats.org/drawingml/2006/main">
              <a:ext uri="{FF2B5EF4-FFF2-40B4-BE49-F238E27FC236}">
                <a16:creationId xmlns:a16="http://schemas.microsoft.com/office/drawing/2014/main" id="{528B1FE3-51FA-4A99-8FF0-8236BEEF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2962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播放</a:t>
            </a:r>
          </a:p>
        </p:txBody>
      </p:sp>
      <p:sp>
        <p:nvSpPr>
          <p:cNvPr id="46" name="req-cell-5-1">
            <a:extLst xmlns:a="http://schemas.openxmlformats.org/drawingml/2006/main">
              <a:ext uri="{FF2B5EF4-FFF2-40B4-BE49-F238E27FC236}">
                <a16:creationId xmlns:a16="http://schemas.microsoft.com/office/drawing/2014/main" id="{309ED659-FB64-4F52-8125-D9147A87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3439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F0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47" name="req-cell-text-5-1">
            <a:extLst xmlns:a="http://schemas.openxmlformats.org/drawingml/2006/main">
              <a:ext uri="{FF2B5EF4-FFF2-40B4-BE49-F238E27FC236}">
                <a16:creationId xmlns:a16="http://schemas.microsoft.com/office/drawing/2014/main" id="{234B4792-A746-4731-8C87-6AD3DB98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429625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簡報室／USB／藍光</a:t>
            </a:r>
          </a:p>
        </p:txBody>
      </p:sp>
      <p:sp>
        <p:nvSpPr>
          <p:cNvPr id="48" name="req-cell-5-2">
            <a:extLst xmlns:a="http://schemas.openxmlformats.org/drawingml/2006/main">
              <a:ext uri="{FF2B5EF4-FFF2-40B4-BE49-F238E27FC236}">
                <a16:creationId xmlns:a16="http://schemas.microsoft.com/office/drawing/2014/main" id="{63929F16-1079-493C-B443-213D2F2E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343900"/>
            <a:ext cx="377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49" name="req-cell-text-5-2">
            <a:extLst xmlns:a="http://schemas.openxmlformats.org/drawingml/2006/main">
              <a:ext uri="{FF2B5EF4-FFF2-40B4-BE49-F238E27FC236}">
                <a16:creationId xmlns:a16="http://schemas.microsoft.com/office/drawing/2014/main" id="{E5C9E7E7-1883-4065-9CA4-C2242A94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429625"/>
            <a:ext cx="3581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畫面構圖兼顧大銀幕與多語字幕安全框</a:t>
            </a:r>
          </a:p>
        </p:txBody>
      </p:sp>
      <p:sp>
        <p:nvSpPr>
          <p:cNvPr id="50" name="req-note">
            <a:extLst xmlns:a="http://schemas.openxmlformats.org/drawingml/2006/main">
              <a:ext uri="{FF2B5EF4-FFF2-40B4-BE49-F238E27FC236}">
                <a16:creationId xmlns:a16="http://schemas.microsoft.com/office/drawing/2014/main" id="{13135295-3E66-40D8-A36E-6BD5AC20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48825"/>
            <a:ext cx="664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終校提醒｜第 5 屆當選名單、議長／副議長姓名與正式致詞，於選舉及就職後置換確認。</a:t>
            </a:r>
          </a:p>
        </p:txBody>
      </p:sp>
    </p:spTree>
    <p:extLst>
      <p:ext uri="{BB962C8B-B14F-4D97-AF65-F5344CB8AC3E}">
        <p14:creationId xmlns:p14="http://schemas.microsoft.com/office/powerpoint/2010/main" val="440236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kicker-4">
            <a:extLst xmlns:a="http://schemas.openxmlformats.org/drawingml/2006/main">
              <a:ext uri="{FF2B5EF4-FFF2-40B4-BE49-F238E27FC236}">
                <a16:creationId xmlns:a16="http://schemas.microsoft.com/office/drawing/2014/main" id="{861ADA64-ACB3-4BBB-AFB7-FDBED1BD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全片節奏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92F02D0-FBE1-4F33-898C-2F8F0C30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664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11 分 50 秒，從看見走到共好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9E2A43D6-8EB6-44FE-B213-1F9088EA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62C"/>
            </a:solidFill>
            <a:prstDash val="solid"/>
          </a:ln>
        </p:spPr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549559CA-1EA0-4CEE-AD4B-11E26F5B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664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前半段建立城市與代表性，中段把民意運作拍清楚，後半段收束為第 5 屆共同承諾。</a:t>
            </a:r>
          </a:p>
        </p:txBody>
      </p:sp>
      <p:sp>
        <p:nvSpPr>
          <p:cNvPr id="5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2171A072-33BE-4082-BC6B-789B137E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6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F9EA14CA-E6A2-45E8-B3C6-3594B8CE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看見.共好｜第5屆新北市議會影片腳本</a:t>
            </a:r>
          </a:p>
        </p:txBody>
      </p:sp>
      <p:sp>
        <p:nvSpPr>
          <p:cNvPr id="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19A2FA67-8476-4D9E-9F91-B6126362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8" name="runtime-num-0">
            <a:extLst xmlns:a="http://schemas.openxmlformats.org/drawingml/2006/main">
              <a:ext uri="{FF2B5EF4-FFF2-40B4-BE49-F238E27FC236}">
                <a16:creationId xmlns:a16="http://schemas.microsoft.com/office/drawing/2014/main" id="{2278CAFE-852C-4485-AA57-F21ADD73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9" name="runtime-bar-0">
            <a:extLst xmlns:a="http://schemas.openxmlformats.org/drawingml/2006/main">
              <a:ext uri="{FF2B5EF4-FFF2-40B4-BE49-F238E27FC236}">
                <a16:creationId xmlns:a16="http://schemas.microsoft.com/office/drawing/2014/main" id="{19465105-D81F-430D-948E-470C6C81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6096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ntime-title-0">
            <a:extLst xmlns:a="http://schemas.openxmlformats.org/drawingml/2006/main">
              <a:ext uri="{FF2B5EF4-FFF2-40B4-BE49-F238E27FC236}">
                <a16:creationId xmlns:a16="http://schemas.microsoft.com/office/drawing/2014/main" id="{B788AE86-4A3F-4899-A4D6-4ADDFDFD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城市先醒來</a:t>
            </a:r>
          </a:p>
        </p:txBody>
      </p:sp>
      <p:sp>
        <p:nvSpPr>
          <p:cNvPr id="11" name="runtime-range-0">
            <a:extLst xmlns:a="http://schemas.openxmlformats.org/drawingml/2006/main">
              <a:ext uri="{FF2B5EF4-FFF2-40B4-BE49-F238E27FC236}">
                <a16:creationId xmlns:a16="http://schemas.microsoft.com/office/drawing/2014/main" id="{72AD6F01-41AA-45AE-A732-28202149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00:00–00:45</a:t>
            </a:r>
          </a:p>
        </p:txBody>
      </p:sp>
      <p:sp>
        <p:nvSpPr>
          <p:cNvPr id="12" name="runtime-dur-0">
            <a:extLst xmlns:a="http://schemas.openxmlformats.org/drawingml/2006/main">
              <a:ext uri="{FF2B5EF4-FFF2-40B4-BE49-F238E27FC236}">
                <a16:creationId xmlns:a16="http://schemas.microsoft.com/office/drawing/2014/main" id="{2112303E-114C-46A7-B30A-93AE1E9F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0:45</a:t>
            </a:r>
          </a:p>
        </p:txBody>
      </p:sp>
      <p:sp>
        <p:nvSpPr>
          <p:cNvPr id="13" name="runtime-num-1">
            <a:extLst xmlns:a="http://schemas.openxmlformats.org/drawingml/2006/main">
              <a:ext uri="{FF2B5EF4-FFF2-40B4-BE49-F238E27FC236}">
                <a16:creationId xmlns:a16="http://schemas.microsoft.com/office/drawing/2014/main" id="{DD6BDAAE-1D1C-4957-8126-E39E81E7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4" name="runtime-bar-1">
            <a:extLst xmlns:a="http://schemas.openxmlformats.org/drawingml/2006/main">
              <a:ext uri="{FF2B5EF4-FFF2-40B4-BE49-F238E27FC236}">
                <a16:creationId xmlns:a16="http://schemas.microsoft.com/office/drawing/2014/main" id="{DFBDBBAA-5D9E-4D15-87DC-3FFE1294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6096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ntime-title-1">
            <a:extLst xmlns:a="http://schemas.openxmlformats.org/drawingml/2006/main">
              <a:ext uri="{FF2B5EF4-FFF2-40B4-BE49-F238E27FC236}">
                <a16:creationId xmlns:a16="http://schemas.microsoft.com/office/drawing/2014/main" id="{C45C570A-AE0C-4477-BE5F-27387DAB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03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民主走過的路</a:t>
            </a:r>
          </a:p>
        </p:txBody>
      </p:sp>
      <p:sp>
        <p:nvSpPr>
          <p:cNvPr id="16" name="runtime-range-1">
            <a:extLst xmlns:a="http://schemas.openxmlformats.org/drawingml/2006/main">
              <a:ext uri="{FF2B5EF4-FFF2-40B4-BE49-F238E27FC236}">
                <a16:creationId xmlns:a16="http://schemas.microsoft.com/office/drawing/2014/main" id="{A3D9AFA8-D513-4275-921A-A71DE56C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03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00:45–01:35</a:t>
            </a:r>
          </a:p>
        </p:txBody>
      </p:sp>
      <p:sp>
        <p:nvSpPr>
          <p:cNvPr id="17" name="runtime-dur-1">
            <a:extLst xmlns:a="http://schemas.openxmlformats.org/drawingml/2006/main">
              <a:ext uri="{FF2B5EF4-FFF2-40B4-BE49-F238E27FC236}">
                <a16:creationId xmlns:a16="http://schemas.microsoft.com/office/drawing/2014/main" id="{C82DD676-144E-43E4-BFEF-7E1685D6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0:50</a:t>
            </a:r>
          </a:p>
        </p:txBody>
      </p:sp>
      <p:sp>
        <p:nvSpPr>
          <p:cNvPr id="18" name="runtime-num-2">
            <a:extLst xmlns:a="http://schemas.openxmlformats.org/drawingml/2006/main">
              <a:ext uri="{FF2B5EF4-FFF2-40B4-BE49-F238E27FC236}">
                <a16:creationId xmlns:a16="http://schemas.microsoft.com/office/drawing/2014/main" id="{C695A941-218C-485F-BC9D-26CC383B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9" name="runtime-bar-2">
            <a:extLst xmlns:a="http://schemas.openxmlformats.org/drawingml/2006/main">
              <a:ext uri="{FF2B5EF4-FFF2-40B4-BE49-F238E27FC236}">
                <a16:creationId xmlns:a16="http://schemas.microsoft.com/office/drawing/2014/main" id="{3041B5A3-3D7B-4A6B-A567-6CE9E44D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6096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untime-title-2">
            <a:extLst xmlns:a="http://schemas.openxmlformats.org/drawingml/2006/main">
              <a:ext uri="{FF2B5EF4-FFF2-40B4-BE49-F238E27FC236}">
                <a16:creationId xmlns:a16="http://schemas.microsoft.com/office/drawing/2014/main" id="{2AA5E5D0-4060-4D96-935A-3DEED482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每一席都有來處</a:t>
            </a:r>
          </a:p>
        </p:txBody>
      </p:sp>
      <p:sp>
        <p:nvSpPr>
          <p:cNvPr id="21" name="runtime-range-2">
            <a:extLst xmlns:a="http://schemas.openxmlformats.org/drawingml/2006/main">
              <a:ext uri="{FF2B5EF4-FFF2-40B4-BE49-F238E27FC236}">
                <a16:creationId xmlns:a16="http://schemas.microsoft.com/office/drawing/2014/main" id="{F10E0BB3-706E-4ED4-9F98-26D8D1E5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01:35–02:15</a:t>
            </a:r>
          </a:p>
        </p:txBody>
      </p:sp>
      <p:sp>
        <p:nvSpPr>
          <p:cNvPr id="22" name="runtime-dur-2">
            <a:extLst xmlns:a="http://schemas.openxmlformats.org/drawingml/2006/main">
              <a:ext uri="{FF2B5EF4-FFF2-40B4-BE49-F238E27FC236}">
                <a16:creationId xmlns:a16="http://schemas.microsoft.com/office/drawing/2014/main" id="{1BD8569A-F24D-4E27-9103-7B612A60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09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0:40</a:t>
            </a:r>
          </a:p>
        </p:txBody>
      </p:sp>
      <p:sp>
        <p:nvSpPr>
          <p:cNvPr id="23" name="runtime-num-3">
            <a:extLst xmlns:a="http://schemas.openxmlformats.org/drawingml/2006/main">
              <a:ext uri="{FF2B5EF4-FFF2-40B4-BE49-F238E27FC236}">
                <a16:creationId xmlns:a16="http://schemas.microsoft.com/office/drawing/2014/main" id="{EB1BD826-A348-4722-AA03-4AF2BEA1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runtime-bar-3">
            <a:extLst xmlns:a="http://schemas.openxmlformats.org/drawingml/2006/main">
              <a:ext uri="{FF2B5EF4-FFF2-40B4-BE49-F238E27FC236}">
                <a16:creationId xmlns:a16="http://schemas.microsoft.com/office/drawing/2014/main" id="{6BD7FB45-5259-4659-8083-C474F6FF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6096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untime-title-3">
            <a:extLst xmlns:a="http://schemas.openxmlformats.org/drawingml/2006/main">
              <a:ext uri="{FF2B5EF4-FFF2-40B4-BE49-F238E27FC236}">
                <a16:creationId xmlns:a16="http://schemas.microsoft.com/office/drawing/2014/main" id="{1E963FFC-F01C-454D-851E-C1A03105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片名亮相</a:t>
            </a:r>
          </a:p>
        </p:txBody>
      </p:sp>
      <p:sp>
        <p:nvSpPr>
          <p:cNvPr id="26" name="runtime-range-3">
            <a:extLst xmlns:a="http://schemas.openxmlformats.org/drawingml/2006/main">
              <a:ext uri="{FF2B5EF4-FFF2-40B4-BE49-F238E27FC236}">
                <a16:creationId xmlns:a16="http://schemas.microsoft.com/office/drawing/2014/main" id="{F5559936-D05C-4FC9-B13D-26073B60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02:15–02:35</a:t>
            </a:r>
          </a:p>
        </p:txBody>
      </p:sp>
      <p:sp>
        <p:nvSpPr>
          <p:cNvPr id="27" name="runtime-dur-3">
            <a:extLst xmlns:a="http://schemas.openxmlformats.org/drawingml/2006/main">
              <a:ext uri="{FF2B5EF4-FFF2-40B4-BE49-F238E27FC236}">
                <a16:creationId xmlns:a16="http://schemas.microsoft.com/office/drawing/2014/main" id="{7123363C-4DC1-4B7F-9977-44EBB24E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95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0:20</a:t>
            </a:r>
          </a:p>
        </p:txBody>
      </p:sp>
      <p:sp>
        <p:nvSpPr>
          <p:cNvPr id="28" name="runtime-num-4">
            <a:extLst xmlns:a="http://schemas.openxmlformats.org/drawingml/2006/main">
              <a:ext uri="{FF2B5EF4-FFF2-40B4-BE49-F238E27FC236}">
                <a16:creationId xmlns:a16="http://schemas.microsoft.com/office/drawing/2014/main" id="{4A16F46A-F2A6-43F9-B586-8EA6A9BF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29" name="runtime-bar-4">
            <a:extLst xmlns:a="http://schemas.openxmlformats.org/drawingml/2006/main">
              <a:ext uri="{FF2B5EF4-FFF2-40B4-BE49-F238E27FC236}">
                <a16:creationId xmlns:a16="http://schemas.microsoft.com/office/drawing/2014/main" id="{157BE690-44F9-45EA-9118-D26AC0B1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0100"/>
            <a:ext cx="6096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untime-title-4">
            <a:extLst xmlns:a="http://schemas.openxmlformats.org/drawingml/2006/main">
              <a:ext uri="{FF2B5EF4-FFF2-40B4-BE49-F238E27FC236}">
                <a16:creationId xmlns:a16="http://schemas.microsoft.com/office/drawing/2014/main" id="{EA33E875-0BF5-414D-9FA6-6FDD49AE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 13 個選區</a:t>
            </a:r>
          </a:p>
        </p:txBody>
      </p:sp>
      <p:sp>
        <p:nvSpPr>
          <p:cNvPr id="31" name="runtime-range-4">
            <a:extLst xmlns:a="http://schemas.openxmlformats.org/drawingml/2006/main">
              <a:ext uri="{FF2B5EF4-FFF2-40B4-BE49-F238E27FC236}">
                <a16:creationId xmlns:a16="http://schemas.microsoft.com/office/drawing/2014/main" id="{2BA99AC4-63FD-45A1-B5A1-41238A89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291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02:35–04:55</a:t>
            </a:r>
          </a:p>
        </p:txBody>
      </p:sp>
      <p:sp>
        <p:nvSpPr>
          <p:cNvPr id="32" name="runtime-dur-4">
            <a:extLst xmlns:a="http://schemas.openxmlformats.org/drawingml/2006/main">
              <a:ext uri="{FF2B5EF4-FFF2-40B4-BE49-F238E27FC236}">
                <a16:creationId xmlns:a16="http://schemas.microsoft.com/office/drawing/2014/main" id="{6B097BDA-D831-46DB-80F7-7C07D8CC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291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2:20</a:t>
            </a:r>
          </a:p>
        </p:txBody>
      </p:sp>
      <p:sp>
        <p:nvSpPr>
          <p:cNvPr id="33" name="runtime-num-5">
            <a:extLst xmlns:a="http://schemas.openxmlformats.org/drawingml/2006/main">
              <a:ext uri="{FF2B5EF4-FFF2-40B4-BE49-F238E27FC236}">
                <a16:creationId xmlns:a16="http://schemas.microsoft.com/office/drawing/2014/main" id="{DA9E6189-D2F3-40EB-A76B-01E6ED09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34" name="runtime-bar-5">
            <a:extLst xmlns:a="http://schemas.openxmlformats.org/drawingml/2006/main">
              <a:ext uri="{FF2B5EF4-FFF2-40B4-BE49-F238E27FC236}">
                <a16:creationId xmlns:a16="http://schemas.microsoft.com/office/drawing/2014/main" id="{F0C05AC5-036A-4D89-9F17-566FDDB5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6096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untime-title-5">
            <a:extLst xmlns:a="http://schemas.openxmlformats.org/drawingml/2006/main">
              <a:ext uri="{FF2B5EF4-FFF2-40B4-BE49-F238E27FC236}">
                <a16:creationId xmlns:a16="http://schemas.microsoft.com/office/drawing/2014/main" id="{ED0612D9-8A24-40AC-BC4E-9736CE88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問題被看見</a:t>
            </a:r>
          </a:p>
        </p:txBody>
      </p:sp>
      <p:sp>
        <p:nvSpPr>
          <p:cNvPr id="36" name="runtime-range-5">
            <a:extLst xmlns:a="http://schemas.openxmlformats.org/drawingml/2006/main">
              <a:ext uri="{FF2B5EF4-FFF2-40B4-BE49-F238E27FC236}">
                <a16:creationId xmlns:a16="http://schemas.microsoft.com/office/drawing/2014/main" id="{46643B59-E484-4403-8EF2-810FC0B7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04:55–05:15</a:t>
            </a:r>
          </a:p>
        </p:txBody>
      </p:sp>
      <p:sp>
        <p:nvSpPr>
          <p:cNvPr id="37" name="runtime-dur-5">
            <a:extLst xmlns:a="http://schemas.openxmlformats.org/drawingml/2006/main">
              <a:ext uri="{FF2B5EF4-FFF2-40B4-BE49-F238E27FC236}">
                <a16:creationId xmlns:a16="http://schemas.microsoft.com/office/drawing/2014/main" id="{4D8FB5C2-9A23-42DA-9CD1-1472A9F9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0:20</a:t>
            </a:r>
          </a:p>
        </p:txBody>
      </p:sp>
      <p:sp>
        <p:nvSpPr>
          <p:cNvPr id="38" name="runtime-num-6">
            <a:extLst xmlns:a="http://schemas.openxmlformats.org/drawingml/2006/main">
              <a:ext uri="{FF2B5EF4-FFF2-40B4-BE49-F238E27FC236}">
                <a16:creationId xmlns:a16="http://schemas.microsoft.com/office/drawing/2014/main" id="{4BB76C16-DC48-4087-8744-9BC8237B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39" name="runtime-bar-6">
            <a:extLst xmlns:a="http://schemas.openxmlformats.org/drawingml/2006/main">
              <a:ext uri="{FF2B5EF4-FFF2-40B4-BE49-F238E27FC236}">
                <a16:creationId xmlns:a16="http://schemas.microsoft.com/office/drawing/2014/main" id="{13FFDBA4-4325-402E-9963-B63B73A1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6096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untime-title-6">
            <a:extLst xmlns:a="http://schemas.openxmlformats.org/drawingml/2006/main">
              <a:ext uri="{FF2B5EF4-FFF2-40B4-BE49-F238E27FC236}">
                <a16:creationId xmlns:a16="http://schemas.microsoft.com/office/drawing/2014/main" id="{3B11AA28-9FDA-4037-81C1-E4CDE6F4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483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一個聲音成為行動</a:t>
            </a:r>
          </a:p>
        </p:txBody>
      </p:sp>
      <p:sp>
        <p:nvSpPr>
          <p:cNvPr id="41" name="runtime-range-6">
            <a:extLst xmlns:a="http://schemas.openxmlformats.org/drawingml/2006/main">
              <a:ext uri="{FF2B5EF4-FFF2-40B4-BE49-F238E27FC236}">
                <a16:creationId xmlns:a16="http://schemas.microsoft.com/office/drawing/2014/main" id="{35215B91-F558-40E8-AE87-FA90E868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483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05:15–06:55</a:t>
            </a:r>
          </a:p>
        </p:txBody>
      </p:sp>
      <p:sp>
        <p:nvSpPr>
          <p:cNvPr id="42" name="runtime-dur-6">
            <a:extLst xmlns:a="http://schemas.openxmlformats.org/drawingml/2006/main">
              <a:ext uri="{FF2B5EF4-FFF2-40B4-BE49-F238E27FC236}">
                <a16:creationId xmlns:a16="http://schemas.microsoft.com/office/drawing/2014/main" id="{7654B5CD-F6D4-4224-97FC-F05F49CB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483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1:40</a:t>
            </a:r>
          </a:p>
        </p:txBody>
      </p:sp>
      <p:sp>
        <p:nvSpPr>
          <p:cNvPr id="43" name="runtime-num-7">
            <a:extLst xmlns:a="http://schemas.openxmlformats.org/drawingml/2006/main">
              <a:ext uri="{FF2B5EF4-FFF2-40B4-BE49-F238E27FC236}">
                <a16:creationId xmlns:a16="http://schemas.microsoft.com/office/drawing/2014/main" id="{812F8916-6E59-4381-9621-E3F741A7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44" name="runtime-bar-7">
            <a:extLst xmlns:a="http://schemas.openxmlformats.org/drawingml/2006/main">
              <a:ext uri="{FF2B5EF4-FFF2-40B4-BE49-F238E27FC236}">
                <a16:creationId xmlns:a16="http://schemas.microsoft.com/office/drawing/2014/main" id="{13FA8F30-9F05-4CF8-B217-500A526C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38900"/>
            <a:ext cx="6096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untime-title-7">
            <a:extLst xmlns:a="http://schemas.openxmlformats.org/drawingml/2006/main">
              <a:ext uri="{FF2B5EF4-FFF2-40B4-BE49-F238E27FC236}">
                <a16:creationId xmlns:a16="http://schemas.microsoft.com/office/drawing/2014/main" id="{99F4CC0F-A157-4672-8E0A-2115B697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579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議會如何運作</a:t>
            </a:r>
          </a:p>
        </p:txBody>
      </p:sp>
      <p:sp>
        <p:nvSpPr>
          <p:cNvPr id="46" name="runtime-range-7">
            <a:extLst xmlns:a="http://schemas.openxmlformats.org/drawingml/2006/main">
              <a:ext uri="{FF2B5EF4-FFF2-40B4-BE49-F238E27FC236}">
                <a16:creationId xmlns:a16="http://schemas.microsoft.com/office/drawing/2014/main" id="{B290C5ED-3FA3-463F-B7EA-6982FDE3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57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06:55–08:15</a:t>
            </a:r>
          </a:p>
        </p:txBody>
      </p:sp>
      <p:sp>
        <p:nvSpPr>
          <p:cNvPr id="47" name="runtime-dur-7">
            <a:extLst xmlns:a="http://schemas.openxmlformats.org/drawingml/2006/main">
              <a:ext uri="{FF2B5EF4-FFF2-40B4-BE49-F238E27FC236}">
                <a16:creationId xmlns:a16="http://schemas.microsoft.com/office/drawing/2014/main" id="{70739EBA-D82A-4A8C-BFE6-E4A25CB3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579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1:20</a:t>
            </a:r>
          </a:p>
        </p:txBody>
      </p:sp>
      <p:sp>
        <p:nvSpPr>
          <p:cNvPr id="48" name="runtime-num-8">
            <a:extLst xmlns:a="http://schemas.openxmlformats.org/drawingml/2006/main">
              <a:ext uri="{FF2B5EF4-FFF2-40B4-BE49-F238E27FC236}">
                <a16:creationId xmlns:a16="http://schemas.microsoft.com/office/drawing/2014/main" id="{BFDF2B8D-186D-4054-8C31-8F186651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49" name="runtime-bar-8">
            <a:extLst xmlns:a="http://schemas.openxmlformats.org/drawingml/2006/main">
              <a:ext uri="{FF2B5EF4-FFF2-40B4-BE49-F238E27FC236}">
                <a16:creationId xmlns:a16="http://schemas.microsoft.com/office/drawing/2014/main" id="{E9048392-BE81-44E8-AE9A-510765BB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048500"/>
            <a:ext cx="6096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runtime-title-8">
            <a:extLst xmlns:a="http://schemas.openxmlformats.org/drawingml/2006/main">
              <a:ext uri="{FF2B5EF4-FFF2-40B4-BE49-F238E27FC236}">
                <a16:creationId xmlns:a16="http://schemas.microsoft.com/office/drawing/2014/main" id="{CBAC50C6-D8DB-4CC4-B659-A726A60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675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讓民主被理解與保存</a:t>
            </a:r>
          </a:p>
        </p:txBody>
      </p:sp>
      <p:sp>
        <p:nvSpPr>
          <p:cNvPr id="51" name="runtime-range-8">
            <a:extLst xmlns:a="http://schemas.openxmlformats.org/drawingml/2006/main">
              <a:ext uri="{FF2B5EF4-FFF2-40B4-BE49-F238E27FC236}">
                <a16:creationId xmlns:a16="http://schemas.microsoft.com/office/drawing/2014/main" id="{DE2E75B7-1C72-4DCA-8FAE-D32601D1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675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08:15–09:10</a:t>
            </a:r>
          </a:p>
        </p:txBody>
      </p:sp>
      <p:sp>
        <p:nvSpPr>
          <p:cNvPr id="52" name="runtime-dur-8">
            <a:extLst xmlns:a="http://schemas.openxmlformats.org/drawingml/2006/main">
              <a:ext uri="{FF2B5EF4-FFF2-40B4-BE49-F238E27FC236}">
                <a16:creationId xmlns:a16="http://schemas.microsoft.com/office/drawing/2014/main" id="{CFDDF093-07D1-4617-8744-00502077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675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0:55</a:t>
            </a:r>
          </a:p>
        </p:txBody>
      </p:sp>
      <p:sp>
        <p:nvSpPr>
          <p:cNvPr id="53" name="runtime-num-9">
            <a:extLst xmlns:a="http://schemas.openxmlformats.org/drawingml/2006/main">
              <a:ext uri="{FF2B5EF4-FFF2-40B4-BE49-F238E27FC236}">
                <a16:creationId xmlns:a16="http://schemas.microsoft.com/office/drawing/2014/main" id="{C2AE3CF5-D3FF-43D9-86BA-7A05D8D6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58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54" name="runtime-bar-9">
            <a:extLst xmlns:a="http://schemas.openxmlformats.org/drawingml/2006/main">
              <a:ext uri="{FF2B5EF4-FFF2-40B4-BE49-F238E27FC236}">
                <a16:creationId xmlns:a16="http://schemas.microsoft.com/office/drawing/2014/main" id="{2799DF22-436D-4304-8BE7-A3465202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658100"/>
            <a:ext cx="6096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runtime-title-9">
            <a:extLst xmlns:a="http://schemas.openxmlformats.org/drawingml/2006/main">
              <a:ext uri="{FF2B5EF4-FFF2-40B4-BE49-F238E27FC236}">
                <a16:creationId xmlns:a16="http://schemas.microsoft.com/office/drawing/2014/main" id="{A0C11AE9-2CDD-40B8-AF95-882C2F92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677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差異走向共識</a:t>
            </a:r>
          </a:p>
        </p:txBody>
      </p:sp>
      <p:sp>
        <p:nvSpPr>
          <p:cNvPr id="56" name="runtime-range-9">
            <a:extLst xmlns:a="http://schemas.openxmlformats.org/drawingml/2006/main">
              <a:ext uri="{FF2B5EF4-FFF2-40B4-BE49-F238E27FC236}">
                <a16:creationId xmlns:a16="http://schemas.microsoft.com/office/drawing/2014/main" id="{8C0ED3E8-7A75-4269-B088-D58B2C2F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6771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09:10–10:15</a:t>
            </a:r>
          </a:p>
        </p:txBody>
      </p:sp>
      <p:sp>
        <p:nvSpPr>
          <p:cNvPr id="57" name="runtime-dur-9">
            <a:extLst xmlns:a="http://schemas.openxmlformats.org/drawingml/2006/main">
              <a:ext uri="{FF2B5EF4-FFF2-40B4-BE49-F238E27FC236}">
                <a16:creationId xmlns:a16="http://schemas.microsoft.com/office/drawing/2014/main" id="{0348A0B3-7A8D-47C6-8F86-5D7AE01A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6771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1:05</a:t>
            </a:r>
          </a:p>
        </p:txBody>
      </p:sp>
      <p:sp>
        <p:nvSpPr>
          <p:cNvPr id="58" name="runtime-num-10">
            <a:extLst xmlns:a="http://schemas.openxmlformats.org/drawingml/2006/main">
              <a:ext uri="{FF2B5EF4-FFF2-40B4-BE49-F238E27FC236}">
                <a16:creationId xmlns:a16="http://schemas.microsoft.com/office/drawing/2014/main" id="{24DE5A0B-BFE5-4332-B3B5-3C1777F7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67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59" name="runtime-bar-10">
            <a:extLst xmlns:a="http://schemas.openxmlformats.org/drawingml/2006/main">
              <a:ext uri="{FF2B5EF4-FFF2-40B4-BE49-F238E27FC236}">
                <a16:creationId xmlns:a16="http://schemas.microsoft.com/office/drawing/2014/main" id="{D8B6C734-EDC4-41CC-A2ED-E61C6728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267700"/>
            <a:ext cx="6096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runtime-title-10">
            <a:extLst xmlns:a="http://schemas.openxmlformats.org/drawingml/2006/main">
              <a:ext uri="{FF2B5EF4-FFF2-40B4-BE49-F238E27FC236}">
                <a16:creationId xmlns:a16="http://schemas.microsoft.com/office/drawing/2014/main" id="{B8884280-F190-4B08-A91E-B50226F5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286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屆共同承諾</a:t>
            </a:r>
          </a:p>
        </p:txBody>
      </p:sp>
      <p:sp>
        <p:nvSpPr>
          <p:cNvPr id="61" name="runtime-range-10">
            <a:extLst xmlns:a="http://schemas.openxmlformats.org/drawingml/2006/main">
              <a:ext uri="{FF2B5EF4-FFF2-40B4-BE49-F238E27FC236}">
                <a16:creationId xmlns:a16="http://schemas.microsoft.com/office/drawing/2014/main" id="{4572ECE2-0CDE-4A0D-BE1B-CE878831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2867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10:15–11:25</a:t>
            </a:r>
          </a:p>
        </p:txBody>
      </p:sp>
      <p:sp>
        <p:nvSpPr>
          <p:cNvPr id="62" name="runtime-dur-10">
            <a:extLst xmlns:a="http://schemas.openxmlformats.org/drawingml/2006/main">
              <a:ext uri="{FF2B5EF4-FFF2-40B4-BE49-F238E27FC236}">
                <a16:creationId xmlns:a16="http://schemas.microsoft.com/office/drawing/2014/main" id="{317B0AE0-34A8-40B8-96EE-986270E3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2867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1:10</a:t>
            </a:r>
          </a:p>
        </p:txBody>
      </p:sp>
      <p:sp>
        <p:nvSpPr>
          <p:cNvPr id="63" name="runtime-num-11">
            <a:extLst xmlns:a="http://schemas.openxmlformats.org/drawingml/2006/main">
              <a:ext uri="{FF2B5EF4-FFF2-40B4-BE49-F238E27FC236}">
                <a16:creationId xmlns:a16="http://schemas.microsoft.com/office/drawing/2014/main" id="{54A9431E-DD7E-428E-8EF3-74F24248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77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64" name="runtime-bar-11">
            <a:extLst xmlns:a="http://schemas.openxmlformats.org/drawingml/2006/main">
              <a:ext uri="{FF2B5EF4-FFF2-40B4-BE49-F238E27FC236}">
                <a16:creationId xmlns:a16="http://schemas.microsoft.com/office/drawing/2014/main" id="{087D2343-CE8C-408F-99C0-8A454F04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877300"/>
            <a:ext cx="6096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runtime-title-11">
            <a:extLst xmlns:a="http://schemas.openxmlformats.org/drawingml/2006/main">
              <a:ext uri="{FF2B5EF4-FFF2-40B4-BE49-F238E27FC236}">
                <a16:creationId xmlns:a16="http://schemas.microsoft.com/office/drawing/2014/main" id="{E119A3C0-F109-43F4-A553-B214903A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8963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看見未來，共好新北</a:t>
            </a:r>
          </a:p>
        </p:txBody>
      </p:sp>
      <p:sp>
        <p:nvSpPr>
          <p:cNvPr id="66" name="runtime-range-11">
            <a:extLst xmlns:a="http://schemas.openxmlformats.org/drawingml/2006/main">
              <a:ext uri="{FF2B5EF4-FFF2-40B4-BE49-F238E27FC236}">
                <a16:creationId xmlns:a16="http://schemas.microsoft.com/office/drawing/2014/main" id="{AD864347-654B-4354-949E-443059E8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8963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11:25–11:50</a:t>
            </a:r>
          </a:p>
        </p:txBody>
      </p:sp>
      <p:sp>
        <p:nvSpPr>
          <p:cNvPr id="67" name="runtime-dur-11">
            <a:extLst xmlns:a="http://schemas.openxmlformats.org/drawingml/2006/main">
              <a:ext uri="{FF2B5EF4-FFF2-40B4-BE49-F238E27FC236}">
                <a16:creationId xmlns:a16="http://schemas.microsoft.com/office/drawing/2014/main" id="{51A7660E-5F5F-4D50-B127-A8B3845B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8963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0:25</a:t>
            </a:r>
          </a:p>
        </p:txBody>
      </p:sp>
      <p:sp>
        <p:nvSpPr>
          <p:cNvPr id="68" name="runtime-total">
            <a:extLst xmlns:a="http://schemas.openxmlformats.org/drawingml/2006/main">
              <a:ext uri="{FF2B5EF4-FFF2-40B4-BE49-F238E27FC236}">
                <a16:creationId xmlns:a16="http://schemas.microsoft.com/office/drawing/2014/main" id="{D5CAFB10-1B25-45F5-8C21-B677F7F5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4869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B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DFC"/>
                </a:solidFill>
                <a:latin typeface="PingFang TC"/>
                <a:ea typeface="PingFang TC"/>
                <a:cs typeface="PingFang TC"/>
              </a:rPr>
              <a:t>總長 11:50</a:t>
            </a:r>
          </a:p>
        </p:txBody>
      </p:sp>
    </p:spTree>
    <p:extLst>
      <p:ext uri="{BB962C8B-B14F-4D97-AF65-F5344CB8AC3E}">
        <p14:creationId xmlns:p14="http://schemas.microsoft.com/office/powerpoint/2010/main" val="5621441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5">
            <a:extLst xmlns:a="http://schemas.openxmlformats.org/drawingml/2006/main">
              <a:ext uri="{FF2B5EF4-FFF2-40B4-BE49-F238E27FC236}">
                <a16:creationId xmlns:a16="http://schemas.microsoft.com/office/drawing/2014/main" id="{0E849284-FC58-47C4-AF42-A468B7A8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影像與聲音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5B45C37-ED6F-4686-8042-891F8F1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664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用「看見」建立記憶，用「共好」推進情緒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FA32F222-9B13-40FF-B840-91F7B969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16E8A"/>
            </a:solidFill>
            <a:prstDash val="solid"/>
          </a:ln>
        </p:spPr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ED78A9D3-75FA-48CF-B68D-462CBB96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664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調性穩重但不制式；保留議會可信度，也讓市民能在畫面裡認出自己的日常。</a:t>
            </a:r>
          </a:p>
        </p:txBody>
      </p:sp>
      <p:sp>
        <p:nvSpPr>
          <p:cNvPr id="5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2CB9D514-3268-4937-BD69-D5AC1177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6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1DA63C47-C615-457C-A9DC-A1394616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看見.共好｜第5屆新北市議會影片腳本</a:t>
            </a:r>
          </a:p>
        </p:txBody>
      </p:sp>
      <p:sp>
        <p:nvSpPr>
          <p:cNvPr id="7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ED74E483-1845-46C4-902A-13218D21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8" name="av-bg-0">
            <a:extLst xmlns:a="http://schemas.openxmlformats.org/drawingml/2006/main">
              <a:ext uri="{FF2B5EF4-FFF2-40B4-BE49-F238E27FC236}">
                <a16:creationId xmlns:a16="http://schemas.microsoft.com/office/drawing/2014/main" id="{9B3201FA-E873-4021-85D6-7BBE5BCD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66484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v-title-0">
            <a:extLst xmlns:a="http://schemas.openxmlformats.org/drawingml/2006/main">
              <a:ext uri="{FF2B5EF4-FFF2-40B4-BE49-F238E27FC236}">
                <a16:creationId xmlns:a16="http://schemas.microsoft.com/office/drawing/2014/main" id="{AC005141-97C4-41DB-A541-4DC6419B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鏡頭語言</a:t>
            </a:r>
          </a:p>
        </p:txBody>
      </p:sp>
      <p:sp>
        <p:nvSpPr>
          <p:cNvPr id="10" name="av-body-0">
            <a:extLst xmlns:a="http://schemas.openxmlformats.org/drawingml/2006/main">
              <a:ext uri="{FF2B5EF4-FFF2-40B4-BE49-F238E27FC236}">
                <a16:creationId xmlns:a16="http://schemas.microsoft.com/office/drawing/2014/main" id="{D8F82864-45EE-4CB2-8EC1-245680B5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24125"/>
            <a:ext cx="44577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近景看人｜手、眼神、腳步與互動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中景看行動｜會勘、陳情、討論、質詢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遠景看城市｜海岸、河川、山城、都會與議會建築</a:t>
            </a:r>
          </a:p>
        </p:txBody>
      </p:sp>
      <p:sp>
        <p:nvSpPr>
          <p:cNvPr id="11" name="av-bg-1">
            <a:extLst xmlns:a="http://schemas.openxmlformats.org/drawingml/2006/main">
              <a:ext uri="{FF2B5EF4-FFF2-40B4-BE49-F238E27FC236}">
                <a16:creationId xmlns:a16="http://schemas.microsoft.com/office/drawing/2014/main" id="{B48CE5D0-D9E9-4BFD-92AD-78D76BCE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6484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v-title-1">
            <a:extLst xmlns:a="http://schemas.openxmlformats.org/drawingml/2006/main">
              <a:ext uri="{FF2B5EF4-FFF2-40B4-BE49-F238E27FC236}">
                <a16:creationId xmlns:a16="http://schemas.microsoft.com/office/drawing/2014/main" id="{55A885FE-D4D8-4E4F-A945-D0B0439D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聲音設計</a:t>
            </a:r>
          </a:p>
        </p:txBody>
      </p:sp>
      <p:sp>
        <p:nvSpPr>
          <p:cNvPr id="13" name="av-body-1">
            <a:extLst xmlns:a="http://schemas.openxmlformats.org/drawingml/2006/main">
              <a:ext uri="{FF2B5EF4-FFF2-40B4-BE49-F238E27FC236}">
                <a16:creationId xmlns:a16="http://schemas.microsoft.com/office/drawing/2014/main" id="{FB1D0E44-4694-4B84-88FA-B38CE144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00625"/>
            <a:ext cx="44577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城市環境音先行，讓觀眾「聽見」生活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弦樂與木質打擊由收斂漸向開闊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保留宣誓、議事槌、翻頁、現勘與市民原音</a:t>
            </a:r>
          </a:p>
        </p:txBody>
      </p:sp>
      <p:sp>
        <p:nvSpPr>
          <p:cNvPr id="14" name="av-bg-2">
            <a:extLst xmlns:a="http://schemas.openxmlformats.org/drawingml/2006/main">
              <a:ext uri="{FF2B5EF4-FFF2-40B4-BE49-F238E27FC236}">
                <a16:creationId xmlns:a16="http://schemas.microsoft.com/office/drawing/2014/main" id="{F1F413E6-953B-4521-9F57-C8B982EC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66484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v-title-2">
            <a:extLst xmlns:a="http://schemas.openxmlformats.org/drawingml/2006/main">
              <a:ext uri="{FF2B5EF4-FFF2-40B4-BE49-F238E27FC236}">
                <a16:creationId xmlns:a16="http://schemas.microsoft.com/office/drawing/2014/main" id="{63D7F799-D29E-46FD-B9A1-3DB32C2E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866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文字與動態</a:t>
            </a:r>
          </a:p>
        </p:txBody>
      </p:sp>
      <p:sp>
        <p:nvSpPr>
          <p:cNvPr id="16" name="av-body-2">
            <a:extLst xmlns:a="http://schemas.openxmlformats.org/drawingml/2006/main">
              <a:ext uri="{FF2B5EF4-FFF2-40B4-BE49-F238E27FC236}">
                <a16:creationId xmlns:a16="http://schemas.microsoft.com/office/drawing/2014/main" id="{AA81B4CD-C2E6-4652-9043-648ACC2F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477125"/>
            <a:ext cx="44577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「看見」以聚焦、拉近、點亮的動態呈現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句點化為節點，串起民意、議會與城市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「共好」以多點匯聚為同一條前進路徑</a:t>
            </a:r>
          </a:p>
        </p:txBody>
      </p:sp>
    </p:spTree>
    <p:extLst>
      <p:ext uri="{BB962C8B-B14F-4D97-AF65-F5344CB8AC3E}">
        <p14:creationId xmlns:p14="http://schemas.microsoft.com/office/powerpoint/2010/main" val="1335166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6">
            <a:extLst xmlns:a="http://schemas.openxmlformats.org/drawingml/2006/main">
              <a:ext uri="{FF2B5EF4-FFF2-40B4-BE49-F238E27FC236}">
                <a16:creationId xmlns:a16="http://schemas.microsoft.com/office/drawing/2014/main" id="{A9C6311D-B81A-44FA-9755-9495092E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分鏡腳本｜第一章｜看見城市</a:t>
            </a:r>
          </a:p>
        </p:txBody>
      </p:sp>
      <p:sp>
        <p:nvSpPr>
          <p:cNvPr id="2" name="scene-title-6">
            <a:extLst xmlns:a="http://schemas.openxmlformats.org/drawingml/2006/main">
              <a:ext uri="{FF2B5EF4-FFF2-40B4-BE49-F238E27FC236}">
                <a16:creationId xmlns:a16="http://schemas.microsoft.com/office/drawing/2014/main" id="{883FCB42-83F0-453F-B7AD-EA55CFBE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664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城市先醒來</a:t>
            </a:r>
          </a:p>
        </p:txBody>
      </p:sp>
      <p:sp>
        <p:nvSpPr>
          <p:cNvPr id="3" name="scene-band-6">
            <a:extLst xmlns:a="http://schemas.openxmlformats.org/drawingml/2006/main">
              <a:ext uri="{FF2B5EF4-FFF2-40B4-BE49-F238E27FC236}">
                <a16:creationId xmlns:a16="http://schemas.microsoft.com/office/drawing/2014/main" id="{7DB8D714-9EF5-466A-B073-36565099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4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6">
            <a:extLst xmlns:a="http://schemas.openxmlformats.org/drawingml/2006/main">
              <a:ext uri="{FF2B5EF4-FFF2-40B4-BE49-F238E27FC236}">
                <a16:creationId xmlns:a16="http://schemas.microsoft.com/office/drawing/2014/main" id="{988CC1F6-4AE0-47B2-9F63-9C868F9C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片頭｜先看見生活，再看見機關</a:t>
            </a:r>
          </a:p>
        </p:txBody>
      </p:sp>
      <p:sp>
        <p:nvSpPr>
          <p:cNvPr id="5" name="scene-duration-6">
            <a:extLst xmlns:a="http://schemas.openxmlformats.org/drawingml/2006/main">
              <a:ext uri="{FF2B5EF4-FFF2-40B4-BE49-F238E27FC236}">
                <a16:creationId xmlns:a16="http://schemas.microsoft.com/office/drawing/2014/main" id="{38005ED9-9DF6-4458-B196-A4DFCE08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00:00–00:45｜45 秒｜累計 00:45</a:t>
            </a:r>
          </a:p>
        </p:txBody>
      </p:sp>
      <p:sp>
        <p:nvSpPr>
          <p:cNvPr id="6" name="col-head-6-0">
            <a:extLst xmlns:a="http://schemas.openxmlformats.org/drawingml/2006/main">
              <a:ext uri="{FF2B5EF4-FFF2-40B4-BE49-F238E27FC236}">
                <a16:creationId xmlns:a16="http://schemas.microsoft.com/office/drawing/2014/main" id="{19669B8E-2D11-491D-A43B-8602B390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6-0">
            <a:extLst xmlns:a="http://schemas.openxmlformats.org/drawingml/2006/main">
              <a:ext uri="{FF2B5EF4-FFF2-40B4-BE49-F238E27FC236}">
                <a16:creationId xmlns:a16="http://schemas.microsoft.com/office/drawing/2014/main" id="{24B01A00-1AAC-46FE-9FB6-E13CB6B7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6-0">
            <a:extLst xmlns:a="http://schemas.openxmlformats.org/drawingml/2006/main">
              <a:ext uri="{FF2B5EF4-FFF2-40B4-BE49-F238E27FC236}">
                <a16:creationId xmlns:a16="http://schemas.microsoft.com/office/drawing/2014/main" id="{59493D12-D86D-44B7-9237-804063D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1431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6-1">
            <a:extLst xmlns:a="http://schemas.openxmlformats.org/drawingml/2006/main">
              <a:ext uri="{FF2B5EF4-FFF2-40B4-BE49-F238E27FC236}">
                <a16:creationId xmlns:a16="http://schemas.microsoft.com/office/drawing/2014/main" id="{2E81034E-4EBE-410E-B045-6D8B585A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6-1">
            <a:extLst xmlns:a="http://schemas.openxmlformats.org/drawingml/2006/main">
              <a:ext uri="{FF2B5EF4-FFF2-40B4-BE49-F238E27FC236}">
                <a16:creationId xmlns:a16="http://schemas.microsoft.com/office/drawing/2014/main" id="{ED320CF8-1D66-468D-81BA-DD1ED9A6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6-1">
            <a:extLst xmlns:a="http://schemas.openxmlformats.org/drawingml/2006/main">
              <a:ext uri="{FF2B5EF4-FFF2-40B4-BE49-F238E27FC236}">
                <a16:creationId xmlns:a16="http://schemas.microsoft.com/office/drawing/2014/main" id="{059332D6-B943-4876-919A-7E2F754D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43150"/>
            <a:ext cx="1752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6-2">
            <a:extLst xmlns:a="http://schemas.openxmlformats.org/drawingml/2006/main">
              <a:ext uri="{FF2B5EF4-FFF2-40B4-BE49-F238E27FC236}">
                <a16:creationId xmlns:a16="http://schemas.microsoft.com/office/drawing/2014/main" id="{ED6A7F36-E004-44C7-841B-AC497813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2752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6-2">
            <a:extLst xmlns:a="http://schemas.openxmlformats.org/drawingml/2006/main">
              <a:ext uri="{FF2B5EF4-FFF2-40B4-BE49-F238E27FC236}">
                <a16:creationId xmlns:a16="http://schemas.microsoft.com/office/drawing/2014/main" id="{A4F2FB71-E77A-4757-8231-3A0F54C0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0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6-2">
            <a:extLst xmlns:a="http://schemas.openxmlformats.org/drawingml/2006/main">
              <a:ext uri="{FF2B5EF4-FFF2-40B4-BE49-F238E27FC236}">
                <a16:creationId xmlns:a16="http://schemas.microsoft.com/office/drawing/2014/main" id="{0A2AB64C-1128-4278-B16D-C7631C4B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27527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6">
            <a:extLst xmlns:a="http://schemas.openxmlformats.org/drawingml/2006/main">
              <a:ext uri="{FF2B5EF4-FFF2-40B4-BE49-F238E27FC236}">
                <a16:creationId xmlns:a16="http://schemas.microsoft.com/office/drawing/2014/main" id="{9EFDD805-C73D-4346-87BF-1068958D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914525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01｜黑畫面，先有聲音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02｜天色未亮：漁港、早餐店開門、清潔隊、第一班車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03｜孩子整理書包、照顧者扶長者出門、產線亮燈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04｜空拍由海岸、河川、山城推進都會；最後看見議會外觀</a:t>
            </a:r>
          </a:p>
        </p:txBody>
      </p:sp>
      <p:sp>
        <p:nvSpPr>
          <p:cNvPr id="16" name="audio-6">
            <a:extLst xmlns:a="http://schemas.openxmlformats.org/drawingml/2006/main">
              <a:ext uri="{FF2B5EF4-FFF2-40B4-BE49-F238E27FC236}">
                <a16:creationId xmlns:a16="http://schemas.microsoft.com/office/drawing/2014/main" id="{A4DDD797-3BD2-4639-AADE-78EAF8AD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24000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0–4 秒僅留環境音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海浪、鐵門、鍋鏟、列車、腳步依次進場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音樂從單一鋼琴音開始，弦樂慢慢展開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鏡頭切換不追求快，讓每個日常停留 2–3 秒</a:t>
            </a:r>
          </a:p>
        </p:txBody>
      </p:sp>
      <p:sp>
        <p:nvSpPr>
          <p:cNvPr id="17" name="narration-6">
            <a:extLst xmlns:a="http://schemas.openxmlformats.org/drawingml/2006/main">
              <a:ext uri="{FF2B5EF4-FFF2-40B4-BE49-F238E27FC236}">
                <a16:creationId xmlns:a16="http://schemas.microsoft.com/office/drawing/2014/main" id="{AF934EB7-7E38-4CFF-8EAB-80BBE721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486025" cy="74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天還沒全亮，新北已經開始。
海岸邊，有人迎著第一道浪；街角裡，有人為一家人的早晨點起燈。列車駛過河岸，孩子背起書包，照顧者牽起一雙手，工作者走進一天的現場。
一座城市，不只由道路與建築組成。它由一個個被珍惜的日常，慢慢成為我們共同生活的地方。
而議會要做的第一件事，就是看見。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一座城市，從每一個日常開始。</a:t>
            </a:r>
          </a:p>
        </p:txBody>
      </p:sp>
      <p:sp>
        <p:nvSpPr>
          <p:cNvPr id="18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CAE6F84A-937D-4012-9C7E-55B839C5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D104B25B-E980-42D1-9EFA-BE86A258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看見.共好｜第一章｜看見城市｜00:00–00:45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59B061DD-7DFC-4BAE-BB7B-79F9F794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7185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7">
            <a:extLst xmlns:a="http://schemas.openxmlformats.org/drawingml/2006/main">
              <a:ext uri="{FF2B5EF4-FFF2-40B4-BE49-F238E27FC236}">
                <a16:creationId xmlns:a16="http://schemas.microsoft.com/office/drawing/2014/main" id="{ACFE6A08-BC40-4BAA-8D0D-6C526A69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分鏡腳本｜第一章｜看見城市</a:t>
            </a:r>
          </a:p>
        </p:txBody>
      </p:sp>
      <p:sp>
        <p:nvSpPr>
          <p:cNvPr id="2" name="scene-title-7">
            <a:extLst xmlns:a="http://schemas.openxmlformats.org/drawingml/2006/main">
              <a:ext uri="{FF2B5EF4-FFF2-40B4-BE49-F238E27FC236}">
                <a16:creationId xmlns:a16="http://schemas.microsoft.com/office/drawing/2014/main" id="{26EF534C-B57B-4787-8F2D-50F3E83A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664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看見，也要記得我們走過的路</a:t>
            </a:r>
          </a:p>
        </p:txBody>
      </p:sp>
      <p:sp>
        <p:nvSpPr>
          <p:cNvPr id="3" name="scene-band-7">
            <a:extLst xmlns:a="http://schemas.openxmlformats.org/drawingml/2006/main">
              <a:ext uri="{FF2B5EF4-FFF2-40B4-BE49-F238E27FC236}">
                <a16:creationId xmlns:a16="http://schemas.microsoft.com/office/drawing/2014/main" id="{8393C4EC-950A-4E9C-8564-89AF354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4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7">
            <a:extLst xmlns:a="http://schemas.openxmlformats.org/drawingml/2006/main">
              <a:ext uri="{FF2B5EF4-FFF2-40B4-BE49-F238E27FC236}">
                <a16:creationId xmlns:a16="http://schemas.microsoft.com/office/drawing/2014/main" id="{DACC5345-6392-47F0-8FA2-DB6AF8D7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議會沿革｜讓歷史成為民意的來路</a:t>
            </a:r>
          </a:p>
        </p:txBody>
      </p:sp>
      <p:sp>
        <p:nvSpPr>
          <p:cNvPr id="5" name="scene-duration-7">
            <a:extLst xmlns:a="http://schemas.openxmlformats.org/drawingml/2006/main">
              <a:ext uri="{FF2B5EF4-FFF2-40B4-BE49-F238E27FC236}">
                <a16:creationId xmlns:a16="http://schemas.microsoft.com/office/drawing/2014/main" id="{B35204C9-7809-4719-86DA-7E91C2A7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00:45–01:35｜50 秒｜累計 01:35</a:t>
            </a:r>
          </a:p>
        </p:txBody>
      </p:sp>
      <p:sp>
        <p:nvSpPr>
          <p:cNvPr id="6" name="col-head-7-0">
            <a:extLst xmlns:a="http://schemas.openxmlformats.org/drawingml/2006/main">
              <a:ext uri="{FF2B5EF4-FFF2-40B4-BE49-F238E27FC236}">
                <a16:creationId xmlns:a16="http://schemas.microsoft.com/office/drawing/2014/main" id="{E620FC1D-484F-47C0-AF73-A46D09E4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7-0">
            <a:extLst xmlns:a="http://schemas.openxmlformats.org/drawingml/2006/main">
              <a:ext uri="{FF2B5EF4-FFF2-40B4-BE49-F238E27FC236}">
                <a16:creationId xmlns:a16="http://schemas.microsoft.com/office/drawing/2014/main" id="{56467B01-1203-47DC-9CCD-F032CBA5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7-0">
            <a:extLst xmlns:a="http://schemas.openxmlformats.org/drawingml/2006/main">
              <a:ext uri="{FF2B5EF4-FFF2-40B4-BE49-F238E27FC236}">
                <a16:creationId xmlns:a16="http://schemas.microsoft.com/office/drawing/2014/main" id="{D418C139-F85D-48B5-B03C-E499016F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1431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7-1">
            <a:extLst xmlns:a="http://schemas.openxmlformats.org/drawingml/2006/main">
              <a:ext uri="{FF2B5EF4-FFF2-40B4-BE49-F238E27FC236}">
                <a16:creationId xmlns:a16="http://schemas.microsoft.com/office/drawing/2014/main" id="{694AF972-F4F0-4F1B-B442-9B41AA29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7-1">
            <a:extLst xmlns:a="http://schemas.openxmlformats.org/drawingml/2006/main">
              <a:ext uri="{FF2B5EF4-FFF2-40B4-BE49-F238E27FC236}">
                <a16:creationId xmlns:a16="http://schemas.microsoft.com/office/drawing/2014/main" id="{6BD60779-984F-4E10-8FBC-E3037481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7-1">
            <a:extLst xmlns:a="http://schemas.openxmlformats.org/drawingml/2006/main">
              <a:ext uri="{FF2B5EF4-FFF2-40B4-BE49-F238E27FC236}">
                <a16:creationId xmlns:a16="http://schemas.microsoft.com/office/drawing/2014/main" id="{3774D5AD-D17B-48FD-AB50-7B98DC2B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43150"/>
            <a:ext cx="1752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7-2">
            <a:extLst xmlns:a="http://schemas.openxmlformats.org/drawingml/2006/main">
              <a:ext uri="{FF2B5EF4-FFF2-40B4-BE49-F238E27FC236}">
                <a16:creationId xmlns:a16="http://schemas.microsoft.com/office/drawing/2014/main" id="{7FA34333-A9AB-49F8-AA9B-6DE6A624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2752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7-2">
            <a:extLst xmlns:a="http://schemas.openxmlformats.org/drawingml/2006/main">
              <a:ext uri="{FF2B5EF4-FFF2-40B4-BE49-F238E27FC236}">
                <a16:creationId xmlns:a16="http://schemas.microsoft.com/office/drawing/2014/main" id="{5634C708-D204-4AF0-8E21-2433F135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0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7-2">
            <a:extLst xmlns:a="http://schemas.openxmlformats.org/drawingml/2006/main">
              <a:ext uri="{FF2B5EF4-FFF2-40B4-BE49-F238E27FC236}">
                <a16:creationId xmlns:a16="http://schemas.microsoft.com/office/drawing/2014/main" id="{6E6C20E0-E656-400E-9128-F191EA06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27527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7">
            <a:extLst xmlns:a="http://schemas.openxmlformats.org/drawingml/2006/main">
              <a:ext uri="{FF2B5EF4-FFF2-40B4-BE49-F238E27FC236}">
                <a16:creationId xmlns:a16="http://schemas.microsoft.com/office/drawing/2014/main" id="{C3A89C8B-0F7E-4366-8EB7-6FC461BF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914525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05｜舊照片細節：會議桌、名牌、議事槌、手寫文件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06｜臺北縣參議會、歷屆臺北縣議會影像，採疊化與推鏡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07｜民國 99 年改制畫面，舊門牌過渡至「新北市議會」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08｜現代議場空鏡，座位燈逐排亮起</a:t>
            </a:r>
          </a:p>
        </p:txBody>
      </p:sp>
      <p:sp>
        <p:nvSpPr>
          <p:cNvPr id="16" name="audio-7">
            <a:extLst xmlns:a="http://schemas.openxmlformats.org/drawingml/2006/main">
              <a:ext uri="{FF2B5EF4-FFF2-40B4-BE49-F238E27FC236}">
                <a16:creationId xmlns:a16="http://schemas.microsoft.com/office/drawing/2014/main" id="{FD6B65CB-9B68-44CC-9C50-6FD43AC8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24000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老照片以紙張翻頁聲串接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年份出現時，不使用強烈倒數音效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音樂加入低音弦樂，維持莊重、清楚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最後一排座位亮起時，接入輕微議場空間聲</a:t>
            </a:r>
          </a:p>
        </p:txBody>
      </p:sp>
      <p:sp>
        <p:nvSpPr>
          <p:cNvPr id="17" name="narration-7">
            <a:extLst xmlns:a="http://schemas.openxmlformats.org/drawingml/2006/main">
              <a:ext uri="{FF2B5EF4-FFF2-40B4-BE49-F238E27FC236}">
                <a16:creationId xmlns:a16="http://schemas.microsoft.com/office/drawing/2014/main" id="{58DF1825-3C7C-41EF-92AA-52862360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486025" cy="74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看見，也要記得我們走過的路。
民國三十五年，臺北縣參議會開啟地方自治的篇章；歷經十六屆臺北縣議會，地方的聲音在一次次討論、提案與監督中累積。
民國九十九年，臺北縣改制為新北市，議會也以新的名稱，承接不變的責任。
時代改變，城市擴大，但民主始終從同一件事開始：有人願意說，也有人願意聽。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從地方自治出發，讓民意一路被看見。</a:t>
            </a:r>
          </a:p>
        </p:txBody>
      </p:sp>
      <p:sp>
        <p:nvSpPr>
          <p:cNvPr id="18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B5C9742B-38C9-46CD-A7AB-DC1C0D76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924344D-5F47-4F10-8C53-CD80794E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看見.共好｜第一章｜看見城市｜00:45–01:35</a:t>
            </a:r>
          </a:p>
        </p:txBody>
      </p:sp>
      <p:sp>
        <p:nvSpPr>
          <p:cNvPr id="20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B9A0326-BB0C-41E0-AEE7-1E835117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84786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8">
            <a:extLst xmlns:a="http://schemas.openxmlformats.org/drawingml/2006/main">
              <a:ext uri="{FF2B5EF4-FFF2-40B4-BE49-F238E27FC236}">
                <a16:creationId xmlns:a16="http://schemas.microsoft.com/office/drawing/2014/main" id="{1097301B-5D56-476F-AB6A-76B35CE7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分鏡腳本｜第一章｜看見城市</a:t>
            </a:r>
          </a:p>
        </p:txBody>
      </p:sp>
      <p:sp>
        <p:nvSpPr>
          <p:cNvPr id="2" name="scene-title-8">
            <a:extLst xmlns:a="http://schemas.openxmlformats.org/drawingml/2006/main">
              <a:ext uri="{FF2B5EF4-FFF2-40B4-BE49-F238E27FC236}">
                <a16:creationId xmlns:a16="http://schemas.microsoft.com/office/drawing/2014/main" id="{911FA395-526B-4145-8FF0-6945FB8D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664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每一席，都有一個清楚的來處</a:t>
            </a:r>
          </a:p>
        </p:txBody>
      </p:sp>
      <p:sp>
        <p:nvSpPr>
          <p:cNvPr id="3" name="scene-band-8">
            <a:extLst xmlns:a="http://schemas.openxmlformats.org/drawingml/2006/main">
              <a:ext uri="{FF2B5EF4-FFF2-40B4-BE49-F238E27FC236}">
                <a16:creationId xmlns:a16="http://schemas.microsoft.com/office/drawing/2014/main" id="{DFE6FFFD-C6FC-41C6-8913-858D40E9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4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8">
            <a:extLst xmlns:a="http://schemas.openxmlformats.org/drawingml/2006/main">
              <a:ext uri="{FF2B5EF4-FFF2-40B4-BE49-F238E27FC236}">
                <a16:creationId xmlns:a16="http://schemas.microsoft.com/office/drawing/2014/main" id="{4633B294-2359-49BA-AC95-CEECBC96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就職與片名｜從選票走進議事殿堂</a:t>
            </a:r>
          </a:p>
        </p:txBody>
      </p:sp>
      <p:sp>
        <p:nvSpPr>
          <p:cNvPr id="5" name="scene-duration-8">
            <a:extLst xmlns:a="http://schemas.openxmlformats.org/drawingml/2006/main">
              <a:ext uri="{FF2B5EF4-FFF2-40B4-BE49-F238E27FC236}">
                <a16:creationId xmlns:a16="http://schemas.microsoft.com/office/drawing/2014/main" id="{9D8CD050-50DA-4772-84A3-77FB1BDA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01:35–02:35｜60 秒｜累計 02:35</a:t>
            </a:r>
          </a:p>
        </p:txBody>
      </p:sp>
      <p:sp>
        <p:nvSpPr>
          <p:cNvPr id="6" name="col-head-8-0">
            <a:extLst xmlns:a="http://schemas.openxmlformats.org/drawingml/2006/main">
              <a:ext uri="{FF2B5EF4-FFF2-40B4-BE49-F238E27FC236}">
                <a16:creationId xmlns:a16="http://schemas.microsoft.com/office/drawing/2014/main" id="{FA140226-8437-4BFD-A94E-D355F2D7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8-0">
            <a:extLst xmlns:a="http://schemas.openxmlformats.org/drawingml/2006/main">
              <a:ext uri="{FF2B5EF4-FFF2-40B4-BE49-F238E27FC236}">
                <a16:creationId xmlns:a16="http://schemas.microsoft.com/office/drawing/2014/main" id="{D1F32743-36F9-4D86-A5ED-6143B19E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8-0">
            <a:extLst xmlns:a="http://schemas.openxmlformats.org/drawingml/2006/main">
              <a:ext uri="{FF2B5EF4-FFF2-40B4-BE49-F238E27FC236}">
                <a16:creationId xmlns:a16="http://schemas.microsoft.com/office/drawing/2014/main" id="{AD327E27-A5D3-481E-9F23-0F002108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1431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8-1">
            <a:extLst xmlns:a="http://schemas.openxmlformats.org/drawingml/2006/main">
              <a:ext uri="{FF2B5EF4-FFF2-40B4-BE49-F238E27FC236}">
                <a16:creationId xmlns:a16="http://schemas.microsoft.com/office/drawing/2014/main" id="{448FBE10-F158-4FF0-AA55-3F844177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8-1">
            <a:extLst xmlns:a="http://schemas.openxmlformats.org/drawingml/2006/main">
              <a:ext uri="{FF2B5EF4-FFF2-40B4-BE49-F238E27FC236}">
                <a16:creationId xmlns:a16="http://schemas.microsoft.com/office/drawing/2014/main" id="{AA912C21-8DCE-4E78-AE97-80080A6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8-1">
            <a:extLst xmlns:a="http://schemas.openxmlformats.org/drawingml/2006/main">
              <a:ext uri="{FF2B5EF4-FFF2-40B4-BE49-F238E27FC236}">
                <a16:creationId xmlns:a16="http://schemas.microsoft.com/office/drawing/2014/main" id="{347AA2CC-7C70-4C96-9A00-D648D3B7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43150"/>
            <a:ext cx="1752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8-2">
            <a:extLst xmlns:a="http://schemas.openxmlformats.org/drawingml/2006/main">
              <a:ext uri="{FF2B5EF4-FFF2-40B4-BE49-F238E27FC236}">
                <a16:creationId xmlns:a16="http://schemas.microsoft.com/office/drawing/2014/main" id="{3B9D1D53-4BA4-491A-8CBB-F2AC72D8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2752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8-2">
            <a:extLst xmlns:a="http://schemas.openxmlformats.org/drawingml/2006/main">
              <a:ext uri="{FF2B5EF4-FFF2-40B4-BE49-F238E27FC236}">
                <a16:creationId xmlns:a16="http://schemas.microsoft.com/office/drawing/2014/main" id="{1BF903AF-BE08-4114-8C5C-92657DF1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0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8-2">
            <a:extLst xmlns:a="http://schemas.openxmlformats.org/drawingml/2006/main">
              <a:ext uri="{FF2B5EF4-FFF2-40B4-BE49-F238E27FC236}">
                <a16:creationId xmlns:a16="http://schemas.microsoft.com/office/drawing/2014/main" id="{4BDF6BD1-63D0-4B0B-8986-21A1C0C9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27527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8">
            <a:extLst xmlns:a="http://schemas.openxmlformats.org/drawingml/2006/main">
              <a:ext uri="{FF2B5EF4-FFF2-40B4-BE49-F238E27FC236}">
                <a16:creationId xmlns:a16="http://schemas.microsoft.com/office/drawing/2014/main" id="{6C85AA93-CC00-458F-AB52-5DCDA4FE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914525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09｜115 年選舉投票：手持通知單、排隊、蓋章、票匭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10｜12 月 25 日就職典禮：報到、胸花、宣誓、簽名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11｜議長／副議長選舉與握手、大合照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12｜句點由選票印記化為節點，連成片名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TITLE｜看見.共好 － 第5屆新北市議會</a:t>
            </a:r>
          </a:p>
        </p:txBody>
      </p:sp>
      <p:sp>
        <p:nvSpPr>
          <p:cNvPr id="16" name="audio-8">
            <a:extLst xmlns:a="http://schemas.openxmlformats.org/drawingml/2006/main">
              <a:ext uri="{FF2B5EF4-FFF2-40B4-BE49-F238E27FC236}">
                <a16:creationId xmlns:a16="http://schemas.microsoft.com/office/drawing/2014/main" id="{86015341-79D6-4D49-A268-D8D4141A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24000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宣誓段落保留現場原音 8–10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快門聲只保留一次，避免過度煽情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片名出現時音樂第一次完整展開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畫面節奏：個人近景 → 群體全景 → 片名</a:t>
            </a:r>
          </a:p>
        </p:txBody>
      </p:sp>
      <p:sp>
        <p:nvSpPr>
          <p:cNvPr id="17" name="narration-8">
            <a:extLst xmlns:a="http://schemas.openxmlformats.org/drawingml/2006/main">
              <a:ext uri="{FF2B5EF4-FFF2-40B4-BE49-F238E27FC236}">
                <a16:creationId xmlns:a16="http://schemas.microsoft.com/office/drawing/2014/main" id="{05849887-1E41-40D6-8CF0-0629D742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486025" cy="74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一張選票，是一次託付；一席議員，是一個地區、一群人、一種生活的代表。
民國一百一十五年十二月二十五日，第五屆新北市議會宣誓就職。六十八席民意，從十三個選舉區走進同一座議事殿堂。
在這裡，不同立場將彼此相遇；共同的目標，是讓每一份託付都被認真回應。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【現場原音】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擷取宣誓誓詞重點與全體回應。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 － 第5屆新北市議會</a:t>
            </a:r>
          </a:p>
        </p:txBody>
      </p:sp>
      <p:sp>
        <p:nvSpPr>
          <p:cNvPr id="18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9C9CEF3A-74C5-46D3-A090-C5CC38E5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BDDD11B-157E-443D-9ADC-9B05C295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看見.共好｜第一章｜看見城市｜01:35–02:35</a:t>
            </a:r>
          </a:p>
        </p:txBody>
      </p:sp>
      <p:sp>
        <p:nvSpPr>
          <p:cNvPr id="20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835E3A62-AE33-458C-B31B-D00C9A1F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39759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9">
            <a:extLst xmlns:a="http://schemas.openxmlformats.org/drawingml/2006/main">
              <a:ext uri="{FF2B5EF4-FFF2-40B4-BE49-F238E27FC236}">
                <a16:creationId xmlns:a16="http://schemas.microsoft.com/office/drawing/2014/main" id="{F32BBA73-9FE5-4CCC-8461-7F76066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分鏡腳本｜第二章｜看見每一種生活</a:t>
            </a:r>
          </a:p>
        </p:txBody>
      </p:sp>
      <p:sp>
        <p:nvSpPr>
          <p:cNvPr id="2" name="scene-title-9">
            <a:extLst xmlns:a="http://schemas.openxmlformats.org/drawingml/2006/main">
              <a:ext uri="{FF2B5EF4-FFF2-40B4-BE49-F238E27FC236}">
                <a16:creationId xmlns:a16="http://schemas.microsoft.com/office/drawing/2014/main" id="{82C10CF3-6720-4513-9828-4FD77A39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664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十三個選區，不是地圖上的切線</a:t>
            </a:r>
          </a:p>
        </p:txBody>
      </p:sp>
      <p:sp>
        <p:nvSpPr>
          <p:cNvPr id="3" name="scene-band-9">
            <a:extLst xmlns:a="http://schemas.openxmlformats.org/drawingml/2006/main">
              <a:ext uri="{FF2B5EF4-FFF2-40B4-BE49-F238E27FC236}">
                <a16:creationId xmlns:a16="http://schemas.microsoft.com/office/drawing/2014/main" id="{32F8FAD0-FE2D-42FD-A9A5-7BE685AC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4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9">
            <a:extLst xmlns:a="http://schemas.openxmlformats.org/drawingml/2006/main">
              <a:ext uri="{FF2B5EF4-FFF2-40B4-BE49-F238E27FC236}">
                <a16:creationId xmlns:a16="http://schemas.microsoft.com/office/drawing/2014/main" id="{6B3F4B1D-60F1-44A6-8DAA-59C11FFF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A｜第 1 至第 4 選舉區</a:t>
            </a:r>
          </a:p>
        </p:txBody>
      </p:sp>
      <p:sp>
        <p:nvSpPr>
          <p:cNvPr id="5" name="scene-duration-9">
            <a:extLst xmlns:a="http://schemas.openxmlformats.org/drawingml/2006/main">
              <a:ext uri="{FF2B5EF4-FFF2-40B4-BE49-F238E27FC236}">
                <a16:creationId xmlns:a16="http://schemas.microsoft.com/office/drawing/2014/main" id="{BF604D09-2527-47BA-A327-52BBCE4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02:35–03:20｜45 秒｜累計 03:20</a:t>
            </a:r>
          </a:p>
        </p:txBody>
      </p:sp>
      <p:sp>
        <p:nvSpPr>
          <p:cNvPr id="6" name="col-head-9-0">
            <a:extLst xmlns:a="http://schemas.openxmlformats.org/drawingml/2006/main">
              <a:ext uri="{FF2B5EF4-FFF2-40B4-BE49-F238E27FC236}">
                <a16:creationId xmlns:a16="http://schemas.microsoft.com/office/drawing/2014/main" id="{4F695113-06CA-428D-B42F-8C66E609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9-0">
            <a:extLst xmlns:a="http://schemas.openxmlformats.org/drawingml/2006/main">
              <a:ext uri="{FF2B5EF4-FFF2-40B4-BE49-F238E27FC236}">
                <a16:creationId xmlns:a16="http://schemas.microsoft.com/office/drawing/2014/main" id="{25BD7A16-DAC2-4C12-863A-11D94D2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9-0">
            <a:extLst xmlns:a="http://schemas.openxmlformats.org/drawingml/2006/main">
              <a:ext uri="{FF2B5EF4-FFF2-40B4-BE49-F238E27FC236}">
                <a16:creationId xmlns:a16="http://schemas.microsoft.com/office/drawing/2014/main" id="{80355854-ECB3-42EF-AC06-B821C4FA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1431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9-1">
            <a:extLst xmlns:a="http://schemas.openxmlformats.org/drawingml/2006/main">
              <a:ext uri="{FF2B5EF4-FFF2-40B4-BE49-F238E27FC236}">
                <a16:creationId xmlns:a16="http://schemas.microsoft.com/office/drawing/2014/main" id="{2089D4FE-DD5F-4FE5-9461-B70F8CE9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9-1">
            <a:extLst xmlns:a="http://schemas.openxmlformats.org/drawingml/2006/main">
              <a:ext uri="{FF2B5EF4-FFF2-40B4-BE49-F238E27FC236}">
                <a16:creationId xmlns:a16="http://schemas.microsoft.com/office/drawing/2014/main" id="{17D168C8-C09A-4AF6-A16B-ECEC7467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9-1">
            <a:extLst xmlns:a="http://schemas.openxmlformats.org/drawingml/2006/main">
              <a:ext uri="{FF2B5EF4-FFF2-40B4-BE49-F238E27FC236}">
                <a16:creationId xmlns:a16="http://schemas.microsoft.com/office/drawing/2014/main" id="{4E5088CE-5FD4-4995-8AD5-A311D86B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43150"/>
            <a:ext cx="1752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9-2">
            <a:extLst xmlns:a="http://schemas.openxmlformats.org/drawingml/2006/main">
              <a:ext uri="{FF2B5EF4-FFF2-40B4-BE49-F238E27FC236}">
                <a16:creationId xmlns:a16="http://schemas.microsoft.com/office/drawing/2014/main" id="{C5A9A1CE-C4C8-4E7A-99D2-D1DC89CE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2752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9-2">
            <a:extLst xmlns:a="http://schemas.openxmlformats.org/drawingml/2006/main">
              <a:ext uri="{FF2B5EF4-FFF2-40B4-BE49-F238E27FC236}">
                <a16:creationId xmlns:a16="http://schemas.microsoft.com/office/drawing/2014/main" id="{6CD2343E-D896-401E-9ECC-D828DDD7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0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9-2">
            <a:extLst xmlns:a="http://schemas.openxmlformats.org/drawingml/2006/main">
              <a:ext uri="{FF2B5EF4-FFF2-40B4-BE49-F238E27FC236}">
                <a16:creationId xmlns:a16="http://schemas.microsoft.com/office/drawing/2014/main" id="{651EFEFD-1FA3-40E3-80D4-A306FD96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27527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9">
            <a:extLst xmlns:a="http://schemas.openxmlformats.org/drawingml/2006/main">
              <a:ext uri="{FF2B5EF4-FFF2-40B4-BE49-F238E27FC236}">
                <a16:creationId xmlns:a16="http://schemas.microsoft.com/office/drawing/2014/main" id="{E1653382-33CE-4D33-B439-6D9C5F9A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914525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 選區｜石門、三芝、淡水、八里：海岸、漁港、老街、輕軌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2 選區｜林口、五股、泰山：新市鎮、產業、交通節點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3 選區｜新莊：老街、工業脈絡、住宅與副都心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4 選區｜蘆洲、三重：河岸、密集街區、通勤與市場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每區採「人 3 秒＋地景 3 秒＋公共服務 3 秒」公平配置</a:t>
            </a:r>
          </a:p>
        </p:txBody>
      </p:sp>
      <p:sp>
        <p:nvSpPr>
          <p:cNvPr id="16" name="audio-9">
            <a:extLst xmlns:a="http://schemas.openxmlformats.org/drawingml/2006/main">
              <a:ext uri="{FF2B5EF4-FFF2-40B4-BE49-F238E27FC236}">
                <a16:creationId xmlns:a16="http://schemas.microsoft.com/office/drawing/2014/main" id="{F17FDDF7-1CED-4059-ADF5-8C1CAF51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24000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以列車行進節奏串連選區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每個選區保留一個辨識度高的環境音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區名採固定位置出現，避免像觀光廣告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地圖只做定位，不做主畫面</a:t>
            </a:r>
          </a:p>
        </p:txBody>
      </p:sp>
      <p:sp>
        <p:nvSpPr>
          <p:cNvPr id="17" name="narration-9">
            <a:extLst xmlns:a="http://schemas.openxmlformats.org/drawingml/2006/main">
              <a:ext uri="{FF2B5EF4-FFF2-40B4-BE49-F238E27FC236}">
                <a16:creationId xmlns:a16="http://schemas.microsoft.com/office/drawing/2014/main" id="{C35A4969-855D-448E-BD3C-DE5B4CAD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486025" cy="74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十三個選舉區，不只是地圖上的切線，而是十三種觀看城市的角度。
從石門、三芝、淡水與八里的海風吹進城市；到林口、五股、泰山快速成長的新生活；新莊在產業記憶與新都心之間持續前進；蘆洲、三重沿著河岸與街巷，承接最密集也最真切的日常。
地方不同，關心的事不同；每一種生活，都應該有被理解的位置。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1–4 選舉區｜海岸．成長．新舊交會．河岸生活</a:t>
            </a:r>
          </a:p>
        </p:txBody>
      </p:sp>
      <p:sp>
        <p:nvSpPr>
          <p:cNvPr id="18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6B3BD034-9D76-4B3E-A7A7-131E95F3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9AEE0355-6949-4F35-8152-9F382829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看見.共好｜第二章｜看見每一種生活｜02:35–03:20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E4F3D489-096B-45AE-84CB-E17B8E02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0122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0">
            <a:extLst xmlns:a="http://schemas.openxmlformats.org/drawingml/2006/main">
              <a:ext uri="{FF2B5EF4-FFF2-40B4-BE49-F238E27FC236}">
                <a16:creationId xmlns:a16="http://schemas.microsoft.com/office/drawing/2014/main" id="{C281F7DE-940F-4699-9650-023ECFEC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分鏡腳本｜第二章｜看見每一種生活</a:t>
            </a:r>
          </a:p>
        </p:txBody>
      </p:sp>
      <p:sp>
        <p:nvSpPr>
          <p:cNvPr id="2" name="scene-title-10">
            <a:extLst xmlns:a="http://schemas.openxmlformats.org/drawingml/2006/main">
              <a:ext uri="{FF2B5EF4-FFF2-40B4-BE49-F238E27FC236}">
                <a16:creationId xmlns:a16="http://schemas.microsoft.com/office/drawing/2014/main" id="{78A2B83A-653B-4321-8CE7-5552FEF8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664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城市的尺度不同，生活的重量相同</a:t>
            </a:r>
          </a:p>
        </p:txBody>
      </p:sp>
      <p:sp>
        <p:nvSpPr>
          <p:cNvPr id="3" name="scene-band-10">
            <a:extLst xmlns:a="http://schemas.openxmlformats.org/drawingml/2006/main">
              <a:ext uri="{FF2B5EF4-FFF2-40B4-BE49-F238E27FC236}">
                <a16:creationId xmlns:a16="http://schemas.microsoft.com/office/drawing/2014/main" id="{0D6575CB-EC13-44C5-ABBD-86B8BA60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4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0">
            <a:extLst xmlns:a="http://schemas.openxmlformats.org/drawingml/2006/main">
              <a:ext uri="{FF2B5EF4-FFF2-40B4-BE49-F238E27FC236}">
                <a16:creationId xmlns:a16="http://schemas.microsoft.com/office/drawing/2014/main" id="{EB89592C-06CF-42BB-8DFC-3517818D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B｜第 5 至第 8 選舉區</a:t>
            </a:r>
          </a:p>
        </p:txBody>
      </p:sp>
      <p:sp>
        <p:nvSpPr>
          <p:cNvPr id="5" name="scene-duration-10">
            <a:extLst xmlns:a="http://schemas.openxmlformats.org/drawingml/2006/main">
              <a:ext uri="{FF2B5EF4-FFF2-40B4-BE49-F238E27FC236}">
                <a16:creationId xmlns:a16="http://schemas.microsoft.com/office/drawing/2014/main" id="{DDE0D45A-8960-4815-8D6F-69C586D4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03:20–04:05｜45 秒｜累計 04:05</a:t>
            </a:r>
          </a:p>
        </p:txBody>
      </p:sp>
      <p:sp>
        <p:nvSpPr>
          <p:cNvPr id="6" name="col-head-10-0">
            <a:extLst xmlns:a="http://schemas.openxmlformats.org/drawingml/2006/main">
              <a:ext uri="{FF2B5EF4-FFF2-40B4-BE49-F238E27FC236}">
                <a16:creationId xmlns:a16="http://schemas.microsoft.com/office/drawing/2014/main" id="{5C724964-1140-44EA-BFD1-72FF855B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0-0">
            <a:extLst xmlns:a="http://schemas.openxmlformats.org/drawingml/2006/main">
              <a:ext uri="{FF2B5EF4-FFF2-40B4-BE49-F238E27FC236}">
                <a16:creationId xmlns:a16="http://schemas.microsoft.com/office/drawing/2014/main" id="{5D66FFBA-DFFA-437E-A659-05526CC1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0-0">
            <a:extLst xmlns:a="http://schemas.openxmlformats.org/drawingml/2006/main">
              <a:ext uri="{FF2B5EF4-FFF2-40B4-BE49-F238E27FC236}">
                <a16:creationId xmlns:a16="http://schemas.microsoft.com/office/drawing/2014/main" id="{66AD9FB9-F18E-4E23-B95E-30738E12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1431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0-1">
            <a:extLst xmlns:a="http://schemas.openxmlformats.org/drawingml/2006/main">
              <a:ext uri="{FF2B5EF4-FFF2-40B4-BE49-F238E27FC236}">
                <a16:creationId xmlns:a16="http://schemas.microsoft.com/office/drawing/2014/main" id="{6C8615C3-7090-4A78-A7E4-54F50B76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0-1">
            <a:extLst xmlns:a="http://schemas.openxmlformats.org/drawingml/2006/main">
              <a:ext uri="{FF2B5EF4-FFF2-40B4-BE49-F238E27FC236}">
                <a16:creationId xmlns:a16="http://schemas.microsoft.com/office/drawing/2014/main" id="{1FD902C9-32B1-4685-811F-352F8454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0-1">
            <a:extLst xmlns:a="http://schemas.openxmlformats.org/drawingml/2006/main">
              <a:ext uri="{FF2B5EF4-FFF2-40B4-BE49-F238E27FC236}">
                <a16:creationId xmlns:a16="http://schemas.microsoft.com/office/drawing/2014/main" id="{2C6FC810-35E0-4E74-81E5-3DB8EC6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43150"/>
            <a:ext cx="1752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0-2">
            <a:extLst xmlns:a="http://schemas.openxmlformats.org/drawingml/2006/main">
              <a:ext uri="{FF2B5EF4-FFF2-40B4-BE49-F238E27FC236}">
                <a16:creationId xmlns:a16="http://schemas.microsoft.com/office/drawing/2014/main" id="{A476EC80-113D-440F-B95F-22D3F99B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2752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0-2">
            <a:extLst xmlns:a="http://schemas.openxmlformats.org/drawingml/2006/main">
              <a:ext uri="{FF2B5EF4-FFF2-40B4-BE49-F238E27FC236}">
                <a16:creationId xmlns:a16="http://schemas.microsoft.com/office/drawing/2014/main" id="{B773C727-6C03-4A73-A9FD-87245404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0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0-2">
            <a:extLst xmlns:a="http://schemas.openxmlformats.org/drawingml/2006/main">
              <a:ext uri="{FF2B5EF4-FFF2-40B4-BE49-F238E27FC236}">
                <a16:creationId xmlns:a16="http://schemas.microsoft.com/office/drawing/2014/main" id="{64E405FA-5360-44A3-9D80-35B009C1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27527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0">
            <a:extLst xmlns:a="http://schemas.openxmlformats.org/drawingml/2006/main">
              <a:ext uri="{FF2B5EF4-FFF2-40B4-BE49-F238E27FC236}">
                <a16:creationId xmlns:a16="http://schemas.microsoft.com/office/drawing/2014/main" id="{D663D4D6-DA5D-4D26-8D6B-94BCDBF3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914525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選區｜板橋：議會、市府、車站、文化街區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6 選區｜中和：住宅、產業園區、通勤節點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7 選區｜永和：巷弄、公園、橋梁與高密度生活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8 選區｜樹林、鶯歌、土城、三峽：陶瓷、老街、產業、校園、山景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畫面避開單一建設政績，聚焦人在空間裡的使用</a:t>
            </a:r>
          </a:p>
        </p:txBody>
      </p:sp>
      <p:sp>
        <p:nvSpPr>
          <p:cNvPr id="16" name="audio-10">
            <a:extLst xmlns:a="http://schemas.openxmlformats.org/drawingml/2006/main">
              <a:ext uri="{FF2B5EF4-FFF2-40B4-BE49-F238E27FC236}">
                <a16:creationId xmlns:a16="http://schemas.microsoft.com/office/drawing/2014/main" id="{F9B5E15C-F5BF-45F8-8FEB-8962159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24000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聲音由都會節奏轉入陶土、樹葉與校園環境音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切換速度略加快，再於三峽河岸停留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不使用口號式配樂；以生活感維持可信度</a:t>
            </a:r>
          </a:p>
        </p:txBody>
      </p:sp>
      <p:sp>
        <p:nvSpPr>
          <p:cNvPr id="17" name="narration-10">
            <a:extLst xmlns:a="http://schemas.openxmlformats.org/drawingml/2006/main">
              <a:ext uri="{FF2B5EF4-FFF2-40B4-BE49-F238E27FC236}">
                <a16:creationId xmlns:a16="http://schemas.microsoft.com/office/drawing/2014/main" id="{520D18EE-E5D0-4AB1-AD9E-84AFB0A7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486025" cy="74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板橋是行政與交通交會的核心；中和在居住、產業與通勤之間尋找更好的平衡；永和以緊密的城市尺度，讓每一寸公共空間都格外重要。
再往西南，樹林、鶯歌、土城與三峽，把產業、工藝、校園、河川與山景放進同一幅生活圖像。
有的需求來自快速成長，有的來自老城更新；城市的尺度不同，生活的重量相同。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5–8 選舉區｜核心．密度．公共空間．文化與產業</a:t>
            </a:r>
          </a:p>
        </p:txBody>
      </p:sp>
      <p:sp>
        <p:nvSpPr>
          <p:cNvPr id="18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4EA7BCBF-E90E-415C-95AF-6F88B0C9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A75E96F3-3F55-4439-99EF-76B7AB9B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看見.共好｜第二章｜看見每一種生活｜03:20–04:05</a:t>
            </a:r>
          </a:p>
        </p:txBody>
      </p:sp>
      <p:sp>
        <p:nvSpPr>
          <p:cNvPr id="2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1F3531AB-7D51-4479-A391-FB21A20C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93445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1">
            <a:extLst xmlns:a="http://schemas.openxmlformats.org/drawingml/2006/main">
              <a:ext uri="{FF2B5EF4-FFF2-40B4-BE49-F238E27FC236}">
                <a16:creationId xmlns:a16="http://schemas.microsoft.com/office/drawing/2014/main" id="{E0EB8D69-DFB5-48B4-9A42-40264390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分鏡腳本｜第二章｜看見每一種生活</a:t>
            </a:r>
          </a:p>
        </p:txBody>
      </p:sp>
      <p:sp>
        <p:nvSpPr>
          <p:cNvPr id="2" name="scene-title-11">
            <a:extLst xmlns:a="http://schemas.openxmlformats.org/drawingml/2006/main">
              <a:ext uri="{FF2B5EF4-FFF2-40B4-BE49-F238E27FC236}">
                <a16:creationId xmlns:a16="http://schemas.microsoft.com/office/drawing/2014/main" id="{06AF4F81-449B-404A-AE7C-3A9D4AF4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664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看見地理，也看見跨界文化</a:t>
            </a:r>
          </a:p>
        </p:txBody>
      </p:sp>
      <p:sp>
        <p:nvSpPr>
          <p:cNvPr id="3" name="scene-band-11">
            <a:extLst xmlns:a="http://schemas.openxmlformats.org/drawingml/2006/main">
              <a:ext uri="{FF2B5EF4-FFF2-40B4-BE49-F238E27FC236}">
                <a16:creationId xmlns:a16="http://schemas.microsoft.com/office/drawing/2014/main" id="{A30C5B9A-8240-484C-AF40-3D84FE2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4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1">
            <a:extLst xmlns:a="http://schemas.openxmlformats.org/drawingml/2006/main">
              <a:ext uri="{FF2B5EF4-FFF2-40B4-BE49-F238E27FC236}">
                <a16:creationId xmlns:a16="http://schemas.microsoft.com/office/drawing/2014/main" id="{75807745-5229-4A27-973C-14E3199D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C｜第 9 至第 13 選舉區</a:t>
            </a:r>
          </a:p>
        </p:txBody>
      </p:sp>
      <p:sp>
        <p:nvSpPr>
          <p:cNvPr id="5" name="scene-duration-11">
            <a:extLst xmlns:a="http://schemas.openxmlformats.org/drawingml/2006/main">
              <a:ext uri="{FF2B5EF4-FFF2-40B4-BE49-F238E27FC236}">
                <a16:creationId xmlns:a16="http://schemas.microsoft.com/office/drawing/2014/main" id="{FA79D0A4-8702-480F-B814-65E58833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04:05–04:55｜50 秒｜累計 04:55</a:t>
            </a:r>
          </a:p>
        </p:txBody>
      </p:sp>
      <p:sp>
        <p:nvSpPr>
          <p:cNvPr id="6" name="col-head-11-0">
            <a:extLst xmlns:a="http://schemas.openxmlformats.org/drawingml/2006/main">
              <a:ext uri="{FF2B5EF4-FFF2-40B4-BE49-F238E27FC236}">
                <a16:creationId xmlns:a16="http://schemas.microsoft.com/office/drawing/2014/main" id="{95195B70-8CE1-47E3-A063-35C19713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1-0">
            <a:extLst xmlns:a="http://schemas.openxmlformats.org/drawingml/2006/main">
              <a:ext uri="{FF2B5EF4-FFF2-40B4-BE49-F238E27FC236}">
                <a16:creationId xmlns:a16="http://schemas.microsoft.com/office/drawing/2014/main" id="{A4827FA2-4A32-4ACA-9B1B-9F0A5B2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1-0">
            <a:extLst xmlns:a="http://schemas.openxmlformats.org/drawingml/2006/main">
              <a:ext uri="{FF2B5EF4-FFF2-40B4-BE49-F238E27FC236}">
                <a16:creationId xmlns:a16="http://schemas.microsoft.com/office/drawing/2014/main" id="{F143B225-C48D-4524-9652-8E68083F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1431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1-1">
            <a:extLst xmlns:a="http://schemas.openxmlformats.org/drawingml/2006/main">
              <a:ext uri="{FF2B5EF4-FFF2-40B4-BE49-F238E27FC236}">
                <a16:creationId xmlns:a16="http://schemas.microsoft.com/office/drawing/2014/main" id="{09B21417-1348-496E-9827-E14F0351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1-1">
            <a:extLst xmlns:a="http://schemas.openxmlformats.org/drawingml/2006/main">
              <a:ext uri="{FF2B5EF4-FFF2-40B4-BE49-F238E27FC236}">
                <a16:creationId xmlns:a16="http://schemas.microsoft.com/office/drawing/2014/main" id="{8B1186FE-95A3-4EC3-BE80-108502A9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1-1">
            <a:extLst xmlns:a="http://schemas.openxmlformats.org/drawingml/2006/main">
              <a:ext uri="{FF2B5EF4-FFF2-40B4-BE49-F238E27FC236}">
                <a16:creationId xmlns:a16="http://schemas.microsoft.com/office/drawing/2014/main" id="{5D6B82CE-8B10-4BD1-B5F2-D10F6403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43150"/>
            <a:ext cx="1752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1-2">
            <a:extLst xmlns:a="http://schemas.openxmlformats.org/drawingml/2006/main">
              <a:ext uri="{FF2B5EF4-FFF2-40B4-BE49-F238E27FC236}">
                <a16:creationId xmlns:a16="http://schemas.microsoft.com/office/drawing/2014/main" id="{5AC3CD6A-C5D5-48D0-B631-A87F9225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2752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1-2">
            <a:extLst xmlns:a="http://schemas.openxmlformats.org/drawingml/2006/main">
              <a:ext uri="{FF2B5EF4-FFF2-40B4-BE49-F238E27FC236}">
                <a16:creationId xmlns:a16="http://schemas.microsoft.com/office/drawing/2014/main" id="{0DA077E1-FC0C-479A-BAC2-0C44D489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0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1-2">
            <a:extLst xmlns:a="http://schemas.openxmlformats.org/drawingml/2006/main">
              <a:ext uri="{FF2B5EF4-FFF2-40B4-BE49-F238E27FC236}">
                <a16:creationId xmlns:a16="http://schemas.microsoft.com/office/drawing/2014/main" id="{0A8E323D-93BF-44EE-AF90-4324C65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27527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1">
            <a:extLst xmlns:a="http://schemas.openxmlformats.org/drawingml/2006/main">
              <a:ext uri="{FF2B5EF4-FFF2-40B4-BE49-F238E27FC236}">
                <a16:creationId xmlns:a16="http://schemas.microsoft.com/office/drawing/2014/main" id="{FB48F3C2-4955-4D77-B31C-A9C6AF76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914525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9 選區｜新店、深坑、石碇、坪林、烏來：溪谷、茶鄉、山路、部落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10 選區｜平溪、瑞芳、雙溪、貢寮：山城、鐵道、海岸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11 選區｜金山、萬里、汐止：漁港、溫泉、科技與通勤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12 選區｜平地原住民：跨行政區的族人生活與文化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13 選區｜山地原住民：部落、語言、工藝、土地連結</a:t>
            </a:r>
          </a:p>
        </p:txBody>
      </p:sp>
      <p:sp>
        <p:nvSpPr>
          <p:cNvPr id="16" name="audio-11">
            <a:extLst xmlns:a="http://schemas.openxmlformats.org/drawingml/2006/main">
              <a:ext uri="{FF2B5EF4-FFF2-40B4-BE49-F238E27FC236}">
                <a16:creationId xmlns:a16="http://schemas.microsoft.com/office/drawing/2014/main" id="{CDDBCA6B-8D73-4238-93A5-C3EB67B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24000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溪流與鐵道聲串起山海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進入原住民選區時，採現場族語問候或經授權歌聲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音樂不挪用儀式性歌謠；文化素材先取得族群同意</a:t>
            </a:r>
          </a:p>
        </p:txBody>
      </p:sp>
      <p:sp>
        <p:nvSpPr>
          <p:cNvPr id="17" name="narration-11">
            <a:extLst xmlns:a="http://schemas.openxmlformats.org/drawingml/2006/main">
              <a:ext uri="{FF2B5EF4-FFF2-40B4-BE49-F238E27FC236}">
                <a16:creationId xmlns:a16="http://schemas.microsoft.com/office/drawing/2014/main" id="{ED750354-02C6-477D-A4D4-26ED126A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486025" cy="74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新店、深坑、石碇、坪林與烏來，沿著溪谷連結都會、茶鄉與部落；平溪、瑞芳、雙溪、貢寮，讓山城、鐵道與海岸彼此相望；金山、萬里、汐止，則把海洋、溫泉、科技與通勤生活連成一線。
還有跨越行政邊界的平地與山地原住民選區，讓族人的生活、語言與文化，在城市裡持續被看見。
十三個選區，六十八席民意；每一席，都連著一群人的現在與未來。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9–13 選舉區｜山海．城鄉．族群．文化傳承</a:t>
            </a:r>
          </a:p>
        </p:txBody>
      </p:sp>
      <p:sp>
        <p:nvSpPr>
          <p:cNvPr id="18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307C2E46-CB21-4E72-96C5-7C266A48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F030A3B7-1391-447F-876D-859A8D15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看見.共好｜第二章｜看見每一種生活｜04:05–04:55</a:t>
            </a:r>
          </a:p>
        </p:txBody>
      </p:sp>
      <p:sp>
        <p:nvSpPr>
          <p:cNvPr id="20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1286B14D-214B-43CA-911F-B9122CC1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93858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2">
            <a:extLst xmlns:a="http://schemas.openxmlformats.org/drawingml/2006/main">
              <a:ext uri="{FF2B5EF4-FFF2-40B4-BE49-F238E27FC236}">
                <a16:creationId xmlns:a16="http://schemas.microsoft.com/office/drawing/2014/main" id="{AADA789A-459B-4608-9F38-615BB58C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分鏡腳本｜第三章｜看見民意如何成為行動</a:t>
            </a:r>
          </a:p>
        </p:txBody>
      </p:sp>
      <p:sp>
        <p:nvSpPr>
          <p:cNvPr id="2" name="scene-title-12">
            <a:extLst xmlns:a="http://schemas.openxmlformats.org/drawingml/2006/main">
              <a:ext uri="{FF2B5EF4-FFF2-40B4-BE49-F238E27FC236}">
                <a16:creationId xmlns:a16="http://schemas.microsoft.com/office/drawing/2014/main" id="{68A5CFED-7FBE-44C8-9D5B-3693F11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664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風景被看見還不夠，問題也要被看見</a:t>
            </a:r>
          </a:p>
        </p:txBody>
      </p:sp>
      <p:sp>
        <p:nvSpPr>
          <p:cNvPr id="3" name="scene-band-12">
            <a:extLst xmlns:a="http://schemas.openxmlformats.org/drawingml/2006/main">
              <a:ext uri="{FF2B5EF4-FFF2-40B4-BE49-F238E27FC236}">
                <a16:creationId xmlns:a16="http://schemas.microsoft.com/office/drawing/2014/main" id="{704ABBD9-266D-495A-868D-EBC5DB0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4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2">
            <a:extLst xmlns:a="http://schemas.openxmlformats.org/drawingml/2006/main">
              <a:ext uri="{FF2B5EF4-FFF2-40B4-BE49-F238E27FC236}">
                <a16:creationId xmlns:a16="http://schemas.microsoft.com/office/drawing/2014/main" id="{CA18AE02-065B-4032-8CDA-AFB6DC37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轉折｜從城市群像走入議會核心</a:t>
            </a:r>
          </a:p>
        </p:txBody>
      </p:sp>
      <p:sp>
        <p:nvSpPr>
          <p:cNvPr id="5" name="scene-duration-12">
            <a:extLst xmlns:a="http://schemas.openxmlformats.org/drawingml/2006/main">
              <a:ext uri="{FF2B5EF4-FFF2-40B4-BE49-F238E27FC236}">
                <a16:creationId xmlns:a16="http://schemas.microsoft.com/office/drawing/2014/main" id="{69354279-3ED1-4AB5-8BA8-E9BC4389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04:55–05:15｜20 秒｜累計 05:15</a:t>
            </a:r>
          </a:p>
        </p:txBody>
      </p:sp>
      <p:sp>
        <p:nvSpPr>
          <p:cNvPr id="6" name="col-head-12-0">
            <a:extLst xmlns:a="http://schemas.openxmlformats.org/drawingml/2006/main">
              <a:ext uri="{FF2B5EF4-FFF2-40B4-BE49-F238E27FC236}">
                <a16:creationId xmlns:a16="http://schemas.microsoft.com/office/drawing/2014/main" id="{D2582608-8EF8-461B-B292-373CD8E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2-0">
            <a:extLst xmlns:a="http://schemas.openxmlformats.org/drawingml/2006/main">
              <a:ext uri="{FF2B5EF4-FFF2-40B4-BE49-F238E27FC236}">
                <a16:creationId xmlns:a16="http://schemas.microsoft.com/office/drawing/2014/main" id="{4CA3B7F3-FCA5-4487-9574-D1CB38EF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2-0">
            <a:extLst xmlns:a="http://schemas.openxmlformats.org/drawingml/2006/main">
              <a:ext uri="{FF2B5EF4-FFF2-40B4-BE49-F238E27FC236}">
                <a16:creationId xmlns:a16="http://schemas.microsoft.com/office/drawing/2014/main" id="{8D3B92C4-D407-4C25-AB6B-A75700FC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1431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2-1">
            <a:extLst xmlns:a="http://schemas.openxmlformats.org/drawingml/2006/main">
              <a:ext uri="{FF2B5EF4-FFF2-40B4-BE49-F238E27FC236}">
                <a16:creationId xmlns:a16="http://schemas.microsoft.com/office/drawing/2014/main" id="{04CCF04B-D7FB-4195-8677-1E045624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2-1">
            <a:extLst xmlns:a="http://schemas.openxmlformats.org/drawingml/2006/main">
              <a:ext uri="{FF2B5EF4-FFF2-40B4-BE49-F238E27FC236}">
                <a16:creationId xmlns:a16="http://schemas.microsoft.com/office/drawing/2014/main" id="{9F7A1922-8C97-4934-B43C-B38F3452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2-1">
            <a:extLst xmlns:a="http://schemas.openxmlformats.org/drawingml/2006/main">
              <a:ext uri="{FF2B5EF4-FFF2-40B4-BE49-F238E27FC236}">
                <a16:creationId xmlns:a16="http://schemas.microsoft.com/office/drawing/2014/main" id="{8EE3FDEE-C3FE-4050-8FA5-38E0FE61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43150"/>
            <a:ext cx="1752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2-2">
            <a:extLst xmlns:a="http://schemas.openxmlformats.org/drawingml/2006/main">
              <a:ext uri="{FF2B5EF4-FFF2-40B4-BE49-F238E27FC236}">
                <a16:creationId xmlns:a16="http://schemas.microsoft.com/office/drawing/2014/main" id="{1CB18380-4547-49A9-A209-22EA0B6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2752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2-2">
            <a:extLst xmlns:a="http://schemas.openxmlformats.org/drawingml/2006/main">
              <a:ext uri="{FF2B5EF4-FFF2-40B4-BE49-F238E27FC236}">
                <a16:creationId xmlns:a16="http://schemas.microsoft.com/office/drawing/2014/main" id="{B64E2CDC-D31A-43CC-94F2-A1B1DCEC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0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2-2">
            <a:extLst xmlns:a="http://schemas.openxmlformats.org/drawingml/2006/main">
              <a:ext uri="{FF2B5EF4-FFF2-40B4-BE49-F238E27FC236}">
                <a16:creationId xmlns:a16="http://schemas.microsoft.com/office/drawing/2014/main" id="{7E2E3AE8-9AF8-43B2-9FB0-92E15359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27527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2">
            <a:extLst xmlns:a="http://schemas.openxmlformats.org/drawingml/2006/main">
              <a:ext uri="{FF2B5EF4-FFF2-40B4-BE49-F238E27FC236}">
                <a16:creationId xmlns:a16="http://schemas.microsoft.com/office/drawing/2014/main" id="{1A0985D6-D10D-4C9E-BEB9-E39E2C17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914525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13｜快速收斂三個日常細節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雨天積水停在鞋尖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家長牽孩子穿越路口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長者在候車亭等待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14｜市民手機畫面／陳情資料／照片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15｜畫面停在「已受理」或服務處筆記，不呈現個資</a:t>
            </a:r>
          </a:p>
        </p:txBody>
      </p:sp>
      <p:sp>
        <p:nvSpPr>
          <p:cNvPr id="16" name="audio-12">
            <a:extLst xmlns:a="http://schemas.openxmlformats.org/drawingml/2006/main">
              <a:ext uri="{FF2B5EF4-FFF2-40B4-BE49-F238E27FC236}">
                <a16:creationId xmlns:a16="http://schemas.microsoft.com/office/drawing/2014/main" id="{2910D265-7178-4C28-B05A-E444E76A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24000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音樂突然收斂，只留下雨聲、號誌聲、紙張聲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三個問題各 3 秒，不交代答案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最後以一聲訊息提示，帶入下一段</a:t>
            </a:r>
          </a:p>
        </p:txBody>
      </p:sp>
      <p:sp>
        <p:nvSpPr>
          <p:cNvPr id="17" name="narration-12">
            <a:extLst xmlns:a="http://schemas.openxmlformats.org/drawingml/2006/main">
              <a:ext uri="{FF2B5EF4-FFF2-40B4-BE49-F238E27FC236}">
                <a16:creationId xmlns:a16="http://schemas.microsoft.com/office/drawing/2014/main" id="{D3B4AA9C-DDF6-4CCC-9DDE-508880E8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486025" cy="74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但風景被看見，還不夠。
一場雨後的積水、一條不安心的上學路、一段等不到車的日常，都可能是城市下一步要回答的問題。
當一個聲音走進議會，它會怎麼成為改變的開始？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看見問題｜不是終點，是行動的起點。</a:t>
            </a:r>
          </a:p>
        </p:txBody>
      </p:sp>
      <p:sp>
        <p:nvSpPr>
          <p:cNvPr id="18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2DE6455A-29BF-41E7-A370-798F4370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9F413961-1D5E-463D-92E3-3C64F15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看見.共好｜第三章｜看見民意如何成為行動｜04:55–05:15</a:t>
            </a:r>
          </a:p>
        </p:txBody>
      </p:sp>
      <p:sp>
        <p:nvSpPr>
          <p:cNvPr id="20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042D3C44-2F66-415E-A94F-C288C8E7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669398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3">
            <a:extLst xmlns:a="http://schemas.openxmlformats.org/drawingml/2006/main">
              <a:ext uri="{FF2B5EF4-FFF2-40B4-BE49-F238E27FC236}">
                <a16:creationId xmlns:a16="http://schemas.microsoft.com/office/drawing/2014/main" id="{CDA95771-A9F8-4A90-A012-FC7F9DD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分鏡腳本｜第三章｜看見民意如何成為行動</a:t>
            </a:r>
          </a:p>
        </p:txBody>
      </p:sp>
      <p:sp>
        <p:nvSpPr>
          <p:cNvPr id="2" name="scene-title-13">
            <a:extLst xmlns:a="http://schemas.openxmlformats.org/drawingml/2006/main">
              <a:ext uri="{FF2B5EF4-FFF2-40B4-BE49-F238E27FC236}">
                <a16:creationId xmlns:a16="http://schemas.microsoft.com/office/drawing/2014/main" id="{095A85D3-E498-4C52-973E-7D14CB46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664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先理解問題，再替人民把問題說清楚</a:t>
            </a:r>
          </a:p>
        </p:txBody>
      </p:sp>
      <p:sp>
        <p:nvSpPr>
          <p:cNvPr id="3" name="scene-band-13">
            <a:extLst xmlns:a="http://schemas.openxmlformats.org/drawingml/2006/main">
              <a:ext uri="{FF2B5EF4-FFF2-40B4-BE49-F238E27FC236}">
                <a16:creationId xmlns:a16="http://schemas.microsoft.com/office/drawing/2014/main" id="{4F027AD6-C734-448D-9B99-01542C99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4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3">
            <a:extLst xmlns:a="http://schemas.openxmlformats.org/drawingml/2006/main">
              <a:ext uri="{FF2B5EF4-FFF2-40B4-BE49-F238E27FC236}">
                <a16:creationId xmlns:a16="http://schemas.microsoft.com/office/drawing/2014/main" id="{2BC5022E-1D52-4835-9130-6A697F69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A｜受理、查證、現勘、提案</a:t>
            </a:r>
          </a:p>
        </p:txBody>
      </p:sp>
      <p:sp>
        <p:nvSpPr>
          <p:cNvPr id="5" name="scene-duration-13">
            <a:extLst xmlns:a="http://schemas.openxmlformats.org/drawingml/2006/main">
              <a:ext uri="{FF2B5EF4-FFF2-40B4-BE49-F238E27FC236}">
                <a16:creationId xmlns:a16="http://schemas.microsoft.com/office/drawing/2014/main" id="{9BFEBDAD-8FAC-45B8-92D7-418B45C8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05:15–06:05｜50 秒｜累計 06:05</a:t>
            </a:r>
          </a:p>
        </p:txBody>
      </p:sp>
      <p:sp>
        <p:nvSpPr>
          <p:cNvPr id="6" name="col-head-13-0">
            <a:extLst xmlns:a="http://schemas.openxmlformats.org/drawingml/2006/main">
              <a:ext uri="{FF2B5EF4-FFF2-40B4-BE49-F238E27FC236}">
                <a16:creationId xmlns:a16="http://schemas.microsoft.com/office/drawing/2014/main" id="{5FDB888E-8773-42CF-8B46-65C1BC0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3-0">
            <a:extLst xmlns:a="http://schemas.openxmlformats.org/drawingml/2006/main">
              <a:ext uri="{FF2B5EF4-FFF2-40B4-BE49-F238E27FC236}">
                <a16:creationId xmlns:a16="http://schemas.microsoft.com/office/drawing/2014/main" id="{EEEF866C-D705-4E8F-81E2-88384D7B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3-0">
            <a:extLst xmlns:a="http://schemas.openxmlformats.org/drawingml/2006/main">
              <a:ext uri="{FF2B5EF4-FFF2-40B4-BE49-F238E27FC236}">
                <a16:creationId xmlns:a16="http://schemas.microsoft.com/office/drawing/2014/main" id="{2CAF4D36-7499-458D-B550-8C34C2CC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1431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3-1">
            <a:extLst xmlns:a="http://schemas.openxmlformats.org/drawingml/2006/main">
              <a:ext uri="{FF2B5EF4-FFF2-40B4-BE49-F238E27FC236}">
                <a16:creationId xmlns:a16="http://schemas.microsoft.com/office/drawing/2014/main" id="{C8C472FE-0751-4122-8E38-90E257B5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3-1">
            <a:extLst xmlns:a="http://schemas.openxmlformats.org/drawingml/2006/main">
              <a:ext uri="{FF2B5EF4-FFF2-40B4-BE49-F238E27FC236}">
                <a16:creationId xmlns:a16="http://schemas.microsoft.com/office/drawing/2014/main" id="{17DF658D-8587-4163-8648-B011C72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3-1">
            <a:extLst xmlns:a="http://schemas.openxmlformats.org/drawingml/2006/main">
              <a:ext uri="{FF2B5EF4-FFF2-40B4-BE49-F238E27FC236}">
                <a16:creationId xmlns:a16="http://schemas.microsoft.com/office/drawing/2014/main" id="{A72D4CB6-6757-4300-ACDC-70FDD9E6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43150"/>
            <a:ext cx="1752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3-2">
            <a:extLst xmlns:a="http://schemas.openxmlformats.org/drawingml/2006/main">
              <a:ext uri="{FF2B5EF4-FFF2-40B4-BE49-F238E27FC236}">
                <a16:creationId xmlns:a16="http://schemas.microsoft.com/office/drawing/2014/main" id="{128395E8-1EBC-4F94-AF49-8729252B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2752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3-2">
            <a:extLst xmlns:a="http://schemas.openxmlformats.org/drawingml/2006/main">
              <a:ext uri="{FF2B5EF4-FFF2-40B4-BE49-F238E27FC236}">
                <a16:creationId xmlns:a16="http://schemas.microsoft.com/office/drawing/2014/main" id="{BB45A497-4E0C-4C3D-BA40-4D171B4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0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3-2">
            <a:extLst xmlns:a="http://schemas.openxmlformats.org/drawingml/2006/main">
              <a:ext uri="{FF2B5EF4-FFF2-40B4-BE49-F238E27FC236}">
                <a16:creationId xmlns:a16="http://schemas.microsoft.com/office/drawing/2014/main" id="{F04AC031-7152-46AB-B3CC-23407D7C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27527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3">
            <a:extLst xmlns:a="http://schemas.openxmlformats.org/drawingml/2006/main">
              <a:ext uri="{FF2B5EF4-FFF2-40B4-BE49-F238E27FC236}">
                <a16:creationId xmlns:a16="http://schemas.microsoft.com/office/drawing/2014/main" id="{62C3B58A-9C18-4808-A876-45F4A344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914525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1｜市民陳情：電話、線上、服務處與當面反映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2｜資料整理：遮蔽個資後呈現案件照片、地圖、時間軸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3｜現地了解：議員、居民與相關單位共同會勘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4｜問題定義：把個案拆成安全、預算、權責與期程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5｜形成提案或質詢重點</a:t>
            </a:r>
          </a:p>
        </p:txBody>
      </p:sp>
      <p:sp>
        <p:nvSpPr>
          <p:cNvPr id="16" name="audio-13">
            <a:extLst xmlns:a="http://schemas.openxmlformats.org/drawingml/2006/main">
              <a:ext uri="{FF2B5EF4-FFF2-40B4-BE49-F238E27FC236}">
                <a16:creationId xmlns:a16="http://schemas.microsoft.com/office/drawing/2014/main" id="{26F6825C-57B8-4E2A-9688-2835B193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24000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節奏由單點訊息逐步堆疊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保留市民一句原音：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「我們希望有人把這件事說清楚。」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會勘現場以同期聲為主，不另配過度情緒化音樂</a:t>
            </a:r>
          </a:p>
        </p:txBody>
      </p:sp>
      <p:sp>
        <p:nvSpPr>
          <p:cNvPr id="17" name="narration-13">
            <a:extLst xmlns:a="http://schemas.openxmlformats.org/drawingml/2006/main">
              <a:ext uri="{FF2B5EF4-FFF2-40B4-BE49-F238E27FC236}">
                <a16:creationId xmlns:a16="http://schemas.microsoft.com/office/drawing/2014/main" id="{9CD3DC35-75A1-4874-8B74-E609850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486025" cy="74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看見問題，不是立刻給出漂亮答案，而是先把事情弄清楚。
市民的陳情被記錄，現場的情況被查證；議員走進街區，聽居民怎麼說，也請相關單位說明。
一個看似單純的困難，可能牽涉安全、預算、法規與不同機關的權責。議會的工作，是把零散感受整理成可以討論的問題，把個人的不方便，轉化為公共議題。
唯有說清楚，行動才有方向。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受理 → 查證 → 現勘 → 定義問題</a:t>
            </a:r>
          </a:p>
        </p:txBody>
      </p:sp>
      <p:sp>
        <p:nvSpPr>
          <p:cNvPr id="18" name="footer-line-13">
            <a:extLst xmlns:a="http://schemas.openxmlformats.org/drawingml/2006/main">
              <a:ext uri="{FF2B5EF4-FFF2-40B4-BE49-F238E27FC236}">
                <a16:creationId xmlns:a16="http://schemas.microsoft.com/office/drawing/2014/main" id="{FE7B51E6-F5D5-43D2-BC3D-8B5E909A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CC97CB1D-F7D9-4D53-BF82-55B4683B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看見.共好｜第三章｜看見民意如何成為行動｜05:15–06:05</a:t>
            </a:r>
          </a:p>
        </p:txBody>
      </p:sp>
      <p:sp>
        <p:nvSpPr>
          <p:cNvPr id="20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ECF06654-F5F2-49DA-96E4-C061F2C2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48901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4">
            <a:extLst xmlns:a="http://schemas.openxmlformats.org/drawingml/2006/main">
              <a:ext uri="{FF2B5EF4-FFF2-40B4-BE49-F238E27FC236}">
                <a16:creationId xmlns:a16="http://schemas.microsoft.com/office/drawing/2014/main" id="{117EDF47-2010-4246-B584-DDEDC33E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分鏡腳本｜第三章｜看見民意如何成為行動</a:t>
            </a:r>
          </a:p>
        </p:txBody>
      </p:sp>
      <p:sp>
        <p:nvSpPr>
          <p:cNvPr id="2" name="scene-title-14">
            <a:extLst xmlns:a="http://schemas.openxmlformats.org/drawingml/2006/main">
              <a:ext uri="{FF2B5EF4-FFF2-40B4-BE49-F238E27FC236}">
                <a16:creationId xmlns:a16="http://schemas.microsoft.com/office/drawing/2014/main" id="{D6EF9010-9FA8-42B0-BB6F-A05F6B15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664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讓承諾有進度，讓改變能被追蹤</a:t>
            </a:r>
          </a:p>
        </p:txBody>
      </p:sp>
      <p:sp>
        <p:nvSpPr>
          <p:cNvPr id="3" name="scene-band-14">
            <a:extLst xmlns:a="http://schemas.openxmlformats.org/drawingml/2006/main">
              <a:ext uri="{FF2B5EF4-FFF2-40B4-BE49-F238E27FC236}">
                <a16:creationId xmlns:a16="http://schemas.microsoft.com/office/drawing/2014/main" id="{88BCB0DA-3A0C-4B4A-9CA4-F7D462FC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4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4">
            <a:extLst xmlns:a="http://schemas.openxmlformats.org/drawingml/2006/main">
              <a:ext uri="{FF2B5EF4-FFF2-40B4-BE49-F238E27FC236}">
                <a16:creationId xmlns:a16="http://schemas.microsoft.com/office/drawing/2014/main" id="{351AB4AF-0577-4BC4-84E7-31D1615C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B｜質詢、審查、議決、追蹤</a:t>
            </a:r>
          </a:p>
        </p:txBody>
      </p:sp>
      <p:sp>
        <p:nvSpPr>
          <p:cNvPr id="5" name="scene-duration-14">
            <a:extLst xmlns:a="http://schemas.openxmlformats.org/drawingml/2006/main">
              <a:ext uri="{FF2B5EF4-FFF2-40B4-BE49-F238E27FC236}">
                <a16:creationId xmlns:a16="http://schemas.microsoft.com/office/drawing/2014/main" id="{CFD12C69-8AAB-4C3B-8277-2A450799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06:05–06:55｜50 秒｜累計 06:55</a:t>
            </a:r>
          </a:p>
        </p:txBody>
      </p:sp>
      <p:sp>
        <p:nvSpPr>
          <p:cNvPr id="6" name="col-head-14-0">
            <a:extLst xmlns:a="http://schemas.openxmlformats.org/drawingml/2006/main">
              <a:ext uri="{FF2B5EF4-FFF2-40B4-BE49-F238E27FC236}">
                <a16:creationId xmlns:a16="http://schemas.microsoft.com/office/drawing/2014/main" id="{603551B6-A92F-4378-AA85-81CB12EC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4-0">
            <a:extLst xmlns:a="http://schemas.openxmlformats.org/drawingml/2006/main">
              <a:ext uri="{FF2B5EF4-FFF2-40B4-BE49-F238E27FC236}">
                <a16:creationId xmlns:a16="http://schemas.microsoft.com/office/drawing/2014/main" id="{BC5A12AF-B52D-4E8E-A51D-15F8B6D0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4-0">
            <a:extLst xmlns:a="http://schemas.openxmlformats.org/drawingml/2006/main">
              <a:ext uri="{FF2B5EF4-FFF2-40B4-BE49-F238E27FC236}">
                <a16:creationId xmlns:a16="http://schemas.microsoft.com/office/drawing/2014/main" id="{37C7AA13-88CD-4668-A4D8-000D88F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1431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4-1">
            <a:extLst xmlns:a="http://schemas.openxmlformats.org/drawingml/2006/main">
              <a:ext uri="{FF2B5EF4-FFF2-40B4-BE49-F238E27FC236}">
                <a16:creationId xmlns:a16="http://schemas.microsoft.com/office/drawing/2014/main" id="{C21CE52D-D3AF-4F3B-95E7-01364768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4-1">
            <a:extLst xmlns:a="http://schemas.openxmlformats.org/drawingml/2006/main">
              <a:ext uri="{FF2B5EF4-FFF2-40B4-BE49-F238E27FC236}">
                <a16:creationId xmlns:a16="http://schemas.microsoft.com/office/drawing/2014/main" id="{168C172F-4121-4C2A-BBAA-16DB3AA4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4-1">
            <a:extLst xmlns:a="http://schemas.openxmlformats.org/drawingml/2006/main">
              <a:ext uri="{FF2B5EF4-FFF2-40B4-BE49-F238E27FC236}">
                <a16:creationId xmlns:a16="http://schemas.microsoft.com/office/drawing/2014/main" id="{0D5AABFD-D41D-4038-8CD1-86AEEB1E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43150"/>
            <a:ext cx="1752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4-2">
            <a:extLst xmlns:a="http://schemas.openxmlformats.org/drawingml/2006/main">
              <a:ext uri="{FF2B5EF4-FFF2-40B4-BE49-F238E27FC236}">
                <a16:creationId xmlns:a16="http://schemas.microsoft.com/office/drawing/2014/main" id="{9D0E1F00-B497-441B-8590-7285DA67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2752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4-2">
            <a:extLst xmlns:a="http://schemas.openxmlformats.org/drawingml/2006/main">
              <a:ext uri="{FF2B5EF4-FFF2-40B4-BE49-F238E27FC236}">
                <a16:creationId xmlns:a16="http://schemas.microsoft.com/office/drawing/2014/main" id="{345BE1B6-A418-4C49-A33B-E9B7DEE1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0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4-2">
            <a:extLst xmlns:a="http://schemas.openxmlformats.org/drawingml/2006/main">
              <a:ext uri="{FF2B5EF4-FFF2-40B4-BE49-F238E27FC236}">
                <a16:creationId xmlns:a16="http://schemas.microsoft.com/office/drawing/2014/main" id="{BC667C5F-4392-4DC4-A0B7-4E5570F2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27527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4">
            <a:extLst xmlns:a="http://schemas.openxmlformats.org/drawingml/2006/main">
              <a:ext uri="{FF2B5EF4-FFF2-40B4-BE49-F238E27FC236}">
                <a16:creationId xmlns:a16="http://schemas.microsoft.com/office/drawing/2014/main" id="{EFD239AE-8CE6-4922-B41C-F40EE9A6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914525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6｜議事殿堂：口頭／書面質詢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7｜委員會：資料比對、專業審查、意見交換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8｜大會：討論、議決與公開紀錄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9｜後續追蹤：列管回覆、工程進度、政策修正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10｜回到現場：同一機位拍攝改善前後，未完成案件則呈現追蹤狀態</a:t>
            </a:r>
          </a:p>
        </p:txBody>
      </p:sp>
      <p:sp>
        <p:nvSpPr>
          <p:cNvPr id="16" name="audio-14">
            <a:extLst xmlns:a="http://schemas.openxmlformats.org/drawingml/2006/main">
              <a:ext uri="{FF2B5EF4-FFF2-40B4-BE49-F238E27FC236}">
                <a16:creationId xmlns:a16="http://schemas.microsoft.com/office/drawing/2014/main" id="{2E3F839D-A572-460A-978F-D5648ED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24000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議事槌、麥克風開啟、翻頁與鍵盤聲形成節拍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重要數據以簡潔動態字卡同步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不以「完工」作為唯一結局；誠實呈現持續追蹤</a:t>
            </a:r>
          </a:p>
        </p:txBody>
      </p:sp>
      <p:sp>
        <p:nvSpPr>
          <p:cNvPr id="17" name="narration-14">
            <a:extLst xmlns:a="http://schemas.openxmlformats.org/drawingml/2006/main">
              <a:ext uri="{FF2B5EF4-FFF2-40B4-BE49-F238E27FC236}">
                <a16:creationId xmlns:a16="http://schemas.microsoft.com/office/drawing/2014/main" id="{16B68102-D29B-4D25-B581-10E4A08C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486025" cy="74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接著，問題走進質詢與審查。議員要求說明、檢視資料、確認預算與期程；不同意見在會議中被提出，也在公開紀錄中留下軌跡。
有些事情能很快改善，有些需要跨局處協調，有些必須經過法規與預算程序。重要的不是一句承諾，而是每一步都有依據、每一個進度都能被追蹤。
從人民的聲音，到制度的行動，再回到生活的現場——這就是監督的意義，也是民主看得見的方式。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質詢 → 審查 → 議決 → 追蹤 → 回到現場</a:t>
            </a:r>
          </a:p>
        </p:txBody>
      </p:sp>
      <p:sp>
        <p:nvSpPr>
          <p:cNvPr id="18" name="footer-line-14">
            <a:extLst xmlns:a="http://schemas.openxmlformats.org/drawingml/2006/main">
              <a:ext uri="{FF2B5EF4-FFF2-40B4-BE49-F238E27FC236}">
                <a16:creationId xmlns:a16="http://schemas.microsoft.com/office/drawing/2014/main" id="{889FB5AB-CA8F-4943-9CE7-78E387ED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54F1E0BA-01F5-422C-95BF-55195BE7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看見.共好｜第三章｜看見民意如何成為行動｜06:05–06:55</a:t>
            </a:r>
          </a:p>
        </p:txBody>
      </p:sp>
      <p:sp>
        <p:nvSpPr>
          <p:cNvPr id="20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731FEDA5-566B-49EE-8882-15BA8C27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567065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5">
            <a:extLst xmlns:a="http://schemas.openxmlformats.org/drawingml/2006/main">
              <a:ext uri="{FF2B5EF4-FFF2-40B4-BE49-F238E27FC236}">
                <a16:creationId xmlns:a16="http://schemas.microsoft.com/office/drawing/2014/main" id="{65EB682D-CBB1-4916-B5D9-25685F36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分鏡腳本｜第四章｜看見議會如何運作</a:t>
            </a:r>
          </a:p>
        </p:txBody>
      </p:sp>
      <p:sp>
        <p:nvSpPr>
          <p:cNvPr id="2" name="scene-title-15">
            <a:extLst xmlns:a="http://schemas.openxmlformats.org/drawingml/2006/main">
              <a:ext uri="{FF2B5EF4-FFF2-40B4-BE49-F238E27FC236}">
                <a16:creationId xmlns:a16="http://schemas.microsoft.com/office/drawing/2014/main" id="{26EBE2F0-5E04-414D-87BC-B9CC11E8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664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每一項決定，都必須經得起公開討論</a:t>
            </a:r>
          </a:p>
        </p:txBody>
      </p:sp>
      <p:sp>
        <p:nvSpPr>
          <p:cNvPr id="3" name="scene-band-15">
            <a:extLst xmlns:a="http://schemas.openxmlformats.org/drawingml/2006/main">
              <a:ext uri="{FF2B5EF4-FFF2-40B4-BE49-F238E27FC236}">
                <a16:creationId xmlns:a16="http://schemas.microsoft.com/office/drawing/2014/main" id="{51B69AD3-D8C5-4548-A3C1-D04C65BB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4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5">
            <a:extLst xmlns:a="http://schemas.openxmlformats.org/drawingml/2006/main">
              <a:ext uri="{FF2B5EF4-FFF2-40B4-BE49-F238E27FC236}">
                <a16:creationId xmlns:a16="http://schemas.microsoft.com/office/drawing/2014/main" id="{A6DD1198-CAB4-46E2-994A-A28E07A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議會職權｜把制度拍成看得懂的流程</a:t>
            </a:r>
          </a:p>
        </p:txBody>
      </p:sp>
      <p:sp>
        <p:nvSpPr>
          <p:cNvPr id="5" name="scene-duration-15">
            <a:extLst xmlns:a="http://schemas.openxmlformats.org/drawingml/2006/main">
              <a:ext uri="{FF2B5EF4-FFF2-40B4-BE49-F238E27FC236}">
                <a16:creationId xmlns:a16="http://schemas.microsoft.com/office/drawing/2014/main" id="{F71EFABB-A35D-4634-B8D3-B6A3BA45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06:55–08:15｜80 秒｜累計 08:15</a:t>
            </a:r>
          </a:p>
        </p:txBody>
      </p:sp>
      <p:sp>
        <p:nvSpPr>
          <p:cNvPr id="6" name="col-head-15-0">
            <a:extLst xmlns:a="http://schemas.openxmlformats.org/drawingml/2006/main">
              <a:ext uri="{FF2B5EF4-FFF2-40B4-BE49-F238E27FC236}">
                <a16:creationId xmlns:a16="http://schemas.microsoft.com/office/drawing/2014/main" id="{9A13A44B-148E-4DD2-B511-573B5FE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5-0">
            <a:extLst xmlns:a="http://schemas.openxmlformats.org/drawingml/2006/main">
              <a:ext uri="{FF2B5EF4-FFF2-40B4-BE49-F238E27FC236}">
                <a16:creationId xmlns:a16="http://schemas.microsoft.com/office/drawing/2014/main" id="{2390199E-AAEC-40FF-873A-D2D8B65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5-0">
            <a:extLst xmlns:a="http://schemas.openxmlformats.org/drawingml/2006/main">
              <a:ext uri="{FF2B5EF4-FFF2-40B4-BE49-F238E27FC236}">
                <a16:creationId xmlns:a16="http://schemas.microsoft.com/office/drawing/2014/main" id="{782D1824-2FC9-4F5F-BE5C-87E869DF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1431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5-1">
            <a:extLst xmlns:a="http://schemas.openxmlformats.org/drawingml/2006/main">
              <a:ext uri="{FF2B5EF4-FFF2-40B4-BE49-F238E27FC236}">
                <a16:creationId xmlns:a16="http://schemas.microsoft.com/office/drawing/2014/main" id="{C44F42E8-B91F-443B-956D-D305574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5-1">
            <a:extLst xmlns:a="http://schemas.openxmlformats.org/drawingml/2006/main">
              <a:ext uri="{FF2B5EF4-FFF2-40B4-BE49-F238E27FC236}">
                <a16:creationId xmlns:a16="http://schemas.microsoft.com/office/drawing/2014/main" id="{BD7C2563-386E-4BE3-9CF6-5A18B4A7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5-1">
            <a:extLst xmlns:a="http://schemas.openxmlformats.org/drawingml/2006/main">
              <a:ext uri="{FF2B5EF4-FFF2-40B4-BE49-F238E27FC236}">
                <a16:creationId xmlns:a16="http://schemas.microsoft.com/office/drawing/2014/main" id="{79913849-3524-403D-8A97-0C8A3CD5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43150"/>
            <a:ext cx="1752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5-2">
            <a:extLst xmlns:a="http://schemas.openxmlformats.org/drawingml/2006/main">
              <a:ext uri="{FF2B5EF4-FFF2-40B4-BE49-F238E27FC236}">
                <a16:creationId xmlns:a16="http://schemas.microsoft.com/office/drawing/2014/main" id="{035586F8-0BC2-42BE-8881-B240FF22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2752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5-2">
            <a:extLst xmlns:a="http://schemas.openxmlformats.org/drawingml/2006/main">
              <a:ext uri="{FF2B5EF4-FFF2-40B4-BE49-F238E27FC236}">
                <a16:creationId xmlns:a16="http://schemas.microsoft.com/office/drawing/2014/main" id="{871C56CB-1B50-4A2A-8233-2961CAA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0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5-2">
            <a:extLst xmlns:a="http://schemas.openxmlformats.org/drawingml/2006/main">
              <a:ext uri="{FF2B5EF4-FFF2-40B4-BE49-F238E27FC236}">
                <a16:creationId xmlns:a16="http://schemas.microsoft.com/office/drawing/2014/main" id="{F29B1CA4-DEB9-4777-8937-CA9A840D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27527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5">
            <a:extLst xmlns:a="http://schemas.openxmlformats.org/drawingml/2006/main">
              <a:ext uri="{FF2B5EF4-FFF2-40B4-BE49-F238E27FC236}">
                <a16:creationId xmlns:a16="http://schemas.microsoft.com/office/drawing/2014/main" id="{172FD095-22F4-4030-A9F6-334017D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914525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16｜大會全景＋議程字幕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17｜程序會、各審查委員會、法規審查、聯席會議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18｜市政總質詢、業務質詢、書面資料特寫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19｜預算書、決算審核報告、自治條例三讀畫面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20｜議事影音平台、表決與會議紀錄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畫面圖解：民意 → 提案／市府提案 → 審查 → 大會 → 執行與監督</a:t>
            </a:r>
          </a:p>
        </p:txBody>
      </p:sp>
      <p:sp>
        <p:nvSpPr>
          <p:cNvPr id="16" name="audio-15">
            <a:extLst xmlns:a="http://schemas.openxmlformats.org/drawingml/2006/main">
              <a:ext uri="{FF2B5EF4-FFF2-40B4-BE49-F238E27FC236}">
                <a16:creationId xmlns:a16="http://schemas.microsoft.com/office/drawing/2014/main" id="{A988B9A1-0F5F-4CCF-B550-8896CED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24000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旁白講職權時，每項搭配真實會議動作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避免長時間停留在組織圖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音樂降低，讓質詢原音穿插 2–3 句，每句不超過 4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字幕標示「實際議事畫面」與議程名稱</a:t>
            </a:r>
          </a:p>
        </p:txBody>
      </p:sp>
      <p:sp>
        <p:nvSpPr>
          <p:cNvPr id="17" name="narration-15">
            <a:extLst xmlns:a="http://schemas.openxmlformats.org/drawingml/2006/main">
              <a:ext uri="{FF2B5EF4-FFF2-40B4-BE49-F238E27FC236}">
                <a16:creationId xmlns:a16="http://schemas.microsoft.com/office/drawing/2014/main" id="{55317372-B963-4899-B9D6-AF8C1232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486025" cy="74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議會，是地方自治中代表市民行使監督與議決權的機關。
從城市的法規、年度預算與決算，到市稅、公共財產、市府組織與各項提案，都必須透過議會的程序接受檢視。人民的請願，也能在這裡進入正式的制度。
議案依性質進入程序與各審查委員會，經資料審閱、詢答、討論，再送交大會議決；議員也透過市政總質詢、業務質詢、現勘與書面建議，要求行政部門說明並改善。
監督不是阻擋前進，而是讓每一筆公共資源用得更負責；討論也不是拖延，而是讓不同影響被充分看見。
每一項決定，都必須留下紀錄，也必須經得起公開討論。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議決｜審查｜質詢｜請願｜監督</a:t>
            </a:r>
          </a:p>
        </p:txBody>
      </p:sp>
      <p:sp>
        <p:nvSpPr>
          <p:cNvPr id="18" name="footer-line-15">
            <a:extLst xmlns:a="http://schemas.openxmlformats.org/drawingml/2006/main">
              <a:ext uri="{FF2B5EF4-FFF2-40B4-BE49-F238E27FC236}">
                <a16:creationId xmlns:a16="http://schemas.microsoft.com/office/drawing/2014/main" id="{D58E675F-4C3A-4456-94A3-9AD6BF7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5">
            <a:extLst xmlns:a="http://schemas.openxmlformats.org/drawingml/2006/main">
              <a:ext uri="{FF2B5EF4-FFF2-40B4-BE49-F238E27FC236}">
                <a16:creationId xmlns:a16="http://schemas.microsoft.com/office/drawing/2014/main" id="{89AA2BF8-DA3B-4366-8928-9D29746F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看見.共好｜第四章｜看見議會如何運作｜06:55–08:15</a:t>
            </a:r>
          </a:p>
        </p:txBody>
      </p:sp>
      <p:sp>
        <p:nvSpPr>
          <p:cNvPr id="20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C80EA151-0155-42C2-A822-825ED52C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434752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6">
            <a:extLst xmlns:a="http://schemas.openxmlformats.org/drawingml/2006/main">
              <a:ext uri="{FF2B5EF4-FFF2-40B4-BE49-F238E27FC236}">
                <a16:creationId xmlns:a16="http://schemas.microsoft.com/office/drawing/2014/main" id="{97301798-40B2-46FC-9673-E527098F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分鏡腳本｜第四章｜看見議會如何運作</a:t>
            </a:r>
          </a:p>
        </p:txBody>
      </p:sp>
      <p:sp>
        <p:nvSpPr>
          <p:cNvPr id="2" name="scene-title-16">
            <a:extLst xmlns:a="http://schemas.openxmlformats.org/drawingml/2006/main">
              <a:ext uri="{FF2B5EF4-FFF2-40B4-BE49-F238E27FC236}">
                <a16:creationId xmlns:a16="http://schemas.microsoft.com/office/drawing/2014/main" id="{FB43A0ED-B6F6-4CA3-B0DD-F65B549D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664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讓民主被理解，也被完整保存</a:t>
            </a:r>
          </a:p>
        </p:txBody>
      </p:sp>
      <p:sp>
        <p:nvSpPr>
          <p:cNvPr id="3" name="scene-band-16">
            <a:extLst xmlns:a="http://schemas.openxmlformats.org/drawingml/2006/main">
              <a:ext uri="{FF2B5EF4-FFF2-40B4-BE49-F238E27FC236}">
                <a16:creationId xmlns:a16="http://schemas.microsoft.com/office/drawing/2014/main" id="{7D06B2FC-90FF-4CF1-BCF5-1DE4294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4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6">
            <a:extLst xmlns:a="http://schemas.openxmlformats.org/drawingml/2006/main">
              <a:ext uri="{FF2B5EF4-FFF2-40B4-BE49-F238E27FC236}">
                <a16:creationId xmlns:a16="http://schemas.microsoft.com/office/drawing/2014/main" id="{83353A3F-48BD-4725-A397-1FF834A0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行政團隊｜讓每一場會議可信、可查</a:t>
            </a:r>
          </a:p>
        </p:txBody>
      </p:sp>
      <p:sp>
        <p:nvSpPr>
          <p:cNvPr id="5" name="scene-duration-16">
            <a:extLst xmlns:a="http://schemas.openxmlformats.org/drawingml/2006/main">
              <a:ext uri="{FF2B5EF4-FFF2-40B4-BE49-F238E27FC236}">
                <a16:creationId xmlns:a16="http://schemas.microsoft.com/office/drawing/2014/main" id="{518C8E5B-3130-4CE6-A42F-657F4F18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08:15–09:10｜55 秒｜累計 09:10</a:t>
            </a:r>
          </a:p>
        </p:txBody>
      </p:sp>
      <p:sp>
        <p:nvSpPr>
          <p:cNvPr id="6" name="col-head-16-0">
            <a:extLst xmlns:a="http://schemas.openxmlformats.org/drawingml/2006/main">
              <a:ext uri="{FF2B5EF4-FFF2-40B4-BE49-F238E27FC236}">
                <a16:creationId xmlns:a16="http://schemas.microsoft.com/office/drawing/2014/main" id="{05F6B5F8-7986-4EE8-A911-F4B889C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6-0">
            <a:extLst xmlns:a="http://schemas.openxmlformats.org/drawingml/2006/main">
              <a:ext uri="{FF2B5EF4-FFF2-40B4-BE49-F238E27FC236}">
                <a16:creationId xmlns:a16="http://schemas.microsoft.com/office/drawing/2014/main" id="{029CCD11-2220-4CA8-AD28-D8BB6C94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6-0">
            <a:extLst xmlns:a="http://schemas.openxmlformats.org/drawingml/2006/main">
              <a:ext uri="{FF2B5EF4-FFF2-40B4-BE49-F238E27FC236}">
                <a16:creationId xmlns:a16="http://schemas.microsoft.com/office/drawing/2014/main" id="{97D57F47-B42E-45FB-BE60-E6AC873E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1431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6-1">
            <a:extLst xmlns:a="http://schemas.openxmlformats.org/drawingml/2006/main">
              <a:ext uri="{FF2B5EF4-FFF2-40B4-BE49-F238E27FC236}">
                <a16:creationId xmlns:a16="http://schemas.microsoft.com/office/drawing/2014/main" id="{EC7A94C1-AB8A-4DA4-B55A-C792FC2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6-1">
            <a:extLst xmlns:a="http://schemas.openxmlformats.org/drawingml/2006/main">
              <a:ext uri="{FF2B5EF4-FFF2-40B4-BE49-F238E27FC236}">
                <a16:creationId xmlns:a16="http://schemas.microsoft.com/office/drawing/2014/main" id="{2C5ED556-F55E-456F-81E8-9C4AECCF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6-1">
            <a:extLst xmlns:a="http://schemas.openxmlformats.org/drawingml/2006/main">
              <a:ext uri="{FF2B5EF4-FFF2-40B4-BE49-F238E27FC236}">
                <a16:creationId xmlns:a16="http://schemas.microsoft.com/office/drawing/2014/main" id="{19497590-D156-4EAE-9120-CB942300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43150"/>
            <a:ext cx="1752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6-2">
            <a:extLst xmlns:a="http://schemas.openxmlformats.org/drawingml/2006/main">
              <a:ext uri="{FF2B5EF4-FFF2-40B4-BE49-F238E27FC236}">
                <a16:creationId xmlns:a16="http://schemas.microsoft.com/office/drawing/2014/main" id="{11A0AAFA-4D9F-4125-9A60-1A04B37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2752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6-2">
            <a:extLst xmlns:a="http://schemas.openxmlformats.org/drawingml/2006/main">
              <a:ext uri="{FF2B5EF4-FFF2-40B4-BE49-F238E27FC236}">
                <a16:creationId xmlns:a16="http://schemas.microsoft.com/office/drawing/2014/main" id="{EC5EC122-D852-4B46-9A77-C89B7E0C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0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6-2">
            <a:extLst xmlns:a="http://schemas.openxmlformats.org/drawingml/2006/main">
              <a:ext uri="{FF2B5EF4-FFF2-40B4-BE49-F238E27FC236}">
                <a16:creationId xmlns:a16="http://schemas.microsoft.com/office/drawing/2014/main" id="{E5E73552-F325-4F50-99D4-A2A2FF0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27527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6">
            <a:extLst xmlns:a="http://schemas.openxmlformats.org/drawingml/2006/main">
              <a:ext uri="{FF2B5EF4-FFF2-40B4-BE49-F238E27FC236}">
                <a16:creationId xmlns:a16="http://schemas.microsoft.com/office/drawing/2014/main" id="{5A29FA93-B2DD-4927-BDA7-397DFEB6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914525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21｜開會前：議程、席次、麥克風、文件與系統測試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22｜會議中：議事、法制、文書、資訊與影音人員協作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23｜會議後：紀錄整理、議案上網、影音典藏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24｜會史館展示更新、簡報室新 LED 與多語播放測試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25｜國內外訪賓參訪、公共關係與導覽服務</a:t>
            </a:r>
          </a:p>
        </p:txBody>
      </p:sp>
      <p:sp>
        <p:nvSpPr>
          <p:cNvPr id="16" name="audio-16">
            <a:extLst xmlns:a="http://schemas.openxmlformats.org/drawingml/2006/main">
              <a:ext uri="{FF2B5EF4-FFF2-40B4-BE49-F238E27FC236}">
                <a16:creationId xmlns:a16="http://schemas.microsoft.com/office/drawing/2014/main" id="{9C1B68A2-AD62-4F99-A1D8-7664CE4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24000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以開會前倒數聲建立秩序感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不同處室動作採聲音接力：翻頁、插線、測麥、鍵盤、快門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音樂重新加入溫度，節奏穩定向前</a:t>
            </a:r>
          </a:p>
        </p:txBody>
      </p:sp>
      <p:sp>
        <p:nvSpPr>
          <p:cNvPr id="17" name="narration-16">
            <a:extLst xmlns:a="http://schemas.openxmlformats.org/drawingml/2006/main">
              <a:ext uri="{FF2B5EF4-FFF2-40B4-BE49-F238E27FC236}">
                <a16:creationId xmlns:a16="http://schemas.microsoft.com/office/drawing/2014/main" id="{49AB0F68-65FC-4922-BE29-B828F0B0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486025" cy="74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一場會議能順利進行，背後有許多看不見的準備。
從議程安排、法制研析、文書與會議紀錄，到資訊系統、影音轉播、公共關係與行政支援，議會團隊讓每一場討論有秩序、有依據，也有可以查詢的紀錄。
會史館保存地方自治走過的路；更新後的簡報室，則讓議會的故事以更清楚、更友善的方式被看見。
當資料可以查找、影像可以回看、內容可以用不同語言理解，民主就不只發生在會議當下，也能被認識、被保存、被傳承。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準備每一場會議｜保存每一段民主紀錄</a:t>
            </a:r>
          </a:p>
        </p:txBody>
      </p:sp>
      <p:sp>
        <p:nvSpPr>
          <p:cNvPr id="18" name="footer-line-16">
            <a:extLst xmlns:a="http://schemas.openxmlformats.org/drawingml/2006/main">
              <a:ext uri="{FF2B5EF4-FFF2-40B4-BE49-F238E27FC236}">
                <a16:creationId xmlns:a16="http://schemas.microsoft.com/office/drawing/2014/main" id="{9CAA4206-9610-46BA-B08A-7C9B1CA7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6">
            <a:extLst xmlns:a="http://schemas.openxmlformats.org/drawingml/2006/main">
              <a:ext uri="{FF2B5EF4-FFF2-40B4-BE49-F238E27FC236}">
                <a16:creationId xmlns:a16="http://schemas.microsoft.com/office/drawing/2014/main" id="{DF3F98DD-DE97-4E2C-B4B4-E33A15F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看見.共好｜第四章｜看見議會如何運作｜08:15–09:10</a:t>
            </a:r>
          </a:p>
        </p:txBody>
      </p:sp>
      <p:sp>
        <p:nvSpPr>
          <p:cNvPr id="20" name="footer-page-16">
            <a:extLst xmlns:a="http://schemas.openxmlformats.org/drawingml/2006/main">
              <a:ext uri="{FF2B5EF4-FFF2-40B4-BE49-F238E27FC236}">
                <a16:creationId xmlns:a16="http://schemas.microsoft.com/office/drawing/2014/main" id="{20577777-EC99-4C45-94BF-06C6016D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077208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7">
            <a:extLst xmlns:a="http://schemas.openxmlformats.org/drawingml/2006/main">
              <a:ext uri="{FF2B5EF4-FFF2-40B4-BE49-F238E27FC236}">
                <a16:creationId xmlns:a16="http://schemas.microsoft.com/office/drawing/2014/main" id="{5145A448-D3CC-4343-B763-81D1C11B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分鏡腳本｜第五章｜走向共好</a:t>
            </a:r>
          </a:p>
        </p:txBody>
      </p:sp>
      <p:sp>
        <p:nvSpPr>
          <p:cNvPr id="2" name="scene-title-17">
            <a:extLst xmlns:a="http://schemas.openxmlformats.org/drawingml/2006/main">
              <a:ext uri="{FF2B5EF4-FFF2-40B4-BE49-F238E27FC236}">
                <a16:creationId xmlns:a16="http://schemas.microsoft.com/office/drawing/2014/main" id="{3F3D04D8-EF6D-4562-9B9C-A741FCC5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664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共好，不是所有人都說一樣的話</a:t>
            </a:r>
          </a:p>
        </p:txBody>
      </p:sp>
      <p:sp>
        <p:nvSpPr>
          <p:cNvPr id="3" name="scene-band-17">
            <a:extLst xmlns:a="http://schemas.openxmlformats.org/drawingml/2006/main">
              <a:ext uri="{FF2B5EF4-FFF2-40B4-BE49-F238E27FC236}">
                <a16:creationId xmlns:a16="http://schemas.microsoft.com/office/drawing/2014/main" id="{567C0A07-8C25-41E9-80E1-6F281873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4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7">
            <a:extLst xmlns:a="http://schemas.openxmlformats.org/drawingml/2006/main">
              <a:ext uri="{FF2B5EF4-FFF2-40B4-BE49-F238E27FC236}">
                <a16:creationId xmlns:a16="http://schemas.microsoft.com/office/drawing/2014/main" id="{5EDB40A9-4500-4EC9-BED6-F7A44DD5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價值收束｜讓差異走向公共利益</a:t>
            </a:r>
          </a:p>
        </p:txBody>
      </p:sp>
      <p:sp>
        <p:nvSpPr>
          <p:cNvPr id="5" name="scene-duration-17">
            <a:extLst xmlns:a="http://schemas.openxmlformats.org/drawingml/2006/main">
              <a:ext uri="{FF2B5EF4-FFF2-40B4-BE49-F238E27FC236}">
                <a16:creationId xmlns:a16="http://schemas.microsoft.com/office/drawing/2014/main" id="{D9C2D5AC-EAC9-49C1-846E-2DBDF1F5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09:10–10:15｜65 秒｜累計 10:15</a:t>
            </a:r>
          </a:p>
        </p:txBody>
      </p:sp>
      <p:sp>
        <p:nvSpPr>
          <p:cNvPr id="6" name="col-head-17-0">
            <a:extLst xmlns:a="http://schemas.openxmlformats.org/drawingml/2006/main">
              <a:ext uri="{FF2B5EF4-FFF2-40B4-BE49-F238E27FC236}">
                <a16:creationId xmlns:a16="http://schemas.microsoft.com/office/drawing/2014/main" id="{A21DE7F7-DD21-44D4-BA3C-ED396D79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7-0">
            <a:extLst xmlns:a="http://schemas.openxmlformats.org/drawingml/2006/main">
              <a:ext uri="{FF2B5EF4-FFF2-40B4-BE49-F238E27FC236}">
                <a16:creationId xmlns:a16="http://schemas.microsoft.com/office/drawing/2014/main" id="{E3ED9FA9-E7C7-40EF-868D-449280E0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7-0">
            <a:extLst xmlns:a="http://schemas.openxmlformats.org/drawingml/2006/main">
              <a:ext uri="{FF2B5EF4-FFF2-40B4-BE49-F238E27FC236}">
                <a16:creationId xmlns:a16="http://schemas.microsoft.com/office/drawing/2014/main" id="{3C41EF38-C2D8-4C23-8AFC-2BF2C954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1431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7-1">
            <a:extLst xmlns:a="http://schemas.openxmlformats.org/drawingml/2006/main">
              <a:ext uri="{FF2B5EF4-FFF2-40B4-BE49-F238E27FC236}">
                <a16:creationId xmlns:a16="http://schemas.microsoft.com/office/drawing/2014/main" id="{A0DE0370-0A58-426A-B171-C141E889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7-1">
            <a:extLst xmlns:a="http://schemas.openxmlformats.org/drawingml/2006/main">
              <a:ext uri="{FF2B5EF4-FFF2-40B4-BE49-F238E27FC236}">
                <a16:creationId xmlns:a16="http://schemas.microsoft.com/office/drawing/2014/main" id="{7069B47F-303B-423E-85B2-6DE3E1EF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7-1">
            <a:extLst xmlns:a="http://schemas.openxmlformats.org/drawingml/2006/main">
              <a:ext uri="{FF2B5EF4-FFF2-40B4-BE49-F238E27FC236}">
                <a16:creationId xmlns:a16="http://schemas.microsoft.com/office/drawing/2014/main" id="{F6539754-7EDC-4582-BF97-BE9750BB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43150"/>
            <a:ext cx="1752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7-2">
            <a:extLst xmlns:a="http://schemas.openxmlformats.org/drawingml/2006/main">
              <a:ext uri="{FF2B5EF4-FFF2-40B4-BE49-F238E27FC236}">
                <a16:creationId xmlns:a16="http://schemas.microsoft.com/office/drawing/2014/main" id="{25FA33D9-AF44-4F1B-B932-A902721E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2752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7-2">
            <a:extLst xmlns:a="http://schemas.openxmlformats.org/drawingml/2006/main">
              <a:ext uri="{FF2B5EF4-FFF2-40B4-BE49-F238E27FC236}">
                <a16:creationId xmlns:a16="http://schemas.microsoft.com/office/drawing/2014/main" id="{F951D625-9B4A-404C-AACF-1A0673A0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0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7-2">
            <a:extLst xmlns:a="http://schemas.openxmlformats.org/drawingml/2006/main">
              <a:ext uri="{FF2B5EF4-FFF2-40B4-BE49-F238E27FC236}">
                <a16:creationId xmlns:a16="http://schemas.microsoft.com/office/drawing/2014/main" id="{FE46812C-CD33-472E-B69A-9E59D0FA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27527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7">
            <a:extLst xmlns:a="http://schemas.openxmlformats.org/drawingml/2006/main">
              <a:ext uri="{FF2B5EF4-FFF2-40B4-BE49-F238E27FC236}">
                <a16:creationId xmlns:a16="http://schemas.microsoft.com/office/drawing/2014/main" id="{D7F71523-AAEB-409D-8DE9-BCA13D03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914525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26｜不同世代：兒童、青年、家長、長者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27｜不同生活：勞工、店家、農漁民、科技工作者、身障者、新住民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28｜族群文化與語言活動，先取得拍攝及使用同意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29｜公聽會、座談、服務處、會勘與議場的眼神交會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30｜議員跨席討論、握手、共同看向資料／現場，不刻意安排政黨符號</a:t>
            </a:r>
          </a:p>
        </p:txBody>
      </p:sp>
      <p:sp>
        <p:nvSpPr>
          <p:cNvPr id="16" name="audio-17">
            <a:extLst xmlns:a="http://schemas.openxmlformats.org/drawingml/2006/main">
              <a:ext uri="{FF2B5EF4-FFF2-40B4-BE49-F238E27FC236}">
                <a16:creationId xmlns:a16="http://schemas.microsoft.com/office/drawing/2014/main" id="{CBDA9B1D-B01A-47D0-B9F6-C0CA41C5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24000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穿插 4 位市民極短原音：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「希望更安全」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「希望孩子留下來」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「希望長輩被照顧」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「希望文化繼續傳下去」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原音最後匯入同一段配樂</a:t>
            </a:r>
          </a:p>
        </p:txBody>
      </p:sp>
      <p:sp>
        <p:nvSpPr>
          <p:cNvPr id="17" name="narration-17">
            <a:extLst xmlns:a="http://schemas.openxmlformats.org/drawingml/2006/main">
              <a:ext uri="{FF2B5EF4-FFF2-40B4-BE49-F238E27FC236}">
                <a16:creationId xmlns:a16="http://schemas.microsoft.com/office/drawing/2014/main" id="{D390F7E5-3E2F-49A2-B7F4-6009CB98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486025" cy="74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共好，不是所有人都說一樣的話。
沿海與山區、老社區與新市鎮，年輕家庭與高齡照顧，產業發展與環境永續——城市的選擇，往往沒有只有一種答案。
議會存在的價值，是讓差異有位置，讓意見能交會，讓資源分配接受檢驗。
當我們願意多看見一個人的處境，就多一種理解；多一次理解，就多一點形成共識的可能。
共好，不是誰退到看不見的地方，而是每一個人都能在城市前進時，被一起帶上。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看見差異｜理解彼此｜走向共好</a:t>
            </a:r>
          </a:p>
        </p:txBody>
      </p:sp>
      <p:sp>
        <p:nvSpPr>
          <p:cNvPr id="18" name="footer-line-17">
            <a:extLst xmlns:a="http://schemas.openxmlformats.org/drawingml/2006/main">
              <a:ext uri="{FF2B5EF4-FFF2-40B4-BE49-F238E27FC236}">
                <a16:creationId xmlns:a16="http://schemas.microsoft.com/office/drawing/2014/main" id="{77B9916E-D17A-4924-9FEC-3ED31BCB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7">
            <a:extLst xmlns:a="http://schemas.openxmlformats.org/drawingml/2006/main">
              <a:ext uri="{FF2B5EF4-FFF2-40B4-BE49-F238E27FC236}">
                <a16:creationId xmlns:a16="http://schemas.microsoft.com/office/drawing/2014/main" id="{C06BDDDC-4621-451E-8410-1C203C1D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看見.共好｜第五章｜走向共好｜09:10–10:15</a:t>
            </a:r>
          </a:p>
        </p:txBody>
      </p:sp>
      <p:sp>
        <p:nvSpPr>
          <p:cNvPr id="20" name="footer-page-17">
            <a:extLst xmlns:a="http://schemas.openxmlformats.org/drawingml/2006/main">
              <a:ext uri="{FF2B5EF4-FFF2-40B4-BE49-F238E27FC236}">
                <a16:creationId xmlns:a16="http://schemas.microsoft.com/office/drawing/2014/main" id="{57334633-43F5-4BAD-81B8-C2BD3F0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23899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8">
            <a:extLst xmlns:a="http://schemas.openxmlformats.org/drawingml/2006/main">
              <a:ext uri="{FF2B5EF4-FFF2-40B4-BE49-F238E27FC236}">
                <a16:creationId xmlns:a16="http://schemas.microsoft.com/office/drawing/2014/main" id="{1A45D042-25A6-4773-9C33-7FABD36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分鏡腳本｜第五章｜走向共好</a:t>
            </a:r>
          </a:p>
        </p:txBody>
      </p:sp>
      <p:sp>
        <p:nvSpPr>
          <p:cNvPr id="2" name="scene-title-18">
            <a:extLst xmlns:a="http://schemas.openxmlformats.org/drawingml/2006/main">
              <a:ext uri="{FF2B5EF4-FFF2-40B4-BE49-F238E27FC236}">
                <a16:creationId xmlns:a16="http://schemas.microsoft.com/office/drawing/2014/main" id="{C0C6CFEC-A538-4059-94BE-9322975A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664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屆的承諾，是讓每一份託付持續被看見</a:t>
            </a:r>
          </a:p>
        </p:txBody>
      </p:sp>
      <p:sp>
        <p:nvSpPr>
          <p:cNvPr id="3" name="scene-band-18">
            <a:extLst xmlns:a="http://schemas.openxmlformats.org/drawingml/2006/main">
              <a:ext uri="{FF2B5EF4-FFF2-40B4-BE49-F238E27FC236}">
                <a16:creationId xmlns:a16="http://schemas.microsoft.com/office/drawing/2014/main" id="{9603BE48-F247-49A4-A203-96C587DA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4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8">
            <a:extLst xmlns:a="http://schemas.openxmlformats.org/drawingml/2006/main">
              <a:ext uri="{FF2B5EF4-FFF2-40B4-BE49-F238E27FC236}">
                <a16:creationId xmlns:a16="http://schemas.microsoft.com/office/drawing/2014/main" id="{E0F57F14-5EB3-4749-BDEF-CC40A61C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議長期許｜建議口白可直接送審錄製</a:t>
            </a:r>
          </a:p>
        </p:txBody>
      </p:sp>
      <p:sp>
        <p:nvSpPr>
          <p:cNvPr id="5" name="scene-duration-18">
            <a:extLst xmlns:a="http://schemas.openxmlformats.org/drawingml/2006/main">
              <a:ext uri="{FF2B5EF4-FFF2-40B4-BE49-F238E27FC236}">
                <a16:creationId xmlns:a16="http://schemas.microsoft.com/office/drawing/2014/main" id="{86E0891E-AC27-442F-9B2A-D7071557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10:15–11:25｜70 秒｜累計 11:25</a:t>
            </a:r>
          </a:p>
        </p:txBody>
      </p:sp>
      <p:sp>
        <p:nvSpPr>
          <p:cNvPr id="6" name="col-head-18-0">
            <a:extLst xmlns:a="http://schemas.openxmlformats.org/drawingml/2006/main">
              <a:ext uri="{FF2B5EF4-FFF2-40B4-BE49-F238E27FC236}">
                <a16:creationId xmlns:a16="http://schemas.microsoft.com/office/drawing/2014/main" id="{990A3B5E-99D6-41FB-8605-783D899F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8-0">
            <a:extLst xmlns:a="http://schemas.openxmlformats.org/drawingml/2006/main">
              <a:ext uri="{FF2B5EF4-FFF2-40B4-BE49-F238E27FC236}">
                <a16:creationId xmlns:a16="http://schemas.microsoft.com/office/drawing/2014/main" id="{49530B3A-056D-4837-AC46-EFC764F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8-0">
            <a:extLst xmlns:a="http://schemas.openxmlformats.org/drawingml/2006/main">
              <a:ext uri="{FF2B5EF4-FFF2-40B4-BE49-F238E27FC236}">
                <a16:creationId xmlns:a16="http://schemas.microsoft.com/office/drawing/2014/main" id="{6024EEF8-94C0-410F-A352-416E3A21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1431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8-1">
            <a:extLst xmlns:a="http://schemas.openxmlformats.org/drawingml/2006/main">
              <a:ext uri="{FF2B5EF4-FFF2-40B4-BE49-F238E27FC236}">
                <a16:creationId xmlns:a16="http://schemas.microsoft.com/office/drawing/2014/main" id="{77BFCBB0-0FDC-4C5E-88F9-6A77A05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8-1">
            <a:extLst xmlns:a="http://schemas.openxmlformats.org/drawingml/2006/main">
              <a:ext uri="{FF2B5EF4-FFF2-40B4-BE49-F238E27FC236}">
                <a16:creationId xmlns:a16="http://schemas.microsoft.com/office/drawing/2014/main" id="{E0F9A63A-5716-4680-9C31-6E9CE242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8-1">
            <a:extLst xmlns:a="http://schemas.openxmlformats.org/drawingml/2006/main">
              <a:ext uri="{FF2B5EF4-FFF2-40B4-BE49-F238E27FC236}">
                <a16:creationId xmlns:a16="http://schemas.microsoft.com/office/drawing/2014/main" id="{E163E4EA-5F91-4B6E-AAF1-7D903EB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43150"/>
            <a:ext cx="1752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8-2">
            <a:extLst xmlns:a="http://schemas.openxmlformats.org/drawingml/2006/main">
              <a:ext uri="{FF2B5EF4-FFF2-40B4-BE49-F238E27FC236}">
                <a16:creationId xmlns:a16="http://schemas.microsoft.com/office/drawing/2014/main" id="{EBF8D3CB-5A89-400F-98D7-A72E8727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2752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8-2">
            <a:extLst xmlns:a="http://schemas.openxmlformats.org/drawingml/2006/main">
              <a:ext uri="{FF2B5EF4-FFF2-40B4-BE49-F238E27FC236}">
                <a16:creationId xmlns:a16="http://schemas.microsoft.com/office/drawing/2014/main" id="{F6254B14-6EEE-4F9A-A133-0268FF7B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0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8-2">
            <a:extLst xmlns:a="http://schemas.openxmlformats.org/drawingml/2006/main">
              <a:ext uri="{FF2B5EF4-FFF2-40B4-BE49-F238E27FC236}">
                <a16:creationId xmlns:a16="http://schemas.microsoft.com/office/drawing/2014/main" id="{1FCF9AD8-A9FD-4343-ADE2-B1045C81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27527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8">
            <a:extLst xmlns:a="http://schemas.openxmlformats.org/drawingml/2006/main">
              <a:ext uri="{FF2B5EF4-FFF2-40B4-BE49-F238E27FC236}">
                <a16:creationId xmlns:a16="http://schemas.microsoft.com/office/drawing/2014/main" id="{06ABE9E8-EF67-4923-B1B8-161A2038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914525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31｜議長於議事廳或自然採光空間受訪；鏡位平視、背景保留議會辨識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32｜致詞間穿插：就職合照、議員傾聽、市民互動、現勘與質詢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33｜第 5 屆全體成員在議場／階梯完成正式群像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34｜鏡頭由群像拉遠，轉入城市夜景與清晨呼應</a:t>
            </a:r>
          </a:p>
        </p:txBody>
      </p:sp>
      <p:sp>
        <p:nvSpPr>
          <p:cNvPr id="16" name="audio-18">
            <a:extLst xmlns:a="http://schemas.openxmlformats.org/drawingml/2006/main">
              <a:ext uri="{FF2B5EF4-FFF2-40B4-BE49-F238E27FC236}">
                <a16:creationId xmlns:a16="http://schemas.microsoft.com/office/drawing/2014/main" id="{CE001C49-C2D4-4B0B-A46E-B52B8E26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24000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議長原音建議 28–32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不使用提詞感過重的正面背稿；採兩段訪談剪接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背景音樂降至 25%，保留自然呼吸與停頓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末句後停 1 秒再進旁白</a:t>
            </a:r>
          </a:p>
        </p:txBody>
      </p:sp>
      <p:sp>
        <p:nvSpPr>
          <p:cNvPr id="17" name="narration-18">
            <a:extLst xmlns:a="http://schemas.openxmlformats.org/drawingml/2006/main">
              <a:ext uri="{FF2B5EF4-FFF2-40B4-BE49-F238E27FC236}">
                <a16:creationId xmlns:a16="http://schemas.microsoft.com/office/drawing/2014/main" id="{588EFCC8-D945-49B6-96D1-7A800D7A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486025" cy="74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【議長建議原音】
</a:t>
            </a:r>
            <a:r>
              <a: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第五屆新北市議會，承接的是六十八席民意，更是市民對這座城市的期待。
我們會尊重不同聲音，善盡審議與監督責任，讓公共資源回應真正的需要；也會持續走進地方、傾聽市民，讓每一項承諾都有進度、每一個問題都有回應。
新北的未來，需要市民、議會與市府一起努力。看見彼此，我們就能一起把城市變得更好。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每一屆議會，都站在前人走過的路上，也面向尚未完成的未來。第 5 屆的承諾，是讓每一份託付持續被看見，讓每一次討論，都更接近公共利益。</a:t>
            </a:r>
          </a:p>
        </p:txBody>
      </p:sp>
      <p:sp>
        <p:nvSpPr>
          <p:cNvPr id="18" name="footer-line-18">
            <a:extLst xmlns:a="http://schemas.openxmlformats.org/drawingml/2006/main">
              <a:ext uri="{FF2B5EF4-FFF2-40B4-BE49-F238E27FC236}">
                <a16:creationId xmlns:a16="http://schemas.microsoft.com/office/drawing/2014/main" id="{2EB84A32-E927-4A9A-8272-DAC91CA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8">
            <a:extLst xmlns:a="http://schemas.openxmlformats.org/drawingml/2006/main">
              <a:ext uri="{FF2B5EF4-FFF2-40B4-BE49-F238E27FC236}">
                <a16:creationId xmlns:a16="http://schemas.microsoft.com/office/drawing/2014/main" id="{9B904E02-534D-4033-ACF9-5D67219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看見.共好｜第五章｜走向共好｜10:15–11:25</a:t>
            </a:r>
          </a:p>
        </p:txBody>
      </p:sp>
      <p:sp>
        <p:nvSpPr>
          <p:cNvPr id="20" name="footer-page-18">
            <a:extLst xmlns:a="http://schemas.openxmlformats.org/drawingml/2006/main">
              <a:ext uri="{FF2B5EF4-FFF2-40B4-BE49-F238E27FC236}">
                <a16:creationId xmlns:a16="http://schemas.microsoft.com/office/drawing/2014/main" id="{519B1DFD-536B-4828-935B-542A92CB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707217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9">
            <a:extLst xmlns:a="http://schemas.openxmlformats.org/drawingml/2006/main">
              <a:ext uri="{FF2B5EF4-FFF2-40B4-BE49-F238E27FC236}">
                <a16:creationId xmlns:a16="http://schemas.microsoft.com/office/drawing/2014/main" id="{6152CAC5-663C-4251-B237-24A16D9D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分鏡腳本｜片尾｜回到片名</a:t>
            </a:r>
          </a:p>
        </p:txBody>
      </p:sp>
      <p:sp>
        <p:nvSpPr>
          <p:cNvPr id="2" name="scene-title-19">
            <a:extLst xmlns:a="http://schemas.openxmlformats.org/drawingml/2006/main">
              <a:ext uri="{FF2B5EF4-FFF2-40B4-BE49-F238E27FC236}">
                <a16:creationId xmlns:a16="http://schemas.microsoft.com/office/drawing/2014/main" id="{2081CBF3-9BCC-412B-98FA-D22A042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664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看見未來，共好新北</a:t>
            </a:r>
          </a:p>
        </p:txBody>
      </p:sp>
      <p:sp>
        <p:nvSpPr>
          <p:cNvPr id="3" name="scene-band-19">
            <a:extLst xmlns:a="http://schemas.openxmlformats.org/drawingml/2006/main">
              <a:ext uri="{FF2B5EF4-FFF2-40B4-BE49-F238E27FC236}">
                <a16:creationId xmlns:a16="http://schemas.microsoft.com/office/drawing/2014/main" id="{897DD5F0-0D8E-4F2D-88C9-6374E0B7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6648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9">
            <a:extLst xmlns:a="http://schemas.openxmlformats.org/drawingml/2006/main">
              <a:ext uri="{FF2B5EF4-FFF2-40B4-BE49-F238E27FC236}">
                <a16:creationId xmlns:a16="http://schemas.microsoft.com/office/drawing/2014/main" id="{36CEAD27-2B63-4DB4-8108-DE338BDB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結尾｜回收清晨，讓片名成為記憶</a:t>
            </a:r>
          </a:p>
        </p:txBody>
      </p:sp>
      <p:sp>
        <p:nvSpPr>
          <p:cNvPr id="5" name="scene-duration-19">
            <a:extLst xmlns:a="http://schemas.openxmlformats.org/drawingml/2006/main">
              <a:ext uri="{FF2B5EF4-FFF2-40B4-BE49-F238E27FC236}">
                <a16:creationId xmlns:a16="http://schemas.microsoft.com/office/drawing/2014/main" id="{ACB4DD8A-FB7E-4996-ACDB-9D712D07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478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11:25–11:50｜25 秒｜累計 11:50</a:t>
            </a:r>
          </a:p>
        </p:txBody>
      </p:sp>
      <p:sp>
        <p:nvSpPr>
          <p:cNvPr id="6" name="col-head-19-0">
            <a:extLst xmlns:a="http://schemas.openxmlformats.org/drawingml/2006/main">
              <a:ext uri="{FF2B5EF4-FFF2-40B4-BE49-F238E27FC236}">
                <a16:creationId xmlns:a16="http://schemas.microsoft.com/office/drawing/2014/main" id="{2BC61680-9777-45E2-995C-3E9E3595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9-0">
            <a:extLst xmlns:a="http://schemas.openxmlformats.org/drawingml/2006/main">
              <a:ext uri="{FF2B5EF4-FFF2-40B4-BE49-F238E27FC236}">
                <a16:creationId xmlns:a16="http://schemas.microsoft.com/office/drawing/2014/main" id="{4C6A4348-73F8-4BC7-BC11-08867F35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066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9-0">
            <a:extLst xmlns:a="http://schemas.openxmlformats.org/drawingml/2006/main">
              <a:ext uri="{FF2B5EF4-FFF2-40B4-BE49-F238E27FC236}">
                <a16:creationId xmlns:a16="http://schemas.microsoft.com/office/drawing/2014/main" id="{7B54169C-24B9-43F9-9A56-7319BCCA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1431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9-1">
            <a:extLst xmlns:a="http://schemas.openxmlformats.org/drawingml/2006/main">
              <a:ext uri="{FF2B5EF4-FFF2-40B4-BE49-F238E27FC236}">
                <a16:creationId xmlns:a16="http://schemas.microsoft.com/office/drawing/2014/main" id="{ADA02019-3F8F-496D-92B1-DB4A2581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812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9-1">
            <a:extLst xmlns:a="http://schemas.openxmlformats.org/drawingml/2006/main">
              <a:ext uri="{FF2B5EF4-FFF2-40B4-BE49-F238E27FC236}">
                <a16:creationId xmlns:a16="http://schemas.microsoft.com/office/drawing/2014/main" id="{14B18A34-176B-4614-A9F7-5DD79852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002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9-1">
            <a:extLst xmlns:a="http://schemas.openxmlformats.org/drawingml/2006/main">
              <a:ext uri="{FF2B5EF4-FFF2-40B4-BE49-F238E27FC236}">
                <a16:creationId xmlns:a16="http://schemas.microsoft.com/office/drawing/2014/main" id="{31351A83-9B4C-44E8-9D7D-B4FC1DC4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43150"/>
            <a:ext cx="17526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9-2">
            <a:extLst xmlns:a="http://schemas.openxmlformats.org/drawingml/2006/main">
              <a:ext uri="{FF2B5EF4-FFF2-40B4-BE49-F238E27FC236}">
                <a16:creationId xmlns:a16="http://schemas.microsoft.com/office/drawing/2014/main" id="{F96992CC-C2EB-4967-A108-784C6971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27527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9-2">
            <a:extLst xmlns:a="http://schemas.openxmlformats.org/drawingml/2006/main">
              <a:ext uri="{FF2B5EF4-FFF2-40B4-BE49-F238E27FC236}">
                <a16:creationId xmlns:a16="http://schemas.microsoft.com/office/drawing/2014/main" id="{E4D72F67-B323-4E4E-95C2-80557629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0250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9-2">
            <a:extLst xmlns:a="http://schemas.openxmlformats.org/drawingml/2006/main">
              <a:ext uri="{FF2B5EF4-FFF2-40B4-BE49-F238E27FC236}">
                <a16:creationId xmlns:a16="http://schemas.microsoft.com/office/drawing/2014/main" id="{E1B554B6-F2D2-421C-BA49-0DF618E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43150"/>
            <a:ext cx="275272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9">
            <a:extLst xmlns:a="http://schemas.openxmlformats.org/drawingml/2006/main">
              <a:ext uri="{FF2B5EF4-FFF2-40B4-BE49-F238E27FC236}">
                <a16:creationId xmlns:a16="http://schemas.microsoft.com/office/drawing/2014/main" id="{649B480E-8A3E-4C74-8E75-7BCFBF69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914525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35｜清晨同一組人物，此刻進入一天：孩子走進校門、店家迎客、列車抵站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36｜議場燈光亮起，全體席位空鏡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37｜句點化為節點，多個節點匯成新北輪廓／議會識別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END CARD｜新北市議會 LOGO＋正式片名</a:t>
            </a:r>
          </a:p>
        </p:txBody>
      </p:sp>
      <p:sp>
        <p:nvSpPr>
          <p:cNvPr id="16" name="audio-19">
            <a:extLst xmlns:a="http://schemas.openxmlformats.org/drawingml/2006/main">
              <a:ext uri="{FF2B5EF4-FFF2-40B4-BE49-F238E27FC236}">
                <a16:creationId xmlns:a16="http://schemas.microsoft.com/office/drawing/2014/main" id="{B17AE9B9-0ACB-4CF2-9056-47B0EBE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524000" cy="744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音樂回到片頭鋼琴主題，再加入完整弦樂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最後一句旁白後留 2 秒畫面呼吸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LOGO 動畫結束保留 3 秒，便於簡報室播放銜接</a:t>
            </a:r>
          </a:p>
        </p:txBody>
      </p:sp>
      <p:sp>
        <p:nvSpPr>
          <p:cNvPr id="17" name="narration-19">
            <a:extLst xmlns:a="http://schemas.openxmlformats.org/drawingml/2006/main">
              <a:ext uri="{FF2B5EF4-FFF2-40B4-BE49-F238E27FC236}">
                <a16:creationId xmlns:a16="http://schemas.microsoft.com/office/drawing/2014/main" id="{55A9ACBB-62AC-4D95-B767-11B2E28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486025" cy="748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看見，是願意靠近每一種生活；共好，是把不同的聲音，帶向共同的未來。
當民意被聽見、行動被檢驗、承諾被追蹤，城市就能一步一步，走得更穩、更遠。
看見每一個聲音，共好每一個日常。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【片名字卡】
</a:t>
            </a:r>
            <a:r>
              <a: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 － 第5屆新北市議會</a:t>
            </a:r>
          </a:p>
        </p:txBody>
      </p:sp>
      <p:sp>
        <p:nvSpPr>
          <p:cNvPr id="18" name="footer-line-19">
            <a:extLst xmlns:a="http://schemas.openxmlformats.org/drawingml/2006/main">
              <a:ext uri="{FF2B5EF4-FFF2-40B4-BE49-F238E27FC236}">
                <a16:creationId xmlns:a16="http://schemas.microsoft.com/office/drawing/2014/main" id="{9508DB98-F8F4-4E2B-9574-068A28C1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9">
            <a:extLst xmlns:a="http://schemas.openxmlformats.org/drawingml/2006/main">
              <a:ext uri="{FF2B5EF4-FFF2-40B4-BE49-F238E27FC236}">
                <a16:creationId xmlns:a16="http://schemas.microsoft.com/office/drawing/2014/main" id="{6A31A6FD-C315-4182-A34B-4AE3A87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看見.共好｜片尾｜回到片名｜11:25–11:50</a:t>
            </a:r>
          </a:p>
        </p:txBody>
      </p:sp>
      <p:sp>
        <p:nvSpPr>
          <p:cNvPr id="20" name="footer-page-19">
            <a:extLst xmlns:a="http://schemas.openxmlformats.org/drawingml/2006/main">
              <a:ext uri="{FF2B5EF4-FFF2-40B4-BE49-F238E27FC236}">
                <a16:creationId xmlns:a16="http://schemas.microsoft.com/office/drawing/2014/main" id="{AA4DF830-BD6A-40E8-BA05-88B6B9FB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192608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20">
            <a:extLst xmlns:a="http://schemas.openxmlformats.org/drawingml/2006/main">
              <a:ext uri="{FF2B5EF4-FFF2-40B4-BE49-F238E27FC236}">
                <a16:creationId xmlns:a16="http://schemas.microsoft.com/office/drawing/2014/main" id="{A8DD8EBE-A986-4AD9-B300-7CE4E03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715B7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15B7A"/>
                </a:solidFill>
                <a:latin typeface="PingFang TC"/>
                <a:ea typeface="PingFang TC"/>
                <a:cs typeface="PingFang TC"/>
              </a:rPr>
              <a:t>拍攝清單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8C7455E7-279B-4C26-B2C8-EB07B230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664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就職典禮素材，是全片最不能補拍的一天</a:t>
            </a:r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8E17E08A-42A8-44BF-9DF2-FA5D9A10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15B7A"/>
            </a:solidFill>
            <a:prstDash val="solid"/>
          </a:ln>
        </p:spPr>
      </p:sp>
      <p:sp>
        <p:nvSpPr>
          <p:cNvPr id="4" name="subtitle-20">
            <a:extLst xmlns:a="http://schemas.openxmlformats.org/drawingml/2006/main">
              <a:ext uri="{FF2B5EF4-FFF2-40B4-BE49-F238E27FC236}">
                <a16:creationId xmlns:a16="http://schemas.microsoft.com/office/drawing/2014/main" id="{FB162D87-0FD7-44B1-BA3A-14496AD3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664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以「完整紀錄＋可剪成故事」雙軌思考，確保儀式、人物、關係與情緒都有素材。</a:t>
            </a:r>
          </a:p>
        </p:txBody>
      </p:sp>
      <p:sp>
        <p:nvSpPr>
          <p:cNvPr id="5" name="footer-line-20">
            <a:extLst xmlns:a="http://schemas.openxmlformats.org/drawingml/2006/main">
              <a:ext uri="{FF2B5EF4-FFF2-40B4-BE49-F238E27FC236}">
                <a16:creationId xmlns:a16="http://schemas.microsoft.com/office/drawing/2014/main" id="{75D5B33C-669B-44DF-B5B4-C497DE28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6" name="footer-label-20">
            <a:extLst xmlns:a="http://schemas.openxmlformats.org/drawingml/2006/main">
              <a:ext uri="{FF2B5EF4-FFF2-40B4-BE49-F238E27FC236}">
                <a16:creationId xmlns:a16="http://schemas.microsoft.com/office/drawing/2014/main" id="{B4D127F7-F11A-41E2-B9FE-1580D0D5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看見.共好｜第5屆新北市議會影片腳本</a:t>
            </a:r>
          </a:p>
        </p:txBody>
      </p:sp>
      <p:sp>
        <p:nvSpPr>
          <p:cNvPr id="7" name="footer-page-20">
            <a:extLst xmlns:a="http://schemas.openxmlformats.org/drawingml/2006/main">
              <a:ext uri="{FF2B5EF4-FFF2-40B4-BE49-F238E27FC236}">
                <a16:creationId xmlns:a16="http://schemas.microsoft.com/office/drawing/2014/main" id="{0E08CF6B-08B7-4220-9336-4CC54F2C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20</a:t>
            </a:r>
          </a:p>
        </p:txBody>
      </p:sp>
      <p:sp>
        <p:nvSpPr>
          <p:cNvPr id="8" name="capture-bg-0">
            <a:extLst xmlns:a="http://schemas.openxmlformats.org/drawingml/2006/main">
              <a:ext uri="{FF2B5EF4-FFF2-40B4-BE49-F238E27FC236}">
                <a16:creationId xmlns:a16="http://schemas.microsoft.com/office/drawing/2014/main" id="{44ED971A-6C13-402C-BF83-DD4ED923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2047875" cy="53340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E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pture-title-0">
            <a:extLst xmlns:a="http://schemas.openxmlformats.org/drawingml/2006/main">
              <a:ext uri="{FF2B5EF4-FFF2-40B4-BE49-F238E27FC236}">
                <a16:creationId xmlns:a16="http://schemas.microsoft.com/office/drawing/2014/main" id="{FA764691-F360-4AE0-AA22-B8834F9B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704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715B7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715B7A"/>
                </a:solidFill>
                <a:latin typeface="PingFang TC"/>
                <a:ea typeface="PingFang TC"/>
                <a:cs typeface="PingFang TC"/>
              </a:rPr>
              <a:t>必錄儀式</a:t>
            </a:r>
          </a:p>
        </p:txBody>
      </p:sp>
      <p:sp>
        <p:nvSpPr>
          <p:cNvPr id="10" name="capture-line-0">
            <a:extLst xmlns:a="http://schemas.openxmlformats.org/drawingml/2006/main">
              <a:ext uri="{FF2B5EF4-FFF2-40B4-BE49-F238E27FC236}">
                <a16:creationId xmlns:a16="http://schemas.microsoft.com/office/drawing/2014/main" id="{051D280A-65B4-4F9E-823E-2B812665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945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5B7A"/>
            </a:solidFill>
            <a:prstDash val="solid"/>
          </a:ln>
        </p:spPr>
      </p:sp>
      <p:sp>
        <p:nvSpPr>
          <p:cNvPr id="11" name="capture-body-0">
            <a:extLst xmlns:a="http://schemas.openxmlformats.org/drawingml/2006/main">
              <a:ext uri="{FF2B5EF4-FFF2-40B4-BE49-F238E27FC236}">
                <a16:creationId xmlns:a16="http://schemas.microsoft.com/office/drawing/2014/main" id="{0D5B9954-18D7-4DE0-8C8F-EC297DC6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6287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報到與進場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全體宣誓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議員逐一簽名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議長、副議長選舉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當選宣告與致詞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正式大合照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完整現場收音</a:t>
            </a:r>
          </a:p>
        </p:txBody>
      </p:sp>
      <p:sp>
        <p:nvSpPr>
          <p:cNvPr id="12" name="capture-bg-1">
            <a:extLst xmlns:a="http://schemas.openxmlformats.org/drawingml/2006/main">
              <a:ext uri="{FF2B5EF4-FFF2-40B4-BE49-F238E27FC236}">
                <a16:creationId xmlns:a16="http://schemas.microsoft.com/office/drawing/2014/main" id="{C0538D3C-D09D-47D0-8C35-0335E8E6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333625"/>
            <a:ext cx="2047875" cy="53340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pture-title-1">
            <a:extLst xmlns:a="http://schemas.openxmlformats.org/drawingml/2006/main">
              <a:ext uri="{FF2B5EF4-FFF2-40B4-BE49-F238E27FC236}">
                <a16:creationId xmlns:a16="http://schemas.microsoft.com/office/drawing/2014/main" id="{A3889A76-7FA5-4E8C-94DC-24FB6430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90800"/>
            <a:ext cx="1704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人物細節</a:t>
            </a:r>
          </a:p>
        </p:txBody>
      </p:sp>
      <p:sp>
        <p:nvSpPr>
          <p:cNvPr id="14" name="capture-line-1">
            <a:extLst xmlns:a="http://schemas.openxmlformats.org/drawingml/2006/main">
              <a:ext uri="{FF2B5EF4-FFF2-40B4-BE49-F238E27FC236}">
                <a16:creationId xmlns:a16="http://schemas.microsoft.com/office/drawing/2014/main" id="{DC567F38-1C5E-43D4-8E27-22143038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1945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7A78"/>
            </a:solidFill>
            <a:prstDash val="solid"/>
          </a:ln>
        </p:spPr>
      </p:sp>
      <p:sp>
        <p:nvSpPr>
          <p:cNvPr id="15" name="capture-body-1">
            <a:extLst xmlns:a="http://schemas.openxmlformats.org/drawingml/2006/main">
              <a:ext uri="{FF2B5EF4-FFF2-40B4-BE49-F238E27FC236}">
                <a16:creationId xmlns:a16="http://schemas.microsoft.com/office/drawing/2014/main" id="{4ACD8EDC-13D3-43F0-ABAF-5047B314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162877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胸花、名牌、選票與手部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家屬與團隊互動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議員互相致意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宣誓時的眼神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握手、擁抱與祝賀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座位第一次坐定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議場外自然訪談</a:t>
            </a:r>
          </a:p>
        </p:txBody>
      </p:sp>
      <p:sp>
        <p:nvSpPr>
          <p:cNvPr id="16" name="capture-bg-2">
            <a:extLst xmlns:a="http://schemas.openxmlformats.org/drawingml/2006/main">
              <a:ext uri="{FF2B5EF4-FFF2-40B4-BE49-F238E27FC236}">
                <a16:creationId xmlns:a16="http://schemas.microsoft.com/office/drawing/2014/main" id="{5ED927E4-BD74-49B9-A2B2-77282286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33625"/>
            <a:ext cx="2171700" cy="53340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pture-title-2">
            <a:extLst xmlns:a="http://schemas.openxmlformats.org/drawingml/2006/main">
              <a:ext uri="{FF2B5EF4-FFF2-40B4-BE49-F238E27FC236}">
                <a16:creationId xmlns:a16="http://schemas.microsoft.com/office/drawing/2014/main" id="{5B626D5F-748C-43C8-BED7-A6AABDC8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9080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技術保障</a:t>
            </a:r>
          </a:p>
        </p:txBody>
      </p:sp>
      <p:sp>
        <p:nvSpPr>
          <p:cNvPr id="18" name="capture-line-2">
            <a:extLst xmlns:a="http://schemas.openxmlformats.org/drawingml/2006/main">
              <a:ext uri="{FF2B5EF4-FFF2-40B4-BE49-F238E27FC236}">
                <a16:creationId xmlns:a16="http://schemas.microsoft.com/office/drawing/2014/main" id="{E6D2799B-6734-4EBE-91AD-CA78D71B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2194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5B4B"/>
            </a:solidFill>
            <a:prstDash val="solid"/>
          </a:ln>
        </p:spPr>
      </p:sp>
      <p:sp>
        <p:nvSpPr>
          <p:cNvPr id="19" name="capture-body-2">
            <a:extLst xmlns:a="http://schemas.openxmlformats.org/drawingml/2006/main">
              <a:ext uri="{FF2B5EF4-FFF2-40B4-BE49-F238E27FC236}">
                <a16:creationId xmlns:a16="http://schemas.microsoft.com/office/drawing/2014/main" id="{B808E12F-3DA5-4325-8B1B-D9838970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17526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主機位完整不中斷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側機位捕捉表情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游動機位補近景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獨立錄音與備援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大合照高畫素 RAW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當日雙備份與校驗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名單與座次同步</a:t>
            </a:r>
          </a:p>
        </p:txBody>
      </p:sp>
      <p:sp>
        <p:nvSpPr>
          <p:cNvPr id="20" name="capture-note-bg">
            <a:extLst xmlns:a="http://schemas.openxmlformats.org/drawingml/2006/main">
              <a:ext uri="{FF2B5EF4-FFF2-40B4-BE49-F238E27FC236}">
                <a16:creationId xmlns:a16="http://schemas.microsoft.com/office/drawing/2014/main" id="{F842CD3C-0BE6-40C5-87F0-72B4E150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096250"/>
            <a:ext cx="66484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21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620CC22-9184-4ADD-A47A-3ECD81B3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62950"/>
            <a:ext cx="622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當日採訪建議｜每位議員以同一題收音：「您最希望第 5 屆議會，讓市民看見什麼？」回答控制在 8–12 秒，可作為多語版片頭／社群短版延伸素材。</a:t>
            </a:r>
          </a:p>
        </p:txBody>
      </p:sp>
    </p:spTree>
    <p:extLst>
      <p:ext uri="{BB962C8B-B14F-4D97-AF65-F5344CB8AC3E}">
        <p14:creationId xmlns:p14="http://schemas.microsoft.com/office/powerpoint/2010/main" val="2772376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21">
            <a:extLst xmlns:a="http://schemas.openxmlformats.org/drawingml/2006/main">
              <a:ext uri="{FF2B5EF4-FFF2-40B4-BE49-F238E27FC236}">
                <a16:creationId xmlns:a16="http://schemas.microsoft.com/office/drawing/2014/main" id="{56683A75-EE16-405C-BA77-AA5CD9D1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5D7E55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5D7E55"/>
                </a:solidFill>
                <a:latin typeface="PingFang TC"/>
                <a:ea typeface="PingFang TC"/>
                <a:cs typeface="PingFang TC"/>
              </a:rPr>
              <a:t>多語版本與終校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3DD18D12-3F3A-4F4A-8768-2E937164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664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五種語言共用同一個故事，但不硬套同一個句長</a:t>
            </a:r>
          </a:p>
        </p:txBody>
      </p:sp>
      <p:sp>
        <p:nvSpPr>
          <p:cNvPr id="3" name="title-rule-21">
            <a:extLst xmlns:a="http://schemas.openxmlformats.org/drawingml/2006/main">
              <a:ext uri="{FF2B5EF4-FFF2-40B4-BE49-F238E27FC236}">
                <a16:creationId xmlns:a16="http://schemas.microsoft.com/office/drawing/2014/main" id="{6303B28B-EA15-4C4E-BBBC-1EAE7E33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7E55"/>
            </a:solidFill>
            <a:prstDash val="solid"/>
          </a:ln>
        </p:spPr>
      </p:sp>
      <p:sp>
        <p:nvSpPr>
          <p:cNvPr id="4" name="subtitle-21">
            <a:extLst xmlns:a="http://schemas.openxmlformats.org/drawingml/2006/main">
              <a:ext uri="{FF2B5EF4-FFF2-40B4-BE49-F238E27FC236}">
                <a16:creationId xmlns:a16="http://schemas.microsoft.com/office/drawing/2014/main" id="{D8C75575-836C-4891-8E88-3B459DD3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664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中文定稿後再做語意轉譯、畫面安全框與配音節奏微調，維持各版本自然可聽。</a:t>
            </a:r>
          </a:p>
        </p:txBody>
      </p:sp>
      <p:sp>
        <p:nvSpPr>
          <p:cNvPr id="5" name="footer-line-21">
            <a:extLst xmlns:a="http://schemas.openxmlformats.org/drawingml/2006/main">
              <a:ext uri="{FF2B5EF4-FFF2-40B4-BE49-F238E27FC236}">
                <a16:creationId xmlns:a16="http://schemas.microsoft.com/office/drawing/2014/main" id="{D99887F2-6459-4DD7-8031-46EE43F6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393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6" name="footer-label-21">
            <a:extLst xmlns:a="http://schemas.openxmlformats.org/drawingml/2006/main">
              <a:ext uri="{FF2B5EF4-FFF2-40B4-BE49-F238E27FC236}">
                <a16:creationId xmlns:a16="http://schemas.microsoft.com/office/drawing/2014/main" id="{34722647-958F-4C6C-8AFE-2731C9B5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看見.共好｜第5屆新北市議會影片腳本</a:t>
            </a:r>
          </a:p>
        </p:txBody>
      </p:sp>
      <p:sp>
        <p:nvSpPr>
          <p:cNvPr id="7" name="footer-page-21">
            <a:extLst xmlns:a="http://schemas.openxmlformats.org/drawingml/2006/main">
              <a:ext uri="{FF2B5EF4-FFF2-40B4-BE49-F238E27FC236}">
                <a16:creationId xmlns:a16="http://schemas.microsoft.com/office/drawing/2014/main" id="{519F7BEF-4679-46BD-AB0D-AF630BF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287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21</a:t>
            </a:r>
          </a:p>
        </p:txBody>
      </p:sp>
      <p:sp>
        <p:nvSpPr>
          <p:cNvPr id="8" name="lang-name-0">
            <a:extLst xmlns:a="http://schemas.openxmlformats.org/drawingml/2006/main">
              <a:ext uri="{FF2B5EF4-FFF2-40B4-BE49-F238E27FC236}">
                <a16:creationId xmlns:a16="http://schemas.microsoft.com/office/drawing/2014/main" id="{359493A8-BDF3-468A-B577-E1C2E456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5D7E5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5D7E55"/>
                </a:solidFill>
                <a:latin typeface="PingFang TC"/>
                <a:ea typeface="PingFang TC"/>
                <a:cs typeface="PingFang TC"/>
              </a:rPr>
              <a:t>中文</a:t>
            </a:r>
          </a:p>
        </p:txBody>
      </p:sp>
      <p:sp>
        <p:nvSpPr>
          <p:cNvPr id="9" name="lang-body-0">
            <a:extLst xmlns:a="http://schemas.openxmlformats.org/drawingml/2006/main">
              <a:ext uri="{FF2B5EF4-FFF2-40B4-BE49-F238E27FC236}">
                <a16:creationId xmlns:a16="http://schemas.microsoft.com/office/drawing/2014/main" id="{B067B1EC-90BC-42C1-858E-01929B0B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主版本；確認機關名稱、選區、席次、職權與議長致詞。</a:t>
            </a:r>
          </a:p>
        </p:txBody>
      </p:sp>
      <p:sp>
        <p:nvSpPr>
          <p:cNvPr id="10" name="lang-rule-0">
            <a:extLst xmlns:a="http://schemas.openxmlformats.org/drawingml/2006/main">
              <a:ext uri="{FF2B5EF4-FFF2-40B4-BE49-F238E27FC236}">
                <a16:creationId xmlns:a16="http://schemas.microsoft.com/office/drawing/2014/main" id="{7A649FDA-9CDC-42E9-961E-43262D6C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86100"/>
            <a:ext cx="558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1" name="lang-name-1">
            <a:extLst xmlns:a="http://schemas.openxmlformats.org/drawingml/2006/main">
              <a:ext uri="{FF2B5EF4-FFF2-40B4-BE49-F238E27FC236}">
                <a16:creationId xmlns:a16="http://schemas.microsoft.com/office/drawing/2014/main" id="{139BD11E-FE7E-482F-92CF-FAE0A7DE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5D7E5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5D7E55"/>
                </a:solidFill>
                <a:latin typeface="PingFang TC"/>
                <a:ea typeface="PingFang TC"/>
                <a:cs typeface="PingFang TC"/>
              </a:rPr>
              <a:t>英文</a:t>
            </a:r>
          </a:p>
        </p:txBody>
      </p:sp>
      <p:sp>
        <p:nvSpPr>
          <p:cNvPr id="12" name="lang-body-1">
            <a:extLst xmlns:a="http://schemas.openxmlformats.org/drawingml/2006/main">
              <a:ext uri="{FF2B5EF4-FFF2-40B4-BE49-F238E27FC236}">
                <a16:creationId xmlns:a16="http://schemas.microsoft.com/office/drawing/2014/main" id="{43809E22-5C84-4170-B2A6-C7C4D243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職稱與制度詞彙先建立官方譯名表；避免逐字直譯。</a:t>
            </a:r>
          </a:p>
        </p:txBody>
      </p:sp>
      <p:sp>
        <p:nvSpPr>
          <p:cNvPr id="13" name="lang-rule-1">
            <a:extLst xmlns:a="http://schemas.openxmlformats.org/drawingml/2006/main">
              <a:ext uri="{FF2B5EF4-FFF2-40B4-BE49-F238E27FC236}">
                <a16:creationId xmlns:a16="http://schemas.microsoft.com/office/drawing/2014/main" id="{CA28FC24-EE00-45AD-A6A3-48CABCAA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558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4" name="lang-name-2">
            <a:extLst xmlns:a="http://schemas.openxmlformats.org/drawingml/2006/main">
              <a:ext uri="{FF2B5EF4-FFF2-40B4-BE49-F238E27FC236}">
                <a16:creationId xmlns:a16="http://schemas.microsoft.com/office/drawing/2014/main" id="{CA6D12D6-7D1B-4ACE-9915-CAC2DD1F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5D7E5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5D7E55"/>
                </a:solidFill>
                <a:latin typeface="PingFang TC"/>
                <a:ea typeface="PingFang TC"/>
                <a:cs typeface="PingFang TC"/>
              </a:rPr>
              <a:t>日文</a:t>
            </a:r>
          </a:p>
        </p:txBody>
      </p:sp>
      <p:sp>
        <p:nvSpPr>
          <p:cNvPr id="15" name="lang-body-2">
            <a:extLst xmlns:a="http://schemas.openxmlformats.org/drawingml/2006/main">
              <a:ext uri="{FF2B5EF4-FFF2-40B4-BE49-F238E27FC236}">
                <a16:creationId xmlns:a16="http://schemas.microsoft.com/office/drawing/2014/main" id="{E9D0DA88-DB6B-4F5A-AA76-C0FC2948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調整長句與敬語層級，旁白節奏較中文略放慢。</a:t>
            </a:r>
          </a:p>
        </p:txBody>
      </p:sp>
      <p:sp>
        <p:nvSpPr>
          <p:cNvPr id="16" name="lang-rule-2">
            <a:extLst xmlns:a="http://schemas.openxmlformats.org/drawingml/2006/main">
              <a:ext uri="{FF2B5EF4-FFF2-40B4-BE49-F238E27FC236}">
                <a16:creationId xmlns:a16="http://schemas.microsoft.com/office/drawing/2014/main" id="{F12B6EBE-4A7F-48DA-9D46-2CA380B8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558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7" name="lang-name-3">
            <a:extLst xmlns:a="http://schemas.openxmlformats.org/drawingml/2006/main">
              <a:ext uri="{FF2B5EF4-FFF2-40B4-BE49-F238E27FC236}">
                <a16:creationId xmlns:a16="http://schemas.microsoft.com/office/drawing/2014/main" id="{EB8A2CA5-7A09-48B7-BAC1-F1E0F045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5D7E5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5D7E55"/>
                </a:solidFill>
                <a:latin typeface="PingFang TC"/>
                <a:ea typeface="PingFang TC"/>
                <a:cs typeface="PingFang TC"/>
              </a:rPr>
              <a:t>台語</a:t>
            </a:r>
          </a:p>
        </p:txBody>
      </p:sp>
      <p:sp>
        <p:nvSpPr>
          <p:cNvPr id="18" name="lang-body-3">
            <a:extLst xmlns:a="http://schemas.openxmlformats.org/drawingml/2006/main">
              <a:ext uri="{FF2B5EF4-FFF2-40B4-BE49-F238E27FC236}">
                <a16:creationId xmlns:a16="http://schemas.microsoft.com/office/drawing/2014/main" id="{6314BDC7-1599-41B2-8228-092B6054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7215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先以口語自然為準，再統一字幕用字；專有名詞另列讀音。</a:t>
            </a:r>
          </a:p>
        </p:txBody>
      </p:sp>
      <p:sp>
        <p:nvSpPr>
          <p:cNvPr id="19" name="lang-rule-3">
            <a:extLst xmlns:a="http://schemas.openxmlformats.org/drawingml/2006/main">
              <a:ext uri="{FF2B5EF4-FFF2-40B4-BE49-F238E27FC236}">
                <a16:creationId xmlns:a16="http://schemas.microsoft.com/office/drawing/2014/main" id="{99822920-7C0B-4012-A25C-92E51C36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72250"/>
            <a:ext cx="558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20" name="lang-name-4">
            <a:extLst xmlns:a="http://schemas.openxmlformats.org/drawingml/2006/main">
              <a:ext uri="{FF2B5EF4-FFF2-40B4-BE49-F238E27FC236}">
                <a16:creationId xmlns:a16="http://schemas.microsoft.com/office/drawing/2014/main" id="{73493C75-2AA7-4083-8AE4-F1342333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93420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5D7E5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5D7E55"/>
                </a:solidFill>
                <a:latin typeface="PingFang TC"/>
                <a:ea typeface="PingFang TC"/>
                <a:cs typeface="PingFang TC"/>
              </a:rPr>
              <a:t>韓文</a:t>
            </a:r>
          </a:p>
        </p:txBody>
      </p:sp>
      <p:sp>
        <p:nvSpPr>
          <p:cNvPr id="21" name="lang-body-4">
            <a:extLst xmlns:a="http://schemas.openxmlformats.org/drawingml/2006/main">
              <a:ext uri="{FF2B5EF4-FFF2-40B4-BE49-F238E27FC236}">
                <a16:creationId xmlns:a16="http://schemas.microsoft.com/office/drawing/2014/main" id="{4DBF7711-6063-4C0E-BA61-A599A387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934200"/>
            <a:ext cx="558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確認地名音譯與議會制度詞彙，保留畫面字卡停留時間。</a:t>
            </a:r>
          </a:p>
        </p:txBody>
      </p:sp>
      <p:sp>
        <p:nvSpPr>
          <p:cNvPr id="22" name="lang-rule-4">
            <a:extLst xmlns:a="http://schemas.openxmlformats.org/drawingml/2006/main">
              <a:ext uri="{FF2B5EF4-FFF2-40B4-BE49-F238E27FC236}">
                <a16:creationId xmlns:a16="http://schemas.microsoft.com/office/drawing/2014/main" id="{B45B9213-F886-4BE1-A7D8-F1A6E87C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734300"/>
            <a:ext cx="558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23" name="final-check-bg">
            <a:extLst xmlns:a="http://schemas.openxmlformats.org/drawingml/2006/main">
              <a:ext uri="{FF2B5EF4-FFF2-40B4-BE49-F238E27FC236}">
                <a16:creationId xmlns:a16="http://schemas.microsoft.com/office/drawing/2014/main" id="{37ADCB70-445F-4753-8B7E-E680FCA3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0"/>
            <a:ext cx="66484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E2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inal-check-title">
            <a:extLst xmlns:a="http://schemas.openxmlformats.org/drawingml/2006/main">
              <a:ext uri="{FF2B5EF4-FFF2-40B4-BE49-F238E27FC236}">
                <a16:creationId xmlns:a16="http://schemas.microsoft.com/office/drawing/2014/main" id="{426F4DF9-83C4-4EFA-8962-FECB84D4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96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9FD2CE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9FD2CE"/>
                </a:solidFill>
                <a:latin typeface="PingFang TC"/>
                <a:ea typeface="PingFang TC"/>
                <a:cs typeface="PingFang TC"/>
              </a:rPr>
              <a:t>上線前四項必核</a:t>
            </a:r>
          </a:p>
        </p:txBody>
      </p:sp>
      <p:sp>
        <p:nvSpPr>
          <p:cNvPr id="25" name="final-check-body">
            <a:extLst xmlns:a="http://schemas.openxmlformats.org/drawingml/2006/main">
              <a:ext uri="{FF2B5EF4-FFF2-40B4-BE49-F238E27FC236}">
                <a16:creationId xmlns:a16="http://schemas.microsoft.com/office/drawing/2014/main" id="{D79DE4B8-8D5A-43F6-889E-09E8B500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15400"/>
            <a:ext cx="615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1">
                <a:solidFill>
                  <a:srgbClr val="FFFDFC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DFC"/>
                </a:solidFill>
                <a:latin typeface="PingFang TC"/>
                <a:ea typeface="PingFang TC"/>
                <a:cs typeface="PingFang TC"/>
              </a:rPr>
              <a:t>當選名單與席次｜議長／副議長職稱姓名｜就職日期與現場原音｜所有人物、音樂、族群文化素材授權</a:t>
            </a:r>
          </a:p>
        </p:txBody>
      </p:sp>
    </p:spTree>
    <p:extLst>
      <p:ext uri="{BB962C8B-B14F-4D97-AF65-F5344CB8AC3E}">
        <p14:creationId xmlns:p14="http://schemas.microsoft.com/office/powerpoint/2010/main" val="1445005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2026-09-02T16:18:35.4890000Z</dcterms:created>
  <dcterms:modified xsi:type="dcterms:W3CDTF">2026-09-02T16:18:35.4890000Z</dcterms:modified>
</coreProperties>
</file>