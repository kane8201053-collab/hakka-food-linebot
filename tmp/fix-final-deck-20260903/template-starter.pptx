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8e28d306ff4cae" /><Relationship Type="http://schemas.openxmlformats.org/officeDocument/2006/relationships/extended-properties" Target="/docProps/app.xml" Id="Rc28f6202b5594db7" /><Relationship Type="http://schemas.openxmlformats.org/officeDocument/2006/relationships/officeDocument" Target="/ppt/presentation.xml" Id="R7a99ef9067034e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918234f46141f3"/>
  </p:sldMasterIdLst>
  <p:notesMasterIdLst>
    <p:notesMasterId xmlns:r="http://schemas.openxmlformats.org/officeDocument/2006/relationships" r:id="Rb6e5ee513cfd45ec"/>
  </p:notesMasterIdLst>
  <p:sldIdLst>
    <p:sldId xmlns:r="http://schemas.openxmlformats.org/officeDocument/2006/relationships" id="256" r:id="R1565f7fee9384c5b"/>
    <p:sldId xmlns:r="http://schemas.openxmlformats.org/officeDocument/2006/relationships" id="257" r:id="R777a21db4a1945a5"/>
    <p:sldId xmlns:r="http://schemas.openxmlformats.org/officeDocument/2006/relationships" id="258" r:id="Rba463dd0ba5c48b5"/>
    <p:sldId xmlns:r="http://schemas.openxmlformats.org/officeDocument/2006/relationships" id="259" r:id="Rb3a227d01c8049fd"/>
    <p:sldId xmlns:r="http://schemas.openxmlformats.org/officeDocument/2006/relationships" id="260" r:id="R53d8e52aac804fc1"/>
    <p:sldId xmlns:r="http://schemas.openxmlformats.org/officeDocument/2006/relationships" id="261" r:id="Red73c26d52ef4730"/>
    <p:sldId xmlns:r="http://schemas.openxmlformats.org/officeDocument/2006/relationships" id="262" r:id="Re8011cc06a544a48"/>
    <p:sldId xmlns:r="http://schemas.openxmlformats.org/officeDocument/2006/relationships" id="263" r:id="Rd38d4670d4e9448c"/>
    <p:sldId xmlns:r="http://schemas.openxmlformats.org/officeDocument/2006/relationships" id="264" r:id="R42f7a00543984cb0"/>
    <p:sldId xmlns:r="http://schemas.openxmlformats.org/officeDocument/2006/relationships" id="265" r:id="R0df53d8290764741"/>
    <p:sldId xmlns:r="http://schemas.openxmlformats.org/officeDocument/2006/relationships" id="266" r:id="R24601e8335ff459d"/>
    <p:sldId xmlns:r="http://schemas.openxmlformats.org/officeDocument/2006/relationships" id="267" r:id="Rfa9951c1ab9d4dc2"/>
    <p:sldId xmlns:r="http://schemas.openxmlformats.org/officeDocument/2006/relationships" id="268" r:id="Rc298fee76e754d14"/>
    <p:sldId xmlns:r="http://schemas.openxmlformats.org/officeDocument/2006/relationships" id="269" r:id="R459ffea9594e451c"/>
    <p:sldId xmlns:r="http://schemas.openxmlformats.org/officeDocument/2006/relationships" id="270" r:id="R0729104104af4772"/>
    <p:sldId xmlns:r="http://schemas.openxmlformats.org/officeDocument/2006/relationships" id="271" r:id="Ra0e1ca489df04773"/>
    <p:sldId xmlns:r="http://schemas.openxmlformats.org/officeDocument/2006/relationships" id="272" r:id="Ra5f7f18027e94e3c"/>
    <p:sldId xmlns:r="http://schemas.openxmlformats.org/officeDocument/2006/relationships" id="273" r:id="Rfcffdff95f794319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cc9f7b9c8a4d62" /><Relationship Type="http://schemas.openxmlformats.org/officeDocument/2006/relationships/slideMaster" Target="/ppt/slideMasters/slideMaster1.xml" Id="R9d918234f46141f3" /><Relationship Type="http://schemas.openxmlformats.org/officeDocument/2006/relationships/notesMaster" Target="/ppt/notesMasters/notesMaster1.xml" Id="Rb6e5ee513cfd45ec" /><Relationship Type="http://schemas.openxmlformats.org/officeDocument/2006/relationships/presProps" Target="/ppt/presProps.xml" Id="R41c22635b76d4d9b" /><Relationship Type="http://schemas.openxmlformats.org/officeDocument/2006/relationships/viewProps" Target="/ppt/viewProps.xml" Id="Ra29ed9629af34f8a" /><Relationship Type="http://schemas.openxmlformats.org/officeDocument/2006/relationships/tableStyles" Target="/ppt/tableStyles.xml" Id="Re753943770714c2a" /><Relationship Type="http://schemas.openxmlformats.org/officeDocument/2006/relationships/slide" Target="/ppt/slides/slide1.xml" Id="R1565f7fee9384c5b" /><Relationship Type="http://schemas.openxmlformats.org/officeDocument/2006/relationships/slide" Target="/ppt/slides/slide2.xml" Id="R777a21db4a1945a5" /><Relationship Type="http://schemas.openxmlformats.org/officeDocument/2006/relationships/slide" Target="/ppt/slides/slide3.xml" Id="Rba463dd0ba5c48b5" /><Relationship Type="http://schemas.openxmlformats.org/officeDocument/2006/relationships/slide" Target="/ppt/slides/slide4.xml" Id="Rb3a227d01c8049fd" /><Relationship Type="http://schemas.openxmlformats.org/officeDocument/2006/relationships/slide" Target="/ppt/slides/slide5.xml" Id="R53d8e52aac804fc1" /><Relationship Type="http://schemas.openxmlformats.org/officeDocument/2006/relationships/slide" Target="/ppt/slides/slide6.xml" Id="Red73c26d52ef4730" /><Relationship Type="http://schemas.openxmlformats.org/officeDocument/2006/relationships/slide" Target="/ppt/slides/slide7.xml" Id="Re8011cc06a544a48" /><Relationship Type="http://schemas.openxmlformats.org/officeDocument/2006/relationships/slide" Target="/ppt/slides/slide8.xml" Id="Rd38d4670d4e9448c" /><Relationship Type="http://schemas.openxmlformats.org/officeDocument/2006/relationships/slide" Target="/ppt/slides/slide9.xml" Id="R42f7a00543984cb0" /><Relationship Type="http://schemas.openxmlformats.org/officeDocument/2006/relationships/slide" Target="/ppt/slides/slide10.xml" Id="R0df53d8290764741" /><Relationship Type="http://schemas.openxmlformats.org/officeDocument/2006/relationships/slide" Target="/ppt/slides/slide11.xml" Id="R24601e8335ff459d" /><Relationship Type="http://schemas.openxmlformats.org/officeDocument/2006/relationships/slide" Target="/ppt/slides/slide12.xml" Id="Rfa9951c1ab9d4dc2" /><Relationship Type="http://schemas.openxmlformats.org/officeDocument/2006/relationships/slide" Target="/ppt/slides/slide13.xml" Id="Rc298fee76e754d14" /><Relationship Type="http://schemas.openxmlformats.org/officeDocument/2006/relationships/slide" Target="/ppt/slides/slide14.xml" Id="R459ffea9594e451c" /><Relationship Type="http://schemas.openxmlformats.org/officeDocument/2006/relationships/slide" Target="/ppt/slides/slide15.xml" Id="R0729104104af4772" /><Relationship Type="http://schemas.openxmlformats.org/officeDocument/2006/relationships/slide" Target="/ppt/slides/slide16.xml" Id="Ra0e1ca489df04773" /><Relationship Type="http://schemas.openxmlformats.org/officeDocument/2006/relationships/slide" Target="/ppt/slides/slide17.xml" Id="Ra5f7f18027e94e3c" /><Relationship Type="http://schemas.openxmlformats.org/officeDocument/2006/relationships/slide" Target="/ppt/slides/slide18.xml" Id="Rfcffdff95f79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659fcf1e4c41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8e56991df34031" /><Relationship Type="http://schemas.openxmlformats.org/officeDocument/2006/relationships/notesMaster" Target="/ppt/notesMasters/notesMaster1.xml" Id="R5be8096e312446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29bd3027484673" /><Relationship Type="http://schemas.openxmlformats.org/officeDocument/2006/relationships/notesMaster" Target="/ppt/notesMasters/notesMaster1.xml" Id="Rd5cc78dced654b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96709126d143ea" /><Relationship Type="http://schemas.openxmlformats.org/officeDocument/2006/relationships/notesMaster" Target="/ppt/notesMasters/notesMaster1.xml" Id="R88e95690736541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9dd2e27e994b8e" /><Relationship Type="http://schemas.openxmlformats.org/officeDocument/2006/relationships/notesMaster" Target="/ppt/notesMasters/notesMaster1.xml" Id="Rf797ccef70a741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292ff0bd634f6f" /><Relationship Type="http://schemas.openxmlformats.org/officeDocument/2006/relationships/notesMaster" Target="/ppt/notesMasters/notesMaster1.xml" Id="Rc64f9efe2fa849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9f433a1cde4354" /><Relationship Type="http://schemas.openxmlformats.org/officeDocument/2006/relationships/notesMaster" Target="/ppt/notesMasters/notesMaster1.xml" Id="Re2f69c1518e948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62251f13c14e76" /><Relationship Type="http://schemas.openxmlformats.org/officeDocument/2006/relationships/notesMaster" Target="/ppt/notesMasters/notesMaster1.xml" Id="Refde5f3b47ac4d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afa6e40c4d45cd" /><Relationship Type="http://schemas.openxmlformats.org/officeDocument/2006/relationships/notesMaster" Target="/ppt/notesMasters/notesMaster1.xml" Id="R09f4ad4dfd894b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d160aadd1a4eaf" /><Relationship Type="http://schemas.openxmlformats.org/officeDocument/2006/relationships/notesMaster" Target="/ppt/notesMasters/notesMaster1.xml" Id="R20de66225ea740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fb9be4de1546f3" /><Relationship Type="http://schemas.openxmlformats.org/officeDocument/2006/relationships/notesMaster" Target="/ppt/notesMasters/notesMaster1.xml" Id="R9fd03febc6af4d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62da99232847dc" /><Relationship Type="http://schemas.openxmlformats.org/officeDocument/2006/relationships/notesMaster" Target="/ppt/notesMasters/notesMaster1.xml" Id="R414c271837ff4d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86dffbc2574922" /><Relationship Type="http://schemas.openxmlformats.org/officeDocument/2006/relationships/notesMaster" Target="/ppt/notesMasters/notesMaster1.xml" Id="Rf00e453245a64f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378c65719f40b2" /><Relationship Type="http://schemas.openxmlformats.org/officeDocument/2006/relationships/notesMaster" Target="/ppt/notesMasters/notesMaster1.xml" Id="R730b32d6e14144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98f1cd7ce94624" /><Relationship Type="http://schemas.openxmlformats.org/officeDocument/2006/relationships/notesMaster" Target="/ppt/notesMasters/notesMaster1.xml" Id="Rdcac5ee503f84e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b8eb709b9845b5" /><Relationship Type="http://schemas.openxmlformats.org/officeDocument/2006/relationships/notesMaster" Target="/ppt/notesMasters/notesMaster1.xml" Id="R2678d4fa35124d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b1e513f426470c" /><Relationship Type="http://schemas.openxmlformats.org/officeDocument/2006/relationships/notesMaster" Target="/ppt/notesMasters/notesMaster1.xml" Id="R6aa4f98d688b44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139a8cd2da492a" /><Relationship Type="http://schemas.openxmlformats.org/officeDocument/2006/relationships/notesMaster" Target="/ppt/notesMasters/notesMaster1.xml" Id="Re6fd2f1a564340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5569d0634d463d" /><Relationship Type="http://schemas.openxmlformats.org/officeDocument/2006/relationships/notesMaster" Target="/ppt/notesMasters/notesMaster1.xml" Id="R08cf31f4250e44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https://bms1.ntp.gov.tw/billsystem/mam/ScheduleAnnex/0407T/f0b20b98-9369-4730-9423-bc95900d22c4.pdf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584b4effb41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df13469bf441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17ba7ad0054889" /><Relationship Type="http://schemas.openxmlformats.org/officeDocument/2006/relationships/slideLayout" Target="/ppt/slideLayouts/slideLayout1.xml" Id="R9e4cb8caba994808" /><Relationship Type="http://schemas.openxmlformats.org/officeDocument/2006/relationships/slideLayout" Target="/ppt/slideLayouts/slideLayout2.xml" Id="Rb23d4786d8474a8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4cb8caba994808"/>
    <p:sldLayoutId xmlns:r="http://schemas.openxmlformats.org/officeDocument/2006/relationships" id="2147483650" r:id="Rb23d4786d8474a8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3f5dbc7214a81" /><Relationship Type="http://schemas.openxmlformats.org/officeDocument/2006/relationships/notesSlide" Target="/ppt/notesSlides/notesSlide1.xml" Id="Rd5421b6f05a64e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aab574a544a20" /><Relationship Type="http://schemas.openxmlformats.org/officeDocument/2006/relationships/notesSlide" Target="/ppt/notesSlides/notesSlide2.xml" Id="Rf49aa957417247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e19b992b4e4c20" /><Relationship Type="http://schemas.openxmlformats.org/officeDocument/2006/relationships/image" Target="/ppt/media/image.jpeg" Id="R2f859aa700394de2" /><Relationship Type="http://schemas.openxmlformats.org/officeDocument/2006/relationships/image" Target="/ppt/media/image2.jpeg" Id="Re35d5d6376d94810" /><Relationship Type="http://schemas.openxmlformats.org/officeDocument/2006/relationships/image" Target="/ppt/media/image3.jpeg" Id="Rd3f88b710a5a41e3" /><Relationship Type="http://schemas.openxmlformats.org/officeDocument/2006/relationships/image" Target="/ppt/media/image4.jpeg" Id="R5bfe3fb5768645a9" /><Relationship Type="http://schemas.openxmlformats.org/officeDocument/2006/relationships/image" Target="/ppt/media/image5.jpeg" Id="R081242669348415a" /><Relationship Type="http://schemas.openxmlformats.org/officeDocument/2006/relationships/image" Target="/ppt/media/image6.jpeg" Id="R3b2ec482d36b4ce1" /><Relationship Type="http://schemas.openxmlformats.org/officeDocument/2006/relationships/notesSlide" Target="/ppt/notesSlides/notesSlide3.xml" Id="R402abd31b3ab4d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1fa2aa713941b0" /><Relationship Type="http://schemas.openxmlformats.org/officeDocument/2006/relationships/image" Target="/ppt/media/image7.jpeg" Id="Re7a3626d6bed4392" /><Relationship Type="http://schemas.openxmlformats.org/officeDocument/2006/relationships/image" Target="/ppt/media/image8.jpeg" Id="R0c9669f53ff7404f" /><Relationship Type="http://schemas.openxmlformats.org/officeDocument/2006/relationships/image" Target="/ppt/media/image9.jpeg" Id="R385c24337ce740bf" /><Relationship Type="http://schemas.openxmlformats.org/officeDocument/2006/relationships/image" Target="/ppt/media/image10.jpeg" Id="R3c7483fadc124b3a" /><Relationship Type="http://schemas.openxmlformats.org/officeDocument/2006/relationships/image" Target="/ppt/media/image11.jpeg" Id="Rbb4388689e18437d" /><Relationship Type="http://schemas.openxmlformats.org/officeDocument/2006/relationships/notesSlide" Target="/ppt/notesSlides/notesSlide4.xml" Id="R2921aaec32f840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f58ad35a7a48f1" /><Relationship Type="http://schemas.openxmlformats.org/officeDocument/2006/relationships/image" Target="/ppt/media/image12.jpeg" Id="Rda0ecd9507f647f5" /><Relationship Type="http://schemas.openxmlformats.org/officeDocument/2006/relationships/image" Target="/ppt/media/image13.jpeg" Id="R70c4a0c7c2414d15" /><Relationship Type="http://schemas.openxmlformats.org/officeDocument/2006/relationships/image" Target="/ppt/media/image14.jpeg" Id="R0b2ac1920f3143cc" /><Relationship Type="http://schemas.openxmlformats.org/officeDocument/2006/relationships/notesSlide" Target="/ppt/notesSlides/notesSlide5.xml" Id="R66b9898b500540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b02f8a2a3f47f1" /><Relationship Type="http://schemas.openxmlformats.org/officeDocument/2006/relationships/image" Target="/ppt/media/image15.jpeg" Id="R7d40dec4648741a7" /><Relationship Type="http://schemas.openxmlformats.org/officeDocument/2006/relationships/image" Target="/ppt/media/image16.jpeg" Id="R2db77459aea845a2" /><Relationship Type="http://schemas.openxmlformats.org/officeDocument/2006/relationships/image" Target="/ppt/media/image17.jpeg" Id="Rda21788d3ec54881" /><Relationship Type="http://schemas.openxmlformats.org/officeDocument/2006/relationships/image" Target="/ppt/media/image18.jpeg" Id="Rf275e305535a4534" /><Relationship Type="http://schemas.openxmlformats.org/officeDocument/2006/relationships/image" Target="/ppt/media/image19.jpeg" Id="R75c06fc2566f4537" /><Relationship Type="http://schemas.openxmlformats.org/officeDocument/2006/relationships/image" Target="/ppt/media/image20.jpeg" Id="Rb56f7bc95d064a58" /><Relationship Type="http://schemas.openxmlformats.org/officeDocument/2006/relationships/notesSlide" Target="/ppt/notesSlides/notesSlide6.xml" Id="R9472788651ae48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17fb3dfb2d42d8" /><Relationship Type="http://schemas.openxmlformats.org/officeDocument/2006/relationships/image" Target="/ppt/media/image21.jpeg" Id="Ra167939c22cc437a" /><Relationship Type="http://schemas.openxmlformats.org/officeDocument/2006/relationships/image" Target="/ppt/media/image22.jpeg" Id="R5ef6bcbf7bd64481" /><Relationship Type="http://schemas.openxmlformats.org/officeDocument/2006/relationships/image" Target="/ppt/media/image23.jpeg" Id="R1b6d286d06064327" /><Relationship Type="http://schemas.openxmlformats.org/officeDocument/2006/relationships/image" Target="/ppt/media/image24.jpeg" Id="R89d290312a974d6e" /><Relationship Type="http://schemas.openxmlformats.org/officeDocument/2006/relationships/image" Target="/ppt/media/image25.jpeg" Id="R8b2ba94a4abd46de" /><Relationship Type="http://schemas.openxmlformats.org/officeDocument/2006/relationships/image" Target="/ppt/media/image26.jpeg" Id="R5280fadb8db44e42" /><Relationship Type="http://schemas.openxmlformats.org/officeDocument/2006/relationships/notesSlide" Target="/ppt/notesSlides/notesSlide7.xml" Id="Rea7da5c8b1d844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a68f5b944149ca" /><Relationship Type="http://schemas.openxmlformats.org/officeDocument/2006/relationships/image" Target="/ppt/media/image27.jpeg" Id="R85f25102023a440c" /><Relationship Type="http://schemas.openxmlformats.org/officeDocument/2006/relationships/image" Target="/ppt/media/image28.jpeg" Id="Rd1dd2d6fea2f4112" /><Relationship Type="http://schemas.openxmlformats.org/officeDocument/2006/relationships/notesSlide" Target="/ppt/notesSlides/notesSlide8.xml" Id="R69a7711132f342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2eb8542c814c54" /><Relationship Type="http://schemas.openxmlformats.org/officeDocument/2006/relationships/image" Target="/ppt/media/image29.jpeg" Id="R18c5a73c04a14390" /><Relationship Type="http://schemas.openxmlformats.org/officeDocument/2006/relationships/image" Target="/ppt/media/image30.jpeg" Id="Rd26358b39daa4da9" /><Relationship Type="http://schemas.openxmlformats.org/officeDocument/2006/relationships/image" Target="/ppt/media/image31.jpeg" Id="R0a091bb334ee494b" /><Relationship Type="http://schemas.openxmlformats.org/officeDocument/2006/relationships/image" Target="/ppt/media/image32.jpeg" Id="R469ef24108b846bc" /><Relationship Type="http://schemas.openxmlformats.org/officeDocument/2006/relationships/notesSlide" Target="/ppt/notesSlides/notesSlide9.xml" Id="R3b046e6857664b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46de98dec84d13" /><Relationship Type="http://schemas.openxmlformats.org/officeDocument/2006/relationships/image" Target="/ppt/media/image33.jpeg" Id="Rd54b87eb9f4e4ce9" /><Relationship Type="http://schemas.openxmlformats.org/officeDocument/2006/relationships/image" Target="/ppt/media/image34.jpeg" Id="Rdd1395dc2c76496b" /><Relationship Type="http://schemas.openxmlformats.org/officeDocument/2006/relationships/image" Target="/ppt/media/image35.jpeg" Id="R41a2d04f48c84365" /><Relationship Type="http://schemas.openxmlformats.org/officeDocument/2006/relationships/image" Target="/ppt/media/image36.jpeg" Id="R5f3c82c29aff48ed" /><Relationship Type="http://schemas.openxmlformats.org/officeDocument/2006/relationships/image" Target="/ppt/media/image37.jpeg" Id="Rf327e80d7b564097" /><Relationship Type="http://schemas.openxmlformats.org/officeDocument/2006/relationships/notesSlide" Target="/ppt/notesSlides/notesSlide10.xml" Id="R57bf60657edc4d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2bd9fb85f546e7" /><Relationship Type="http://schemas.openxmlformats.org/officeDocument/2006/relationships/image" Target="/ppt/media/image38.jpeg" Id="R19dc588d89ad402d" /><Relationship Type="http://schemas.openxmlformats.org/officeDocument/2006/relationships/image" Target="/ppt/media/image39.jpeg" Id="R69b565b825fb4996" /><Relationship Type="http://schemas.openxmlformats.org/officeDocument/2006/relationships/image" Target="/ppt/media/image40.jpeg" Id="R6b58e188107e498d" /><Relationship Type="http://schemas.openxmlformats.org/officeDocument/2006/relationships/image" Target="/ppt/media/image41.jpeg" Id="Rbe7a69dcd1144d33" /><Relationship Type="http://schemas.openxmlformats.org/officeDocument/2006/relationships/notesSlide" Target="/ppt/notesSlides/notesSlide11.xml" Id="Rcbd113c66d5943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03fcf85244f76" /><Relationship Type="http://schemas.openxmlformats.org/officeDocument/2006/relationships/image" Target="/ppt/media/image42.jpeg" Id="R04e45b0bf688474c" /><Relationship Type="http://schemas.openxmlformats.org/officeDocument/2006/relationships/image" Target="/ppt/media/image43.jpeg" Id="Rff6d6483b0aa49c2" /><Relationship Type="http://schemas.openxmlformats.org/officeDocument/2006/relationships/image" Target="/ppt/media/image44.jpeg" Id="Rfc6cc9d7a8104a3d" /><Relationship Type="http://schemas.openxmlformats.org/officeDocument/2006/relationships/image" Target="/ppt/media/image45.jpeg" Id="Rfeb8b5a7a67646f8" /><Relationship Type="http://schemas.openxmlformats.org/officeDocument/2006/relationships/notesSlide" Target="/ppt/notesSlides/notesSlide12.xml" Id="R07f5e23fda5944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4d48d2c4c941a5" /><Relationship Type="http://schemas.openxmlformats.org/officeDocument/2006/relationships/image" Target="/ppt/media/image46.jpeg" Id="R0fd060c1ca064af2" /><Relationship Type="http://schemas.openxmlformats.org/officeDocument/2006/relationships/image" Target="/ppt/media/image47.jpeg" Id="R7d8c44a2d4e14633" /><Relationship Type="http://schemas.openxmlformats.org/officeDocument/2006/relationships/image" Target="/ppt/media/image48.jpeg" Id="R07dc9edd80334620" /><Relationship Type="http://schemas.openxmlformats.org/officeDocument/2006/relationships/image" Target="/ppt/media/image49.jpeg" Id="R82b8ee0bc7f84174" /><Relationship Type="http://schemas.openxmlformats.org/officeDocument/2006/relationships/image" Target="/ppt/media/image50.jpeg" Id="R335d731f4f3e466b" /><Relationship Type="http://schemas.openxmlformats.org/officeDocument/2006/relationships/notesSlide" Target="/ppt/notesSlides/notesSlide13.xml" Id="R3ca9f27ff39c43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e4c1660e90491e" /><Relationship Type="http://schemas.openxmlformats.org/officeDocument/2006/relationships/image" Target="/ppt/media/image51.jpeg" Id="R04e10344602a408b" /><Relationship Type="http://schemas.openxmlformats.org/officeDocument/2006/relationships/image" Target="/ppt/media/image52.jpeg" Id="Rc14014a88d8e4be9" /><Relationship Type="http://schemas.openxmlformats.org/officeDocument/2006/relationships/image" Target="/ppt/media/image53.jpeg" Id="R8c50bc5b5cc240c3" /><Relationship Type="http://schemas.openxmlformats.org/officeDocument/2006/relationships/image" Target="/ppt/media/image54.jpeg" Id="R9a5ea4f593f14aaf" /><Relationship Type="http://schemas.openxmlformats.org/officeDocument/2006/relationships/notesSlide" Target="/ppt/notesSlides/notesSlide14.xml" Id="Raa5c0a9cf5c948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7e0d3864144bd8" /><Relationship Type="http://schemas.openxmlformats.org/officeDocument/2006/relationships/image" Target="/ppt/media/image55.jpeg" Id="R5cf8bbc70ebf4348" /><Relationship Type="http://schemas.openxmlformats.org/officeDocument/2006/relationships/image" Target="/ppt/media/image56.jpeg" Id="R145042bd6ad9454c" /><Relationship Type="http://schemas.openxmlformats.org/officeDocument/2006/relationships/image" Target="/ppt/media/image57.jpeg" Id="Ra1244ea954f745b7" /><Relationship Type="http://schemas.openxmlformats.org/officeDocument/2006/relationships/image" Target="/ppt/media/image58.jpeg" Id="R3f0119b884954af5" /><Relationship Type="http://schemas.openxmlformats.org/officeDocument/2006/relationships/notesSlide" Target="/ppt/notesSlides/notesSlide15.xml" Id="R3a5aff36d41946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9a0d9722344b1" /><Relationship Type="http://schemas.openxmlformats.org/officeDocument/2006/relationships/image" Target="/ppt/media/image59.jpeg" Id="R8df27b60087c40cf" /><Relationship Type="http://schemas.openxmlformats.org/officeDocument/2006/relationships/image" Target="/ppt/media/image60.jpeg" Id="R8713acb4c12945e3" /><Relationship Type="http://schemas.openxmlformats.org/officeDocument/2006/relationships/image" Target="/ppt/media/image61.jpeg" Id="R7e3366ee115944ba" /><Relationship Type="http://schemas.openxmlformats.org/officeDocument/2006/relationships/image" Target="/ppt/media/image62.jpeg" Id="R99972f7d54b04b94" /><Relationship Type="http://schemas.openxmlformats.org/officeDocument/2006/relationships/image" Target="/ppt/media/image63.jpeg" Id="R33a36737cf7b44ea" /><Relationship Type="http://schemas.openxmlformats.org/officeDocument/2006/relationships/image" Target="/ppt/media/image64.jpeg" Id="R5c6772a668c64f03" /><Relationship Type="http://schemas.openxmlformats.org/officeDocument/2006/relationships/image" Target="/ppt/media/image.png" Id="Rf5b39838198f465d" /><Relationship Type="http://schemas.openxmlformats.org/officeDocument/2006/relationships/image" Target="/ppt/media/image2.png" Id="R4d86abfe88a444d2" /><Relationship Type="http://schemas.openxmlformats.org/officeDocument/2006/relationships/notesSlide" Target="/ppt/notesSlides/notesSlide16.xml" Id="R4533b282a57842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25b914f8b43b6" /><Relationship Type="http://schemas.openxmlformats.org/officeDocument/2006/relationships/image" Target="/ppt/media/image3.png" Id="R473fb69694e64fdc" /><Relationship Type="http://schemas.openxmlformats.org/officeDocument/2006/relationships/image" Target="/ppt/media/image65.jpeg" Id="Raeb89c7207314317" /><Relationship Type="http://schemas.openxmlformats.org/officeDocument/2006/relationships/image" Target="/ppt/media/image66.jpeg" Id="R218170a795a349c4" /><Relationship Type="http://schemas.openxmlformats.org/officeDocument/2006/relationships/notesSlide" Target="/ppt/notesSlides/notesSlide17.xml" Id="R2bfca60c0ca34a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a03cb4227497a" /><Relationship Type="http://schemas.openxmlformats.org/officeDocument/2006/relationships/image" Target="/ppt/media/image67.jpeg" Id="Rd66c8482983c4e09" /><Relationship Type="http://schemas.openxmlformats.org/officeDocument/2006/relationships/image" Target="/ppt/media/image4.png" Id="R2c78a68e505444e1" /><Relationship Type="http://schemas.openxmlformats.org/officeDocument/2006/relationships/image" Target="/ppt/media/image5.png" Id="R7cfb7fbc3bfa4963" /><Relationship Type="http://schemas.openxmlformats.org/officeDocument/2006/relationships/notesSlide" Target="/ppt/notesSlides/notesSlide18.xml" Id="R0dda77e94f4849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C52A683-6B96-44C4-B8F4-71E99D10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腳本核心概念:五章結構,一句「看見」貫穿全片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28E26B7-84DC-4D7A-A2F0-28211BC6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686" y="543610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47F607E-7C36-4A0E-A9F9-7EE4ECA8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33856"/>
            <a:ext cx="6464808" cy="1243584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785CCD3-B8EA-4ADD-B0F8-20509E54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61288"/>
            <a:ext cx="6007608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片名即敘事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|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第4屆《傾聽.卓越》聽見聲音;第5屆《看見.共好》再進一步——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「看見」是方法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:先看見生活,再看見機關(片頭 60 秒不出現議會外觀,直到最後一顆鏡頭);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「共好」是結局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:當民意被聽見、行動被檢驗、承諾被追蹤,城市才能一起變好。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2CD138-6A4A-4C3C-9BF9-0560C57F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五章結構與章名系統(對照第 3 頁起之分鏡腳本)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2B88EEB-459C-4A24-9EA7-78D69069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34640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52787FB-6B30-405D-8CE5-F3825016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26080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640D12D-DE19-463A-8BA4-8CA7EA36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16936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第一章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B6212E2-5FCC-4377-8981-806F0434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944368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看見城市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DE267E3-7A26-4DCE-8EFE-680AE9BF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片頭・沿革・就職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CD89C4C-5258-42FF-9B8B-96249CCA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2984863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00:00–02:35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9469C54-247E-4F5C-BF98-24B1C40B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2984863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35 秒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6229BCA-DE00-4D3B-90BD-A6106BA3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65FC69C-B6F6-4B75-9964-50C76F71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47872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BF7665A-B25E-4C61-96E4-3EA9617C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38728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第二章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D6F905B-A272-4552-B64E-AE687667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6616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看見每一種生活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F25ECFF-9117-4BC6-9F8D-4C65C1FC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593592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選區群像 A/B/C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E39CC7C-04A5-4A2B-9E0E-3F349F7C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3606655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02:35–04:55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BE9ED26-4BFE-485C-99D5-5CF658BD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3606655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20 秒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6D43A33-CD3F-441E-80E6-9ED45E86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78224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95822C0-DF81-476E-BFCD-9EC98E68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9664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186613E-D235-4A62-84F9-AE38A5A1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第三章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768C30F-474C-432E-9D7D-010883AC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87952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看見民意如何成為行動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D2D8687-7A9A-407E-B2D0-414EB4DD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215384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轉折・民意轉化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D5309F7-C98E-415D-85FD-A3B83604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4228447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04:55–06:55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84A7575-5F5B-4B06-B607-C14C1B38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4228447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00 秒</a:t>
            </a:r>
            <a:endParaRPr sz="12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F68BC18-0E3F-4A33-ABE3-58AC493A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0016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C9D0728-8EDD-4001-91BC-A0FEB6A6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91456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F32189F-8BA3-4E35-A0D8-34E4C520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82312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第四章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BEE2B35-7D56-4048-8E3F-9666D7FF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09744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看見議會如何運作</a:t>
            </a:r>
            <a:endParaRPr sz="14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82A3B86-755E-49DB-B579-744B8284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837176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議會職權・行政團隊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EE8EEB9-B28A-424F-A54E-AE98957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4850239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06:55–09:10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F532C97-546B-46A5-B6E1-8DF148AD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4850239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15 秒</a:t>
            </a:r>
            <a:endParaRPr sz="12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3CB2A1A7-B2AE-479B-9DFD-D477EBD6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1808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0CBB216-13E7-4493-BF2F-4C27262A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13248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3EB2D70-1BF9-4D3C-ACD9-A4DCBE39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04104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第五章</a:t>
            </a:r>
            <a:endParaRPr sz="10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6294A16-51D2-493B-A34C-B05A9040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431536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走向共好</a:t>
            </a:r>
            <a:endParaRPr sz="14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C2C9714-3C3F-48AC-AF52-9313321B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458968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議長期許・片尾回到片名</a:t>
            </a:r>
            <a:endParaRPr sz="12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086FB575-014B-457B-8C7F-AE23DF9E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5472031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09:10–11:10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DE784EC4-C5EE-4CF6-AFE5-E6047A6F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54720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00 秒</a:t>
            </a:r>
            <a:endParaRPr sz="12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C6D6327-C184-4177-8479-7600E83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08192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與 2022 版《傾聽.卓越》的三個「不一樣」</a:t>
            </a:r>
            <a:endParaRPr sz="13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B8EC0EAB-05EF-43AF-BFD7-96D25403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6464808" cy="106984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718D15C3-A6BF-4A20-8E8B-3FC780D4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38544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DCDAA123-BF10-4180-B391-5DDA8B42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29400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視角翻轉</a:t>
            </a:r>
            <a:endParaRPr sz="11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5E8D0AE-96E9-4728-B22C-2D15E666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638544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第4屆:議會介紹自己(機構視角)</a:t>
            </a:r>
            <a:endParaRPr sz="14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F47C684-326A-4CC6-B68A-9018FB9C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931152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第5屆:先看見生活,再看見機關——片頭以四百萬雙眼睛開場,議會外觀留到第 1 分鐘最後一顆鏡頭才出現</a:t>
            </a:r>
            <a:endParaRPr sz="140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03DE3391-A98B-44F1-BB10-0391159A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21" y="7754112"/>
            <a:ext cx="6464808" cy="1015682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4D24F103-E837-4624-B69B-0FBD1EE1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7903056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93F0D9F9-9546-43A3-8EAC-4CA4BF14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13" y="7891272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選區重組</a:t>
            </a:r>
            <a:endParaRPr sz="11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C51472F2-23A4-498D-85C1-0FC3DAFB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621" y="7900416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第4屆:12 選區逐區介紹,共 7 分 30 秒</a:t>
            </a:r>
            <a:endParaRPr sz="14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5760040E-5A6A-44D4-8B84-14A8007F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621" y="8193024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第5屆:13 選舉區分為三組群像,每區採「人 3 秒＋地景 3 秒＋公共服務 3 秒」公平配置,區名固定位置出現,避免觀光廣告感</a:t>
            </a:r>
            <a:endParaRPr sz="140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410E96FB-DE02-49A0-8DB1-317D2511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933688"/>
            <a:ext cx="6464808" cy="113315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80C3E119-0357-4E63-87D3-2D9D89A3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9079992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05CFF734-F98C-47C0-868A-DDF951DD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9070848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職權敘事</a:t>
            </a:r>
            <a:endParaRPr sz="11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ABC22024-903E-4B52-B46C-084FA41C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079992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第4屆:組織架構圖 + 職權條列</a:t>
            </a:r>
            <a:endParaRPr sz="14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122964FF-3C32-4CDE-AC48-FB406F07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372600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第5屆:跟著一份陳情走完十個步驟——受理→查證→現勘→提案→質詢→審查→議決→追蹤→回到現場,同機位呈現改善前後</a:t>
            </a:r>
            <a:endParaRPr sz="140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19E1D55F-7002-48CA-BF6F-1B52F5BA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042" y="4887468"/>
            <a:ext cx="6464808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7D0836CE-BB11-42B0-939F-A6801C50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642" y="5015484"/>
            <a:ext cx="60076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0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貫穿全片的三個母題|</a:t>
            </a:r>
            <a:endParaRPr sz="1050"/>
          </a:p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0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① 眼睛與光</a:t>
            </a:r>
            <a:r>
              <a:rPr sz="10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:片頭「睜開的眼睛」蒙太奇 → 片尾句點化為節點、匯成議會識別。   </a:t>
            </a:r>
            <a:r>
              <a:rPr sz="10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② 同機位前後對照</a:t>
            </a:r>
            <a:r>
              <a:rPr sz="10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:第三章 STEP 10 以同一機位拍改善前後,未完成者誠實呈現追蹤狀態。   </a:t>
            </a:r>
            <a:r>
              <a:rPr sz="10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③ 聲音接力</a:t>
            </a:r>
            <a:r>
              <a:rPr sz="10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:環境音 → 翻頁與議事聲 → 回到清晨,音樂自單一鋼琴音起、於片名與片尾兩次完整展開。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1142935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F7F227A-D689-4601-99A1-1A00B6E3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分鏡腳本對照總表(</a:t>
            </a: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總長度</a:t>
            </a: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約</a:t>
            </a: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11 分 10 秒)</a:t>
            </a:r>
            <a:endParaRPr sz="1900"/>
          </a:p>
        </p:txBody>
      </p:sp>
      <p:graphicFrame>
        <p:nvGraphicFramePr>
          <p:cNvPr id="12" name="Table 0"/>
          <p:cNvGraphicFramePr/>
          <p:nvPr/>
        </p:nvGraphicFramePr>
        <p:xfrm>
          <a:off xmlns:a="http://schemas.openxmlformats.org/drawingml/2006/main" x="548640" y="974018"/>
          <a:ext xmlns:a="http://schemas.openxmlformats.org/drawingml/2006/main" cx="6464808" cy="709824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6928"/>
                <a:gridCol w="3246120"/>
                <a:gridCol w="1051560"/>
                <a:gridCol w="777240"/>
                <a:gridCol w="822960"/>
              </a:tblGrid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章節 / 段落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時間碼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長度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累計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第一章 看見城市|先看見生活,再看見機關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1-1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片頭|城市醒來,四百萬雙眼睛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00:00–01:00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01:00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1-2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議會沿革|讓歷史成為民意的來路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01:00–01:50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01:50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1-3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就職與片名|從選票走進議事殿堂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01:50–02:35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02:35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第二章 看見每一種生活|13 選舉區、68 席民意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2-1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選區群像 A|第 1–4 選舉區(海岸・成長・新舊交會・河岸)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02:35–03:20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03:20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2-2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選區群像 B|第 5–8 選舉區(核心・密度・公共空間・文化產業)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03:20–04:05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04:05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2-3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選區群像 C|第 9–13 選舉區(山海・城鄉・族群・文化傳承)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04:05–04:55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04:55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第三章 看見民意如何成為行動|跟著一份陳情走進議會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3-1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轉折|三個日常問題,是行動的起點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04:55–05:15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3-2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民意轉化 A|受理 → 查證 → 現勘 → 定義問題 → 提案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05:15–06:05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06:05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3-3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民意轉化 B|質詢 → 審查 → 議決 → 追蹤 → 回到現場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06:05–06:55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06:55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第四章 看見議會如何運作|制度與團隊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4-1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議會職權|議決・審查・質詢・請願・監督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06:55–08:15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08:15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4-2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行政團隊|會史館與簡報室,保存民主紀錄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08:15–09:10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09:10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第五章 走向共好|承諾與回望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5-1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議長期許|讓每一份託付持續被看見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09:10–10:15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10:15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5-2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片尾|回收清晨,回到片名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10:15–11:10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 秒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11:10</a:t>
                      </a:r>
                      <a:endParaRPr sz="120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6F5BB8E-7A87-4F81-9D56-DE07D718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7713"/>
            <a:ext cx="6464808" cy="1930573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91A9CA7-5A03-414A-99F2-28A2B4CF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8374018"/>
            <a:ext cx="600760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需求書合規|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全片 11 分 10 秒,符合「10 至 12 分鐘」規範,且距上限尚餘 50 秒,可供審查階段增補內容;</a:t>
            </a:r>
            <a:endParaRPr sz="1400"/>
          </a:p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第5屆議員就職典禮全程錄影及拍照素材用於 1-3 段;會史館展示更新與簡報室新 LED 多語播放,於 4-2 段入鏡,四項工作成果於片中互相呼應;</a:t>
            </a:r>
            <a:endParaRPr sz="1400"/>
          </a:p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全片以 2K 以上等級攝影機拍攝並以相同規格剪輯輸出;中、英、日、台、韓五語版本畫面共用、語音與字幕分軌,片名字卡五語同步設計。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445F340-B433-4832-B922-B50A5032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783" y="5299374"/>
            <a:ext cx="64648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900" i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註:13 選舉區、應選 68 席(區域 62、平地原住民 4、山地原住民 2)依中選會公告;第5屆議員就職日為 115 年 12 月 25 日。實際議員人數、選區內容與議長致詞,得標後依本會核定資料修正。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2692025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6">
            <a:extLst xmlns:a="http://schemas.openxmlformats.org/drawingml/2006/main">
              <a:ext uri="{FF2B5EF4-FFF2-40B4-BE49-F238E27FC236}">
                <a16:creationId xmlns:a16="http://schemas.microsoft.com/office/drawing/2014/main" id="{A9C6311D-B81A-44FA-9755-9495092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</a:p>
        </p:txBody>
      </p:sp>
      <p:sp>
        <p:nvSpPr>
          <p:cNvPr id="2" name="scene-title-6">
            <a:extLst xmlns:a="http://schemas.openxmlformats.org/drawingml/2006/main">
              <a:ext uri="{FF2B5EF4-FFF2-40B4-BE49-F238E27FC236}">
                <a16:creationId xmlns:a16="http://schemas.microsoft.com/office/drawing/2014/main" id="{883FCB42-83F0-453F-B7AD-EA55CFBE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看見城市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6">
            <a:extLst xmlns:a="http://schemas.openxmlformats.org/drawingml/2006/main">
              <a:ext uri="{FF2B5EF4-FFF2-40B4-BE49-F238E27FC236}">
                <a16:creationId xmlns:a16="http://schemas.microsoft.com/office/drawing/2014/main" id="{7DB8D714-9EF5-466A-B073-3656509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6">
            <a:extLst xmlns:a="http://schemas.openxmlformats.org/drawingml/2006/main">
              <a:ext uri="{FF2B5EF4-FFF2-40B4-BE49-F238E27FC236}">
                <a16:creationId xmlns:a16="http://schemas.microsoft.com/office/drawing/2014/main" id="{988CC1F6-4AE0-47B2-9F63-9C868F9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片頭｜先看見生活，再看見機關</a:t>
            </a:r>
          </a:p>
        </p:txBody>
      </p:sp>
      <p:sp>
        <p:nvSpPr>
          <p:cNvPr id="5" name="scene-duration-6">
            <a:extLst xmlns:a="http://schemas.openxmlformats.org/drawingml/2006/main">
              <a:ext uri="{FF2B5EF4-FFF2-40B4-BE49-F238E27FC236}">
                <a16:creationId xmlns:a16="http://schemas.microsoft.com/office/drawing/2014/main" id="{38005ED9-9DF6-4458-B196-A4DFCE08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00:00–01:00｜60 秒｜累計 01:00</a:t>
            </a:r>
          </a:p>
        </p:txBody>
      </p:sp>
      <p:sp>
        <p:nvSpPr>
          <p:cNvPr id="6" name="col-head-6-0">
            <a:extLst xmlns:a="http://schemas.openxmlformats.org/drawingml/2006/main">
              <a:ext uri="{FF2B5EF4-FFF2-40B4-BE49-F238E27FC236}">
                <a16:creationId xmlns:a16="http://schemas.microsoft.com/office/drawing/2014/main" id="{19669B8E-2D11-491D-A43B-8602B390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6-0">
            <a:extLst xmlns:a="http://schemas.openxmlformats.org/drawingml/2006/main">
              <a:ext uri="{FF2B5EF4-FFF2-40B4-BE49-F238E27FC236}">
                <a16:creationId xmlns:a16="http://schemas.microsoft.com/office/drawing/2014/main" id="{24B01A00-1AAC-46FE-9FB6-E13CB6B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6-0">
            <a:extLst xmlns:a="http://schemas.openxmlformats.org/drawingml/2006/main">
              <a:ext uri="{FF2B5EF4-FFF2-40B4-BE49-F238E27FC236}">
                <a16:creationId xmlns:a16="http://schemas.microsoft.com/office/drawing/2014/main" id="{59493D12-D86D-44B7-9237-804063D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6-1">
            <a:extLst xmlns:a="http://schemas.openxmlformats.org/drawingml/2006/main">
              <a:ext uri="{FF2B5EF4-FFF2-40B4-BE49-F238E27FC236}">
                <a16:creationId xmlns:a16="http://schemas.microsoft.com/office/drawing/2014/main" id="{2E81034E-4EBE-410E-B045-6D8B585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6-1">
            <a:extLst xmlns:a="http://schemas.openxmlformats.org/drawingml/2006/main">
              <a:ext uri="{FF2B5EF4-FFF2-40B4-BE49-F238E27FC236}">
                <a16:creationId xmlns:a16="http://schemas.microsoft.com/office/drawing/2014/main" id="{ED320CF8-1D66-468D-81BA-DD1ED9A6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6-1">
            <a:extLst xmlns:a="http://schemas.openxmlformats.org/drawingml/2006/main">
              <a:ext uri="{FF2B5EF4-FFF2-40B4-BE49-F238E27FC236}">
                <a16:creationId xmlns:a16="http://schemas.microsoft.com/office/drawing/2014/main" id="{059332D6-B943-4876-919A-7E2F754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6-2">
            <a:extLst xmlns:a="http://schemas.openxmlformats.org/drawingml/2006/main">
              <a:ext uri="{FF2B5EF4-FFF2-40B4-BE49-F238E27FC236}">
                <a16:creationId xmlns:a16="http://schemas.microsoft.com/office/drawing/2014/main" id="{ED6A7F36-E004-44C7-841B-AC49781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6-2">
            <a:extLst xmlns:a="http://schemas.openxmlformats.org/drawingml/2006/main">
              <a:ext uri="{FF2B5EF4-FFF2-40B4-BE49-F238E27FC236}">
                <a16:creationId xmlns:a16="http://schemas.microsoft.com/office/drawing/2014/main" id="{A4F2FB71-E77A-4757-8231-3A0F54C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6-2">
            <a:extLst xmlns:a="http://schemas.openxmlformats.org/drawingml/2006/main">
              <a:ext uri="{FF2B5EF4-FFF2-40B4-BE49-F238E27FC236}">
                <a16:creationId xmlns:a16="http://schemas.microsoft.com/office/drawing/2014/main" id="{0A2AB64C-1128-4278-B16D-C7631C4B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6">
            <a:extLst xmlns:a="http://schemas.openxmlformats.org/drawingml/2006/main">
              <a:ext uri="{FF2B5EF4-FFF2-40B4-BE49-F238E27FC236}">
                <a16:creationId xmlns:a16="http://schemas.microsoft.com/office/drawing/2014/main" id="{9EFDD805-C73D-4346-87BF-1068958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01｜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黑幕一聲心跳→晨光穿雲縮時→淡水河面反光、山稜線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02｜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「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睜開的眼睛」特寫蒙太奇:孩子、長者、上班族、議事廳裡的眼神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03｜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萬千目光化為光點,匯聚成片名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3D LOGO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04｜空拍由海岸、河川、山城推進都會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→29 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區地圖光點依序亮起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最後再看見議會外觀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6">
            <a:extLst xmlns:a="http://schemas.openxmlformats.org/drawingml/2006/main">
              <a:ext uri="{FF2B5EF4-FFF2-40B4-BE49-F238E27FC236}">
                <a16:creationId xmlns:a16="http://schemas.microsoft.com/office/drawing/2014/main" id="{A4DDD797-3BD2-4639-AADE-78EAF8AD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0–4 秒僅留環境音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4K 空拍 + 眼神特寫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「眼睛與光」為全片視覺母題</a:t>
            </a:r>
            <a:br/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虹膜內映城市倒影(後期合成)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人口約 400 萬、面積 2,052 平方公里、海岸線約 120 公里、29 行政區、13 選區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endParaRPr sz="1200">
              <a:solidFill>
                <a:srgbClr val="22293A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音樂從單一鋼琴音開始，弦樂慢慢展開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鏡頭切換不追求快，讓每個日常停留 2–3 秒</a:t>
            </a:r>
          </a:p>
          <a:p xmlns:a="http://schemas.openxmlformats.org/drawingml/2006/main">
            <a:pPr>
              <a:lnSpc>
                <a:spcPct val="122000"/>
              </a:lnSpc>
              <a:buNone/>
            </a:pPr>
            <a:br/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6">
            <a:extLst xmlns:a="http://schemas.openxmlformats.org/drawingml/2006/main">
              <a:ext uri="{FF2B5EF4-FFF2-40B4-BE49-F238E27FC236}">
                <a16:creationId xmlns:a16="http://schemas.microsoft.com/office/drawing/2014/main" id="{AF934EB7-7E38-4CFF-8EAB-80BBE721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每一天,新北在四百萬雙眼睛裡醒來。有人看見山海,有人看見城市,有人看見孩子上學的路。而有一群人,把這四百萬個目光,看成自己的責任。 </a:t>
            </a:r>
            <a:br/>
            <a:br/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二千零五十二平方公里,從三千公尺的山,到一百二十公里的海岸線;二十九個行政區、四百萬市民,匯聚成臺灣最大的城市。這座城市的每一種樣貌,都值得被看見—而看見,是所有改變的開始 。它由一個個被珍惜的日常，慢慢成為我們共同生活的地方。
而議會要做的第一件事，就是看見。</a:t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br/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 《看見.共好》－ 第5屆新北市議會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CAE6F84A-937D-4012-9C7E-55B839C5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D104B25B-E980-42D1-9EFA-BE86A258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看見.共好｜第一章｜看見城市｜00:00–01:00</a:t>
            </a:r>
          </a:p>
        </p:txBody>
      </p:sp>
      <p:pic>
        <p:nvPicPr>
          <p:cNvPr id="6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59aa700394d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023" y="5921754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4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03DAD1F-11F2-A945-A02A-6E960650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23" y="6941754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3">
            <a:extLst xmlns:a="http://schemas.openxmlformats.org/drawingml/2006/main">
              <a:ext uri="{FF2B5EF4-FFF2-40B4-BE49-F238E27FC236}">
                <a16:creationId xmlns:a16="http://schemas.microsoft.com/office/drawing/2014/main" id="{C5D30FF8-9E40-AB4F-B7F4-9F07E316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23" y="6941754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示意｜北海岸晨光</a:t>
            </a:r>
          </a:p>
        </p:txBody>
      </p:sp>
      <p:pic>
        <p:nvPicPr>
          <p:cNvPr id="65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d5d6376d94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563" y="7318912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7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F4A0646-9402-3046-B843-F3D637B7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63" y="8338912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6">
            <a:extLst xmlns:a="http://schemas.openxmlformats.org/drawingml/2006/main">
              <a:ext uri="{FF2B5EF4-FFF2-40B4-BE49-F238E27FC236}">
                <a16:creationId xmlns:a16="http://schemas.microsoft.com/office/drawing/2014/main" id="{08842983-5B98-6D4A-8C05-1B2CC8EC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563" y="8338912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示意｜淡水河口</a:t>
            </a:r>
          </a:p>
        </p:txBody>
      </p:sp>
      <p:pic>
        <p:nvPicPr>
          <p:cNvPr id="68" name="storyboard-3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88b710a5a41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719150" y="2607911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0" name="storyboard-caption-3-1">
            <a:extLst xmlns:a="http://schemas.openxmlformats.org/drawingml/2006/main">
              <a:ext uri="{FF2B5EF4-FFF2-40B4-BE49-F238E27FC236}">
                <a16:creationId xmlns:a16="http://schemas.microsoft.com/office/drawing/2014/main" id="{733C2518-6643-9E47-8FDC-E8097AFA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719150" y="4161486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01｜晨光穿雲・河岸山稜</a:t>
            </a:r>
          </a:p>
        </p:txBody>
      </p:sp>
      <p:pic>
        <p:nvPicPr>
          <p:cNvPr id="70" name="storyboard-3-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fe3fb5768645a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8106" y="7213425"/>
            <a:ext cx="1913096" cy="1496657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2" name="storyboard-caption-3-2">
            <a:extLst xmlns:a="http://schemas.openxmlformats.org/drawingml/2006/main">
              <a:ext uri="{FF2B5EF4-FFF2-40B4-BE49-F238E27FC236}">
                <a16:creationId xmlns:a16="http://schemas.microsoft.com/office/drawing/2014/main" id="{B81B68E6-F83B-C24C-8679-E17065C2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06" y="8452909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02｜四百萬雙眼睛</a:t>
            </a:r>
          </a:p>
        </p:txBody>
      </p:sp>
      <p:pic>
        <p:nvPicPr>
          <p:cNvPr id="72" name="storyboard-3-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1242669348415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0034" y="8757670"/>
            <a:ext cx="1913096" cy="1208146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4" name="storyboard-caption-3-3">
            <a:extLst xmlns:a="http://schemas.openxmlformats.org/drawingml/2006/main">
              <a:ext uri="{FF2B5EF4-FFF2-40B4-BE49-F238E27FC236}">
                <a16:creationId xmlns:a16="http://schemas.microsoft.com/office/drawing/2014/main" id="{A5412F3D-0F51-5047-9CBA-136CE2F1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34" y="9708641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光點匯聚片名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74" name="storyboard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ec482d36b4c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719150" y="8240187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6" name="storyboard-caption-3-4">
            <a:extLst xmlns:a="http://schemas.openxmlformats.org/drawingml/2006/main">
              <a:ext uri="{FF2B5EF4-FFF2-40B4-BE49-F238E27FC236}">
                <a16:creationId xmlns:a16="http://schemas.microsoft.com/office/drawing/2014/main" id="{A0D7C18E-7960-4A48-8408-A70D5D8F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719150" y="9793762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04｜山海到城市</a:t>
            </a:r>
          </a:p>
        </p:txBody>
      </p:sp>
    </p:spTree>
    <p:extLst>
      <p:ext uri="{BB962C8B-B14F-4D97-AF65-F5344CB8AC3E}">
        <p14:creationId xmlns:p14="http://schemas.microsoft.com/office/powerpoint/2010/main" val="41183890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7">
            <a:extLst xmlns:a="http://schemas.openxmlformats.org/drawingml/2006/main">
              <a:ext uri="{FF2B5EF4-FFF2-40B4-BE49-F238E27FC236}">
                <a16:creationId xmlns:a16="http://schemas.microsoft.com/office/drawing/2014/main" id="{ACFE6A08-BC40-4BAA-8D0D-6C526A6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</a:p>
        </p:txBody>
      </p:sp>
      <p:sp>
        <p:nvSpPr>
          <p:cNvPr id="2" name="scene-title-7">
            <a:extLst xmlns:a="http://schemas.openxmlformats.org/drawingml/2006/main">
              <a:ext uri="{FF2B5EF4-FFF2-40B4-BE49-F238E27FC236}">
                <a16:creationId xmlns:a16="http://schemas.microsoft.com/office/drawing/2014/main" id="{26EF534C-B57B-4787-8F2D-50F3E83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看見傳承(議會沿革 + 第5屆就職)</a:t>
            </a:r>
          </a:p>
        </p:txBody>
      </p:sp>
      <p:sp>
        <p:nvSpPr>
          <p:cNvPr id="3" name="scene-band-7">
            <a:extLst xmlns:a="http://schemas.openxmlformats.org/drawingml/2006/main">
              <a:ext uri="{FF2B5EF4-FFF2-40B4-BE49-F238E27FC236}">
                <a16:creationId xmlns:a16="http://schemas.microsoft.com/office/drawing/2014/main" id="{8393C4EC-950A-4E9C-8564-89AF354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7">
            <a:extLst xmlns:a="http://schemas.openxmlformats.org/drawingml/2006/main">
              <a:ext uri="{FF2B5EF4-FFF2-40B4-BE49-F238E27FC236}">
                <a16:creationId xmlns:a16="http://schemas.microsoft.com/office/drawing/2014/main" id="{DACC5345-6392-47F0-8FA2-DB6AF8D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議會沿革｜讓歷史成為民意的來路</a:t>
            </a:r>
          </a:p>
        </p:txBody>
      </p:sp>
      <p:sp>
        <p:nvSpPr>
          <p:cNvPr id="5" name="scene-duration-7">
            <a:extLst xmlns:a="http://schemas.openxmlformats.org/drawingml/2006/main">
              <a:ext uri="{FF2B5EF4-FFF2-40B4-BE49-F238E27FC236}">
                <a16:creationId xmlns:a16="http://schemas.microsoft.com/office/drawing/2014/main" id="{B35204C9-7809-4719-86DA-7E91C2A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01:00–01:50｜50 秒｜累計 01:50</a:t>
            </a:r>
          </a:p>
        </p:txBody>
      </p:sp>
      <p:sp>
        <p:nvSpPr>
          <p:cNvPr id="6" name="col-head-7-0">
            <a:extLst xmlns:a="http://schemas.openxmlformats.org/drawingml/2006/main">
              <a:ext uri="{FF2B5EF4-FFF2-40B4-BE49-F238E27FC236}">
                <a16:creationId xmlns:a16="http://schemas.microsoft.com/office/drawing/2014/main" id="{E620FC1D-484F-47C0-AF73-A46D09E4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7-0">
            <a:extLst xmlns:a="http://schemas.openxmlformats.org/drawingml/2006/main">
              <a:ext uri="{FF2B5EF4-FFF2-40B4-BE49-F238E27FC236}">
                <a16:creationId xmlns:a16="http://schemas.microsoft.com/office/drawing/2014/main" id="{56467B01-1203-47DC-9CCD-F032CBA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7-0">
            <a:extLst xmlns:a="http://schemas.openxmlformats.org/drawingml/2006/main">
              <a:ext uri="{FF2B5EF4-FFF2-40B4-BE49-F238E27FC236}">
                <a16:creationId xmlns:a16="http://schemas.microsoft.com/office/drawing/2014/main" id="{D418C139-F85D-48B5-B03C-E499016F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7-1">
            <a:extLst xmlns:a="http://schemas.openxmlformats.org/drawingml/2006/main">
              <a:ext uri="{FF2B5EF4-FFF2-40B4-BE49-F238E27FC236}">
                <a16:creationId xmlns:a16="http://schemas.microsoft.com/office/drawing/2014/main" id="{694AF972-F4F0-4F1B-B442-9B41AA2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7-1">
            <a:extLst xmlns:a="http://schemas.openxmlformats.org/drawingml/2006/main">
              <a:ext uri="{FF2B5EF4-FFF2-40B4-BE49-F238E27FC236}">
                <a16:creationId xmlns:a16="http://schemas.microsoft.com/office/drawing/2014/main" id="{6BD60779-984F-4E10-8FBC-E3037481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7-1">
            <a:extLst xmlns:a="http://schemas.openxmlformats.org/drawingml/2006/main">
              <a:ext uri="{FF2B5EF4-FFF2-40B4-BE49-F238E27FC236}">
                <a16:creationId xmlns:a16="http://schemas.microsoft.com/office/drawing/2014/main" id="{3774D5AD-D17B-48FD-AB50-7B98DC2B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7-2">
            <a:extLst xmlns:a="http://schemas.openxmlformats.org/drawingml/2006/main">
              <a:ext uri="{FF2B5EF4-FFF2-40B4-BE49-F238E27FC236}">
                <a16:creationId xmlns:a16="http://schemas.microsoft.com/office/drawing/2014/main" id="{7FA34333-A9AB-49F8-AA9B-6DE6A62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7-2">
            <a:extLst xmlns:a="http://schemas.openxmlformats.org/drawingml/2006/main">
              <a:ext uri="{FF2B5EF4-FFF2-40B4-BE49-F238E27FC236}">
                <a16:creationId xmlns:a16="http://schemas.microsoft.com/office/drawing/2014/main" id="{5634C708-D204-4AF0-8E21-2433F135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7-2">
            <a:extLst xmlns:a="http://schemas.openxmlformats.org/drawingml/2006/main">
              <a:ext uri="{FF2B5EF4-FFF2-40B4-BE49-F238E27FC236}">
                <a16:creationId xmlns:a16="http://schemas.microsoft.com/office/drawing/2014/main" id="{6E6C20E0-E656-400E-9128-F191EA06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7">
            <a:extLst xmlns:a="http://schemas.openxmlformats.org/drawingml/2006/main">
              <a:ext uri="{FF2B5EF4-FFF2-40B4-BE49-F238E27FC236}">
                <a16:creationId xmlns:a16="http://schemas.microsoft.com/office/drawing/2014/main" id="{C3A89C8B-0F7E-4366-8EB7-6FC461BF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05｜舊照片細節：會議桌、名牌、議事槌、手寫文件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06｜臺北縣參議會、歷屆臺北縣議會影像，採疊化與推鏡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07｜民國 99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年改制畫面，舊門牌過渡至「新北市議會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」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08｜現代議場空鏡，座位燈逐排亮起</a:t>
            </a:r>
          </a:p>
        </p:txBody>
      </p:sp>
      <p:sp>
        <p:nvSpPr>
          <p:cNvPr id="16" name="audio-7">
            <a:extLst xmlns:a="http://schemas.openxmlformats.org/drawingml/2006/main">
              <a:ext uri="{FF2B5EF4-FFF2-40B4-BE49-F238E27FC236}">
                <a16:creationId xmlns:a16="http://schemas.microsoft.com/office/drawing/2014/main" id="{FD6B65CB-9B68-44CC-9C50-6FD43AC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老照片以紙張翻頁聲串接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歷史照片修復與調色,以光的軌跡串接年代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音樂加入低音弦樂，維持莊重、清楚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最後一排座位亮起時，接入輕微議場空間聲</a:t>
            </a:r>
          </a:p>
        </p:txBody>
      </p:sp>
      <p:sp>
        <p:nvSpPr>
          <p:cNvPr id="17" name="narration-7">
            <a:extLst xmlns:a="http://schemas.openxmlformats.org/drawingml/2006/main">
              <a:ext uri="{FF2B5EF4-FFF2-40B4-BE49-F238E27FC236}">
                <a16:creationId xmlns:a16="http://schemas.microsoft.com/office/drawing/2014/main" id="{58DF1825-3C7C-41EF-92AA-52862360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民國三十五年，臺北縣參議會開啟地方自治的篇章；歷經十六屆臺北縣議會，地方的聲音在一次次討論、提案與監督中累積。
民國九十九年，臺北縣改制為新北市，議會也以新的名稱，承接不變的責任。
時代改變，城市擴大，七十多年來,這道光不曾熄滅。今天它傳到了第5屆——68席民意在四百萬市民的注視下宣誓:看見民意,守護共好。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看見傳承.民主如光 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從地方自治出發，讓民意一路被看見。</a:t>
            </a:r>
          </a:p>
        </p:txBody>
      </p:sp>
      <p:sp>
        <p:nvSpPr>
          <p:cNvPr id="18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5C9742B-38C9-46CD-A7AB-DC1C0D76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924344D-5F47-4F10-8C53-CD80794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看見.共好｜第一章｜看見城市｜01:00–01:50</a:t>
            </a:r>
          </a:p>
        </p:txBody>
      </p:sp>
      <p:pic>
        <p:nvPicPr>
          <p:cNvPr id="61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3626d6bed43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858" y="5138856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30E4399-EC3D-3E43-BA73-32305380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58" y="6158856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F7ABEE-89B1-004A-B66D-BA2FFC03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58" y="6158856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示意｜議事槌與文件</a:t>
            </a:r>
          </a:p>
        </p:txBody>
      </p:sp>
      <p:pic>
        <p:nvPicPr>
          <p:cNvPr id="64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669f53ff7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858" y="6418856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ED0F2CB-AD20-CB47-B3B6-323789DA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58" y="7438856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ECB8A32-5512-A441-9DFA-36AD194D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58" y="7438856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示意｜會史影像</a:t>
            </a:r>
          </a:p>
        </p:txBody>
      </p:sp>
      <p:sp>
        <p:nvSpPr>
          <p:cNvPr id="28" name="visual-7">
            <a:extLst xmlns:a="http://schemas.openxmlformats.org/drawingml/2006/main">
              <a:ext uri="{FF2B5EF4-FFF2-40B4-BE49-F238E27FC236}">
                <a16:creationId xmlns:a16="http://schemas.microsoft.com/office/drawing/2014/main" id="{EB095FA9-2211-F145-B9B4-B36729E2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04726" y="2836314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68" name="storyboard-4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c24337ce740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04728" y="2836341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0" name="storyboard-caption-4-1">
            <a:extLst xmlns:a="http://schemas.openxmlformats.org/drawingml/2006/main">
              <a:ext uri="{FF2B5EF4-FFF2-40B4-BE49-F238E27FC236}">
                <a16:creationId xmlns:a16="http://schemas.microsoft.com/office/drawing/2014/main" id="{B144E683-05A3-184F-803D-D52003B2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04728" y="4389916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05｜舊照與議事物件</a:t>
            </a:r>
          </a:p>
        </p:txBody>
      </p:sp>
      <p:pic>
        <p:nvPicPr>
          <p:cNvPr id="70" name="storyboard-4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483fadc124b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04728" y="4713766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2" name="storyboard-caption-4-2">
            <a:extLst xmlns:a="http://schemas.openxmlformats.org/drawingml/2006/main">
              <a:ext uri="{FF2B5EF4-FFF2-40B4-BE49-F238E27FC236}">
                <a16:creationId xmlns:a16="http://schemas.microsoft.com/office/drawing/2014/main" id="{E9C5E9C9-F83E-954F-95A2-6252A62D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04728" y="6267342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06｜歷屆議會沿革</a:t>
            </a:r>
          </a:p>
        </p:txBody>
      </p:sp>
      <p:pic>
        <p:nvPicPr>
          <p:cNvPr id="72" name="storyboard-4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388689e1843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855" y="7739521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6" name="storyboard-caption-4-4">
            <a:extLst xmlns:a="http://schemas.openxmlformats.org/drawingml/2006/main">
              <a:ext uri="{FF2B5EF4-FFF2-40B4-BE49-F238E27FC236}">
                <a16:creationId xmlns:a16="http://schemas.microsoft.com/office/drawing/2014/main" id="{8887E06A-1DED-7747-9910-A0EE083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55" y="9293096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現代議場亮燈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0263412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8">
            <a:extLst xmlns:a="http://schemas.openxmlformats.org/drawingml/2006/main">
              <a:ext uri="{FF2B5EF4-FFF2-40B4-BE49-F238E27FC236}">
                <a16:creationId xmlns:a16="http://schemas.microsoft.com/office/drawing/2014/main" id="{1097301B-5D56-476F-AB6A-76B35CE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</a:p>
        </p:txBody>
      </p:sp>
      <p:sp>
        <p:nvSpPr>
          <p:cNvPr id="2" name="scene-title-8">
            <a:extLst xmlns:a="http://schemas.openxmlformats.org/drawingml/2006/main">
              <a:ext uri="{FF2B5EF4-FFF2-40B4-BE49-F238E27FC236}">
                <a16:creationId xmlns:a16="http://schemas.microsoft.com/office/drawing/2014/main" id="{911FA395-526B-4145-8FF0-6945FB8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每一席，都是眾多希望的託付</a:t>
            </a:r>
          </a:p>
        </p:txBody>
      </p:sp>
      <p:sp>
        <p:nvSpPr>
          <p:cNvPr id="3" name="scene-band-8">
            <a:extLst xmlns:a="http://schemas.openxmlformats.org/drawingml/2006/main">
              <a:ext uri="{FF2B5EF4-FFF2-40B4-BE49-F238E27FC236}">
                <a16:creationId xmlns:a16="http://schemas.microsoft.com/office/drawing/2014/main" id="{DFE6FFFD-C6FC-41C6-8913-858D40E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8">
            <a:extLst xmlns:a="http://schemas.openxmlformats.org/drawingml/2006/main">
              <a:ext uri="{FF2B5EF4-FFF2-40B4-BE49-F238E27FC236}">
                <a16:creationId xmlns:a16="http://schemas.microsoft.com/office/drawing/2014/main" id="{4633B294-2359-49BA-AC95-CEECBC96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就職與片名｜從選票走進議事殿堂</a:t>
            </a:r>
          </a:p>
        </p:txBody>
      </p:sp>
      <p:sp>
        <p:nvSpPr>
          <p:cNvPr id="5" name="scene-duration-8">
            <a:extLst xmlns:a="http://schemas.openxmlformats.org/drawingml/2006/main">
              <a:ext uri="{FF2B5EF4-FFF2-40B4-BE49-F238E27FC236}">
                <a16:creationId xmlns:a16="http://schemas.microsoft.com/office/drawing/2014/main" id="{9D8CD050-50DA-4772-84A3-77FB1BD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01:50–02:35｜45 秒｜累計 02:35</a:t>
            </a:r>
          </a:p>
        </p:txBody>
      </p:sp>
      <p:sp>
        <p:nvSpPr>
          <p:cNvPr id="6" name="col-head-8-0">
            <a:extLst xmlns:a="http://schemas.openxmlformats.org/drawingml/2006/main">
              <a:ext uri="{FF2B5EF4-FFF2-40B4-BE49-F238E27FC236}">
                <a16:creationId xmlns:a16="http://schemas.microsoft.com/office/drawing/2014/main" id="{FA140226-8437-4BFD-A94E-D355F2D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8-0">
            <a:extLst xmlns:a="http://schemas.openxmlformats.org/drawingml/2006/main">
              <a:ext uri="{FF2B5EF4-FFF2-40B4-BE49-F238E27FC236}">
                <a16:creationId xmlns:a16="http://schemas.microsoft.com/office/drawing/2014/main" id="{D1F32743-36F9-4D86-A5ED-6143B19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8-0">
            <a:extLst xmlns:a="http://schemas.openxmlformats.org/drawingml/2006/main">
              <a:ext uri="{FF2B5EF4-FFF2-40B4-BE49-F238E27FC236}">
                <a16:creationId xmlns:a16="http://schemas.microsoft.com/office/drawing/2014/main" id="{AD327E27-A5D3-481E-9F23-0F00210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8-1">
            <a:extLst xmlns:a="http://schemas.openxmlformats.org/drawingml/2006/main">
              <a:ext uri="{FF2B5EF4-FFF2-40B4-BE49-F238E27FC236}">
                <a16:creationId xmlns:a16="http://schemas.microsoft.com/office/drawing/2014/main" id="{448FBE10-F158-4FF0-AA55-3F84417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8-1">
            <a:extLst xmlns:a="http://schemas.openxmlformats.org/drawingml/2006/main">
              <a:ext uri="{FF2B5EF4-FFF2-40B4-BE49-F238E27FC236}">
                <a16:creationId xmlns:a16="http://schemas.microsoft.com/office/drawing/2014/main" id="{AA912C21-8DCE-4E78-AE97-80080A6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8-1">
            <a:extLst xmlns:a="http://schemas.openxmlformats.org/drawingml/2006/main">
              <a:ext uri="{FF2B5EF4-FFF2-40B4-BE49-F238E27FC236}">
                <a16:creationId xmlns:a16="http://schemas.microsoft.com/office/drawing/2014/main" id="{347AA2CC-7C70-4C96-9A00-D648D3B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8-2">
            <a:extLst xmlns:a="http://schemas.openxmlformats.org/drawingml/2006/main">
              <a:ext uri="{FF2B5EF4-FFF2-40B4-BE49-F238E27FC236}">
                <a16:creationId xmlns:a16="http://schemas.microsoft.com/office/drawing/2014/main" id="{3B9D1D53-4BA4-491A-8CBB-F2AC72D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8-2">
            <a:extLst xmlns:a="http://schemas.openxmlformats.org/drawingml/2006/main">
              <a:ext uri="{FF2B5EF4-FFF2-40B4-BE49-F238E27FC236}">
                <a16:creationId xmlns:a16="http://schemas.microsoft.com/office/drawing/2014/main" id="{1BF903AF-BE08-4114-8C5C-92657DF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8-2">
            <a:extLst xmlns:a="http://schemas.openxmlformats.org/drawingml/2006/main">
              <a:ext uri="{FF2B5EF4-FFF2-40B4-BE49-F238E27FC236}">
                <a16:creationId xmlns:a16="http://schemas.microsoft.com/office/drawing/2014/main" id="{4BDF6BD1-63D0-4B0B-8986-21A1C0C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8">
            <a:extLst xmlns:a="http://schemas.openxmlformats.org/drawingml/2006/main">
              <a:ext uri="{FF2B5EF4-FFF2-40B4-BE49-F238E27FC236}">
                <a16:creationId xmlns:a16="http://schemas.microsoft.com/office/drawing/2014/main" id="{6C85AA93-CC00-458F-AB52-5DCDA4F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9｜12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月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日就職典禮：報到、胸花、宣誓、簽名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10｜議長／副議長選舉與握手、大合照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11｜句點由選票印記化為節點，連成片名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TITLE｜看見.共好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6" name="audio-8">
            <a:extLst xmlns:a="http://schemas.openxmlformats.org/drawingml/2006/main">
              <a:ext uri="{FF2B5EF4-FFF2-40B4-BE49-F238E27FC236}">
                <a16:creationId xmlns:a16="http://schemas.microsoft.com/office/drawing/2014/main" id="{86015341-79D6-4D49-A268-D8D4141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宣誓段落保留現場原音 8–10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快門聲只保留一次，避免過度煽情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片名出現時音樂第一次完整展開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畫面節奏：個人近景 → 群體全景 → 片名</a:t>
            </a:r>
          </a:p>
        </p:txBody>
      </p:sp>
      <p:sp>
        <p:nvSpPr>
          <p:cNvPr id="17" name="narration-8">
            <a:extLst xmlns:a="http://schemas.openxmlformats.org/drawingml/2006/main">
              <a:ext uri="{FF2B5EF4-FFF2-40B4-BE49-F238E27FC236}">
                <a16:creationId xmlns:a16="http://schemas.microsoft.com/office/drawing/2014/main" id="{05849887-1E41-40D6-8CF0-0629D74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一張選票，是一次託付；一席議員，是一個地區、一群人、一種生活的代表。
民國一百一十五年十二月二十五日，第五屆新北市議會宣誓就職。六十八席民意，從十三個選舉區走進同一座議事殿堂。
在這裡，不同立場將彼此相遇；共同的目標，是讓每一份託付都被認真回應。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【現場原音】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擷取宣誓誓詞重點與全體回應。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C9CEF3A-74C5-46D3-A090-C5CC38E5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BDDD11B-157E-443D-9ADC-9B05C29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看見.共好｜第一章｜看見城市｜01:50–02:35</a:t>
            </a:r>
          </a:p>
        </p:txBody>
      </p:sp>
      <p:pic>
        <p:nvPicPr>
          <p:cNvPr id="5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ecd9507f647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472" y="4798647"/>
            <a:ext cx="1846479" cy="1020000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91206DA-E224-014B-BED7-5AC9954F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2" y="5818647"/>
            <a:ext cx="1846480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453ACD3-0233-964A-84E6-600E4B17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33" y="5818647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示意｜宣誓就職</a:t>
            </a:r>
          </a:p>
        </p:txBody>
      </p:sp>
      <p:pic>
        <p:nvPicPr>
          <p:cNvPr id="55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4a0c7c2414d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918" y="6078647"/>
            <a:ext cx="1875034" cy="10200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02BF4A2-425A-4847-933A-8A1B0C6D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7" y="7098647"/>
            <a:ext cx="1875035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5BD978-B669-3E4D-9AAD-5F914C76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72" y="7088392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示意｜議事殿堂</a:t>
            </a:r>
            <a:endParaRPr sz="90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58" name="storyboard-5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ac1920f3143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855" y="7469233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29" name="storyboard-caption-5-3">
            <a:extLst xmlns:a="http://schemas.openxmlformats.org/drawingml/2006/main">
              <a:ext uri="{FF2B5EF4-FFF2-40B4-BE49-F238E27FC236}">
                <a16:creationId xmlns:a16="http://schemas.microsoft.com/office/drawing/2014/main" id="{24A60682-612A-9E48-AFEC-A57BFA50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55" y="9022808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9"/>
          </a:solidFill>
          <a:ln xmlns:a="http://schemas.openxmlformats.org/drawingml/2006/main" w="0">
            <a:solidFill>
              <a:srgbClr val="0E7C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選票化為節點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40249163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9">
            <a:extLst xmlns:a="http://schemas.openxmlformats.org/drawingml/2006/main">
              <a:ext uri="{FF2B5EF4-FFF2-40B4-BE49-F238E27FC236}">
                <a16:creationId xmlns:a16="http://schemas.microsoft.com/office/drawing/2014/main" id="{F32BBA73-9FE5-4CCC-8461-7F76066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9">
            <a:extLst xmlns:a="http://schemas.openxmlformats.org/drawingml/2006/main">
              <a:ext uri="{FF2B5EF4-FFF2-40B4-BE49-F238E27FC236}">
                <a16:creationId xmlns:a16="http://schemas.microsoft.com/office/drawing/2014/main" id="{82C10CF3-6720-4513-9828-4FD77A39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看見日常 ，選區不是地圖上的切線</a:t>
            </a:r>
          </a:p>
        </p:txBody>
      </p:sp>
      <p:sp>
        <p:nvSpPr>
          <p:cNvPr id="3" name="scene-band-9">
            <a:extLst xmlns:a="http://schemas.openxmlformats.org/drawingml/2006/main">
              <a:ext uri="{FF2B5EF4-FFF2-40B4-BE49-F238E27FC236}">
                <a16:creationId xmlns:a16="http://schemas.microsoft.com/office/drawing/2014/main" id="{32F8FAD0-FE2D-42FD-A9A5-7BE685AC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9">
            <a:extLst xmlns:a="http://schemas.openxmlformats.org/drawingml/2006/main">
              <a:ext uri="{FF2B5EF4-FFF2-40B4-BE49-F238E27FC236}">
                <a16:creationId xmlns:a16="http://schemas.microsoft.com/office/drawing/2014/main" id="{6B3F4B1D-60F1-44A6-8DAA-59C11FF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A｜第 1 至第 4 選舉區</a:t>
            </a:r>
          </a:p>
        </p:txBody>
      </p:sp>
      <p:sp>
        <p:nvSpPr>
          <p:cNvPr id="5" name="scene-duration-9">
            <a:extLst xmlns:a="http://schemas.openxmlformats.org/drawingml/2006/main">
              <a:ext uri="{FF2B5EF4-FFF2-40B4-BE49-F238E27FC236}">
                <a16:creationId xmlns:a16="http://schemas.microsoft.com/office/drawing/2014/main" id="{BF604D09-2527-47BA-A327-52BBCE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02:35–03:20｜45 秒｜累計 03:20</a:t>
            </a:r>
          </a:p>
        </p:txBody>
      </p:sp>
      <p:sp>
        <p:nvSpPr>
          <p:cNvPr id="6" name="col-head-9-0">
            <a:extLst xmlns:a="http://schemas.openxmlformats.org/drawingml/2006/main">
              <a:ext uri="{FF2B5EF4-FFF2-40B4-BE49-F238E27FC236}">
                <a16:creationId xmlns:a16="http://schemas.microsoft.com/office/drawing/2014/main" id="{4F695113-06CA-428D-B42F-8C66E60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9-0">
            <a:extLst xmlns:a="http://schemas.openxmlformats.org/drawingml/2006/main">
              <a:ext uri="{FF2B5EF4-FFF2-40B4-BE49-F238E27FC236}">
                <a16:creationId xmlns:a16="http://schemas.microsoft.com/office/drawing/2014/main" id="{25BD7A16-DAC2-4C12-863A-11D94D2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9-0">
            <a:extLst xmlns:a="http://schemas.openxmlformats.org/drawingml/2006/main">
              <a:ext uri="{FF2B5EF4-FFF2-40B4-BE49-F238E27FC236}">
                <a16:creationId xmlns:a16="http://schemas.microsoft.com/office/drawing/2014/main" id="{80355854-ECB3-42EF-AC06-B821C4F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9-1">
            <a:extLst xmlns:a="http://schemas.openxmlformats.org/drawingml/2006/main">
              <a:ext uri="{FF2B5EF4-FFF2-40B4-BE49-F238E27FC236}">
                <a16:creationId xmlns:a16="http://schemas.microsoft.com/office/drawing/2014/main" id="{2089D4FE-DD5F-4FE5-9461-B70F8CE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9-1">
            <a:extLst xmlns:a="http://schemas.openxmlformats.org/drawingml/2006/main">
              <a:ext uri="{FF2B5EF4-FFF2-40B4-BE49-F238E27FC236}">
                <a16:creationId xmlns:a16="http://schemas.microsoft.com/office/drawing/2014/main" id="{17D168C8-C09A-4AF6-A16B-ECEC746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9-1">
            <a:extLst xmlns:a="http://schemas.openxmlformats.org/drawingml/2006/main">
              <a:ext uri="{FF2B5EF4-FFF2-40B4-BE49-F238E27FC236}">
                <a16:creationId xmlns:a16="http://schemas.microsoft.com/office/drawing/2014/main" id="{4E5088CE-5FD4-4995-8AD5-A311D86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9-2">
            <a:extLst xmlns:a="http://schemas.openxmlformats.org/drawingml/2006/main">
              <a:ext uri="{FF2B5EF4-FFF2-40B4-BE49-F238E27FC236}">
                <a16:creationId xmlns:a16="http://schemas.microsoft.com/office/drawing/2014/main" id="{C5A9A1CE-C4C8-4E7A-99D2-D1DC89CE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9-2">
            <a:extLst xmlns:a="http://schemas.openxmlformats.org/drawingml/2006/main">
              <a:ext uri="{FF2B5EF4-FFF2-40B4-BE49-F238E27FC236}">
                <a16:creationId xmlns:a16="http://schemas.microsoft.com/office/drawing/2014/main" id="{6CD2343E-D896-401E-9ECC-D828DDD7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9-2">
            <a:extLst xmlns:a="http://schemas.openxmlformats.org/drawingml/2006/main">
              <a:ext uri="{FF2B5EF4-FFF2-40B4-BE49-F238E27FC236}">
                <a16:creationId xmlns:a16="http://schemas.microsoft.com/office/drawing/2014/main" id="{651EFEFD-1FA3-40E3-80D4-A306FD9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9">
            <a:extLst xmlns:a="http://schemas.openxmlformats.org/drawingml/2006/main">
              <a:ext uri="{FF2B5EF4-FFF2-40B4-BE49-F238E27FC236}">
                <a16:creationId xmlns:a16="http://schemas.microsoft.com/office/drawing/2014/main" id="{E1653382-33CE-4D33-B439-6D9C5F9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選區｜石門、三芝、淡水、八里：海岸、漁港、老街、輕軌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選區｜林口、五股、泰山：新市鎮、產業、交通節點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3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選區｜新莊：老街、工業脈絡、住宅與副都心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4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選區｜蘆洲、三重：河岸、密集街區、通勤與市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場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9">
            <a:extLst xmlns:a="http://schemas.openxmlformats.org/drawingml/2006/main">
              <a:ext uri="{FF2B5EF4-FFF2-40B4-BE49-F238E27FC236}">
                <a16:creationId xmlns:a16="http://schemas.microsoft.com/office/drawing/2014/main" id="{F17FDDF7-1CED-4059-ADF5-8C1CAF5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以列車行進節奏串連選區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每個選區保留一個辨識度高的環境音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區名採固定位置出現，避免像觀光廣告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地圖只做定位，不做主畫面</a:t>
            </a:r>
          </a:p>
        </p:txBody>
      </p:sp>
      <p:sp>
        <p:nvSpPr>
          <p:cNvPr id="17" name="narration-9">
            <a:extLst xmlns:a="http://schemas.openxmlformats.org/drawingml/2006/main">
              <a:ext uri="{FF2B5EF4-FFF2-40B4-BE49-F238E27FC236}">
                <a16:creationId xmlns:a16="http://schemas.microsoft.com/office/drawing/2014/main" id="{C35A4969-855D-448E-BD3C-DE5B4CA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每一個選舉區，不只是地圖上的切線，而是多種觀看城市的角度。
從石門、三芝、淡水與八里的海風吹進城市；到林口、五股、泰山快速成長的新生活；新莊在產業記憶與新都心之間持續前進；蘆洲、三重沿著河岸與街巷，承接最密集也最真切的日常。
地方不同，關心的事不同；每一種生活，都應該有被理解的位置。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1–4 選舉區｜海岸．成長．新舊交會．河岸生活</a:t>
            </a:r>
          </a:p>
        </p:txBody>
      </p:sp>
      <p:sp>
        <p:nvSpPr>
          <p:cNvPr id="18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6B3BD034-9D76-4B3E-A7A7-131E95F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9AEE0355-6949-4F35-8152-9F38282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看見.共好｜第二章｜看見每一種生活｜02:35–03:20</a:t>
            </a:r>
          </a:p>
        </p:txBody>
      </p:sp>
      <p:pic>
        <p:nvPicPr>
          <p:cNvPr id="6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0dec46487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6387" y="6932448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7FA8B20-9E53-F249-A535-9C87D5B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387" y="7952448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F90AC23-0D72-7048-9A5D-4AC0526D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387" y="7952448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示意｜淡水河岸</a:t>
            </a:r>
          </a:p>
        </p:txBody>
      </p:sp>
      <p:pic>
        <p:nvPicPr>
          <p:cNvPr id="65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77459aea845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6387" y="8212448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83466D7-5E3D-E245-B502-4C8C4F0F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387" y="9232448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8AC3C3E-A127-D146-ACC1-8F258F42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387" y="9232448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示意｜河岸日常</a:t>
            </a:r>
          </a:p>
        </p:txBody>
      </p:sp>
      <p:sp>
        <p:nvSpPr>
          <p:cNvPr id="28" name="visual-9">
            <a:extLst xmlns:a="http://schemas.openxmlformats.org/drawingml/2006/main">
              <a:ext uri="{FF2B5EF4-FFF2-40B4-BE49-F238E27FC236}">
                <a16:creationId xmlns:a16="http://schemas.microsoft.com/office/drawing/2014/main" id="{A607019A-874C-964E-9C4A-13FDDCE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77587" y="6596154"/>
            <a:ext cx="1482148" cy="5788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 sz="800"/>
          </a:p>
        </p:txBody>
      </p:sp>
      <p:pic>
        <p:nvPicPr>
          <p:cNvPr id="69" name="storyboard-6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1788d3ec548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984" y="5187872"/>
            <a:ext cx="1487880" cy="1408282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0" name="storyboard-caption-6-1">
            <a:extLst xmlns:a="http://schemas.openxmlformats.org/drawingml/2006/main">
              <a:ext uri="{FF2B5EF4-FFF2-40B4-BE49-F238E27FC236}">
                <a16:creationId xmlns:a16="http://schemas.microsoft.com/office/drawing/2014/main" id="{00644663-E3B8-674C-A46C-9EE62A72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22" y="6396140"/>
            <a:ext cx="1482142" cy="2000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第1選區｜海岸・漁港・輕軌</a:t>
            </a:r>
          </a:p>
        </p:txBody>
      </p:sp>
      <p:pic>
        <p:nvPicPr>
          <p:cNvPr id="71" name="storyboard-6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5e305535a45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532" y="6681547"/>
            <a:ext cx="1487880" cy="1408282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2" name="storyboard-caption-6-2">
            <a:extLst xmlns:a="http://schemas.openxmlformats.org/drawingml/2006/main">
              <a:ext uri="{FF2B5EF4-FFF2-40B4-BE49-F238E27FC236}">
                <a16:creationId xmlns:a16="http://schemas.microsoft.com/office/drawing/2014/main" id="{6A7B570C-D409-D648-9DDF-E76BEC27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70" y="7889816"/>
            <a:ext cx="1482142" cy="2000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第2選區｜市鎮・產業・交通</a:t>
            </a:r>
          </a:p>
        </p:txBody>
      </p:sp>
      <p:pic>
        <p:nvPicPr>
          <p:cNvPr id="73" name="storyboard-6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06fc2566f45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532" y="8191769"/>
            <a:ext cx="1487880" cy="1408282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4" name="storyboard-caption-6-3">
            <a:extLst xmlns:a="http://schemas.openxmlformats.org/drawingml/2006/main">
              <a:ext uri="{FF2B5EF4-FFF2-40B4-BE49-F238E27FC236}">
                <a16:creationId xmlns:a16="http://schemas.microsoft.com/office/drawing/2014/main" id="{30BD5107-2E30-E349-845F-2A332289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70" y="9400037"/>
            <a:ext cx="1482142" cy="2000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第3選區｜老街・工業・副都心</a:t>
            </a:r>
          </a:p>
        </p:txBody>
      </p:sp>
      <p:pic>
        <p:nvPicPr>
          <p:cNvPr id="75" name="storyboard-6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f7bc95d064a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1790" y="8204719"/>
            <a:ext cx="1487880" cy="1408282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6" name="storyboard-caption-6-4">
            <a:extLst xmlns:a="http://schemas.openxmlformats.org/drawingml/2006/main">
              <a:ext uri="{FF2B5EF4-FFF2-40B4-BE49-F238E27FC236}">
                <a16:creationId xmlns:a16="http://schemas.microsoft.com/office/drawing/2014/main" id="{4896485E-29EA-3F42-A89E-8E66E359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528" y="9412987"/>
            <a:ext cx="1482142" cy="2000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第4選區｜河岸・市場・通勤</a:t>
            </a:r>
          </a:p>
        </p:txBody>
      </p:sp>
    </p:spTree>
    <p:extLst>
      <p:ext uri="{BB962C8B-B14F-4D97-AF65-F5344CB8AC3E}">
        <p14:creationId xmlns:p14="http://schemas.microsoft.com/office/powerpoint/2010/main" val="2300929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0">
            <a:extLst xmlns:a="http://schemas.openxmlformats.org/drawingml/2006/main">
              <a:ext uri="{FF2B5EF4-FFF2-40B4-BE49-F238E27FC236}">
                <a16:creationId xmlns:a16="http://schemas.microsoft.com/office/drawing/2014/main" id="{C281F7DE-940F-4699-9650-023ECFEC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10">
            <a:extLst xmlns:a="http://schemas.openxmlformats.org/drawingml/2006/main">
              <a:ext uri="{FF2B5EF4-FFF2-40B4-BE49-F238E27FC236}">
                <a16:creationId xmlns:a16="http://schemas.microsoft.com/office/drawing/2014/main" id="{78A2B83A-653B-4321-8CE7-5552FEF8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城市的尺度不同，生活的重量相同</a:t>
            </a:r>
          </a:p>
        </p:txBody>
      </p:sp>
      <p:sp>
        <p:nvSpPr>
          <p:cNvPr id="3" name="scene-band-10">
            <a:extLst xmlns:a="http://schemas.openxmlformats.org/drawingml/2006/main">
              <a:ext uri="{FF2B5EF4-FFF2-40B4-BE49-F238E27FC236}">
                <a16:creationId xmlns:a16="http://schemas.microsoft.com/office/drawing/2014/main" id="{0D6575CB-EC13-44C5-ABBD-86B8BA6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0">
            <a:extLst xmlns:a="http://schemas.openxmlformats.org/drawingml/2006/main">
              <a:ext uri="{FF2B5EF4-FFF2-40B4-BE49-F238E27FC236}">
                <a16:creationId xmlns:a16="http://schemas.microsoft.com/office/drawing/2014/main" id="{EB89592C-06CF-42BB-8DFC-3517818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B｜第 5 至第 8 選舉區</a:t>
            </a:r>
          </a:p>
        </p:txBody>
      </p:sp>
      <p:sp>
        <p:nvSpPr>
          <p:cNvPr id="5" name="scene-duration-10">
            <a:extLst xmlns:a="http://schemas.openxmlformats.org/drawingml/2006/main">
              <a:ext uri="{FF2B5EF4-FFF2-40B4-BE49-F238E27FC236}">
                <a16:creationId xmlns:a16="http://schemas.microsoft.com/office/drawing/2014/main" id="{DDE0D45A-8960-4815-8D6F-69C586D4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03:20–04:05｜45 秒｜累計 04:05</a:t>
            </a:r>
          </a:p>
        </p:txBody>
      </p:sp>
      <p:sp>
        <p:nvSpPr>
          <p:cNvPr id="6" name="col-head-10-0">
            <a:extLst xmlns:a="http://schemas.openxmlformats.org/drawingml/2006/main">
              <a:ext uri="{FF2B5EF4-FFF2-40B4-BE49-F238E27FC236}">
                <a16:creationId xmlns:a16="http://schemas.microsoft.com/office/drawing/2014/main" id="{5C724964-1140-44EA-BFD1-72FF855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0-0">
            <a:extLst xmlns:a="http://schemas.openxmlformats.org/drawingml/2006/main">
              <a:ext uri="{FF2B5EF4-FFF2-40B4-BE49-F238E27FC236}">
                <a16:creationId xmlns:a16="http://schemas.microsoft.com/office/drawing/2014/main" id="{5D66FFBA-DFFA-437E-A659-05526CC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0-0">
            <a:extLst xmlns:a="http://schemas.openxmlformats.org/drawingml/2006/main">
              <a:ext uri="{FF2B5EF4-FFF2-40B4-BE49-F238E27FC236}">
                <a16:creationId xmlns:a16="http://schemas.microsoft.com/office/drawing/2014/main" id="{66AD9FB9-F18E-4E23-B95E-30738E12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8817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0-1">
            <a:extLst xmlns:a="http://schemas.openxmlformats.org/drawingml/2006/main">
              <a:ext uri="{FF2B5EF4-FFF2-40B4-BE49-F238E27FC236}">
                <a16:creationId xmlns:a16="http://schemas.microsoft.com/office/drawing/2014/main" id="{6C8615C3-7090-4A78-A7E4-54F50B76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0-1">
            <a:extLst xmlns:a="http://schemas.openxmlformats.org/drawingml/2006/main">
              <a:ext uri="{FF2B5EF4-FFF2-40B4-BE49-F238E27FC236}">
                <a16:creationId xmlns:a16="http://schemas.microsoft.com/office/drawing/2014/main" id="{1FD902C9-32B1-4685-811F-352F845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0-1">
            <a:extLst xmlns:a="http://schemas.openxmlformats.org/drawingml/2006/main">
              <a:ext uri="{FF2B5EF4-FFF2-40B4-BE49-F238E27FC236}">
                <a16:creationId xmlns:a16="http://schemas.microsoft.com/office/drawing/2014/main" id="{2C6FC810-35E0-4E74-81E5-3DB8EC6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8817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0-2">
            <a:extLst xmlns:a="http://schemas.openxmlformats.org/drawingml/2006/main">
              <a:ext uri="{FF2B5EF4-FFF2-40B4-BE49-F238E27FC236}">
                <a16:creationId xmlns:a16="http://schemas.microsoft.com/office/drawing/2014/main" id="{A476EC80-113D-440F-B95F-22D3F99B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0-2">
            <a:extLst xmlns:a="http://schemas.openxmlformats.org/drawingml/2006/main">
              <a:ext uri="{FF2B5EF4-FFF2-40B4-BE49-F238E27FC236}">
                <a16:creationId xmlns:a16="http://schemas.microsoft.com/office/drawing/2014/main" id="{B773C727-6C03-4A73-A9FD-8724540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0-2">
            <a:extLst xmlns:a="http://schemas.openxmlformats.org/drawingml/2006/main">
              <a:ext uri="{FF2B5EF4-FFF2-40B4-BE49-F238E27FC236}">
                <a16:creationId xmlns:a16="http://schemas.microsoft.com/office/drawing/2014/main" id="{64E405FA-5360-44A3-9D80-35B009C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8998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0">
            <a:extLst xmlns:a="http://schemas.openxmlformats.org/drawingml/2006/main">
              <a:ext uri="{FF2B5EF4-FFF2-40B4-BE49-F238E27FC236}">
                <a16:creationId xmlns:a16="http://schemas.microsoft.com/office/drawing/2014/main" id="{D663D4D6-DA5D-4D26-8D6B-94BCDBF3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選區｜板橋：議會、市府、車站、文化街區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6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選區｜中和：住宅、產業園區、通勤節點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7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選區｜永和：巷弄、公園、橋梁與高密度生活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8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選區｜樹林、鶯歌、土城、三峽：陶瓷、老街、產業、校園、山景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0">
            <a:extLst xmlns:a="http://schemas.openxmlformats.org/drawingml/2006/main">
              <a:ext uri="{FF2B5EF4-FFF2-40B4-BE49-F238E27FC236}">
                <a16:creationId xmlns:a16="http://schemas.microsoft.com/office/drawing/2014/main" id="{F9B5E15C-F5BF-45F8-8FEB-8962159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聲音由都會節奏轉入陶土、樹葉與校園環境音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切換速度略加快，再於三峽河岸停留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不使用口號式配樂；以生活感維持可信度</a:t>
            </a:r>
          </a:p>
        </p:txBody>
      </p:sp>
      <p:sp>
        <p:nvSpPr>
          <p:cNvPr id="17" name="narration-10">
            <a:extLst xmlns:a="http://schemas.openxmlformats.org/drawingml/2006/main">
              <a:ext uri="{FF2B5EF4-FFF2-40B4-BE49-F238E27FC236}">
                <a16:creationId xmlns:a16="http://schemas.microsoft.com/office/drawing/2014/main" id="{520D18EE-E5D0-4AB1-AD9E-84AFB0A7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板橋是行政與交通交會的核心；中和在居住、產業與通勤之間尋找更好的平衡；永和以緊密的城市尺度，讓每一寸公共空間都格外重要。
再往西南，樹林、鶯歌、土城與三峽，把產業、工藝、校園、河川與山景放進同一幅生活圖像。
有的需求來自快速成長，有的來自老城更新；城市的尺度不同，生活的重量相同。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5–8 選舉區｜核心．密度．公共空間．文化與產業</a:t>
            </a:r>
          </a:p>
        </p:txBody>
      </p:sp>
      <p:sp>
        <p:nvSpPr>
          <p:cNvPr id="19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A75E96F3-3F55-4439-99EF-76B7AB9B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看見.共好｜第二章｜看見每一種生活｜03:20–04:05</a:t>
            </a:r>
          </a:p>
        </p:txBody>
      </p:sp>
      <p:pic>
        <p:nvPicPr>
          <p:cNvPr id="6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7939c22cc43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3783" y="5142865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14CF0DD-51F8-EB4C-BE4F-4CB5D60A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783" y="6162865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399A2EA-2371-2347-B1E5-6D9D0DA2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783" y="6162865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示意｜板橋核心</a:t>
            </a:r>
          </a:p>
        </p:txBody>
      </p:sp>
      <p:pic>
        <p:nvPicPr>
          <p:cNvPr id="65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6bcbf7bd64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3783" y="6422865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B521481-9B50-CA44-90E9-B0EBAD13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783" y="7442865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05E284C-EA83-A54E-B31C-3A32010F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783" y="7442865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示意｜三峽老街</a:t>
            </a:r>
          </a:p>
        </p:txBody>
      </p:sp>
      <p:sp>
        <p:nvSpPr>
          <p:cNvPr id="29" name="visual-10">
            <a:extLst xmlns:a="http://schemas.openxmlformats.org/drawingml/2006/main">
              <a:ext uri="{FF2B5EF4-FFF2-40B4-BE49-F238E27FC236}">
                <a16:creationId xmlns:a16="http://schemas.microsoft.com/office/drawing/2014/main" id="{D265395C-A0D1-7A46-A4A3-D66EA440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04726" y="2474663"/>
            <a:ext cx="1913104" cy="7442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 sz="800"/>
          </a:p>
        </p:txBody>
      </p:sp>
      <p:pic>
        <p:nvPicPr>
          <p:cNvPr id="69" name="storyboard-7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d286d060643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892" y="4627355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1" name="storyboard-caption-7-1">
            <a:extLst xmlns:a="http://schemas.openxmlformats.org/drawingml/2006/main">
              <a:ext uri="{FF2B5EF4-FFF2-40B4-BE49-F238E27FC236}">
                <a16:creationId xmlns:a16="http://schemas.microsoft.com/office/drawing/2014/main" id="{8D1F026E-71AA-F445-A2AF-99A0E7FE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92" y="6180930"/>
            <a:ext cx="1913096" cy="25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第5選區｜議會・市府・車站</a:t>
            </a:r>
          </a:p>
        </p:txBody>
      </p:sp>
      <p:pic>
        <p:nvPicPr>
          <p:cNvPr id="71" name="storyboard-7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290312a974d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892" y="6501075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3" name="storyboard-caption-7-2">
            <a:extLst xmlns:a="http://schemas.openxmlformats.org/drawingml/2006/main">
              <a:ext uri="{FF2B5EF4-FFF2-40B4-BE49-F238E27FC236}">
                <a16:creationId xmlns:a16="http://schemas.microsoft.com/office/drawing/2014/main" id="{ED183727-A75C-4846-B5AC-44DF2E7D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92" y="8054651"/>
            <a:ext cx="1913096" cy="25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第6選區｜住宅・產業・通勤</a:t>
            </a:r>
          </a:p>
        </p:txBody>
      </p:sp>
      <p:pic>
        <p:nvPicPr>
          <p:cNvPr id="73" name="storyboard-7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ba94a4abd46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917" y="8412474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5" name="storyboard-caption-7-3">
            <a:extLst xmlns:a="http://schemas.openxmlformats.org/drawingml/2006/main">
              <a:ext uri="{FF2B5EF4-FFF2-40B4-BE49-F238E27FC236}">
                <a16:creationId xmlns:a16="http://schemas.microsoft.com/office/drawing/2014/main" id="{BC7D9575-5502-764A-87CE-592D20F3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7" y="9966049"/>
            <a:ext cx="1913096" cy="25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第7選區｜巷弄・公園・橋梁</a:t>
            </a:r>
          </a:p>
        </p:txBody>
      </p:sp>
      <p:pic>
        <p:nvPicPr>
          <p:cNvPr id="75" name="storyboard-7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0fadb8db44e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3555" y="8374608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7" name="storyboard-caption-7-4">
            <a:extLst xmlns:a="http://schemas.openxmlformats.org/drawingml/2006/main">
              <a:ext uri="{FF2B5EF4-FFF2-40B4-BE49-F238E27FC236}">
                <a16:creationId xmlns:a16="http://schemas.microsoft.com/office/drawing/2014/main" id="{7315FE40-0E98-BD46-9046-40DFDA1A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55" y="9928183"/>
            <a:ext cx="1913096" cy="25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16"/>
          </a:solidFill>
          <a:ln xmlns:a="http://schemas.openxmlformats.org/drawingml/2006/main" w="0">
            <a:solidFill>
              <a:srgbClr val="D78A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第8選區｜陶瓷・老街・山景</a:t>
            </a:r>
          </a:p>
        </p:txBody>
      </p:sp>
    </p:spTree>
    <p:extLst>
      <p:ext uri="{BB962C8B-B14F-4D97-AF65-F5344CB8AC3E}">
        <p14:creationId xmlns:p14="http://schemas.microsoft.com/office/powerpoint/2010/main" val="11520602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1">
            <a:extLst xmlns:a="http://schemas.openxmlformats.org/drawingml/2006/main">
              <a:ext uri="{FF2B5EF4-FFF2-40B4-BE49-F238E27FC236}">
                <a16:creationId xmlns:a16="http://schemas.microsoft.com/office/drawing/2014/main" id="{E0EB8D69-DFB5-48B4-9A42-4026439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11">
            <a:extLst xmlns:a="http://schemas.openxmlformats.org/drawingml/2006/main">
              <a:ext uri="{FF2B5EF4-FFF2-40B4-BE49-F238E27FC236}">
                <a16:creationId xmlns:a16="http://schemas.microsoft.com/office/drawing/2014/main" id="{06AF4F81-449B-404A-AE7C-3A9D4AF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看見地理，</a:t>
            </a:r>
            <a:r>
              <a:rPr sz="2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多元共榮的日常</a:t>
            </a:r>
          </a:p>
        </p:txBody>
      </p:sp>
      <p:sp>
        <p:nvSpPr>
          <p:cNvPr id="3" name="scene-band-11">
            <a:extLst xmlns:a="http://schemas.openxmlformats.org/drawingml/2006/main">
              <a:ext uri="{FF2B5EF4-FFF2-40B4-BE49-F238E27FC236}">
                <a16:creationId xmlns:a16="http://schemas.microsoft.com/office/drawing/2014/main" id="{A30C5B9A-8240-484C-AF40-3D84FE2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1">
            <a:extLst xmlns:a="http://schemas.openxmlformats.org/drawingml/2006/main">
              <a:ext uri="{FF2B5EF4-FFF2-40B4-BE49-F238E27FC236}">
                <a16:creationId xmlns:a16="http://schemas.microsoft.com/office/drawing/2014/main" id="{75807745-5229-4A27-973C-14E3199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C｜第 9 至第 13 選舉區</a:t>
            </a:r>
          </a:p>
        </p:txBody>
      </p:sp>
      <p:sp>
        <p:nvSpPr>
          <p:cNvPr id="5" name="scene-duration-11">
            <a:extLst xmlns:a="http://schemas.openxmlformats.org/drawingml/2006/main">
              <a:ext uri="{FF2B5EF4-FFF2-40B4-BE49-F238E27FC236}">
                <a16:creationId xmlns:a16="http://schemas.microsoft.com/office/drawing/2014/main" id="{FA79D0A4-8702-480F-B814-65E5883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04:05–04:55｜50 秒｜累計 04:55</a:t>
            </a:r>
          </a:p>
        </p:txBody>
      </p:sp>
      <p:sp>
        <p:nvSpPr>
          <p:cNvPr id="6" name="col-head-11-0">
            <a:extLst xmlns:a="http://schemas.openxmlformats.org/drawingml/2006/main">
              <a:ext uri="{FF2B5EF4-FFF2-40B4-BE49-F238E27FC236}">
                <a16:creationId xmlns:a16="http://schemas.microsoft.com/office/drawing/2014/main" id="{95195B70-8CE1-47E3-A063-35C1971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1-0">
            <a:extLst xmlns:a="http://schemas.openxmlformats.org/drawingml/2006/main">
              <a:ext uri="{FF2B5EF4-FFF2-40B4-BE49-F238E27FC236}">
                <a16:creationId xmlns:a16="http://schemas.microsoft.com/office/drawing/2014/main" id="{A4827FA2-4A32-4ACA-9B1B-9F0A5B2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1-0">
            <a:extLst xmlns:a="http://schemas.openxmlformats.org/drawingml/2006/main">
              <a:ext uri="{FF2B5EF4-FFF2-40B4-BE49-F238E27FC236}">
                <a16:creationId xmlns:a16="http://schemas.microsoft.com/office/drawing/2014/main" id="{F143B225-C48D-4524-9652-8E68083F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1-1">
            <a:extLst xmlns:a="http://schemas.openxmlformats.org/drawingml/2006/main">
              <a:ext uri="{FF2B5EF4-FFF2-40B4-BE49-F238E27FC236}">
                <a16:creationId xmlns:a16="http://schemas.microsoft.com/office/drawing/2014/main" id="{09B21417-1348-496E-9827-E14F035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1-1">
            <a:extLst xmlns:a="http://schemas.openxmlformats.org/drawingml/2006/main">
              <a:ext uri="{FF2B5EF4-FFF2-40B4-BE49-F238E27FC236}">
                <a16:creationId xmlns:a16="http://schemas.microsoft.com/office/drawing/2014/main" id="{8B1186FE-95A3-4EC3-BE80-108502A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1-1">
            <a:extLst xmlns:a="http://schemas.openxmlformats.org/drawingml/2006/main">
              <a:ext uri="{FF2B5EF4-FFF2-40B4-BE49-F238E27FC236}">
                <a16:creationId xmlns:a16="http://schemas.microsoft.com/office/drawing/2014/main" id="{5D6B82CE-8B10-4BD1-B5F2-D10F640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1-2">
            <a:extLst xmlns:a="http://schemas.openxmlformats.org/drawingml/2006/main">
              <a:ext uri="{FF2B5EF4-FFF2-40B4-BE49-F238E27FC236}">
                <a16:creationId xmlns:a16="http://schemas.microsoft.com/office/drawing/2014/main" id="{5AC3CD6A-C5D5-48D0-B631-A87F9225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1-2">
            <a:extLst xmlns:a="http://schemas.openxmlformats.org/drawingml/2006/main">
              <a:ext uri="{FF2B5EF4-FFF2-40B4-BE49-F238E27FC236}">
                <a16:creationId xmlns:a16="http://schemas.microsoft.com/office/drawing/2014/main" id="{0DA077E1-FC0C-479A-BAC2-0C44D489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1-2">
            <a:extLst xmlns:a="http://schemas.openxmlformats.org/drawingml/2006/main">
              <a:ext uri="{FF2B5EF4-FFF2-40B4-BE49-F238E27FC236}">
                <a16:creationId xmlns:a16="http://schemas.microsoft.com/office/drawing/2014/main" id="{0A8E323D-93BF-44EE-AF90-4324C65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1">
            <a:extLst xmlns:a="http://schemas.openxmlformats.org/drawingml/2006/main">
              <a:ext uri="{FF2B5EF4-FFF2-40B4-BE49-F238E27FC236}">
                <a16:creationId xmlns:a16="http://schemas.microsoft.com/office/drawing/2014/main" id="{FB48F3C2-4955-4D77-B31C-A9C6AF76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9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選區｜新店、深坑、石碇、坪林、烏來：溪谷、茶鄉、山路、部落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10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選區｜平溪、瑞芳、雙溪、貢寮：山城、鐵道、海岸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11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選區｜金山、萬里、汐止：漁港、溫泉、科技與通勤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12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選區｜平地原住民：跨行政區的族人生活與文化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13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選區｜山地原住民：部落、語言、工藝、土地連結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1">
            <a:extLst xmlns:a="http://schemas.openxmlformats.org/drawingml/2006/main">
              <a:ext uri="{FF2B5EF4-FFF2-40B4-BE49-F238E27FC236}">
                <a16:creationId xmlns:a16="http://schemas.microsoft.com/office/drawing/2014/main" id="{CDDBCA6B-8D73-4238-93A5-C3EB67B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溪流與鐵道聲串起山海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進入原住民選區時，採現場族語問候或經授權歌聲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音樂不挪用儀式性歌謠；文化素材先取得族群同意</a:t>
            </a:r>
          </a:p>
        </p:txBody>
      </p:sp>
      <p:sp>
        <p:nvSpPr>
          <p:cNvPr id="17" name="narration-11">
            <a:extLst xmlns:a="http://schemas.openxmlformats.org/drawingml/2006/main">
              <a:ext uri="{FF2B5EF4-FFF2-40B4-BE49-F238E27FC236}">
                <a16:creationId xmlns:a16="http://schemas.microsoft.com/office/drawing/2014/main" id="{ED750354-02C6-477D-A4D4-26ED126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新店、深坑、石碇、坪林與烏來，沿著溪谷連結都會、茶鄉與部落；平溪、瑞芳、雙溪、貢寮，讓山城、鐵道與海岸彼此相望；金山、萬里、汐止，則把海洋、溫泉、科技與通勤生活連成一線。
還有跨越行政邊界的平地與山地原住民選區，讓族人的生活、語言與文化，在城市裡持續被看見。
十三個選區，六十八席民意；每一席，都連著一群人的現在與未來，多元,不只是共處——是彼此看見,一起變好。 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9–13 選舉區｜山海．城鄉．族群．文化傳承</a:t>
            </a:r>
          </a:p>
        </p:txBody>
      </p:sp>
      <p:sp>
        <p:nvSpPr>
          <p:cNvPr id="18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307C2E46-CB21-4E72-96C5-7C266A4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F030A3B7-1391-447F-876D-859A8D1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看見.共好｜第二章｜看見每一種生活｜04:05–04:55</a:t>
            </a:r>
          </a:p>
        </p:txBody>
      </p:sp>
      <p:pic>
        <p:nvPicPr>
          <p:cNvPr id="49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25102023a44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883" y="6888344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76DD6E5-5DB5-8244-BB6B-EB0BCDEA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7908344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9BE6CD1-0F51-FA43-AF4E-1BABE829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3" y="7908344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示意｜烏來溪谷</a:t>
            </a:r>
          </a:p>
        </p:txBody>
      </p:sp>
      <p:pic>
        <p:nvPicPr>
          <p:cNvPr id="52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d2d6fea2f4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883" y="8168344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88CF94-99E8-6E4A-972F-AD45030D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9188344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9814955-9F58-2343-A222-6FE7203C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3" y="9188344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示意｜九份山城</a:t>
            </a:r>
          </a:p>
        </p:txBody>
      </p:sp>
    </p:spTree>
    <p:extLst>
      <p:ext uri="{BB962C8B-B14F-4D97-AF65-F5344CB8AC3E}">
        <p14:creationId xmlns:p14="http://schemas.microsoft.com/office/powerpoint/2010/main" val="3339476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2">
            <a:extLst xmlns:a="http://schemas.openxmlformats.org/drawingml/2006/main">
              <a:ext uri="{FF2B5EF4-FFF2-40B4-BE49-F238E27FC236}">
                <a16:creationId xmlns:a16="http://schemas.microsoft.com/office/drawing/2014/main" id="{AADA789A-459B-4608-9F38-615BB58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</a:p>
        </p:txBody>
      </p:sp>
      <p:sp>
        <p:nvSpPr>
          <p:cNvPr id="2" name="scene-title-12">
            <a:extLst xmlns:a="http://schemas.openxmlformats.org/drawingml/2006/main">
              <a:ext uri="{FF2B5EF4-FFF2-40B4-BE49-F238E27FC236}">
                <a16:creationId xmlns:a16="http://schemas.microsoft.com/office/drawing/2014/main" id="{68A5CFED-7FBE-44C8-9D5B-3693F11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看見民意，面對問題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2">
            <a:extLst xmlns:a="http://schemas.openxmlformats.org/drawingml/2006/main">
              <a:ext uri="{FF2B5EF4-FFF2-40B4-BE49-F238E27FC236}">
                <a16:creationId xmlns:a16="http://schemas.microsoft.com/office/drawing/2014/main" id="{704ABBD9-266D-495A-868D-EBC5DB0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2">
            <a:extLst xmlns:a="http://schemas.openxmlformats.org/drawingml/2006/main">
              <a:ext uri="{FF2B5EF4-FFF2-40B4-BE49-F238E27FC236}">
                <a16:creationId xmlns:a16="http://schemas.microsoft.com/office/drawing/2014/main" id="{CA18AE02-065B-4032-8CDA-AFB6DC37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轉折｜從城市群像走入議會核心</a:t>
            </a:r>
          </a:p>
        </p:txBody>
      </p:sp>
      <p:sp>
        <p:nvSpPr>
          <p:cNvPr id="5" name="scene-duration-12">
            <a:extLst xmlns:a="http://schemas.openxmlformats.org/drawingml/2006/main">
              <a:ext uri="{FF2B5EF4-FFF2-40B4-BE49-F238E27FC236}">
                <a16:creationId xmlns:a16="http://schemas.microsoft.com/office/drawing/2014/main" id="{69354279-3ED1-4AB5-8BA8-E9BC438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04:55–05:15｜20 秒｜累計 05:15</a:t>
            </a:r>
          </a:p>
        </p:txBody>
      </p:sp>
      <p:sp>
        <p:nvSpPr>
          <p:cNvPr id="6" name="col-head-12-0">
            <a:extLst xmlns:a="http://schemas.openxmlformats.org/drawingml/2006/main">
              <a:ext uri="{FF2B5EF4-FFF2-40B4-BE49-F238E27FC236}">
                <a16:creationId xmlns:a16="http://schemas.microsoft.com/office/drawing/2014/main" id="{D2582608-8EF8-461B-B292-373CD8E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2-0">
            <a:extLst xmlns:a="http://schemas.openxmlformats.org/drawingml/2006/main">
              <a:ext uri="{FF2B5EF4-FFF2-40B4-BE49-F238E27FC236}">
                <a16:creationId xmlns:a16="http://schemas.microsoft.com/office/drawing/2014/main" id="{4CA3B7F3-FCA5-4487-9574-D1CB38EF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2-0">
            <a:extLst xmlns:a="http://schemas.openxmlformats.org/drawingml/2006/main">
              <a:ext uri="{FF2B5EF4-FFF2-40B4-BE49-F238E27FC236}">
                <a16:creationId xmlns:a16="http://schemas.microsoft.com/office/drawing/2014/main" id="{8D3B92C4-D407-4C25-AB6B-A75700F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2-1">
            <a:extLst xmlns:a="http://schemas.openxmlformats.org/drawingml/2006/main">
              <a:ext uri="{FF2B5EF4-FFF2-40B4-BE49-F238E27FC236}">
                <a16:creationId xmlns:a16="http://schemas.microsoft.com/office/drawing/2014/main" id="{04CCF04B-D7FB-4195-8677-1E04562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2-1">
            <a:extLst xmlns:a="http://schemas.openxmlformats.org/drawingml/2006/main">
              <a:ext uri="{FF2B5EF4-FFF2-40B4-BE49-F238E27FC236}">
                <a16:creationId xmlns:a16="http://schemas.microsoft.com/office/drawing/2014/main" id="{9F7A1922-8C97-4934-B43C-B38F3452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2-1">
            <a:extLst xmlns:a="http://schemas.openxmlformats.org/drawingml/2006/main">
              <a:ext uri="{FF2B5EF4-FFF2-40B4-BE49-F238E27FC236}">
                <a16:creationId xmlns:a16="http://schemas.microsoft.com/office/drawing/2014/main" id="{8EE3FDEE-C3FE-4050-8FA5-38E0FE61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2-2">
            <a:extLst xmlns:a="http://schemas.openxmlformats.org/drawingml/2006/main">
              <a:ext uri="{FF2B5EF4-FFF2-40B4-BE49-F238E27FC236}">
                <a16:creationId xmlns:a16="http://schemas.microsoft.com/office/drawing/2014/main" id="{1CB18380-4547-49A9-A209-22EA0B6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2-2">
            <a:extLst xmlns:a="http://schemas.openxmlformats.org/drawingml/2006/main">
              <a:ext uri="{FF2B5EF4-FFF2-40B4-BE49-F238E27FC236}">
                <a16:creationId xmlns:a16="http://schemas.microsoft.com/office/drawing/2014/main" id="{B64E2CDC-D31A-43CC-94F2-A1B1DCE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2-2">
            <a:extLst xmlns:a="http://schemas.openxmlformats.org/drawingml/2006/main">
              <a:ext uri="{FF2B5EF4-FFF2-40B4-BE49-F238E27FC236}">
                <a16:creationId xmlns:a16="http://schemas.microsoft.com/office/drawing/2014/main" id="{7E2E3AE8-9AF8-43B2-9FB0-92E1535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2">
            <a:extLst xmlns:a="http://schemas.openxmlformats.org/drawingml/2006/main">
              <a:ext uri="{FF2B5EF4-FFF2-40B4-BE49-F238E27FC236}">
                <a16:creationId xmlns:a16="http://schemas.microsoft.com/office/drawing/2014/main" id="{1A0985D6-D10D-4C9E-BEB9-E39E2C1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13｜快速收斂三個日常細節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雨天積水停在鞋尖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家長牽孩子穿越路口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長者在候車亭等待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14｜市民手機畫面／陳情資料／照片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15｜畫面停在「已受理」或服務處筆記，不呈現個資</a:t>
            </a:r>
          </a:p>
        </p:txBody>
      </p:sp>
      <p:sp>
        <p:nvSpPr>
          <p:cNvPr id="16" name="audio-12">
            <a:extLst xmlns:a="http://schemas.openxmlformats.org/drawingml/2006/main">
              <a:ext uri="{FF2B5EF4-FFF2-40B4-BE49-F238E27FC236}">
                <a16:creationId xmlns:a16="http://schemas.microsoft.com/office/drawing/2014/main" id="{2910D265-7178-4C28-B05A-E444E76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音樂突然收斂，只留下雨聲、號誌聲、紙張聲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三個問題各 3 秒，不交代答案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最後以一聲訊息提示，帶入下一段</a:t>
            </a:r>
          </a:p>
        </p:txBody>
      </p:sp>
      <p:sp>
        <p:nvSpPr>
          <p:cNvPr id="17" name="narration-12">
            <a:extLst xmlns:a="http://schemas.openxmlformats.org/drawingml/2006/main">
              <a:ext uri="{FF2B5EF4-FFF2-40B4-BE49-F238E27FC236}">
                <a16:creationId xmlns:a16="http://schemas.microsoft.com/office/drawing/2014/main" id="{D3B4AA9C-DDF6-4CCC-9DDE-508880E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一場雨後的積水、一條不安心的上學路、一段等不到車的日常，都可能是城市下一步要回答的問題。
當一個聲音走進議會，它會怎麼成為改變的開始？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看見問題｜不是終點，是行動的起點。</a:t>
            </a:r>
          </a:p>
        </p:txBody>
      </p:sp>
      <p:sp>
        <p:nvSpPr>
          <p:cNvPr id="18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2DE6455A-29BF-41E7-A370-798F4370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9F413961-1D5E-463D-92E3-3C64F15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看見.共好｜第三章｜看見民意如何成為行動｜04:55–05:15</a:t>
            </a:r>
          </a:p>
        </p:txBody>
      </p:sp>
      <p:pic>
        <p:nvPicPr>
          <p:cNvPr id="55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5a73c04a14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6613" y="5086013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3052F97-9238-644C-9F60-326E0DB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13" y="6106013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E979B2E-1274-E247-9290-B5001D4A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13" y="6106013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示意｜積水現勘</a:t>
            </a:r>
          </a:p>
        </p:txBody>
      </p:sp>
      <p:pic>
        <p:nvPicPr>
          <p:cNvPr id="5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358b39daa4d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6613" y="6366013"/>
            <a:ext cx="2037143" cy="10200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AE90F2D-B55C-CA4C-B0BC-53F18FE3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13" y="7386013"/>
            <a:ext cx="2037143" cy="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D4CA1C3-040B-464A-91BF-C06E1763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13" y="7386013"/>
            <a:ext cx="1937143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示意｜上學之路</a:t>
            </a:r>
          </a:p>
        </p:txBody>
      </p:sp>
      <p:pic>
        <p:nvPicPr>
          <p:cNvPr id="61" name="storyboard-9-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091bb334ee494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6613" y="7633601"/>
            <a:ext cx="1913096" cy="2146872"/>
          </a:xfrm>
          <a:prstGeom xmlns:a="http://schemas.openxmlformats.org/drawingml/2006/main" prst="roundRect">
            <a:avLst>
              <a:gd name="adj" fmla="val 2489"/>
            </a:avLst>
          </a:prstGeom>
        </p:spPr>
      </p:pic>
      <p:sp>
        <p:nvSpPr>
          <p:cNvPr id="29" name="storyboard-caption-9-3">
            <a:extLst xmlns:a="http://schemas.openxmlformats.org/drawingml/2006/main">
              <a:ext uri="{FF2B5EF4-FFF2-40B4-BE49-F238E27FC236}">
                <a16:creationId xmlns:a16="http://schemas.microsoft.com/office/drawing/2014/main" id="{B7E651AF-3EF2-5742-BB9A-4E477F0B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13" y="9485198"/>
            <a:ext cx="1913096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受理與服務處筆記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3" name="storyboard-9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ef24108b846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5249" y="7343914"/>
            <a:ext cx="1913096" cy="2436559"/>
          </a:xfrm>
          <a:prstGeom xmlns:a="http://schemas.openxmlformats.org/drawingml/2006/main" prst="roundRect">
            <a:avLst>
              <a:gd name="adj" fmla="val 2489"/>
            </a:avLst>
          </a:prstGeom>
        </p:spPr>
      </p:pic>
      <p:sp>
        <p:nvSpPr>
          <p:cNvPr id="31" name="storyboard-caption-9-2">
            <a:extLst xmlns:a="http://schemas.openxmlformats.org/drawingml/2006/main">
              <a:ext uri="{FF2B5EF4-FFF2-40B4-BE49-F238E27FC236}">
                <a16:creationId xmlns:a16="http://schemas.microsoft.com/office/drawing/2014/main" id="{6251975F-9730-6E43-A642-E820CE45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249" y="9485197"/>
            <a:ext cx="1913096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手機陳情資料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005823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3">
            <a:extLst xmlns:a="http://schemas.openxmlformats.org/drawingml/2006/main">
              <a:ext uri="{FF2B5EF4-FFF2-40B4-BE49-F238E27FC236}">
                <a16:creationId xmlns:a16="http://schemas.microsoft.com/office/drawing/2014/main" id="{CDA95771-A9F8-4A90-A012-FC7F9DD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</a:p>
        </p:txBody>
      </p:sp>
      <p:sp>
        <p:nvSpPr>
          <p:cNvPr id="2" name="scene-title-13">
            <a:extLst xmlns:a="http://schemas.openxmlformats.org/drawingml/2006/main">
              <a:ext uri="{FF2B5EF4-FFF2-40B4-BE49-F238E27FC236}">
                <a16:creationId xmlns:a16="http://schemas.microsoft.com/office/drawing/2014/main" id="{095A85D3-E498-4C52-973E-7D14CB4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723363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看見問題，跟著一份提案走進議會</a:t>
            </a:r>
          </a:p>
        </p:txBody>
      </p:sp>
      <p:sp>
        <p:nvSpPr>
          <p:cNvPr id="3" name="scene-band-13">
            <a:extLst xmlns:a="http://schemas.openxmlformats.org/drawingml/2006/main">
              <a:ext uri="{FF2B5EF4-FFF2-40B4-BE49-F238E27FC236}">
                <a16:creationId xmlns:a16="http://schemas.microsoft.com/office/drawing/2014/main" id="{4F027AD6-C734-448D-9B99-01542C99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3">
            <a:extLst xmlns:a="http://schemas.openxmlformats.org/drawingml/2006/main">
              <a:ext uri="{FF2B5EF4-FFF2-40B4-BE49-F238E27FC236}">
                <a16:creationId xmlns:a16="http://schemas.microsoft.com/office/drawing/2014/main" id="{2BC5022E-1D52-4835-9130-6A697F6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A｜受理、查證、現勘、提案</a:t>
            </a:r>
          </a:p>
        </p:txBody>
      </p:sp>
      <p:sp>
        <p:nvSpPr>
          <p:cNvPr id="5" name="scene-duration-13">
            <a:extLst xmlns:a="http://schemas.openxmlformats.org/drawingml/2006/main">
              <a:ext uri="{FF2B5EF4-FFF2-40B4-BE49-F238E27FC236}">
                <a16:creationId xmlns:a16="http://schemas.microsoft.com/office/drawing/2014/main" id="{9BFEBDAD-8FAC-45B8-92D7-418B45C8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05:15–06:05｜50 秒｜累計 06:05</a:t>
            </a:r>
          </a:p>
        </p:txBody>
      </p:sp>
      <p:sp>
        <p:nvSpPr>
          <p:cNvPr id="6" name="col-head-13-0">
            <a:extLst xmlns:a="http://schemas.openxmlformats.org/drawingml/2006/main">
              <a:ext uri="{FF2B5EF4-FFF2-40B4-BE49-F238E27FC236}">
                <a16:creationId xmlns:a16="http://schemas.microsoft.com/office/drawing/2014/main" id="{5FDB888E-8773-42CF-8B46-65C1BC0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3-0">
            <a:extLst xmlns:a="http://schemas.openxmlformats.org/drawingml/2006/main">
              <a:ext uri="{FF2B5EF4-FFF2-40B4-BE49-F238E27FC236}">
                <a16:creationId xmlns:a16="http://schemas.microsoft.com/office/drawing/2014/main" id="{EEEF866C-D705-4E8F-81E2-88384D7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3-0">
            <a:extLst xmlns:a="http://schemas.openxmlformats.org/drawingml/2006/main">
              <a:ext uri="{FF2B5EF4-FFF2-40B4-BE49-F238E27FC236}">
                <a16:creationId xmlns:a16="http://schemas.microsoft.com/office/drawing/2014/main" id="{2CAF4D36-7499-458D-B550-8C34C2CC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937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3-1">
            <a:extLst xmlns:a="http://schemas.openxmlformats.org/drawingml/2006/main">
              <a:ext uri="{FF2B5EF4-FFF2-40B4-BE49-F238E27FC236}">
                <a16:creationId xmlns:a16="http://schemas.microsoft.com/office/drawing/2014/main" id="{C8C472FE-0751-4122-8E38-90E257B5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3-1">
            <a:extLst xmlns:a="http://schemas.openxmlformats.org/drawingml/2006/main">
              <a:ext uri="{FF2B5EF4-FFF2-40B4-BE49-F238E27FC236}">
                <a16:creationId xmlns:a16="http://schemas.microsoft.com/office/drawing/2014/main" id="{17DF658D-8587-4163-8648-B011C72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3-1">
            <a:extLst xmlns:a="http://schemas.openxmlformats.org/drawingml/2006/main">
              <a:ext uri="{FF2B5EF4-FFF2-40B4-BE49-F238E27FC236}">
                <a16:creationId xmlns:a16="http://schemas.microsoft.com/office/drawing/2014/main" id="{A72D4CB6-6757-4300-ACDC-70FDD9E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937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3-2">
            <a:extLst xmlns:a="http://schemas.openxmlformats.org/drawingml/2006/main">
              <a:ext uri="{FF2B5EF4-FFF2-40B4-BE49-F238E27FC236}">
                <a16:creationId xmlns:a16="http://schemas.microsoft.com/office/drawing/2014/main" id="{128395E8-1EBC-4F94-AF49-8729252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3-2">
            <a:extLst xmlns:a="http://schemas.openxmlformats.org/drawingml/2006/main">
              <a:ext uri="{FF2B5EF4-FFF2-40B4-BE49-F238E27FC236}">
                <a16:creationId xmlns:a16="http://schemas.microsoft.com/office/drawing/2014/main" id="{BB45A497-4E0C-4C3D-BA40-4D171B4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3-2">
            <a:extLst xmlns:a="http://schemas.openxmlformats.org/drawingml/2006/main">
              <a:ext uri="{FF2B5EF4-FFF2-40B4-BE49-F238E27FC236}">
                <a16:creationId xmlns:a16="http://schemas.microsoft.com/office/drawing/2014/main" id="{F04AC031-7152-46AB-B3CC-23407D7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918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3">
            <a:extLst xmlns:a="http://schemas.openxmlformats.org/drawingml/2006/main">
              <a:ext uri="{FF2B5EF4-FFF2-40B4-BE49-F238E27FC236}">
                <a16:creationId xmlns:a16="http://schemas.microsoft.com/office/drawing/2014/main" id="{62C3B58A-9C18-4808-A876-45F4A344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1｜市民陳情：電話、線上、服務處與當面反映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2｜資料整理：遮蔽個資後呈現案件照片、地圖、時間軸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3｜現地了解：議員、居民與相關單位共同會勘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4｜問題定義：把個案拆成安全、預算、權責與期程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5｜形成提案或質詢重點</a:t>
            </a:r>
          </a:p>
        </p:txBody>
      </p:sp>
      <p:sp>
        <p:nvSpPr>
          <p:cNvPr id="16" name="audio-13">
            <a:extLst xmlns:a="http://schemas.openxmlformats.org/drawingml/2006/main">
              <a:ext uri="{FF2B5EF4-FFF2-40B4-BE49-F238E27FC236}">
                <a16:creationId xmlns:a16="http://schemas.microsoft.com/office/drawing/2014/main" id="{26F6825C-57B8-4E2A-9688-2835B19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節奏由單點訊息逐步堆疊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保留市民一句原音：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「我們希望有人把這件事說清楚。」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會勘現場以同期聲為主，不另配過度情緒化音樂</a:t>
            </a:r>
          </a:p>
        </p:txBody>
      </p:sp>
      <p:sp>
        <p:nvSpPr>
          <p:cNvPr id="17" name="narration-13">
            <a:extLst xmlns:a="http://schemas.openxmlformats.org/drawingml/2006/main">
              <a:ext uri="{FF2B5EF4-FFF2-40B4-BE49-F238E27FC236}">
                <a16:creationId xmlns:a16="http://schemas.microsoft.com/office/drawing/2014/main" id="{9CD3DC35-75A1-4874-8B74-E609850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市民看見的每一個改變,在這裡都有一段旅程。一份提案與陳請,從服務處出發,走進委員會,被逐條檢視 。
一個看似單純的困難，可能牽涉安全、預算、法規與不同機關的權責。議會的工作，是把零散感受整理成可以討論的問題，把個人的不方便，轉化為公共議題。
每一年,數千億的市政預算在這裡逐項把關;大會與各委員會分工合力,只為一件事:讓你的聲音,成為城市的決定 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受理 → 查證 → 現勘 → 定義問題</a:t>
            </a:r>
          </a:p>
        </p:txBody>
      </p:sp>
      <p:sp>
        <p:nvSpPr>
          <p:cNvPr id="19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CC97CB1D-F7D9-4D53-BF82-55B4683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看見.共好｜第三章｜看見民意如何成為行動｜05:15–06:05</a:t>
            </a:r>
          </a:p>
        </p:txBody>
      </p:sp>
      <p:sp>
        <p:nvSpPr>
          <p:cNvPr id="29" name="visual-13">
            <a:extLst xmlns:a="http://schemas.openxmlformats.org/drawingml/2006/main">
              <a:ext uri="{FF2B5EF4-FFF2-40B4-BE49-F238E27FC236}">
                <a16:creationId xmlns:a16="http://schemas.microsoft.com/office/drawing/2014/main" id="{BAE6D235-D539-5840-AD37-5F33CD33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594971" y="2588878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64" name="storyboard-10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b87eb9f4e4c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892" y="5789305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1" name="storyboard-caption-10-1">
            <a:extLst xmlns:a="http://schemas.openxmlformats.org/drawingml/2006/main">
              <a:ext uri="{FF2B5EF4-FFF2-40B4-BE49-F238E27FC236}">
                <a16:creationId xmlns:a16="http://schemas.microsoft.com/office/drawing/2014/main" id="{7819E1A9-AD8D-B046-A385-BFEE6283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92" y="6967395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市民陳情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6" name="storyboard-10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395dc2c7649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4611" y="7284276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3" name="storyboard-caption-10-2">
            <a:extLst xmlns:a="http://schemas.openxmlformats.org/drawingml/2006/main">
              <a:ext uri="{FF2B5EF4-FFF2-40B4-BE49-F238E27FC236}">
                <a16:creationId xmlns:a16="http://schemas.microsoft.com/office/drawing/2014/main" id="{33323A26-9B1A-9446-87CD-E755A865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1" y="8462366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資料整理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8" name="storyboard-10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2d04f48c843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299" y="7277557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5" name="storyboard-caption-10-3">
            <a:extLst xmlns:a="http://schemas.openxmlformats.org/drawingml/2006/main">
              <a:ext uri="{FF2B5EF4-FFF2-40B4-BE49-F238E27FC236}">
                <a16:creationId xmlns:a16="http://schemas.microsoft.com/office/drawing/2014/main" id="{F71AEE47-88EB-F44C-B3B7-98F7E6AC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99" y="8455648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共同會勘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70" name="storyboard-10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c82c29aff48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299" y="8796513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7" name="storyboard-caption-10-4">
            <a:extLst xmlns:a="http://schemas.openxmlformats.org/drawingml/2006/main">
              <a:ext uri="{FF2B5EF4-FFF2-40B4-BE49-F238E27FC236}">
                <a16:creationId xmlns:a16="http://schemas.microsoft.com/office/drawing/2014/main" id="{5354B508-4745-EE45-884D-73B3AD56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99" y="9974603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定義問題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72" name="storyboard-10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7e80d7b5640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4033" y="8793702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9" name="storyboard-caption-10-5">
            <a:extLst xmlns:a="http://schemas.openxmlformats.org/drawingml/2006/main">
              <a:ext uri="{FF2B5EF4-FFF2-40B4-BE49-F238E27FC236}">
                <a16:creationId xmlns:a16="http://schemas.microsoft.com/office/drawing/2014/main" id="{CCCD262C-B3DB-124C-8835-728F4E09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033" y="9971792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形成提案／質詢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5904473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4">
            <a:extLst xmlns:a="http://schemas.openxmlformats.org/drawingml/2006/main">
              <a:ext uri="{FF2B5EF4-FFF2-40B4-BE49-F238E27FC236}">
                <a16:creationId xmlns:a16="http://schemas.microsoft.com/office/drawing/2014/main" id="{117EDF47-2010-4246-B584-DDEDC33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</a:p>
        </p:txBody>
      </p:sp>
      <p:sp>
        <p:nvSpPr>
          <p:cNvPr id="2" name="scene-title-14">
            <a:extLst xmlns:a="http://schemas.openxmlformats.org/drawingml/2006/main">
              <a:ext uri="{FF2B5EF4-FFF2-40B4-BE49-F238E27FC236}">
                <a16:creationId xmlns:a16="http://schemas.microsoft.com/office/drawing/2014/main" id="{D6EF9010-9FA8-42B0-BB6F-A05F6B1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讓承諾有進度，讓改變被追蹤</a:t>
            </a:r>
          </a:p>
        </p:txBody>
      </p:sp>
      <p:sp>
        <p:nvSpPr>
          <p:cNvPr id="3" name="scene-band-14">
            <a:extLst xmlns:a="http://schemas.openxmlformats.org/drawingml/2006/main">
              <a:ext uri="{FF2B5EF4-FFF2-40B4-BE49-F238E27FC236}">
                <a16:creationId xmlns:a16="http://schemas.microsoft.com/office/drawing/2014/main" id="{88BCB0DA-3A0C-4B4A-9CA4-F7D462F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4">
            <a:extLst xmlns:a="http://schemas.openxmlformats.org/drawingml/2006/main">
              <a:ext uri="{FF2B5EF4-FFF2-40B4-BE49-F238E27FC236}">
                <a16:creationId xmlns:a16="http://schemas.microsoft.com/office/drawing/2014/main" id="{351AB4AF-0577-4BC4-84E7-31D1615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B｜質詢、審查、議決、追蹤</a:t>
            </a:r>
          </a:p>
        </p:txBody>
      </p:sp>
      <p:sp>
        <p:nvSpPr>
          <p:cNvPr id="5" name="scene-duration-14">
            <a:extLst xmlns:a="http://schemas.openxmlformats.org/drawingml/2006/main">
              <a:ext uri="{FF2B5EF4-FFF2-40B4-BE49-F238E27FC236}">
                <a16:creationId xmlns:a16="http://schemas.microsoft.com/office/drawing/2014/main" id="{CFD12C69-8AAB-4C3B-8277-2A45079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06:05–06:55｜50 秒｜累計 06:55</a:t>
            </a:r>
          </a:p>
        </p:txBody>
      </p:sp>
      <p:sp>
        <p:nvSpPr>
          <p:cNvPr id="6" name="col-head-14-0">
            <a:extLst xmlns:a="http://schemas.openxmlformats.org/drawingml/2006/main">
              <a:ext uri="{FF2B5EF4-FFF2-40B4-BE49-F238E27FC236}">
                <a16:creationId xmlns:a16="http://schemas.microsoft.com/office/drawing/2014/main" id="{603551B6-A92F-4378-AA85-81CB12EC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4-0">
            <a:extLst xmlns:a="http://schemas.openxmlformats.org/drawingml/2006/main">
              <a:ext uri="{FF2B5EF4-FFF2-40B4-BE49-F238E27FC236}">
                <a16:creationId xmlns:a16="http://schemas.microsoft.com/office/drawing/2014/main" id="{BC5A12AF-B52D-4E8E-A51D-15F8B6D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4-0">
            <a:extLst xmlns:a="http://schemas.openxmlformats.org/drawingml/2006/main">
              <a:ext uri="{FF2B5EF4-FFF2-40B4-BE49-F238E27FC236}">
                <a16:creationId xmlns:a16="http://schemas.microsoft.com/office/drawing/2014/main" id="{37C7AA13-88CD-4668-A4D8-000D88F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4-1">
            <a:extLst xmlns:a="http://schemas.openxmlformats.org/drawingml/2006/main">
              <a:ext uri="{FF2B5EF4-FFF2-40B4-BE49-F238E27FC236}">
                <a16:creationId xmlns:a16="http://schemas.microsoft.com/office/drawing/2014/main" id="{C21CE52D-D3AF-4F3B-95E7-0136476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4-1">
            <a:extLst xmlns:a="http://schemas.openxmlformats.org/drawingml/2006/main">
              <a:ext uri="{FF2B5EF4-FFF2-40B4-BE49-F238E27FC236}">
                <a16:creationId xmlns:a16="http://schemas.microsoft.com/office/drawing/2014/main" id="{168C172F-4121-4C2A-BBAA-16DB3AA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4-1">
            <a:extLst xmlns:a="http://schemas.openxmlformats.org/drawingml/2006/main">
              <a:ext uri="{FF2B5EF4-FFF2-40B4-BE49-F238E27FC236}">
                <a16:creationId xmlns:a16="http://schemas.microsoft.com/office/drawing/2014/main" id="{0D5AABFD-D41D-4038-8CD1-86AEEB1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4-2">
            <a:extLst xmlns:a="http://schemas.openxmlformats.org/drawingml/2006/main">
              <a:ext uri="{FF2B5EF4-FFF2-40B4-BE49-F238E27FC236}">
                <a16:creationId xmlns:a16="http://schemas.microsoft.com/office/drawing/2014/main" id="{9D0E1F00-B497-441B-8590-7285DA6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4-2">
            <a:extLst xmlns:a="http://schemas.openxmlformats.org/drawingml/2006/main">
              <a:ext uri="{FF2B5EF4-FFF2-40B4-BE49-F238E27FC236}">
                <a16:creationId xmlns:a16="http://schemas.microsoft.com/office/drawing/2014/main" id="{345BE1B6-A418-4C49-A33B-E9B7DEE1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4-2">
            <a:extLst xmlns:a="http://schemas.openxmlformats.org/drawingml/2006/main">
              <a:ext uri="{FF2B5EF4-FFF2-40B4-BE49-F238E27FC236}">
                <a16:creationId xmlns:a16="http://schemas.microsoft.com/office/drawing/2014/main" id="{BC667C5F-4392-4DC4-A0B7-4E5570F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4">
            <a:extLst xmlns:a="http://schemas.openxmlformats.org/drawingml/2006/main">
              <a:ext uri="{FF2B5EF4-FFF2-40B4-BE49-F238E27FC236}">
                <a16:creationId xmlns:a16="http://schemas.microsoft.com/office/drawing/2014/main" id="{EFD239AE-8CE6-4922-B41C-F40EE9A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6｜議事殿堂：口頭／書面質詢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7｜委員會：資料比對、專業審查、意見交換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8｜大會：討論、議決與公開紀錄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9｜後續追蹤：列管回覆、工程進度、政策修正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10｜回到現場：同一機位拍攝改善前後，未完成案件則呈現追蹤狀態</a:t>
            </a:r>
          </a:p>
        </p:txBody>
      </p:sp>
      <p:sp>
        <p:nvSpPr>
          <p:cNvPr id="16" name="audio-14">
            <a:extLst xmlns:a="http://schemas.openxmlformats.org/drawingml/2006/main">
              <a:ext uri="{FF2B5EF4-FFF2-40B4-BE49-F238E27FC236}">
                <a16:creationId xmlns:a16="http://schemas.microsoft.com/office/drawing/2014/main" id="{2E3F839D-A572-460A-978F-D5648ED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議事槌、麥克風開啟、翻頁與鍵盤聲形成節拍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重要數據以簡潔動態字卡同步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不以「完工」作為唯一結局；誠實呈現持續追蹤</a:t>
            </a:r>
          </a:p>
        </p:txBody>
      </p:sp>
      <p:sp>
        <p:nvSpPr>
          <p:cNvPr id="17" name="narration-14">
            <a:extLst xmlns:a="http://schemas.openxmlformats.org/drawingml/2006/main">
              <a:ext uri="{FF2B5EF4-FFF2-40B4-BE49-F238E27FC236}">
                <a16:creationId xmlns:a16="http://schemas.microsoft.com/office/drawing/2014/main" id="{16B68102-D29B-4D25-B581-10E4A08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接著，問題走進質詢與審查。議員要求說明、檢視資料、確認預算與期程；不同意見在會議中被提出，也在公開紀錄中留下軌跡。
有些事情能很快改善，有些需要跨局處協調，有些必須經過法規與預算程序。重要的不是一句承諾，而是每一步都有依據、每一個進度都能被追蹤。
從人民的聲音，到制度的行動，再回到生活的現場——這就是監督的意義，也是民主看得見的方式。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質詢 → 審查 → 議決 → 追蹤 → 回到現場</a:t>
            </a:r>
          </a:p>
        </p:txBody>
      </p:sp>
      <p:sp>
        <p:nvSpPr>
          <p:cNvPr id="18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889FB5AB-CA8F-4943-9CE7-78E387ED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54F1E0BA-01F5-422C-95BF-55195BE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看見.共好｜第三章｜看見民意如何成為行動｜06:05–06:55</a:t>
            </a:r>
          </a:p>
        </p:txBody>
      </p:sp>
      <p:sp>
        <p:nvSpPr>
          <p:cNvPr id="29" name="visual-14">
            <a:extLst xmlns:a="http://schemas.openxmlformats.org/drawingml/2006/main">
              <a:ext uri="{FF2B5EF4-FFF2-40B4-BE49-F238E27FC236}">
                <a16:creationId xmlns:a16="http://schemas.microsoft.com/office/drawing/2014/main" id="{38E52BA1-12C2-E744-81F0-7C433C90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43837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62" name="storyboard-11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c588d89ad40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739" y="6190800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1" name="storyboard-caption-11-1">
            <a:extLst xmlns:a="http://schemas.openxmlformats.org/drawingml/2006/main">
              <a:ext uri="{FF2B5EF4-FFF2-40B4-BE49-F238E27FC236}">
                <a16:creationId xmlns:a16="http://schemas.microsoft.com/office/drawing/2014/main" id="{977034E8-7F9D-CC45-AB4F-97539D11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7368890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口頭／書面質詢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4" name="storyboard-11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565b825fb49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739" y="7692433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3" name="storyboard-caption-11-2">
            <a:extLst xmlns:a="http://schemas.openxmlformats.org/drawingml/2006/main">
              <a:ext uri="{FF2B5EF4-FFF2-40B4-BE49-F238E27FC236}">
                <a16:creationId xmlns:a16="http://schemas.microsoft.com/office/drawing/2014/main" id="{65637FA8-4A1F-9F4B-813D-9E14D17C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8870523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委員會審查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6" name="storyboard-11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8e188107e49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6582" y="6964777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5" name="storyboard-caption-11-3">
            <a:extLst xmlns:a="http://schemas.openxmlformats.org/drawingml/2006/main">
              <a:ext uri="{FF2B5EF4-FFF2-40B4-BE49-F238E27FC236}">
                <a16:creationId xmlns:a16="http://schemas.microsoft.com/office/drawing/2014/main" id="{C71FBAAE-028B-604B-B2FC-AE4EAF0D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82" y="8142868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大會議決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8" name="storyboard-11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a69dcd1144d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83022" y="8466796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7" name="storyboard-caption-11-4">
            <a:extLst xmlns:a="http://schemas.openxmlformats.org/drawingml/2006/main">
              <a:ext uri="{FF2B5EF4-FFF2-40B4-BE49-F238E27FC236}">
                <a16:creationId xmlns:a16="http://schemas.microsoft.com/office/drawing/2014/main" id="{63F86803-1540-3946-9482-FA13BDDD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2" y="9644886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8E"/>
          </a:solidFill>
          <a:ln xmlns:a="http://schemas.openxmlformats.org/drawingml/2006/main" w="0">
            <a:solidFill>
              <a:srgbClr val="3E6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後續追蹤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0579076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5">
            <a:extLst xmlns:a="http://schemas.openxmlformats.org/drawingml/2006/main">
              <a:ext uri="{FF2B5EF4-FFF2-40B4-BE49-F238E27FC236}">
                <a16:creationId xmlns:a16="http://schemas.microsoft.com/office/drawing/2014/main" id="{65EB682D-CBB1-4916-B5D9-25685F3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</a:p>
        </p:txBody>
      </p:sp>
      <p:sp>
        <p:nvSpPr>
          <p:cNvPr id="2" name="scene-title-15">
            <a:extLst xmlns:a="http://schemas.openxmlformats.org/drawingml/2006/main">
              <a:ext uri="{FF2B5EF4-FFF2-40B4-BE49-F238E27FC236}">
                <a16:creationId xmlns:a16="http://schemas.microsoft.com/office/drawing/2014/main" id="{26EBE2F0-5E04-414D-87BC-B9CC11E8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每一項決定，都經得起公開討論</a:t>
            </a:r>
          </a:p>
        </p:txBody>
      </p:sp>
      <p:sp>
        <p:nvSpPr>
          <p:cNvPr id="3" name="scene-band-15">
            <a:extLst xmlns:a="http://schemas.openxmlformats.org/drawingml/2006/main">
              <a:ext uri="{FF2B5EF4-FFF2-40B4-BE49-F238E27FC236}">
                <a16:creationId xmlns:a16="http://schemas.microsoft.com/office/drawing/2014/main" id="{51B69AD3-D8C5-4548-A3C1-D04C65B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5">
            <a:extLst xmlns:a="http://schemas.openxmlformats.org/drawingml/2006/main">
              <a:ext uri="{FF2B5EF4-FFF2-40B4-BE49-F238E27FC236}">
                <a16:creationId xmlns:a16="http://schemas.microsoft.com/office/drawing/2014/main" id="{A6DD1198-CAB4-46E2-994A-A28E07A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議會職權｜把制度拍成看得懂的流程</a:t>
            </a:r>
          </a:p>
        </p:txBody>
      </p:sp>
      <p:sp>
        <p:nvSpPr>
          <p:cNvPr id="5" name="scene-duration-15">
            <a:extLst xmlns:a="http://schemas.openxmlformats.org/drawingml/2006/main">
              <a:ext uri="{FF2B5EF4-FFF2-40B4-BE49-F238E27FC236}">
                <a16:creationId xmlns:a16="http://schemas.microsoft.com/office/drawing/2014/main" id="{F71EFABB-A35D-4634-B8D3-B6A3BA45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06:55–08:15｜80 秒｜累計 08:15</a:t>
            </a:r>
          </a:p>
        </p:txBody>
      </p:sp>
      <p:sp>
        <p:nvSpPr>
          <p:cNvPr id="6" name="col-head-15-0">
            <a:extLst xmlns:a="http://schemas.openxmlformats.org/drawingml/2006/main">
              <a:ext uri="{FF2B5EF4-FFF2-40B4-BE49-F238E27FC236}">
                <a16:creationId xmlns:a16="http://schemas.microsoft.com/office/drawing/2014/main" id="{9A13A44B-148E-4DD2-B511-573B5FE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5-0">
            <a:extLst xmlns:a="http://schemas.openxmlformats.org/drawingml/2006/main">
              <a:ext uri="{FF2B5EF4-FFF2-40B4-BE49-F238E27FC236}">
                <a16:creationId xmlns:a16="http://schemas.microsoft.com/office/drawing/2014/main" id="{2390199E-AAEC-40FF-873A-D2D8B65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5-0">
            <a:extLst xmlns:a="http://schemas.openxmlformats.org/drawingml/2006/main">
              <a:ext uri="{FF2B5EF4-FFF2-40B4-BE49-F238E27FC236}">
                <a16:creationId xmlns:a16="http://schemas.microsoft.com/office/drawing/2014/main" id="{782D1824-2FC9-4F5F-BE5C-87E869DF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5-1">
            <a:extLst xmlns:a="http://schemas.openxmlformats.org/drawingml/2006/main">
              <a:ext uri="{FF2B5EF4-FFF2-40B4-BE49-F238E27FC236}">
                <a16:creationId xmlns:a16="http://schemas.microsoft.com/office/drawing/2014/main" id="{C44F42E8-B91F-443B-956D-D305574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5-1">
            <a:extLst xmlns:a="http://schemas.openxmlformats.org/drawingml/2006/main">
              <a:ext uri="{FF2B5EF4-FFF2-40B4-BE49-F238E27FC236}">
                <a16:creationId xmlns:a16="http://schemas.microsoft.com/office/drawing/2014/main" id="{BD7C2563-386E-4BE3-9CF6-5A18B4A7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5-1">
            <a:extLst xmlns:a="http://schemas.openxmlformats.org/drawingml/2006/main">
              <a:ext uri="{FF2B5EF4-FFF2-40B4-BE49-F238E27FC236}">
                <a16:creationId xmlns:a16="http://schemas.microsoft.com/office/drawing/2014/main" id="{79913849-3524-403D-8A97-0C8A3CD5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5-2">
            <a:extLst xmlns:a="http://schemas.openxmlformats.org/drawingml/2006/main">
              <a:ext uri="{FF2B5EF4-FFF2-40B4-BE49-F238E27FC236}">
                <a16:creationId xmlns:a16="http://schemas.microsoft.com/office/drawing/2014/main" id="{035586F8-0BC2-42BE-8881-B240FF22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5-2">
            <a:extLst xmlns:a="http://schemas.openxmlformats.org/drawingml/2006/main">
              <a:ext uri="{FF2B5EF4-FFF2-40B4-BE49-F238E27FC236}">
                <a16:creationId xmlns:a16="http://schemas.microsoft.com/office/drawing/2014/main" id="{871C56CB-1B50-4A2A-8233-2961CAA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5-2">
            <a:extLst xmlns:a="http://schemas.openxmlformats.org/drawingml/2006/main">
              <a:ext uri="{FF2B5EF4-FFF2-40B4-BE49-F238E27FC236}">
                <a16:creationId xmlns:a16="http://schemas.microsoft.com/office/drawing/2014/main" id="{F29B1CA4-DEB9-4777-8937-CA9A840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5">
            <a:extLst xmlns:a="http://schemas.openxmlformats.org/drawingml/2006/main">
              <a:ext uri="{FF2B5EF4-FFF2-40B4-BE49-F238E27FC236}">
                <a16:creationId xmlns:a16="http://schemas.microsoft.com/office/drawing/2014/main" id="{172FD095-22F4-4030-A9F6-334017D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16｜大會全景＋議程字幕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17｜程序會、各審查委員會、法規審查、聯席會議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18｜市政總質詢、業務質詢、書面資料特寫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19｜預算書、決算審核報告、自治條例三讀畫面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20｜議事影音平台、表決與會議紀錄</a:t>
            </a:r>
          </a:p>
        </p:txBody>
      </p:sp>
      <p:sp>
        <p:nvSpPr>
          <p:cNvPr id="16" name="audio-15">
            <a:extLst xmlns:a="http://schemas.openxmlformats.org/drawingml/2006/main">
              <a:ext uri="{FF2B5EF4-FFF2-40B4-BE49-F238E27FC236}">
                <a16:creationId xmlns:a16="http://schemas.microsoft.com/office/drawing/2014/main" id="{A988B9A1-0F5F-4CCF-B550-8896CED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旁白講職權時，每項搭配真實會議動作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避免長時間停留在組織圖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音樂降低，讓質詢原音穿插 2–3 句，每句不超過 4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字幕標示「實際議事畫面」與議程名稱</a:t>
            </a:r>
          </a:p>
        </p:txBody>
      </p:sp>
      <p:sp>
        <p:nvSpPr>
          <p:cNvPr id="17" name="narration-15">
            <a:extLst xmlns:a="http://schemas.openxmlformats.org/drawingml/2006/main">
              <a:ext uri="{FF2B5EF4-FFF2-40B4-BE49-F238E27FC236}">
                <a16:creationId xmlns:a16="http://schemas.microsoft.com/office/drawing/2014/main" id="{55317372-B963-4899-B9D6-AF8C123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議會，是地方自治中代表市民行使監督與議決權的機關。
從城市的法規、年度預算與決算，到市稅、公共財產、市府組織與各項提案，都必須透過議會的程序接受檢視。人民的請願，也能在這裡進入正式的制度。
議案依性質進入程序與各審查委員會，經資料審閱、詢答、討論，再送交大會議決；議員也透過市政總質詢、業務質詢、現勘與書面建議，要求行政部門說明並改善。
監督不是阻擋前進，而是讓每一筆公共資源用得更負責；討論也不是拖延，而是讓不同影響被充分看見。
每一項決定，都必須留下紀錄，也必須經得起公開討論。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議決｜審查｜質詢｜請願｜監督</a:t>
            </a:r>
          </a:p>
        </p:txBody>
      </p:sp>
      <p:sp>
        <p:nvSpPr>
          <p:cNvPr id="18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D58E675F-4C3A-4456-94A3-9AD6BF7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89AA2BF8-DA3B-4366-8928-9D29746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看見.共好｜第四章｜看見議會如何運作｜06:55–08:15</a:t>
            </a:r>
          </a:p>
        </p:txBody>
      </p:sp>
      <p:sp>
        <p:nvSpPr>
          <p:cNvPr id="28" name="visual-15">
            <a:extLst xmlns:a="http://schemas.openxmlformats.org/drawingml/2006/main">
              <a:ext uri="{FF2B5EF4-FFF2-40B4-BE49-F238E27FC236}">
                <a16:creationId xmlns:a16="http://schemas.microsoft.com/office/drawing/2014/main" id="{E7F9D2C9-6353-EB40-B610-1BCBC3A4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480757" y="2310907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63" name="storyboard-12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45b0bf68847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656" y="5379322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0" name="storyboard-caption-12-1">
            <a:extLst xmlns:a="http://schemas.openxmlformats.org/drawingml/2006/main">
              <a:ext uri="{FF2B5EF4-FFF2-40B4-BE49-F238E27FC236}">
                <a16:creationId xmlns:a16="http://schemas.microsoft.com/office/drawing/2014/main" id="{5038613E-C253-CB4C-9ADD-24CFEF62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56" y="6557412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大會全景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5" name="storyboard-12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d6483b0aa49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4481" y="6947838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4" name="storyboard-caption-12-3">
            <a:extLst xmlns:a="http://schemas.openxmlformats.org/drawingml/2006/main">
              <a:ext uri="{FF2B5EF4-FFF2-40B4-BE49-F238E27FC236}">
                <a16:creationId xmlns:a16="http://schemas.microsoft.com/office/drawing/2014/main" id="{A5769367-B691-F843-9FA7-92F2DF9B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81" y="8125929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市政／業務質詢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7" name="storyboard-12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cc9d7a8104a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118" y="8506215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6" name="storyboard-caption-12-4">
            <a:extLst xmlns:a="http://schemas.openxmlformats.org/drawingml/2006/main">
              <a:ext uri="{FF2B5EF4-FFF2-40B4-BE49-F238E27FC236}">
                <a16:creationId xmlns:a16="http://schemas.microsoft.com/office/drawing/2014/main" id="{5C0643AE-337C-A541-BD7A-44182236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8" y="9684305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預決算與條例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9" name="storyboard-12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8b5a7a67646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84430" y="8549044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8" name="storyboard-caption-12-5">
            <a:extLst xmlns:a="http://schemas.openxmlformats.org/drawingml/2006/main">
              <a:ext uri="{FF2B5EF4-FFF2-40B4-BE49-F238E27FC236}">
                <a16:creationId xmlns:a16="http://schemas.microsoft.com/office/drawing/2014/main" id="{302CA3ED-7019-8B44-B767-3B2FC4F4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430" y="9727134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影音・表決・紀錄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3752410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6">
            <a:extLst xmlns:a="http://schemas.openxmlformats.org/drawingml/2006/main">
              <a:ext uri="{FF2B5EF4-FFF2-40B4-BE49-F238E27FC236}">
                <a16:creationId xmlns:a16="http://schemas.microsoft.com/office/drawing/2014/main" id="{97301798-40B2-46FC-9673-E527098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</a:p>
        </p:txBody>
      </p:sp>
      <p:sp>
        <p:nvSpPr>
          <p:cNvPr id="2" name="scene-title-16">
            <a:extLst xmlns:a="http://schemas.openxmlformats.org/drawingml/2006/main">
              <a:ext uri="{FF2B5EF4-FFF2-40B4-BE49-F238E27FC236}">
                <a16:creationId xmlns:a16="http://schemas.microsoft.com/office/drawing/2014/main" id="{FB43A0ED-B6F6-4CA3-B0DD-F65B549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讓民主被理解，也被完整保存</a:t>
            </a:r>
          </a:p>
        </p:txBody>
      </p:sp>
      <p:sp>
        <p:nvSpPr>
          <p:cNvPr id="3" name="scene-band-16">
            <a:extLst xmlns:a="http://schemas.openxmlformats.org/drawingml/2006/main">
              <a:ext uri="{FF2B5EF4-FFF2-40B4-BE49-F238E27FC236}">
                <a16:creationId xmlns:a16="http://schemas.microsoft.com/office/drawing/2014/main" id="{7D06B2FC-90FF-4CF1-BCF5-1DE4294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6">
            <a:extLst xmlns:a="http://schemas.openxmlformats.org/drawingml/2006/main">
              <a:ext uri="{FF2B5EF4-FFF2-40B4-BE49-F238E27FC236}">
                <a16:creationId xmlns:a16="http://schemas.microsoft.com/office/drawing/2014/main" id="{83353A3F-48BD-4725-A397-1FF834A0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行政團隊｜讓每一場會議可信、可查</a:t>
            </a:r>
          </a:p>
        </p:txBody>
      </p:sp>
      <p:sp>
        <p:nvSpPr>
          <p:cNvPr id="5" name="scene-duration-16">
            <a:extLst xmlns:a="http://schemas.openxmlformats.org/drawingml/2006/main">
              <a:ext uri="{FF2B5EF4-FFF2-40B4-BE49-F238E27FC236}">
                <a16:creationId xmlns:a16="http://schemas.microsoft.com/office/drawing/2014/main" id="{518C8E5B-3130-4CE6-A42F-657F4F1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08:15–09:10｜55 秒｜累計 09:10</a:t>
            </a:r>
          </a:p>
        </p:txBody>
      </p:sp>
      <p:sp>
        <p:nvSpPr>
          <p:cNvPr id="6" name="col-head-16-0">
            <a:extLst xmlns:a="http://schemas.openxmlformats.org/drawingml/2006/main">
              <a:ext uri="{FF2B5EF4-FFF2-40B4-BE49-F238E27FC236}">
                <a16:creationId xmlns:a16="http://schemas.microsoft.com/office/drawing/2014/main" id="{05F6B5F8-7986-4EE8-A911-F4B889C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6-0">
            <a:extLst xmlns:a="http://schemas.openxmlformats.org/drawingml/2006/main">
              <a:ext uri="{FF2B5EF4-FFF2-40B4-BE49-F238E27FC236}">
                <a16:creationId xmlns:a16="http://schemas.microsoft.com/office/drawing/2014/main" id="{029CCD11-2220-4CA8-AD28-D8BB6C9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6-0">
            <a:extLst xmlns:a="http://schemas.openxmlformats.org/drawingml/2006/main">
              <a:ext uri="{FF2B5EF4-FFF2-40B4-BE49-F238E27FC236}">
                <a16:creationId xmlns:a16="http://schemas.microsoft.com/office/drawing/2014/main" id="{97D57F47-B42E-45FB-BE60-E6AC873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6-1">
            <a:extLst xmlns:a="http://schemas.openxmlformats.org/drawingml/2006/main">
              <a:ext uri="{FF2B5EF4-FFF2-40B4-BE49-F238E27FC236}">
                <a16:creationId xmlns:a16="http://schemas.microsoft.com/office/drawing/2014/main" id="{EC7A94C1-AB8A-4DA4-B55A-C792FC2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6-1">
            <a:extLst xmlns:a="http://schemas.openxmlformats.org/drawingml/2006/main">
              <a:ext uri="{FF2B5EF4-FFF2-40B4-BE49-F238E27FC236}">
                <a16:creationId xmlns:a16="http://schemas.microsoft.com/office/drawing/2014/main" id="{2C5ED556-F55E-456F-81E8-9C4AECC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6-1">
            <a:extLst xmlns:a="http://schemas.openxmlformats.org/drawingml/2006/main">
              <a:ext uri="{FF2B5EF4-FFF2-40B4-BE49-F238E27FC236}">
                <a16:creationId xmlns:a16="http://schemas.microsoft.com/office/drawing/2014/main" id="{19497590-D156-4EAE-9120-CB942300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6-2">
            <a:extLst xmlns:a="http://schemas.openxmlformats.org/drawingml/2006/main">
              <a:ext uri="{FF2B5EF4-FFF2-40B4-BE49-F238E27FC236}">
                <a16:creationId xmlns:a16="http://schemas.microsoft.com/office/drawing/2014/main" id="{11A0AAFA-4D9F-4125-9A60-1A04B37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6-2">
            <a:extLst xmlns:a="http://schemas.openxmlformats.org/drawingml/2006/main">
              <a:ext uri="{FF2B5EF4-FFF2-40B4-BE49-F238E27FC236}">
                <a16:creationId xmlns:a16="http://schemas.microsoft.com/office/drawing/2014/main" id="{EC5EC122-D852-4B46-9A77-C89B7E0C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6-2">
            <a:extLst xmlns:a="http://schemas.openxmlformats.org/drawingml/2006/main">
              <a:ext uri="{FF2B5EF4-FFF2-40B4-BE49-F238E27FC236}">
                <a16:creationId xmlns:a16="http://schemas.microsoft.com/office/drawing/2014/main" id="{E5E73552-F325-4F50-99D4-A2A2FF0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6">
            <a:extLst xmlns:a="http://schemas.openxmlformats.org/drawingml/2006/main">
              <a:ext uri="{FF2B5EF4-FFF2-40B4-BE49-F238E27FC236}">
                <a16:creationId xmlns:a16="http://schemas.microsoft.com/office/drawing/2014/main" id="{5A29FA93-B2DD-4927-BDA7-397DFEB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21｜開會前：議程、席次、麥克風、文件與系統測試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22｜會議中：議事、法制、文書、資訊與影音人員協作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23｜會議後：紀錄整理、議案上網、影音典藏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24｜會史館展示更新、簡報室新 LED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與多語播放測試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25｜國內外訪賓參訪、公共關係與導覽服務</a:t>
            </a:r>
          </a:p>
        </p:txBody>
      </p:sp>
      <p:sp>
        <p:nvSpPr>
          <p:cNvPr id="16" name="audio-16">
            <a:extLst xmlns:a="http://schemas.openxmlformats.org/drawingml/2006/main">
              <a:ext uri="{FF2B5EF4-FFF2-40B4-BE49-F238E27FC236}">
                <a16:creationId xmlns:a16="http://schemas.microsoft.com/office/drawing/2014/main" id="{9C1B68A2-AD62-4F99-A1D8-7664CE4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以開會前倒數聲建立秩序感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不同處室動作採聲音接力：翻頁、插線、測麥、鍵盤、快門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音樂重新加入溫度，節奏穩定向前</a:t>
            </a:r>
          </a:p>
        </p:txBody>
      </p:sp>
      <p:sp>
        <p:nvSpPr>
          <p:cNvPr id="17" name="narration-16">
            <a:extLst xmlns:a="http://schemas.openxmlformats.org/drawingml/2006/main">
              <a:ext uri="{FF2B5EF4-FFF2-40B4-BE49-F238E27FC236}">
                <a16:creationId xmlns:a16="http://schemas.microsoft.com/office/drawing/2014/main" id="{49AB0F68-65FC-4922-BE29-B828F0B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一場會議能順利進行，背後有許多看不見的準備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從議程安排、法制研析、文書與會議紀錄，到資訊系統、影音轉播、公共關係與行政支援，議會團隊讓每一場討論有秩序、有依據，也有可以查詢的紀錄。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會史館保存地方自治走過的路；更新後的簡報室，則讓議會的故事以更清楚、更友善的方式被看見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當資料可以查找、影像可以回看、內容可以用不同語言理解，民主就不只發生在會議當下，也能被認識、被保存、被傳承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準備每一場會議｜保存每一段民主紀錄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9CAA4206-9610-46BA-B08A-7C9B1CA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6">
            <a:extLst xmlns:a="http://schemas.openxmlformats.org/drawingml/2006/main">
              <a:ext uri="{FF2B5EF4-FFF2-40B4-BE49-F238E27FC236}">
                <a16:creationId xmlns:a16="http://schemas.microsoft.com/office/drawing/2014/main" id="{DF3F98DD-DE97-4E2C-B4B4-E33A15F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看見.共好｜第四章｜看見議會如何運作｜08:15–09:10</a:t>
            </a:r>
          </a:p>
        </p:txBody>
      </p:sp>
      <p:sp>
        <p:nvSpPr>
          <p:cNvPr id="28" name="visual-16">
            <a:extLst xmlns:a="http://schemas.openxmlformats.org/drawingml/2006/main">
              <a:ext uri="{FF2B5EF4-FFF2-40B4-BE49-F238E27FC236}">
                <a16:creationId xmlns:a16="http://schemas.microsoft.com/office/drawing/2014/main" id="{FB7F9719-0FE8-DE43-A001-B8350A6F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480757" y="2493668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64" name="storyboard-13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060c1ca064a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615" y="5937935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0" name="storyboard-caption-13-1">
            <a:extLst xmlns:a="http://schemas.openxmlformats.org/drawingml/2006/main">
              <a:ext uri="{FF2B5EF4-FFF2-40B4-BE49-F238E27FC236}">
                <a16:creationId xmlns:a16="http://schemas.microsoft.com/office/drawing/2014/main" id="{AABF156E-0238-B042-9CF5-FB41A116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15" y="7116025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會前準備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6" name="storyboard-13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c44a2d4e146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615" y="7506451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2" name="storyboard-caption-13-2">
            <a:extLst xmlns:a="http://schemas.openxmlformats.org/drawingml/2006/main">
              <a:ext uri="{FF2B5EF4-FFF2-40B4-BE49-F238E27FC236}">
                <a16:creationId xmlns:a16="http://schemas.microsoft.com/office/drawing/2014/main" id="{CBB0D1C4-9889-EE42-A199-364FED54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15" y="8684541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跨處室協作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8" name="storyboard-13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c9edd803346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480759" y="5497575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4" name="storyboard-caption-13-3">
            <a:extLst xmlns:a="http://schemas.openxmlformats.org/drawingml/2006/main">
              <a:ext uri="{FF2B5EF4-FFF2-40B4-BE49-F238E27FC236}">
                <a16:creationId xmlns:a16="http://schemas.microsoft.com/office/drawing/2014/main" id="{1012C22C-E12D-D541-AF9F-581D63A1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480759" y="6675666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23｜紀錄與典藏</a:t>
            </a:r>
          </a:p>
        </p:txBody>
      </p:sp>
      <p:pic>
        <p:nvPicPr>
          <p:cNvPr id="70" name="storyboard-1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8ee0bc7f841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4083" y="6788818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6" name="storyboard-caption-13-4">
            <a:extLst xmlns:a="http://schemas.openxmlformats.org/drawingml/2006/main">
              <a:ext uri="{FF2B5EF4-FFF2-40B4-BE49-F238E27FC236}">
                <a16:creationId xmlns:a16="http://schemas.microsoft.com/office/drawing/2014/main" id="{5C685D4C-00A1-9D4C-806B-3CACA132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083" y="7966908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展示與多語測試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72" name="storyboard-13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d731f4f3e46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23119" y="8357334"/>
            <a:ext cx="1913096" cy="1435265"/>
          </a:xfrm>
          <a:prstGeom xmlns:a="http://schemas.openxmlformats.org/drawingml/2006/main" prst="roundRect">
            <a:avLst>
              <a:gd name="adj" fmla="val 3318"/>
            </a:avLst>
          </a:prstGeom>
        </p:spPr>
      </p:pic>
      <p:sp>
        <p:nvSpPr>
          <p:cNvPr id="38" name="storyboard-caption-13-5">
            <a:extLst xmlns:a="http://schemas.openxmlformats.org/drawingml/2006/main">
              <a:ext uri="{FF2B5EF4-FFF2-40B4-BE49-F238E27FC236}">
                <a16:creationId xmlns:a16="http://schemas.microsoft.com/office/drawing/2014/main" id="{A4E43362-94C5-EB45-A36B-662D4354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119" y="9535424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F66"/>
          </a:solidFill>
          <a:ln xmlns:a="http://schemas.openxmlformats.org/drawingml/2006/main" w="0">
            <a:solidFill>
              <a:srgbClr val="244F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4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參訪與導覽</a:t>
            </a:r>
            <a:endParaRPr sz="840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6241537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8">
            <a:extLst xmlns:a="http://schemas.openxmlformats.org/drawingml/2006/main">
              <a:ext uri="{FF2B5EF4-FFF2-40B4-BE49-F238E27FC236}">
                <a16:creationId xmlns:a16="http://schemas.microsoft.com/office/drawing/2014/main" id="{1A45D042-25A6-4773-9C33-7FABD36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</a:t>
            </a:r>
          </a:p>
        </p:txBody>
      </p:sp>
      <p:sp>
        <p:nvSpPr>
          <p:cNvPr id="2" name="scene-title-18">
            <a:extLst xmlns:a="http://schemas.openxmlformats.org/drawingml/2006/main">
              <a:ext uri="{FF2B5EF4-FFF2-40B4-BE49-F238E27FC236}">
                <a16:creationId xmlns:a16="http://schemas.microsoft.com/office/drawing/2014/main" id="{C0C6CFEC-A538-4059-94BE-9322975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屆的承諾，是讓每一份託付持續被看見</a:t>
            </a:r>
          </a:p>
        </p:txBody>
      </p:sp>
      <p:sp>
        <p:nvSpPr>
          <p:cNvPr id="3" name="scene-band-18">
            <a:extLst xmlns:a="http://schemas.openxmlformats.org/drawingml/2006/main">
              <a:ext uri="{FF2B5EF4-FFF2-40B4-BE49-F238E27FC236}">
                <a16:creationId xmlns:a16="http://schemas.microsoft.com/office/drawing/2014/main" id="{9603BE48-F247-49A4-A203-96C587D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8">
            <a:extLst xmlns:a="http://schemas.openxmlformats.org/drawingml/2006/main">
              <a:ext uri="{FF2B5EF4-FFF2-40B4-BE49-F238E27FC236}">
                <a16:creationId xmlns:a16="http://schemas.microsoft.com/office/drawing/2014/main" id="{E0F57F14-5EB3-4749-BDEF-CC40A61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議長期許｜建議口白可直接送審錄製</a:t>
            </a:r>
          </a:p>
        </p:txBody>
      </p:sp>
      <p:sp>
        <p:nvSpPr>
          <p:cNvPr id="6" name="col-head-18-0">
            <a:extLst xmlns:a="http://schemas.openxmlformats.org/drawingml/2006/main">
              <a:ext uri="{FF2B5EF4-FFF2-40B4-BE49-F238E27FC236}">
                <a16:creationId xmlns:a16="http://schemas.microsoft.com/office/drawing/2014/main" id="{990A3B5E-99D6-41FB-8605-783D899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8-0">
            <a:extLst xmlns:a="http://schemas.openxmlformats.org/drawingml/2006/main">
              <a:ext uri="{FF2B5EF4-FFF2-40B4-BE49-F238E27FC236}">
                <a16:creationId xmlns:a16="http://schemas.microsoft.com/office/drawing/2014/main" id="{49530B3A-056D-4837-AC46-EFC764F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8-0">
            <a:extLst xmlns:a="http://schemas.openxmlformats.org/drawingml/2006/main">
              <a:ext uri="{FF2B5EF4-FFF2-40B4-BE49-F238E27FC236}">
                <a16:creationId xmlns:a16="http://schemas.microsoft.com/office/drawing/2014/main" id="{6024EEF8-94C0-410F-A352-416E3A21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8-1">
            <a:extLst xmlns:a="http://schemas.openxmlformats.org/drawingml/2006/main">
              <a:ext uri="{FF2B5EF4-FFF2-40B4-BE49-F238E27FC236}">
                <a16:creationId xmlns:a16="http://schemas.microsoft.com/office/drawing/2014/main" id="{77BFCBB0-0FDC-4C5E-88F9-6A77A05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8-1">
            <a:extLst xmlns:a="http://schemas.openxmlformats.org/drawingml/2006/main">
              <a:ext uri="{FF2B5EF4-FFF2-40B4-BE49-F238E27FC236}">
                <a16:creationId xmlns:a16="http://schemas.microsoft.com/office/drawing/2014/main" id="{E0F9A63A-5716-4680-9C31-6E9CE24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8-1">
            <a:extLst xmlns:a="http://schemas.openxmlformats.org/drawingml/2006/main">
              <a:ext uri="{FF2B5EF4-FFF2-40B4-BE49-F238E27FC236}">
                <a16:creationId xmlns:a16="http://schemas.microsoft.com/office/drawing/2014/main" id="{E163E4EA-5F91-4B6E-AAF1-7D903EB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8-2">
            <a:extLst xmlns:a="http://schemas.openxmlformats.org/drawingml/2006/main">
              <a:ext uri="{FF2B5EF4-FFF2-40B4-BE49-F238E27FC236}">
                <a16:creationId xmlns:a16="http://schemas.microsoft.com/office/drawing/2014/main" id="{EBF8D3CB-5A89-400F-98D7-A72E872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8-2">
            <a:extLst xmlns:a="http://schemas.openxmlformats.org/drawingml/2006/main">
              <a:ext uri="{FF2B5EF4-FFF2-40B4-BE49-F238E27FC236}">
                <a16:creationId xmlns:a16="http://schemas.microsoft.com/office/drawing/2014/main" id="{F6254B14-6EEE-4F9A-A133-0268FF7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8-2">
            <a:extLst xmlns:a="http://schemas.openxmlformats.org/drawingml/2006/main">
              <a:ext uri="{FF2B5EF4-FFF2-40B4-BE49-F238E27FC236}">
                <a16:creationId xmlns:a16="http://schemas.microsoft.com/office/drawing/2014/main" id="{1FCF9AD8-A9FD-4343-ADE2-B1045C8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8">
            <a:extLst xmlns:a="http://schemas.openxmlformats.org/drawingml/2006/main">
              <a:ext uri="{FF2B5EF4-FFF2-40B4-BE49-F238E27FC236}">
                <a16:creationId xmlns:a16="http://schemas.microsoft.com/office/drawing/2014/main" id="{06ABE9E8-EF67-4923-B1B8-161A203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1｜議長於議事廳或自然採光空間受訪；鏡位平視、背景保留議會辨識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2｜致詞間穿插：就職合照、議員傾聽、市民互動、現勘與質詢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3｜第 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屆全體成員在議場／階梯完成正式群像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4｜鏡頭由群像拉遠，轉入城市夜景與清晨呼應</a:t>
            </a:r>
          </a:p>
        </p:txBody>
      </p:sp>
      <p:sp>
        <p:nvSpPr>
          <p:cNvPr id="16" name="audio-18">
            <a:extLst xmlns:a="http://schemas.openxmlformats.org/drawingml/2006/main">
              <a:ext uri="{FF2B5EF4-FFF2-40B4-BE49-F238E27FC236}">
                <a16:creationId xmlns:a16="http://schemas.microsoft.com/office/drawing/2014/main" id="{CE001C49-C2D4-4B0B-A46E-B52B8E26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議長原音建議 28–32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不使用提詞感過重的正面背稿；採兩段訪談剪接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背景音樂降至 25%，保留自然呼吸與停頓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末句後停 1 秒再進旁白</a:t>
            </a:r>
          </a:p>
        </p:txBody>
      </p:sp>
      <p:sp>
        <p:nvSpPr>
          <p:cNvPr id="17" name="narration-18">
            <a:extLst xmlns:a="http://schemas.openxmlformats.org/drawingml/2006/main">
              <a:ext uri="{FF2B5EF4-FFF2-40B4-BE49-F238E27FC236}">
                <a16:creationId xmlns:a16="http://schemas.microsoft.com/office/drawing/2014/main" id="{588EFCC8-D945-49B6-96D1-7A800D7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【議長建議原音】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第五屆新北市議會，承接的是六十八席民意，更是市民對這座城市的期待。
我們會尊重不同聲音，善盡審議與監督責任，讓公共資源回應真正的需要；也會持續走進地方、傾聽市民，讓每一項承諾都有進度、每一個問題都有回應。
新北的未來，需要市民、議會與市府一起努力。看見彼此，我們就能一起把城市變得更好。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每一屆議會，都站在前人走過的路上，也面向尚未完成的未來。第 5 屆的承諾，是讓每一份託付持續被看見，讓每一次討論，都更接近公共利益。</a:t>
            </a:r>
          </a:p>
        </p:txBody>
      </p:sp>
      <p:sp>
        <p:nvSpPr>
          <p:cNvPr id="18" name="footer-line-18">
            <a:extLst xmlns:a="http://schemas.openxmlformats.org/drawingml/2006/main">
              <a:ext uri="{FF2B5EF4-FFF2-40B4-BE49-F238E27FC236}">
                <a16:creationId xmlns:a16="http://schemas.microsoft.com/office/drawing/2014/main" id="{2EB84A32-E927-4A9A-8272-DAC91CA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9B904E02-534D-4033-ACF9-5D67219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看見.共好｜第五章｜走向共好｜09:10–10:15</a:t>
            </a:r>
          </a:p>
        </p:txBody>
      </p:sp>
      <p:sp>
        <p:nvSpPr>
          <p:cNvPr id="22" name="scene-duration-17">
            <a:extLst xmlns:a="http://schemas.openxmlformats.org/drawingml/2006/main">
              <a:ext uri="{FF2B5EF4-FFF2-40B4-BE49-F238E27FC236}">
                <a16:creationId xmlns:a16="http://schemas.microsoft.com/office/drawing/2014/main" id="{530DA148-63B3-2D49-82E0-D4DE9C0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09:10–10:15｜65 秒｜累計 10:15</a:t>
            </a:r>
          </a:p>
        </p:txBody>
      </p:sp>
      <p:sp>
        <p:nvSpPr>
          <p:cNvPr id="29" name="visual-18">
            <a:extLst xmlns:a="http://schemas.openxmlformats.org/drawingml/2006/main">
              <a:ext uri="{FF2B5EF4-FFF2-40B4-BE49-F238E27FC236}">
                <a16:creationId xmlns:a16="http://schemas.microsoft.com/office/drawing/2014/main" id="{909AABAB-47E4-9E48-A5EB-7D711589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92277" y="1827444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62" name="storyboard-14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10344602a40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882" y="5344319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1" name="storyboard-caption-14-1">
            <a:extLst xmlns:a="http://schemas.openxmlformats.org/drawingml/2006/main">
              <a:ext uri="{FF2B5EF4-FFF2-40B4-BE49-F238E27FC236}">
                <a16:creationId xmlns:a16="http://schemas.microsoft.com/office/drawing/2014/main" id="{CB2C1E66-AA13-4346-999F-C557567B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2" y="6897894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議長自然訪談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4" name="storyboard-14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014a88d8e4b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855" y="7268185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3" name="storyboard-caption-14-2">
            <a:extLst xmlns:a="http://schemas.openxmlformats.org/drawingml/2006/main">
              <a:ext uri="{FF2B5EF4-FFF2-40B4-BE49-F238E27FC236}">
                <a16:creationId xmlns:a16="http://schemas.microsoft.com/office/drawing/2014/main" id="{9FEC32EE-ECFB-4B4E-9A58-F40AD26C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55" y="8821761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致詞交叉畫面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6" name="storyboard-14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0bc5b5cc240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20304" y="6371492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5" name="storyboard-caption-14-3">
            <a:extLst xmlns:a="http://schemas.openxmlformats.org/drawingml/2006/main">
              <a:ext uri="{FF2B5EF4-FFF2-40B4-BE49-F238E27FC236}">
                <a16:creationId xmlns:a16="http://schemas.microsoft.com/office/drawing/2014/main" id="{03F7367C-75D8-1E42-B1B7-26B2BEE4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04" y="7925067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第5屆正式群像</a:t>
            </a:r>
          </a:p>
        </p:txBody>
      </p:sp>
      <p:pic>
        <p:nvPicPr>
          <p:cNvPr id="68" name="storyboard-14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ea4f593f14a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20304" y="8238148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7" name="storyboard-caption-14-4">
            <a:extLst xmlns:a="http://schemas.openxmlformats.org/drawingml/2006/main">
              <a:ext uri="{FF2B5EF4-FFF2-40B4-BE49-F238E27FC236}">
                <a16:creationId xmlns:a16="http://schemas.microsoft.com/office/drawing/2014/main" id="{58D70F5A-B6AB-8743-B373-E17B1F4C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04" y="9791723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群像轉城市晨夜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8731547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9">
            <a:extLst xmlns:a="http://schemas.openxmlformats.org/drawingml/2006/main">
              <a:ext uri="{FF2B5EF4-FFF2-40B4-BE49-F238E27FC236}">
                <a16:creationId xmlns:a16="http://schemas.microsoft.com/office/drawing/2014/main" id="{6152CAC5-663C-4251-B237-24A16D9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分鏡腳本｜片尾｜回到片名</a:t>
            </a:r>
          </a:p>
        </p:txBody>
      </p:sp>
      <p:sp>
        <p:nvSpPr>
          <p:cNvPr id="2" name="scene-title-19">
            <a:extLst xmlns:a="http://schemas.openxmlformats.org/drawingml/2006/main">
              <a:ext uri="{FF2B5EF4-FFF2-40B4-BE49-F238E27FC236}">
                <a16:creationId xmlns:a16="http://schemas.microsoft.com/office/drawing/2014/main" id="{2081CBF3-9BCC-412B-98FA-D22A042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3" name="scene-band-19">
            <a:extLst xmlns:a="http://schemas.openxmlformats.org/drawingml/2006/main">
              <a:ext uri="{FF2B5EF4-FFF2-40B4-BE49-F238E27FC236}">
                <a16:creationId xmlns:a16="http://schemas.microsoft.com/office/drawing/2014/main" id="{897DD5F0-0D8E-4F2D-88C9-6374E0B7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9">
            <a:extLst xmlns:a="http://schemas.openxmlformats.org/drawingml/2006/main">
              <a:ext uri="{FF2B5EF4-FFF2-40B4-BE49-F238E27FC236}">
                <a16:creationId xmlns:a16="http://schemas.microsoft.com/office/drawing/2014/main" id="{36CEAD27-2B63-4DB4-8108-DE338BDB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結尾｜回收清晨，讓片名成為記憶</a:t>
            </a:r>
          </a:p>
        </p:txBody>
      </p:sp>
      <p:sp>
        <p:nvSpPr>
          <p:cNvPr id="5" name="scene-duration-19">
            <a:extLst xmlns:a="http://schemas.openxmlformats.org/drawingml/2006/main">
              <a:ext uri="{FF2B5EF4-FFF2-40B4-BE49-F238E27FC236}">
                <a16:creationId xmlns:a16="http://schemas.microsoft.com/office/drawing/2014/main" id="{ACB4DD8A-FB7E-4996-ACDB-9D712D0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10:15–11:10｜55 秒｜累計 11:10</a:t>
            </a:r>
          </a:p>
        </p:txBody>
      </p:sp>
      <p:sp>
        <p:nvSpPr>
          <p:cNvPr id="6" name="col-head-19-0">
            <a:extLst xmlns:a="http://schemas.openxmlformats.org/drawingml/2006/main">
              <a:ext uri="{FF2B5EF4-FFF2-40B4-BE49-F238E27FC236}">
                <a16:creationId xmlns:a16="http://schemas.microsoft.com/office/drawing/2014/main" id="{2BC61680-9777-45E2-995C-3E9E3595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9-0">
            <a:extLst xmlns:a="http://schemas.openxmlformats.org/drawingml/2006/main">
              <a:ext uri="{FF2B5EF4-FFF2-40B4-BE49-F238E27FC236}">
                <a16:creationId xmlns:a16="http://schemas.microsoft.com/office/drawing/2014/main" id="{4C6A4348-73F8-4BC7-BC11-08867F35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9-0">
            <a:extLst xmlns:a="http://schemas.openxmlformats.org/drawingml/2006/main">
              <a:ext uri="{FF2B5EF4-FFF2-40B4-BE49-F238E27FC236}">
                <a16:creationId xmlns:a16="http://schemas.microsoft.com/office/drawing/2014/main" id="{7B54169C-24B9-43F9-9A56-7319BCC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9-1">
            <a:extLst xmlns:a="http://schemas.openxmlformats.org/drawingml/2006/main">
              <a:ext uri="{FF2B5EF4-FFF2-40B4-BE49-F238E27FC236}">
                <a16:creationId xmlns:a16="http://schemas.microsoft.com/office/drawing/2014/main" id="{ADA02019-3F8F-496D-92B1-DB4A258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9-1">
            <a:extLst xmlns:a="http://schemas.openxmlformats.org/drawingml/2006/main">
              <a:ext uri="{FF2B5EF4-FFF2-40B4-BE49-F238E27FC236}">
                <a16:creationId xmlns:a16="http://schemas.microsoft.com/office/drawing/2014/main" id="{14B18A34-176B-4614-A9F7-5DD7985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9-1">
            <a:extLst xmlns:a="http://schemas.openxmlformats.org/drawingml/2006/main">
              <a:ext uri="{FF2B5EF4-FFF2-40B4-BE49-F238E27FC236}">
                <a16:creationId xmlns:a16="http://schemas.microsoft.com/office/drawing/2014/main" id="{31351A83-9B4C-44E8-9D7D-B4FC1DC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9-2">
            <a:extLst xmlns:a="http://schemas.openxmlformats.org/drawingml/2006/main">
              <a:ext uri="{FF2B5EF4-FFF2-40B4-BE49-F238E27FC236}">
                <a16:creationId xmlns:a16="http://schemas.microsoft.com/office/drawing/2014/main" id="{F96992CC-C2EB-4967-A108-784C697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9-2">
            <a:extLst xmlns:a="http://schemas.openxmlformats.org/drawingml/2006/main">
              <a:ext uri="{FF2B5EF4-FFF2-40B4-BE49-F238E27FC236}">
                <a16:creationId xmlns:a16="http://schemas.microsoft.com/office/drawing/2014/main" id="{E4D72F67-B323-4E4E-95C2-8055762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9-2">
            <a:extLst xmlns:a="http://schemas.openxmlformats.org/drawingml/2006/main">
              <a:ext uri="{FF2B5EF4-FFF2-40B4-BE49-F238E27FC236}">
                <a16:creationId xmlns:a16="http://schemas.microsoft.com/office/drawing/2014/main" id="{E1B554B6-F2D2-421C-BA49-0DF618E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9">
            <a:extLst xmlns:a="http://schemas.openxmlformats.org/drawingml/2006/main">
              <a:ext uri="{FF2B5EF4-FFF2-40B4-BE49-F238E27FC236}">
                <a16:creationId xmlns:a16="http://schemas.microsoft.com/office/drawing/2014/main" id="{649B480E-8A3E-4C74-8E75-7BCFBF6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5｜清晨，此刻進入一天：孩子走進校門、店家迎客、列車抵站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6｜議場燈光亮起，全體席位空鏡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7｜句點化為節點，多個節點匯成新北輪廓／議會識別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END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CARD｜新北市議會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LOGO＋正式片名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9">
            <a:extLst xmlns:a="http://schemas.openxmlformats.org/drawingml/2006/main">
              <a:ext uri="{FF2B5EF4-FFF2-40B4-BE49-F238E27FC236}">
                <a16:creationId xmlns:a16="http://schemas.microsoft.com/office/drawing/2014/main" id="{B17AE9B9-0ACB-4CF2-9056-47B0EBE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音樂回到片頭鋼琴主題，再加入完整弦樂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最後一句旁白後留 2 秒畫面呼吸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LOGO 動畫結束保留 3 秒，便於簡報室播放銜接</a:t>
            </a:r>
          </a:p>
        </p:txBody>
      </p:sp>
      <p:sp>
        <p:nvSpPr>
          <p:cNvPr id="17" name="narration-19">
            <a:extLst xmlns:a="http://schemas.openxmlformats.org/drawingml/2006/main">
              <a:ext uri="{FF2B5EF4-FFF2-40B4-BE49-F238E27FC236}">
                <a16:creationId xmlns:a16="http://schemas.microsoft.com/office/drawing/2014/main" id="{55A9ACBB-62AC-4D95-B767-11B2E28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看見，是願意靠近每一種生活；共好，是把不同的聲音，帶向共同的未來。
當民意被聽見、行動被檢驗、承諾被追蹤，城市就能一步一步，走得更穩、更遠。
看見每一個聲音，共好每一個日常。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【片名字卡】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9508DB98-F8F4-4E2B-9574-068A28C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9">
            <a:extLst xmlns:a="http://schemas.openxmlformats.org/drawingml/2006/main">
              <a:ext uri="{FF2B5EF4-FFF2-40B4-BE49-F238E27FC236}">
                <a16:creationId xmlns:a16="http://schemas.microsoft.com/office/drawing/2014/main" id="{6A31A6FD-C315-4182-A34B-4AE3A87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看見.共好｜片尾｜回到片名｜10:15–11:10</a:t>
            </a:r>
          </a:p>
        </p:txBody>
      </p:sp>
      <p:sp>
        <p:nvSpPr>
          <p:cNvPr id="28" name="visual-19">
            <a:extLst xmlns:a="http://schemas.openxmlformats.org/drawingml/2006/main">
              <a:ext uri="{FF2B5EF4-FFF2-40B4-BE49-F238E27FC236}">
                <a16:creationId xmlns:a16="http://schemas.microsoft.com/office/drawing/2014/main" id="{6F9F23CF-3E86-8543-B210-35472501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01877" y="2474636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pic>
        <p:nvPicPr>
          <p:cNvPr id="61" name="storyboard-15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8bbc70ebf43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917" y="5143272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0" name="storyboard-caption-15-1">
            <a:extLst xmlns:a="http://schemas.openxmlformats.org/drawingml/2006/main">
              <a:ext uri="{FF2B5EF4-FFF2-40B4-BE49-F238E27FC236}">
                <a16:creationId xmlns:a16="http://schemas.microsoft.com/office/drawing/2014/main" id="{7BF40939-7B0A-9F4A-81F3-0170BEA7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7" y="6696847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清晨人物回收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3" name="storyboard-15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042bd6ad945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481" y="7087273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2" name="storyboard-caption-15-2">
            <a:extLst xmlns:a="http://schemas.openxmlformats.org/drawingml/2006/main">
              <a:ext uri="{FF2B5EF4-FFF2-40B4-BE49-F238E27FC236}">
                <a16:creationId xmlns:a16="http://schemas.microsoft.com/office/drawing/2014/main" id="{44A6E7A3-F628-6543-A58E-183D395D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81" y="8640849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議場燈光亮起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5" name="storyboard-15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44ea954f745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9766" y="6296189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4" name="storyboard-caption-15-3">
            <a:extLst xmlns:a="http://schemas.openxmlformats.org/drawingml/2006/main">
              <a:ext uri="{FF2B5EF4-FFF2-40B4-BE49-F238E27FC236}">
                <a16:creationId xmlns:a16="http://schemas.microsoft.com/office/drawing/2014/main" id="{757BAC74-9395-594C-A71A-360BCE98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7849764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節點匯成新北意象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pic>
        <p:nvPicPr>
          <p:cNvPr id="67" name="storyboard-15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119b884954a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9766" y="8183079"/>
            <a:ext cx="1913096" cy="1810750"/>
          </a:xfrm>
          <a:prstGeom xmlns:a="http://schemas.openxmlformats.org/drawingml/2006/main" prst="roundRect">
            <a:avLst>
              <a:gd name="adj" fmla="val 2630"/>
            </a:avLst>
          </a:prstGeom>
        </p:spPr>
      </p:pic>
      <p:sp>
        <p:nvSpPr>
          <p:cNvPr id="36" name="storyboard-caption-15-4">
            <a:extLst xmlns:a="http://schemas.openxmlformats.org/drawingml/2006/main">
              <a:ext uri="{FF2B5EF4-FFF2-40B4-BE49-F238E27FC236}">
                <a16:creationId xmlns:a16="http://schemas.microsoft.com/office/drawing/2014/main" id="{3996734A-A151-BB44-8B68-BF2CDAE2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9736654"/>
            <a:ext cx="191309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solidFill>
              <a:srgbClr val="C85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END｜LOGO＋正式片名</a:t>
            </a:r>
            <a:endParaRPr sz="915" b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4238451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CBF966C-095D-43F7-A61C-97089B0A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PRODUCTION TEAM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E451CC-33D4-4688-B0CE-F9883E81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D1A3304-6F7A-4262-AD9B-00F6A0C8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工作團隊與執行分工</a:t>
            </a:r>
            <a:r>
              <a:rPr sz="13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　|　影片拍攝陣容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11144A4-4CDF-45DE-8991-F9EDDFF2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6CD67B-57A3-4C97-9262-16B656BC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5486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081A6E0-A4A6-446D-9F8D-C8832229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70432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團隊拍攝實績影像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BA1DA3-B147-47E4-9224-31052EA3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70432"/>
            <a:ext cx="24414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近年大型活動與影片拍攝現場紀錄</a:t>
            </a:r>
            <a:endParaRPr sz="900"/>
          </a:p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27b60087c40c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8640" y="1554480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1508FDF-94B2-4F6D-95DC-8DE126BB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pic>
        <p:nvPicPr>
          <p:cNvPr id="4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3acb4c12945e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49296" y="1554480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85C61B8-43FF-41E4-A16E-DB658AF4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296" y="1554480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366ee115944b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49952" y="1554480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4C385468-7833-4663-BE02-2DCACC96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952" y="1554480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pic>
        <p:nvPicPr>
          <p:cNvPr id="5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72f7d54b04b9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8640" y="3239262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C58F5189-691D-4C13-8C0A-9DC0FA48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39262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pic>
        <p:nvPicPr>
          <p:cNvPr id="5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36737cf7b44e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49296" y="3239262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18" name="Shape 11">
            <a:extLst xmlns:a="http://schemas.openxmlformats.org/drawingml/2006/main">
              <a:ext uri="{FF2B5EF4-FFF2-40B4-BE49-F238E27FC236}">
                <a16:creationId xmlns:a16="http://schemas.microsoft.com/office/drawing/2014/main" id="{0026A2E2-C580-4388-8F96-9406EDD4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296" y="3239262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pic>
        <p:nvPicPr>
          <p:cNvPr id="5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772a668c64f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49952" y="3239262"/>
            <a:ext cx="2063496" cy="1547622"/>
          </a:xfrm>
          <a:prstGeom xmlns:a="http://schemas.openxmlformats.org/drawingml/2006/main" prst="rect">
            <a:avLst/>
          </a:prstGeom>
        </p:spPr>
      </p:pic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EE540BD5-6409-4463-9AFF-5B54C06C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952" y="3239262"/>
            <a:ext cx="2063496" cy="1547622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DE7"/>
            </a:solidFill>
            <a:prstDash val="solid"/>
          </a:ln>
        </p:spPr>
      </p:sp>
      <p:sp>
        <p:nvSpPr>
          <p:cNvPr id="21" name="Shape 13">
            <a:extLst xmlns:a="http://schemas.openxmlformats.org/drawingml/2006/main">
              <a:ext uri="{FF2B5EF4-FFF2-40B4-BE49-F238E27FC236}">
                <a16:creationId xmlns:a16="http://schemas.microsoft.com/office/drawing/2014/main" id="{63B4C07B-F1A1-4227-84DA-986FF73A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69764"/>
            <a:ext cx="5486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B44D2B87-591B-4042-B49A-9A06F6D8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33188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攝/錄影設備規格</a:t>
            </a:r>
            <a:endParaRPr sz="1300"/>
          </a:p>
        </p:txBody>
      </p:sp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5518CEE5-9954-4117-9EF5-46D6440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188"/>
            <a:ext cx="24414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均為 2022 年以後出廠;投標檢附原廠型錄逐項標明</a:t>
            </a:r>
            <a:endParaRPr sz="900"/>
          </a:p>
        </p:txBody>
      </p:sp>
      <p:graphicFrame>
        <p:nvGraphicFramePr>
          <p:cNvPr id="59" name="Table 0"/>
          <p:cNvGraphicFramePr/>
          <p:nvPr/>
        </p:nvGraphicFramePr>
        <p:xfrm>
          <a:off xmlns:a="http://schemas.openxmlformats.org/drawingml/2006/main" x="548640" y="5317236"/>
          <a:ext xmlns:a="http://schemas.openxmlformats.org/drawingml/2006/main" cx="6464808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68680"/>
                <a:gridCol w="2148840"/>
                <a:gridCol w="1874520"/>
                <a:gridCol w="1572768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器材名稱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規格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本案用途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主攝影機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Sony ILME-FX3 電影攝影機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4K 3,840×2,160 最高 120p;S-Cinetone、10-bit 4:2:2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議事實錄、訪談、戲劇重演主機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副攝影機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Sony A7S III 專業級錄影相機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4K 3,840×2,160 最高 120p;高感光、低雜訊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多機同步收錄、夜間與室內場景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鏡頭組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Sony FE 16-35mm / 24-70mm / 70-200mm F2.8 GM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全片幅高感光變焦鏡頭組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廣角空間至長焦特寫全涵蓋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空拍系統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Freefly Alta X(美國製)掛載本案 Sony FX3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交付規格同主攝影機;或同等級以上非陸製機型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城市空景、選區地景、片尾拉升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穩定/移動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三軸穩定器、電動滑軌、腳架組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支援長時間手持與軌道運鏡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議事廳環繞、會勘跟拍、文件微距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燈光/收音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 平板燈組、無線領夾麥、指向性麥克風、多軌錄音機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雙系統備援收音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訪談布光、議事現場與環境音採集</a:t>
                      </a:r>
                      <a:endParaRPr sz="85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25" name="Shape 16">
            <a:extLst xmlns:a="http://schemas.openxmlformats.org/drawingml/2006/main">
              <a:ext uri="{FF2B5EF4-FFF2-40B4-BE49-F238E27FC236}">
                <a16:creationId xmlns:a16="http://schemas.microsoft.com/office/drawing/2014/main" id="{474A89B6-9D11-4E99-B909-DA5D1FD7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792" y="7987284"/>
            <a:ext cx="2200656" cy="2324100"/>
          </a:xfrm>
          <a:prstGeom xmlns:a="http://schemas.openxmlformats.org/drawingml/2006/main" prst="roundRect">
            <a:avLst>
              <a:gd name="adj" fmla="val 4605"/>
            </a:avLst>
          </a:prstGeom>
          <a:solidFill xmlns:a="http://schemas.openxmlformats.org/drawingml/2006/main">
            <a:srgbClr val="FDF6E0"/>
          </a:solidFill>
          <a:ln xmlns:a="http://schemas.openxmlformats.org/drawingml/2006/main" w="9525">
            <a:solidFill>
              <a:srgbClr val="C9A227"/>
            </a:solidFill>
            <a:prstDash val="solid"/>
          </a:ln>
        </p:spPr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5355509B-9E8E-4120-9F3A-EA25025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506" y="7987284"/>
            <a:ext cx="6062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設備合規聲明(對應需求書 參、五)</a:t>
            </a:r>
            <a:endParaRPr sz="1000"/>
          </a:p>
        </p:txBody>
      </p:sp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C9F4CBBB-1112-4666-BAFB-201F726E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084" y="8190000"/>
            <a:ext cx="203606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9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本案各項設備均為 2022 年以後出廠之產品,投標時檢附原廠型錄(或規格說明書)正本或影本,並就尺寸、規格逐項標明;全案不使用中國大陸廠牌之資通訊產品。空拍作業由本團隊持有交通部民航局「遙控無人機專業操作證」之人員執行,拍攝前依《遙控無人機管理規則》申請空域並投保責任險。全片以 2K 以上等級攝影機拍攝,並以相同規格剪輯輸出,製作適合本會簡報室 LED 大屏播映之影片系統。</a:t>
            </a:r>
            <a:endParaRPr sz="950"/>
          </a:p>
        </p:txBody>
      </p:sp>
      <p:pic>
        <p:nvPicPr>
          <p:cNvPr id="63" name="圖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39838198f46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28373" y="7751064"/>
            <a:ext cx="2684419" cy="2210697"/>
          </a:xfrm>
          <a:prstGeom xmlns:a="http://schemas.openxmlformats.org/drawingml/2006/main" prst="rect">
            <a:avLst/>
          </a:prstGeom>
        </p:spPr>
      </p:pic>
      <p:pic>
        <p:nvPicPr>
          <p:cNvPr id="64" name="neutral-professional-dro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6abfe88a444d2"/>
          <a:stretch xmlns:a="http://schemas.openxmlformats.org/drawingml/2006/main"/>
        </p:blipFill>
        <p:spPr>
          <a:xfrm xmlns:a="http://schemas.openxmlformats.org/drawingml/2006/main">
            <a:off x="542460" y="7987284"/>
            <a:ext cx="1585913" cy="1057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95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3B367C7-B044-4577-8BF0-B572B23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PRODUCTION TEAM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190495-E36E-4E47-A82B-A6EF7D1A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8A7F8D8-FB91-458F-A7C1-FE37492A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工作團隊與執行分工</a:t>
            </a:r>
            <a:r>
              <a:rPr sz="13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　|　核心製作團隊(一)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C36028-F578-4575-A6CD-5BA9B475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2EC6EF4-153D-4265-AB03-E574244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5486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4E957CE-4639-476A-A462-DF2E8123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70432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導演、企劃與攝影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76C0B54-F25D-4BD4-9E05-FDD40D9C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70432"/>
            <a:ext cx="24414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近年公部門形象影片與活動紀錄實績</a:t>
            </a:r>
            <a:endParaRPr sz="900"/>
          </a:p>
        </p:txBody>
      </p:sp>
      <p:sp>
        <p:nvSpPr>
          <p:cNvPr id="30" name="profile-card-17-1">
            <a:extLst xmlns:a="http://schemas.openxmlformats.org/drawingml/2006/main">
              <a:ext uri="{FF2B5EF4-FFF2-40B4-BE49-F238E27FC236}">
                <a16:creationId xmlns:a16="http://schemas.microsoft.com/office/drawing/2014/main" id="{921EAA9F-A6AD-D949-BCBD-CEB5FDC3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31" name="profile-accent-17-1">
            <a:extLst xmlns:a="http://schemas.openxmlformats.org/drawingml/2006/main">
              <a:ext uri="{FF2B5EF4-FFF2-40B4-BE49-F238E27FC236}">
                <a16:creationId xmlns:a16="http://schemas.microsoft.com/office/drawing/2014/main" id="{93B1F7FA-B99B-1A4E-A19E-E4370658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file-number-17-1">
            <a:extLst xmlns:a="http://schemas.openxmlformats.org/drawingml/2006/main">
              <a:ext uri="{FF2B5EF4-FFF2-40B4-BE49-F238E27FC236}">
                <a16:creationId xmlns:a16="http://schemas.microsoft.com/office/drawing/2014/main" id="{02C372FF-04F5-9048-A875-91463220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811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3" name="profile-photo-matte-17-1">
            <a:extLst xmlns:a="http://schemas.openxmlformats.org/drawingml/2006/main">
              <a:ext uri="{FF2B5EF4-FFF2-40B4-BE49-F238E27FC236}">
                <a16:creationId xmlns:a16="http://schemas.microsoft.com/office/drawing/2014/main" id="{69FB589E-946B-864C-808F-27EC9621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05025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profile-photo-17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fb69694e64fdc"/>
          <a:srcRect xmlns:a="http://schemas.openxmlformats.org/drawingml/2006/main" l="0" t="474" r="0" b="4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152650"/>
            <a:ext cx="1466850" cy="160972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35" name="profile-name-17-1">
            <a:extLst xmlns:a="http://schemas.openxmlformats.org/drawingml/2006/main">
              <a:ext uri="{FF2B5EF4-FFF2-40B4-BE49-F238E27FC236}">
                <a16:creationId xmlns:a16="http://schemas.microsoft.com/office/drawing/2014/main" id="{FC658DDB-532C-9242-A2FE-AD4FE3C3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79070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張子軒</a:t>
            </a:r>
          </a:p>
        </p:txBody>
      </p:sp>
      <p:sp>
        <p:nvSpPr>
          <p:cNvPr id="36" name="profile-role-17-1-bg">
            <a:extLst xmlns:a="http://schemas.openxmlformats.org/drawingml/2006/main">
              <a:ext uri="{FF2B5EF4-FFF2-40B4-BE49-F238E27FC236}">
                <a16:creationId xmlns:a16="http://schemas.microsoft.com/office/drawing/2014/main" id="{D5974F94-75D2-E14B-B775-A27A938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0225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rofile-role-17-1">
            <a:extLst xmlns:a="http://schemas.openxmlformats.org/drawingml/2006/main">
              <a:ext uri="{FF2B5EF4-FFF2-40B4-BE49-F238E27FC236}">
                <a16:creationId xmlns:a16="http://schemas.microsoft.com/office/drawing/2014/main" id="{0FF1BFBA-2770-004B-81F7-A13571AA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8288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導演／剪輯</a:t>
            </a:r>
          </a:p>
        </p:txBody>
      </p:sp>
      <p:sp>
        <p:nvSpPr>
          <p:cNvPr id="38" name="profile-rule-17-1">
            <a:extLst xmlns:a="http://schemas.openxmlformats.org/drawingml/2006/main">
              <a:ext uri="{FF2B5EF4-FFF2-40B4-BE49-F238E27FC236}">
                <a16:creationId xmlns:a16="http://schemas.microsoft.com/office/drawing/2014/main" id="{E96BAD00-C709-564D-B33F-8EA50571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09800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rofile-bio-label-17-1">
            <a:extLst xmlns:a="http://schemas.openxmlformats.org/drawingml/2006/main">
              <a:ext uri="{FF2B5EF4-FFF2-40B4-BE49-F238E27FC236}">
                <a16:creationId xmlns:a16="http://schemas.microsoft.com/office/drawing/2014/main" id="{3F3DCD72-B549-AA46-9EFD-78808D3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33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59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40" name="profile-bio-17-1">
            <a:extLst xmlns:a="http://schemas.openxmlformats.org/drawingml/2006/main">
              <a:ext uri="{FF2B5EF4-FFF2-40B4-BE49-F238E27FC236}">
                <a16:creationId xmlns:a16="http://schemas.microsoft.com/office/drawing/2014/main" id="{8BAA1BED-03ED-6349-A7AB-D8B1178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81275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2024｜新北客家桐花祭、臺北市客家義民嘉年華宣傳影片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2025｜新北平溪天燈節、新北市國慶宣傳影片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2026｜新北平溪天燈節、新北市客家美食節宣傳影片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負責｜腳本企劃・導演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導演</a:t>
            </a:r>
            <a:br/>
            <a:r>
              <a:rPr sz="110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2026</a:t>
            </a:r>
            <a:r>
              <a:rPr sz="110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｜臺北客家義民嘉年華、剪輯、倒仔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1" name="profile-card-17-2">
            <a:extLst xmlns:a="http://schemas.openxmlformats.org/drawingml/2006/main">
              <a:ext uri="{FF2B5EF4-FFF2-40B4-BE49-F238E27FC236}">
                <a16:creationId xmlns:a16="http://schemas.microsoft.com/office/drawing/2014/main" id="{D911F25F-05E0-E94C-BF66-7713ABB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9F3DF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42" name="profile-accent-17-2">
            <a:extLst xmlns:a="http://schemas.openxmlformats.org/drawingml/2006/main">
              <a:ext uri="{FF2B5EF4-FFF2-40B4-BE49-F238E27FC236}">
                <a16:creationId xmlns:a16="http://schemas.microsoft.com/office/drawing/2014/main" id="{2FBF84D9-981C-6049-AE10-84A3EBE4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rofile-number-17-2">
            <a:extLst xmlns:a="http://schemas.openxmlformats.org/drawingml/2006/main">
              <a:ext uri="{FF2B5EF4-FFF2-40B4-BE49-F238E27FC236}">
                <a16:creationId xmlns:a16="http://schemas.microsoft.com/office/drawing/2014/main" id="{9421292D-2A50-8843-BFDC-4BC7362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672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4" name="profile-photo-matte-17-2">
            <a:extLst xmlns:a="http://schemas.openxmlformats.org/drawingml/2006/main">
              <a:ext uri="{FF2B5EF4-FFF2-40B4-BE49-F238E27FC236}">
                <a16:creationId xmlns:a16="http://schemas.microsoft.com/office/drawing/2014/main" id="{92556C51-8385-4842-AED4-D7100A56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91075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8" name="profile-photo-17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89c7207314317"/>
          <a:srcRect xmlns:a="http://schemas.openxmlformats.org/drawingml/2006/main" l="3572" t="0" r="35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4838700"/>
            <a:ext cx="1466850" cy="160972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46" name="profile-name-17-2">
            <a:extLst xmlns:a="http://schemas.openxmlformats.org/drawingml/2006/main">
              <a:ext uri="{FF2B5EF4-FFF2-40B4-BE49-F238E27FC236}">
                <a16:creationId xmlns:a16="http://schemas.microsoft.com/office/drawing/2014/main" id="{9AFF8036-C623-B14A-A511-5C8A1184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7675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蔡天與</a:t>
            </a:r>
          </a:p>
        </p:txBody>
      </p:sp>
      <p:sp>
        <p:nvSpPr>
          <p:cNvPr id="47" name="profile-role-17-2-bg">
            <a:extLst xmlns:a="http://schemas.openxmlformats.org/drawingml/2006/main">
              <a:ext uri="{FF2B5EF4-FFF2-40B4-BE49-F238E27FC236}">
                <a16:creationId xmlns:a16="http://schemas.microsoft.com/office/drawing/2014/main" id="{5A685DBE-62ED-8F4C-A48F-5947DE90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86275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A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rofile-role-17-2">
            <a:extLst xmlns:a="http://schemas.openxmlformats.org/drawingml/2006/main">
              <a:ext uri="{FF2B5EF4-FFF2-40B4-BE49-F238E27FC236}">
                <a16:creationId xmlns:a16="http://schemas.microsoft.com/office/drawing/2014/main" id="{BD6446BD-8607-994D-A3A5-8F937735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514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攝影師</a:t>
            </a:r>
          </a:p>
        </p:txBody>
      </p:sp>
      <p:sp>
        <p:nvSpPr>
          <p:cNvPr id="49" name="profile-rule-17-2">
            <a:extLst xmlns:a="http://schemas.openxmlformats.org/drawingml/2006/main">
              <a:ext uri="{FF2B5EF4-FFF2-40B4-BE49-F238E27FC236}">
                <a16:creationId xmlns:a16="http://schemas.microsoft.com/office/drawing/2014/main" id="{E3DC6F8B-CABA-A947-BE6C-77B33FD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895850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rofile-bio-label-17-2">
            <a:extLst xmlns:a="http://schemas.openxmlformats.org/drawingml/2006/main">
              <a:ext uri="{FF2B5EF4-FFF2-40B4-BE49-F238E27FC236}">
                <a16:creationId xmlns:a16="http://schemas.microsoft.com/office/drawing/2014/main" id="{AC94D347-0B58-174A-8897-3910B4AB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019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51" name="profile-bio-17-2">
            <a:extLst xmlns:a="http://schemas.openxmlformats.org/drawingml/2006/main">
              <a:ext uri="{FF2B5EF4-FFF2-40B4-BE49-F238E27FC236}">
                <a16:creationId xmlns:a16="http://schemas.microsoft.com/office/drawing/2014/main" id="{C3B2F69F-62D4-DC40-9727-EDA1F36B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267325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2020–2021｜TimmyCall〈遲到王〉、〈Killer Paper〉MV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2024｜新北客家桐花祭、臺北市客家義民嘉年華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2025｜新北平溪天燈節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負責｜MV 腳本企劃・導演／節慶影片攝影</a:t>
            </a:r>
          </a:p>
        </p:txBody>
      </p:sp>
      <p:sp>
        <p:nvSpPr>
          <p:cNvPr id="52" name="profile-card-17-3">
            <a:extLst xmlns:a="http://schemas.openxmlformats.org/drawingml/2006/main">
              <a:ext uri="{FF2B5EF4-FFF2-40B4-BE49-F238E27FC236}">
                <a16:creationId xmlns:a16="http://schemas.microsoft.com/office/drawing/2014/main" id="{AAD4C2FE-DE0E-7B42-B0E8-06F49447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62775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9EEEB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53" name="profile-accent-17-3">
            <a:extLst xmlns:a="http://schemas.openxmlformats.org/drawingml/2006/main">
              <a:ext uri="{FF2B5EF4-FFF2-40B4-BE49-F238E27FC236}">
                <a16:creationId xmlns:a16="http://schemas.microsoft.com/office/drawing/2014/main" id="{FC2EC6A3-3095-4547-8424-0FEBAEE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62775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rofile-number-17-3">
            <a:extLst xmlns:a="http://schemas.openxmlformats.org/drawingml/2006/main">
              <a:ext uri="{FF2B5EF4-FFF2-40B4-BE49-F238E27FC236}">
                <a16:creationId xmlns:a16="http://schemas.microsoft.com/office/drawing/2014/main" id="{EDA2A0B5-355C-6745-9159-78BAEB88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153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5" name="profile-photo-matte-17-3">
            <a:extLst xmlns:a="http://schemas.openxmlformats.org/drawingml/2006/main">
              <a:ext uri="{FF2B5EF4-FFF2-40B4-BE49-F238E27FC236}">
                <a16:creationId xmlns:a16="http://schemas.microsoft.com/office/drawing/2014/main" id="{96F27691-5920-1741-9FF1-A1C05835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477125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9" name="profile-photo-17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170a795a349c4"/>
          <a:srcRect xmlns:a="http://schemas.openxmlformats.org/drawingml/2006/main" l="7903" t="0" r="79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7524750"/>
            <a:ext cx="1466850" cy="160972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57" name="profile-name-17-3">
            <a:extLst xmlns:a="http://schemas.openxmlformats.org/drawingml/2006/main">
              <a:ext uri="{FF2B5EF4-FFF2-40B4-BE49-F238E27FC236}">
                <a16:creationId xmlns:a16="http://schemas.microsoft.com/office/drawing/2014/main" id="{9D8CC14C-6609-A243-AA0B-AD697DD4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16280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Billy 雨利</a:t>
            </a:r>
          </a:p>
        </p:txBody>
      </p:sp>
      <p:sp>
        <p:nvSpPr>
          <p:cNvPr id="58" name="profile-role-17-3-bg">
            <a:extLst xmlns:a="http://schemas.openxmlformats.org/drawingml/2006/main">
              <a:ext uri="{FF2B5EF4-FFF2-40B4-BE49-F238E27FC236}">
                <a16:creationId xmlns:a16="http://schemas.microsoft.com/office/drawing/2014/main" id="{11904700-BF8C-7B42-9657-D4DAB62C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7172325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rofile-role-17-3">
            <a:extLst xmlns:a="http://schemas.openxmlformats.org/drawingml/2006/main">
              <a:ext uri="{FF2B5EF4-FFF2-40B4-BE49-F238E27FC236}">
                <a16:creationId xmlns:a16="http://schemas.microsoft.com/office/drawing/2014/main" id="{F14CC776-4C5A-C84B-A792-552E0B37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72009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攝影師</a:t>
            </a:r>
          </a:p>
        </p:txBody>
      </p:sp>
      <p:sp>
        <p:nvSpPr>
          <p:cNvPr id="60" name="profile-rule-17-3">
            <a:extLst xmlns:a="http://schemas.openxmlformats.org/drawingml/2006/main">
              <a:ext uri="{FF2B5EF4-FFF2-40B4-BE49-F238E27FC236}">
                <a16:creationId xmlns:a16="http://schemas.microsoft.com/office/drawing/2014/main" id="{73FF621D-FE94-2841-92E8-BAEE690B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581900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rofile-bio-label-17-3">
            <a:extLst xmlns:a="http://schemas.openxmlformats.org/drawingml/2006/main">
              <a:ext uri="{FF2B5EF4-FFF2-40B4-BE49-F238E27FC236}">
                <a16:creationId xmlns:a16="http://schemas.microsoft.com/office/drawing/2014/main" id="{EF04BD9B-6984-374E-BADC-3B6BBE70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705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62" name="profile-bio-17-3">
            <a:extLst xmlns:a="http://schemas.openxmlformats.org/drawingml/2006/main">
              <a:ext uri="{FF2B5EF4-FFF2-40B4-BE49-F238E27FC236}">
                <a16:creationId xmlns:a16="http://schemas.microsoft.com/office/drawing/2014/main" id="{AB1CFEC5-7C2B-204A-BB03-2E8892AE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953375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2022｜《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費叔叔愛相挺》活動紀錄｜攝影・剪輯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2023｜睡眠廣告｜攝影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2023｜MCUT Global Image 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Video｜導演・攝影・剪輯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2023｜《100種解決打呼的方法》｜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攝影・燈光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2024｜《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如何消除背痘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？》｜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導演・攝影・燈光</a:t>
            </a:r>
            <a:br/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2026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｜臺北客家義民</a:t>
            </a:r>
            <a:r>
              <a:rPr sz="110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嘉年華｜攝影・燈光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024693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E0A442-84BE-4593-891B-8967AF7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PRODUCTION TEAM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72E189-C959-46DC-A8CD-C387E28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36FFB3-C1F3-4FDA-9361-B22F36DE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工作團隊與執行分工</a:t>
            </a:r>
            <a:r>
              <a:rPr sz="13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　|　核心製作團隊(二)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E1A933-93DE-4D4D-B687-C09244AD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021ADB-93EC-43F2-B188-D8F3C034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5486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E2C321B-807F-4633-B2D6-D00E8CE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70432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攝影、製片與燈光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61BC71-3B61-442F-822F-F74F047D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70432"/>
            <a:ext cx="24414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音樂錄影帶、品牌形象與新聞影像資歷</a:t>
            </a:r>
            <a:endParaRPr sz="900"/>
          </a:p>
        </p:txBody>
      </p:sp>
      <p:sp>
        <p:nvSpPr>
          <p:cNvPr id="67" name="header-line-18">
            <a:extLst xmlns:a="http://schemas.openxmlformats.org/drawingml/2006/main">
              <a:ext uri="{FF2B5EF4-FFF2-40B4-BE49-F238E27FC236}">
                <a16:creationId xmlns:a16="http://schemas.microsoft.com/office/drawing/2014/main" id="{658E32EA-BF30-2D45-9663-2DBE43A2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1541335"/>
            <a:ext cx="6534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eader-gold-18">
            <a:extLst xmlns:a="http://schemas.openxmlformats.org/drawingml/2006/main">
              <a:ext uri="{FF2B5EF4-FFF2-40B4-BE49-F238E27FC236}">
                <a16:creationId xmlns:a16="http://schemas.microsoft.com/office/drawing/2014/main" id="{D003EA27-D224-CC42-A160-1F610B3A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844" y="1541335"/>
            <a:ext cx="676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rofile-card-18-1">
            <a:extLst xmlns:a="http://schemas.openxmlformats.org/drawingml/2006/main">
              <a:ext uri="{FF2B5EF4-FFF2-40B4-BE49-F238E27FC236}">
                <a16:creationId xmlns:a16="http://schemas.microsoft.com/office/drawing/2014/main" id="{82C543C7-8D05-9B49-BA5F-FE8C39CB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1817560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70" name="profile-accent-18-1">
            <a:extLst xmlns:a="http://schemas.openxmlformats.org/drawingml/2006/main">
              <a:ext uri="{FF2B5EF4-FFF2-40B4-BE49-F238E27FC236}">
                <a16:creationId xmlns:a16="http://schemas.microsoft.com/office/drawing/2014/main" id="{A10199F8-EB9F-DD41-9780-15EE6AC8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1817560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rofile-number-18-1">
            <a:extLst xmlns:a="http://schemas.openxmlformats.org/drawingml/2006/main">
              <a:ext uri="{FF2B5EF4-FFF2-40B4-BE49-F238E27FC236}">
                <a16:creationId xmlns:a16="http://schemas.microsoft.com/office/drawing/2014/main" id="{52E2A315-C506-6E43-AE23-E68593B3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00806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2" name="profile-photo-matte-18-1">
            <a:extLst xmlns:a="http://schemas.openxmlformats.org/drawingml/2006/main">
              <a:ext uri="{FF2B5EF4-FFF2-40B4-BE49-F238E27FC236}">
                <a16:creationId xmlns:a16="http://schemas.microsoft.com/office/drawing/2014/main" id="{2DA4C212-1F76-0B49-A286-09EAFF7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331910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8" name="profile-photo-18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c8482983c4e09"/>
          <a:stretch xmlns:a="http://schemas.openxmlformats.org/drawingml/2006/main"/>
        </p:blipFill>
        <p:spPr>
          <a:xfrm xmlns:a="http://schemas.openxmlformats.org/drawingml/2006/main">
            <a:off x="742569" y="2695448"/>
            <a:ext cx="1466850" cy="977900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74" name="profile-name-18-1">
            <a:extLst xmlns:a="http://schemas.openxmlformats.org/drawingml/2006/main">
              <a:ext uri="{FF2B5EF4-FFF2-40B4-BE49-F238E27FC236}">
                <a16:creationId xmlns:a16="http://schemas.microsoft.com/office/drawing/2014/main" id="{1D6F962F-BB3D-3147-84F0-4F7C7CC7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201758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廖宗煒</a:t>
            </a:r>
          </a:p>
        </p:txBody>
      </p:sp>
      <p:sp>
        <p:nvSpPr>
          <p:cNvPr id="75" name="profile-role-18-1-bg">
            <a:extLst xmlns:a="http://schemas.openxmlformats.org/drawingml/2006/main">
              <a:ext uri="{FF2B5EF4-FFF2-40B4-BE49-F238E27FC236}">
                <a16:creationId xmlns:a16="http://schemas.microsoft.com/office/drawing/2014/main" id="{C59C0E86-5EF6-DC47-8E74-31863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069" y="202711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rofile-role-18-1">
            <a:extLst xmlns:a="http://schemas.openxmlformats.org/drawingml/2006/main">
              <a:ext uri="{FF2B5EF4-FFF2-40B4-BE49-F238E27FC236}">
                <a16:creationId xmlns:a16="http://schemas.microsoft.com/office/drawing/2014/main" id="{A4C9FDE5-643C-8146-B4C9-4D8C980A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694" y="205568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導演／攝影</a:t>
            </a:r>
          </a:p>
        </p:txBody>
      </p:sp>
      <p:sp>
        <p:nvSpPr>
          <p:cNvPr id="77" name="profile-rule-18-1">
            <a:extLst xmlns:a="http://schemas.openxmlformats.org/drawingml/2006/main">
              <a:ext uri="{FF2B5EF4-FFF2-40B4-BE49-F238E27FC236}">
                <a16:creationId xmlns:a16="http://schemas.microsoft.com/office/drawing/2014/main" id="{DADE4601-D839-1744-97E6-957FCF8A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2436685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rofile-bio-label-18-1">
            <a:extLst xmlns:a="http://schemas.openxmlformats.org/drawingml/2006/main">
              <a:ext uri="{FF2B5EF4-FFF2-40B4-BE49-F238E27FC236}">
                <a16:creationId xmlns:a16="http://schemas.microsoft.com/office/drawing/2014/main" id="{2F72905A-3C89-0B43-BD0E-D23C1718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256051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59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0F8A85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79" name="profile-bio-18-1">
            <a:extLst xmlns:a="http://schemas.openxmlformats.org/drawingml/2006/main">
              <a:ext uri="{FF2B5EF4-FFF2-40B4-BE49-F238E27FC236}">
                <a16:creationId xmlns:a16="http://schemas.microsoft.com/office/drawing/2014/main" id="{6C7D360D-6D33-2B43-9EC2-31689A4E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2808160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煒業影像工作室負責人｜具備無人機操作證照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政府／觀光｜公館旅遊、五結鄉公所幼兒園、桃園觀光局形象影片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MV｜四分衛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Quarterback、脫拉庫、何瑞康、廖士賢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品牌廣告｜宏佳騰、麥卡倫、cama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café、台泥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負責｜導演・攝影</a:t>
            </a:r>
            <a:endParaRPr sz="1100" b="0">
              <a:solidFill>
                <a:srgbClr val="34424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0" name="profile-card-18-2">
            <a:extLst xmlns:a="http://schemas.openxmlformats.org/drawingml/2006/main">
              <a:ext uri="{FF2B5EF4-FFF2-40B4-BE49-F238E27FC236}">
                <a16:creationId xmlns:a16="http://schemas.microsoft.com/office/drawing/2014/main" id="{CDCD4E20-673B-0F47-896D-8BF251AD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4503610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9F3DF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81" name="profile-accent-18-2">
            <a:extLst xmlns:a="http://schemas.openxmlformats.org/drawingml/2006/main">
              <a:ext uri="{FF2B5EF4-FFF2-40B4-BE49-F238E27FC236}">
                <a16:creationId xmlns:a16="http://schemas.microsoft.com/office/drawing/2014/main" id="{A060C452-B2AD-4543-A7E3-FA499FCA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4503610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rofile-number-18-2">
            <a:extLst xmlns:a="http://schemas.openxmlformats.org/drawingml/2006/main">
              <a:ext uri="{FF2B5EF4-FFF2-40B4-BE49-F238E27FC236}">
                <a16:creationId xmlns:a16="http://schemas.microsoft.com/office/drawing/2014/main" id="{DCB5AAB4-16B7-9641-AF54-489D8265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69411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3" name="profile-photo-matte-18-2">
            <a:extLst xmlns:a="http://schemas.openxmlformats.org/drawingml/2006/main">
              <a:ext uri="{FF2B5EF4-FFF2-40B4-BE49-F238E27FC236}">
                <a16:creationId xmlns:a16="http://schemas.microsoft.com/office/drawing/2014/main" id="{5A8E24F6-F31A-6C41-A915-EE0CBD28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017960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9" name="profile-photo-18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8a68e505444e1"/>
          <a:srcRect xmlns:a="http://schemas.openxmlformats.org/drawingml/2006/main" l="0" t="13455" r="0" b="13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569" y="5065585"/>
            <a:ext cx="1466850" cy="160972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85" name="profile-name-18-2">
            <a:extLst xmlns:a="http://schemas.openxmlformats.org/drawingml/2006/main">
              <a:ext uri="{FF2B5EF4-FFF2-40B4-BE49-F238E27FC236}">
                <a16:creationId xmlns:a16="http://schemas.microsoft.com/office/drawing/2014/main" id="{CFCF72FB-6EA2-DF4B-A3A3-31429311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470363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宸洛</a:t>
            </a:r>
          </a:p>
        </p:txBody>
      </p:sp>
      <p:sp>
        <p:nvSpPr>
          <p:cNvPr id="86" name="profile-role-18-2-bg">
            <a:extLst xmlns:a="http://schemas.openxmlformats.org/drawingml/2006/main">
              <a:ext uri="{FF2B5EF4-FFF2-40B4-BE49-F238E27FC236}">
                <a16:creationId xmlns:a16="http://schemas.microsoft.com/office/drawing/2014/main" id="{7682553F-D9F5-C74E-8199-0AD0B067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069" y="471316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A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rofile-role-18-2">
            <a:extLst xmlns:a="http://schemas.openxmlformats.org/drawingml/2006/main">
              <a:ext uri="{FF2B5EF4-FFF2-40B4-BE49-F238E27FC236}">
                <a16:creationId xmlns:a16="http://schemas.microsoft.com/office/drawing/2014/main" id="{C151A2AC-50D9-634C-BDB5-CE80AA5C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694" y="474173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製片／場務</a:t>
            </a:r>
          </a:p>
        </p:txBody>
      </p:sp>
      <p:sp>
        <p:nvSpPr>
          <p:cNvPr id="88" name="profile-rule-18-2">
            <a:extLst xmlns:a="http://schemas.openxmlformats.org/drawingml/2006/main">
              <a:ext uri="{FF2B5EF4-FFF2-40B4-BE49-F238E27FC236}">
                <a16:creationId xmlns:a16="http://schemas.microsoft.com/office/drawing/2014/main" id="{E70AAEF0-017C-8B48-ACEF-9A86E617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5122735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rofile-bio-label-18-2">
            <a:extLst xmlns:a="http://schemas.openxmlformats.org/drawingml/2006/main">
              <a:ext uri="{FF2B5EF4-FFF2-40B4-BE49-F238E27FC236}">
                <a16:creationId xmlns:a16="http://schemas.microsoft.com/office/drawing/2014/main" id="{B8674A24-6E31-364B-9044-07AE9284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524656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59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D9A62E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90" name="profile-bio-18-2">
            <a:extLst xmlns:a="http://schemas.openxmlformats.org/drawingml/2006/main">
              <a:ext uri="{FF2B5EF4-FFF2-40B4-BE49-F238E27FC236}">
                <a16:creationId xmlns:a16="http://schemas.microsoft.com/office/drawing/2014/main" id="{7EBC6275-DAC1-934F-88EF-5C738F5A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5494210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2019.09–2020.03｜MOMOTV 體育賽事部・攝影師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2020.05–2022.04｜臺北市議員公費助理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2022.04–2023.07｜壹電視《新聞思想啟》・執行製作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2023.08–至今｜民視新聞部・攝影記者</a:t>
            </a:r>
          </a:p>
        </p:txBody>
      </p:sp>
      <p:sp>
        <p:nvSpPr>
          <p:cNvPr id="91" name="profile-card-18-3">
            <a:extLst xmlns:a="http://schemas.openxmlformats.org/drawingml/2006/main">
              <a:ext uri="{FF2B5EF4-FFF2-40B4-BE49-F238E27FC236}">
                <a16:creationId xmlns:a16="http://schemas.microsoft.com/office/drawing/2014/main" id="{27671EE2-4361-D045-8566-F5591CF5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7189660"/>
            <a:ext cx="6534150" cy="245745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9EEEB"/>
          </a:solidFill>
          <a:ln xmlns:a="http://schemas.openxmlformats.org/drawingml/2006/main" w="9525">
            <a:solidFill>
              <a:srgbClr val="DCE4E6"/>
            </a:solidFill>
            <a:prstDash val="solid"/>
          </a:ln>
        </p:spPr>
      </p:sp>
      <p:sp>
        <p:nvSpPr>
          <p:cNvPr id="92" name="profile-accent-18-3">
            <a:extLst xmlns:a="http://schemas.openxmlformats.org/drawingml/2006/main">
              <a:ext uri="{FF2B5EF4-FFF2-40B4-BE49-F238E27FC236}">
                <a16:creationId xmlns:a16="http://schemas.microsoft.com/office/drawing/2014/main" id="{C644900D-AC19-8044-987C-50332F10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69" y="7189660"/>
            <a:ext cx="8572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rofile-number-18-3">
            <a:extLst xmlns:a="http://schemas.openxmlformats.org/drawingml/2006/main">
              <a:ext uri="{FF2B5EF4-FFF2-40B4-BE49-F238E27FC236}">
                <a16:creationId xmlns:a16="http://schemas.microsoft.com/office/drawing/2014/main" id="{9240FBF9-93FD-CF4A-8D45-76540E14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38016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94" name="profile-photo-matte-18-3">
            <a:extLst xmlns:a="http://schemas.openxmlformats.org/drawingml/2006/main">
              <a:ext uri="{FF2B5EF4-FFF2-40B4-BE49-F238E27FC236}">
                <a16:creationId xmlns:a16="http://schemas.microsoft.com/office/drawing/2014/main" id="{FD2B88FF-75A4-294F-ABD8-6DFFDF12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704010"/>
            <a:ext cx="1562100" cy="1704975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0" name="profile-photo-18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b7fbc3bfa4963"/>
          <a:srcRect xmlns:a="http://schemas.openxmlformats.org/drawingml/2006/main" l="7483" t="0" r="74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569" y="7751635"/>
            <a:ext cx="1466850" cy="160972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96" name="profile-name-18-3">
            <a:extLst xmlns:a="http://schemas.openxmlformats.org/drawingml/2006/main">
              <a:ext uri="{FF2B5EF4-FFF2-40B4-BE49-F238E27FC236}">
                <a16:creationId xmlns:a16="http://schemas.microsoft.com/office/drawing/2014/main" id="{B0EC6D1F-B023-6940-997E-A6462630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738968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2313F"/>
                </a:solidFill>
                <a:latin typeface="Microsoft JhengHei"/>
                <a:ea typeface="Microsoft JhengHei"/>
                <a:cs typeface="Microsoft JhengHei"/>
              </a:rPr>
              <a:t>志豪</a:t>
            </a:r>
          </a:p>
        </p:txBody>
      </p:sp>
      <p:sp>
        <p:nvSpPr>
          <p:cNvPr id="97" name="profile-role-18-3-bg">
            <a:extLst xmlns:a="http://schemas.openxmlformats.org/drawingml/2006/main">
              <a:ext uri="{FF2B5EF4-FFF2-40B4-BE49-F238E27FC236}">
                <a16:creationId xmlns:a16="http://schemas.microsoft.com/office/drawing/2014/main" id="{B68A5E2F-5F2B-CD46-B888-EF70F01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069" y="739921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rofile-role-18-3">
            <a:extLst xmlns:a="http://schemas.openxmlformats.org/drawingml/2006/main">
              <a:ext uri="{FF2B5EF4-FFF2-40B4-BE49-F238E27FC236}">
                <a16:creationId xmlns:a16="http://schemas.microsoft.com/office/drawing/2014/main" id="{CEE1E19F-8D74-8D4E-84A6-BE01CE6C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694" y="742778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燈光／場務</a:t>
            </a:r>
          </a:p>
        </p:txBody>
      </p:sp>
      <p:sp>
        <p:nvSpPr>
          <p:cNvPr id="99" name="profile-rule-18-3">
            <a:extLst xmlns:a="http://schemas.openxmlformats.org/drawingml/2006/main">
              <a:ext uri="{FF2B5EF4-FFF2-40B4-BE49-F238E27FC236}">
                <a16:creationId xmlns:a16="http://schemas.microsoft.com/office/drawing/2014/main" id="{F7F0CDF8-26AC-E84D-864E-3A87E25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7808785"/>
            <a:ext cx="4257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rofile-bio-label-18-3">
            <a:extLst xmlns:a="http://schemas.openxmlformats.org/drawingml/2006/main">
              <a:ext uri="{FF2B5EF4-FFF2-40B4-BE49-F238E27FC236}">
                <a16:creationId xmlns:a16="http://schemas.microsoft.com/office/drawing/2014/main" id="{57D47388-F77B-3B45-9251-DAAFC9C5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793261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359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73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73" b="1">
                <a:solidFill>
                  <a:srgbClr val="D96B57"/>
                </a:solidFill>
                <a:latin typeface="Microsoft JhengHei"/>
                <a:ea typeface="Microsoft JhengHei"/>
                <a:cs typeface="Microsoft JhengHei"/>
              </a:rPr>
              <a:t>SELECTED WORKS / EXPERIENCE</a:t>
            </a:r>
          </a:p>
        </p:txBody>
      </p:sp>
      <p:sp>
        <p:nvSpPr>
          <p:cNvPr id="101" name="profile-bio-18-3">
            <a:extLst xmlns:a="http://schemas.openxmlformats.org/drawingml/2006/main">
              <a:ext uri="{FF2B5EF4-FFF2-40B4-BE49-F238E27FC236}">
                <a16:creationId xmlns:a16="http://schemas.microsoft.com/office/drawing/2014/main" id="{9F919D62-467F-B14A-A1A9-4CFB99FA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94" y="8180260"/>
            <a:ext cx="42576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2020–2021｜TimmyCall〈遲到王〉、〈Killer Paper〉MV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負責｜攝助・燈光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2024｜臺北市客家義民嘉年華影片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00" b="0">
                <a:solidFill>
                  <a:srgbClr val="34424D"/>
                </a:solidFill>
                <a:latin typeface="Microsoft JhengHei"/>
                <a:ea typeface="Microsoft JhengHei"/>
                <a:cs typeface="Microsoft JhengHei"/>
              </a:rPr>
              <a:t>負責｜攝助・燈光</a:t>
            </a:r>
          </a:p>
        </p:txBody>
      </p:sp>
    </p:spTree>
    <p:extLst>
      <p:ext uri="{BB962C8B-B14F-4D97-AF65-F5344CB8AC3E}">
        <p14:creationId xmlns:p14="http://schemas.microsoft.com/office/powerpoint/2010/main" val="14937332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2026-09-03T07:29:58.2280000Z</dcterms:created>
  <dcterms:modified xsi:type="dcterms:W3CDTF">2026-09-03T07:29:58.2280000Z</dcterms:modified>
</coreProperties>
</file>