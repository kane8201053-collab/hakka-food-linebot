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73" r:id="rId4"/>
    <p:sldId id="274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8" r:id="rId15"/>
    <p:sldId id="289" r:id="rId1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8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3647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16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6816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7461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651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3751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676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221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725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https://bms1.ntp.gov.tw/billsystem/mam/ScheduleAnnex/0407T/f0b20b98-9369-4730-9423-bc95900d22c4.pdf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99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1073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4596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427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47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CONCEPT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172968" y="274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 － 第5屆新北市議會|影片腳本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腳本核心概念:五章結構,一句「看見」貫穿全片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312686" y="54361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33856"/>
            <a:ext cx="6464808" cy="1115568"/>
          </a:xfrm>
          <a:prstGeom prst="roundRect">
            <a:avLst>
              <a:gd name="adj" fmla="val 6557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6007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片名即敘事方法|</a:t>
            </a: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第4屆《傾聽.卓越》聽見聲音;第5屆《看見.共好》再進一步——</a:t>
            </a: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「看見」是方法</a:t>
            </a: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:先看見生活,再看見機關(片頭 60 秒不出現議會外觀,直到最後一顆鏡頭);</a:t>
            </a: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「共好」是結局</a:t>
            </a: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:當民意被聽見、行動被檢驗、承諾被追蹤,城市才能一起變好。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50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五章結構與章名系統(對照第 3 頁起之分鏡腳本)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926080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9169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944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看見城市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片頭・沿革・就職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6757" y="2984863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00:00–02:35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94037" y="2984863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35 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DF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3547872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5387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第二章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566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看見每一種生活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選區群像 A/B/C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6757" y="3606655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02:35–04:55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94037" y="360665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20 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DF6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69664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16052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187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看見民意如何成為行動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轉折・民意轉化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96757" y="4228447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04:55–06:55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94037" y="422844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00 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700016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4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4791456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78231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481328" y="4809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看見議會如何運作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837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議會職權・行政團隊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96757" y="4850239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06:55–09:10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94037" y="485023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15 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321808"/>
            <a:ext cx="6464808" cy="530352"/>
          </a:xfrm>
          <a:prstGeom prst="roundRect">
            <a:avLst>
              <a:gd name="adj" fmla="val 10345"/>
            </a:avLst>
          </a:prstGeom>
          <a:solidFill>
            <a:srgbClr val="F4F6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58368" y="541324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" y="54041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第五章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481328" y="5431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走向共好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5458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議長期許・片尾回到片名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896757" y="5472031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09:10–11:10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994037" y="5472031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 00 秒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08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2022 版《傾聽.卓越》的三個「不一樣」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48640" y="6492240"/>
            <a:ext cx="6464808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</p:sp>
      <p:sp>
        <p:nvSpPr>
          <p:cNvPr id="46" name="Shape 44"/>
          <p:cNvSpPr/>
          <p:nvPr/>
        </p:nvSpPr>
        <p:spPr>
          <a:xfrm>
            <a:off x="713232" y="6638544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13232" y="66294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視角翻轉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920240" y="66385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第4屆:議會介紹自己(機構視角)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920240" y="6931152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第5屆:先看見生活,再看見機關——片頭以四百萬雙眼睛開場,議會外觀留到第 1 分鐘最後一顆鏡頭才出現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7552944"/>
            <a:ext cx="6464808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</p:sp>
      <p:sp>
        <p:nvSpPr>
          <p:cNvPr id="51" name="Shape 49"/>
          <p:cNvSpPr/>
          <p:nvPr/>
        </p:nvSpPr>
        <p:spPr>
          <a:xfrm>
            <a:off x="713232" y="7699248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13232" y="769010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選區重組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920240" y="769924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第4屆:12 選區逐區介紹,共 7 分 30 秒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920240" y="7991856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第5屆:13 選舉區分為三組群像,每區採「人 3 秒＋地景 3 秒＋公共服務 3 秒」公平配置,區名固定位置出現,避免觀光廣告感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8613648"/>
            <a:ext cx="6464808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</p:sp>
      <p:sp>
        <p:nvSpPr>
          <p:cNvPr id="56" name="Shape 54"/>
          <p:cNvSpPr/>
          <p:nvPr/>
        </p:nvSpPr>
        <p:spPr>
          <a:xfrm>
            <a:off x="713232" y="875995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13232" y="87508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職權敘事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1920240" y="875995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第4屆:組織架構圖 + 職權條列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920240" y="905256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第5屆:跟著一份陳情走完十個步驟——受理→查證→現勘→提案→質詢→審查→議決→追蹤→回到現場,同機位呈現改善前後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446042" y="4887468"/>
            <a:ext cx="6464808" cy="1051560"/>
          </a:xfrm>
          <a:prstGeom prst="roundRect">
            <a:avLst>
              <a:gd name="adj" fmla="val 6957"/>
            </a:avLst>
          </a:prstGeom>
          <a:solidFill>
            <a:srgbClr val="FDF6E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74642" y="5015484"/>
            <a:ext cx="6007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貫穿全片的三個母題|</a:t>
            </a:r>
            <a:endParaRPr lang="en-US" sz="105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眼睛與光</a:t>
            </a:r>
            <a:r>
              <a:rPr lang="en-US" sz="10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:片頭「睜開的眼睛」蒙太奇 → 片尾句點化為節點、匯成議會識別。   </a:t>
            </a:r>
            <a:r>
              <a:rPr lang="en-US" sz="10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同機位前後對照</a:t>
            </a:r>
            <a:r>
              <a:rPr lang="en-US" sz="10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:第三章 STEP 10 以同一機位拍改善前後,未完成者誠實呈現追蹤狀態。   </a:t>
            </a:r>
            <a:r>
              <a:rPr lang="en-US" sz="10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聲音接力</a:t>
            </a:r>
            <a:r>
              <a:rPr lang="en-US" sz="105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:環境音 → 翻頁與議事聲 → 回到清晨,音樂自單一鋼琴音起、於片名與片尾兩次完整展開。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172968" y="274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 － 第5屆新北市議會|影片腳本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分鏡腳本對照總表(總長度:11 分 10 秒)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415284" y="10277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41067"/>
              </p:ext>
            </p:extLst>
          </p:nvPr>
        </p:nvGraphicFramePr>
        <p:xfrm>
          <a:off x="548640" y="1133856"/>
          <a:ext cx="6464808" cy="6600288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章節 / 段落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第一章 看見城市|先看見生活,再看見機關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1-1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片頭|城市醒來,四百萬雙眼睛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00:00–01:00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60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01:00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1-2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議會沿革|讓歷史成為民意的來路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01:00–01:50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01:50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1-3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就職與片名|從選票走進議事殿堂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01:50–02:35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45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02:35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第二章 看見每一種生活|13 選舉區、68 席民意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2-1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選區群像 A|第 1–4 選舉區(海岸・成長・新舊交會・河岸)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02:35–03:20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45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03:20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2-2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選區群像 B|第 5–8 選舉區(核心・密度・公共空間・文化產業)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03:20–04:05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45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04:05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2-3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選區群像 C|第 9–13 選舉區(山海・城鄉・族群・文化傳承)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04:05–04:55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04:55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第三章 看見民意如何成為行動|跟著一份陳情走進議會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3-1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轉折|三個日常問題,是行動的起點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04:55–05:15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20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05:15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3-2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民意轉化 A|受理 → 查證 → 現勘 → 定義問題 → 提案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05:15–06:05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06:05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3-3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民意轉化 B|質詢 → 審查 → 議決 → 追蹤 → 回到現場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06:05–06:55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06:55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第四章 看見議會如何運作|制度與團隊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4-1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議會職權|議決・審查・質詢・請願・監督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06:55–08:15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80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08:15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4-2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行政團隊|會史館與簡報室,保存民主紀錄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08:15–09:10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55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09:10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dirty="0">
                          <a:solidFill>
                            <a:srgbClr val="C9A22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第五章 走向共好|承諾與回望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5-1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議長期許|讓每一份託付持續被看見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09:10–10:15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65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10:15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5-2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片尾|回收清晨,回到片名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10:15–11:10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55 秒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i="0" dirty="0">
                          <a:solidFill>
                            <a:srgbClr val="22293A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JhengHei" pitchFamily="34" charset="-120"/>
                        </a:rPr>
                        <a:t>11:10</a:t>
                      </a:r>
                      <a:endParaRPr lang="en-US" sz="105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9021" y="7877193"/>
            <a:ext cx="6464808" cy="1739247"/>
          </a:xfrm>
          <a:prstGeom prst="roundRect">
            <a:avLst>
              <a:gd name="adj" fmla="val 5333"/>
            </a:avLst>
          </a:prstGeom>
          <a:solidFill>
            <a:srgbClr val="FDF6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621" y="8023498"/>
            <a:ext cx="6007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需求書合規|</a:t>
            </a: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全片 11 分 10 秒,符合「10 至 12 分鐘」規範,且距上限尚餘 50 秒,可供審查階段增補內容;</a:t>
            </a:r>
            <a:endParaRPr lang="en-US" sz="12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第5屆議員就職典禮全程錄影及拍照素材用於 1-3 段;會史館展示更新與簡報室新 LED 多語播放,於 4-2 段入鏡,四項工作成果於片中互相呼應;</a:t>
            </a:r>
            <a:endParaRPr lang="en-US" sz="12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anose="020B0604030504040204" pitchFamily="34" charset="-120"/>
              </a:rPr>
              <a:t>全片以 2K 以上等級攝影機拍攝並以相同規格剪輯輸出;中、英、日、台、韓五語版本畫面共用、語音與字幕分軌,片名字卡五語同步設計。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9021" y="961644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註:13 選舉區、應選 68 席(區域 62、平地原住民 4、山地原住民 2)依中選會公告;第5屆議員就職日為 115 年 12 月 25 日。實際議員人數、選區內容與議長致詞,得標後依本會核定資料修正。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6">
            <a:extLst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 dirty="0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6">
            <a:extLst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6">
            <a:extLst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endParaRPr sz="8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6-0">
            <a:extLst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lang="en-US" altLang="zh-TW" sz="1274" dirty="0" err="1">
                <a:solidFill>
                  <a:srgbClr val="142B34"/>
                </a:solidFill>
                <a:latin typeface="PingFang TC"/>
                <a:ea typeface="PingFang TC"/>
              </a:rPr>
              <a:t>黑幕一聲心跳→晨光穿雲縮時→淡水河面反光、山稜線</a:t>
            </a:r>
            <a:b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</a:b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「</a:t>
            </a:r>
            <a:r>
              <a:rPr lang="en-US" altLang="zh-TW" sz="1274" dirty="0" err="1">
                <a:solidFill>
                  <a:srgbClr val="142B34"/>
                </a:solidFill>
                <a:latin typeface="PingFang TC"/>
                <a:ea typeface="PingFang TC"/>
              </a:rPr>
              <a:t>睜開的眼睛」特寫蒙太奇:孩子、長者、上班族、議事廳裡的眼神</a:t>
            </a:r>
            <a:b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</a:br>
            <a:endParaRPr sz="1274" dirty="0">
              <a:solidFill>
                <a:srgbClr val="142B34"/>
              </a:solidFill>
              <a:latin typeface="PingFang TC"/>
              <a:ea typeface="PingFang TC"/>
            </a:endParaRPr>
          </a:p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</a:rPr>
              <a:t>｜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lang="en-US" altLang="zh-TW" sz="1274" dirty="0" err="1">
                <a:solidFill>
                  <a:srgbClr val="142B34"/>
                </a:solidFill>
                <a:latin typeface="PingFang TC"/>
                <a:ea typeface="PingFang TC"/>
              </a:rPr>
              <a:t>萬千目光化為光點,匯聚成片名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 3D LOGO</a:t>
            </a:r>
            <a:b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</a:br>
            <a:endParaRPr sz="1274" dirty="0">
              <a:solidFill>
                <a:srgbClr val="142B34"/>
              </a:solidFill>
              <a:latin typeface="PingFang TC"/>
              <a:ea typeface="PingFang TC"/>
            </a:endParaRPr>
          </a:p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→29 </a:t>
            </a:r>
            <a:r>
              <a:rPr lang="en-US" altLang="zh-TW" sz="14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區地圖光點依序亮起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</a:t>
            </a:r>
            <a:r>
              <a:rPr lang="zh-CN" altLang="en-US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再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看見議會外觀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</a:t>
            </a: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秒僅留環境音</a:t>
            </a:r>
            <a:br>
              <a:rPr lang="en-US" altLang="zh-TW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</a:br>
            <a:br>
              <a:rPr lang="en-US" altLang="zh-TW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</a:b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4K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空拍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眼神特寫</a:t>
            </a:r>
            <a:endParaRPr lang="en-US" altLang="zh-TW" sz="1200" dirty="0"/>
          </a:p>
          <a:p>
            <a:pPr>
              <a:lnSpc>
                <a:spcPct val="122000"/>
              </a:lnSpc>
            </a:pP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眼睛與光」為全片視覺母題</a:t>
            </a: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endParaRPr lang="en-US" altLang="zh-TW" sz="1200" dirty="0"/>
          </a:p>
          <a:p>
            <a:pPr>
              <a:lnSpc>
                <a:spcPct val="122000"/>
              </a:lnSpc>
            </a:pP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虹膜內映城市倒影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後期合成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人口約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400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萬、面積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2,052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平方公里、海岸線約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120 公里、29 行政區、12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選區</a:t>
            </a:r>
            <a:endParaRPr lang="en-US" altLang="zh-TW" sz="1200" dirty="0"/>
          </a:p>
          <a:p>
            <a:pPr>
              <a:lnSpc>
                <a:spcPct val="122000"/>
              </a:lnSpc>
            </a:pPr>
            <a:endParaRPr lang="en-US" altLang="zh-TW" sz="1200" dirty="0">
              <a:solidFill>
                <a:srgbClr val="22293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>
            <a:endParaRPr lang="zh-TW" altLang="en-US"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</a:t>
            </a:r>
            <a:r>
              <a:rPr lang="en-US" altLang="zh-TW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2–3 </a:t>
            </a:r>
            <a:r>
              <a:rPr lang="zh-TW" altLang="en-US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</a:t>
            </a:r>
          </a:p>
          <a:p>
            <a:pPr>
              <a:lnSpc>
                <a:spcPct val="122000"/>
              </a:lnSpc>
            </a:pP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每一天,新北在四百萬雙眼睛裡醒來。有人看見山</a:t>
            </a:r>
            <a:r>
              <a:rPr lang="zh-CN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海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,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有人看見</a:t>
            </a:r>
            <a:r>
              <a:rPr lang="zh-CN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城市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,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有人看見孩子上學的路。而有一群人,把這四百萬</a:t>
            </a:r>
            <a:r>
              <a:rPr lang="zh-CN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個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目光,看成自己的責任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。 </a:t>
            </a: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而看見,是所有改變的開始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lang="zh-TW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。它由一個個被珍惜的日常，慢慢成為我們共同生活的地方。</a:t>
            </a:r>
            <a:r>
              <a:rPr lang="zh-TW" altLang="en-US" sz="1400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而議會要做的第一件事，就是看見。</a:t>
            </a:r>
          </a:p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en-US" altLang="zh-TW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《</a:t>
            </a:r>
            <a:r>
              <a:rPr lang="en-US" altLang="zh-TW" sz="1400" b="1" dirty="0" err="1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</a:t>
            </a:r>
            <a:r>
              <a:rPr lang="en-US" altLang="zh-TW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》－ 第5屆新北市議會</a:t>
            </a:r>
            <a:b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</a:b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看見.共好｜第一章｜看見城市｜00:00–00:45</a:t>
            </a:r>
          </a:p>
        </p:txBody>
      </p:sp>
      <p:sp>
        <p:nvSpPr>
          <p:cNvPr id="20" name="footer-page-6">
            <a:extLst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24" name="Image 0" descr="/home/claude/deck/frame_f02.png">
            <a:extLst>
              <a:ext uri="{FF2B5EF4-FFF2-40B4-BE49-F238E27FC236}">
                <a16:creationId xmlns:a16="http://schemas.microsoft.com/office/drawing/2014/main" id="{3EA3AAE7-D2F5-E14A-A485-9A0350000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08" y="6528122"/>
            <a:ext cx="2037143" cy="11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7">
            <a:extLst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 dirty="0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7">
            <a:extLst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dirty="0" err="1">
                <a:solidFill>
                  <a:srgbClr val="147A78"/>
                </a:solidFill>
                <a:latin typeface="PingFang TC"/>
                <a:ea typeface="PingFang TC"/>
              </a:rPr>
              <a:t>看見傳承</a:t>
            </a:r>
            <a:r>
              <a:rPr lang="en-US" altLang="zh-TW" sz="2400" b="1" dirty="0">
                <a:solidFill>
                  <a:srgbClr val="147A78"/>
                </a:solidFill>
                <a:latin typeface="PingFang TC"/>
                <a:ea typeface="PingFang TC"/>
              </a:rPr>
              <a:t>(</a:t>
            </a:r>
            <a:r>
              <a:rPr lang="en-US" altLang="zh-TW" sz="2400" b="1" dirty="0" err="1">
                <a:solidFill>
                  <a:srgbClr val="147A78"/>
                </a:solidFill>
                <a:latin typeface="PingFang TC"/>
                <a:ea typeface="PingFang TC"/>
              </a:rPr>
              <a:t>議會沿革</a:t>
            </a:r>
            <a:r>
              <a:rPr lang="en-US" altLang="zh-TW" sz="2400" b="1" dirty="0">
                <a:solidFill>
                  <a:srgbClr val="147A78"/>
                </a:solidFill>
                <a:latin typeface="PingFang TC"/>
                <a:ea typeface="PingFang TC"/>
              </a:rPr>
              <a:t> + 第5屆就職)</a:t>
            </a:r>
          </a:p>
        </p:txBody>
      </p:sp>
      <p:sp>
        <p:nvSpPr>
          <p:cNvPr id="3" name="scene-band-7">
            <a:extLst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7">
            <a:extLst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｜5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endParaRPr sz="8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7-0">
            <a:extLst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1199" dirty="0" err="1">
                <a:solidFill>
                  <a:srgbClr val="60727A"/>
                </a:solidFill>
                <a:latin typeface="PingFang TC"/>
                <a:ea typeface="PingFang TC"/>
              </a:rPr>
              <a:t>歷史照片修復與調色,以光的軌跡串接年代</a:t>
            </a:r>
            <a:endParaRPr lang="en-US" altLang="zh-TW" sz="1199" dirty="0">
              <a:solidFill>
                <a:srgbClr val="60727A"/>
              </a:solidFill>
              <a:latin typeface="PingFang TC"/>
              <a:ea typeface="PingFang TC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7">
            <a:extLst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民國九十九年，臺北縣改制為新北市，議會也以新的名稱，承接不變的責任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</a:rPr>
              <a:t>，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 七十多年來,這道光不曾熄滅。今天它傳到了第5屆——66 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位議員在四百萬市民的注視下宣誓:看見民意,守護共好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。</a:t>
            </a: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</a:t>
            </a:r>
            <a:br>
              <a:rPr lang="en-US" altLang="zh-TW"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</a:br>
            <a:r>
              <a:rPr lang="en-US" altLang="zh-TW" sz="14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看見傳承.民主如光</a:t>
            </a:r>
            <a:r>
              <a:rPr lang="en-US" altLang="zh-TW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</a:t>
            </a:r>
            <a:r>
              <a:rPr sz="14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</a:rPr>
              <a:t>從地方自治出發，讓民意一路被看見</a:t>
            </a:r>
            <a:r>
              <a:rPr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</a:p>
        </p:txBody>
      </p:sp>
      <p:sp>
        <p:nvSpPr>
          <p:cNvPr id="18" name="footer-line-7">
            <a:extLst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看見.共好｜第一章｜看見城市｜00:45–01:35</a:t>
            </a:r>
          </a:p>
        </p:txBody>
      </p:sp>
      <p:sp>
        <p:nvSpPr>
          <p:cNvPr id="20" name="footer-page-7">
            <a:extLst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8">
            <a:extLst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 dirty="0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8">
            <a:extLst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147A78"/>
                </a:solidFill>
                <a:latin typeface="PingFang TC"/>
                <a:ea typeface="PingFang TC"/>
              </a:rPr>
              <a:t>每一席，都</a:t>
            </a:r>
            <a:r>
              <a:rPr lang="zh-TW" altLang="en-US" sz="2400" b="1" dirty="0">
                <a:solidFill>
                  <a:srgbClr val="147A78"/>
                </a:solidFill>
                <a:latin typeface="PingFang TC"/>
                <a:ea typeface="PingFang TC"/>
              </a:rPr>
              <a:t>是眾多希望的託付</a:t>
            </a:r>
            <a:endParaRPr sz="2400" b="1" dirty="0">
              <a:solidFill>
                <a:srgbClr val="147A78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8">
            <a:extLst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8">
            <a:extLst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–02: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45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02: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endParaRPr sz="8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8-0">
            <a:extLst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9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｜12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｜議長／副議長選舉與握手、大合照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｜句點由選票印記化為節點，連成片名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民國一百一十五年十二月二十五日，第五屆新北市議會宣誓就職。六十八席民意，從十三個選舉區走進同一座議事殿堂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在這裡，不同立場將彼此相遇；共同的目標，是讓每一份託付都被認真回應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現場原音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8" name="footer-line-8">
            <a:extLst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看見.共好｜第一章｜看見城市｜01:35–02:35</a:t>
            </a:r>
          </a:p>
        </p:txBody>
      </p:sp>
      <p:sp>
        <p:nvSpPr>
          <p:cNvPr id="20" name="footer-page-8">
            <a:extLst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9">
            <a:extLst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 dirty="0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9">
            <a:extLst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看見日常</a:t>
            </a:r>
            <a:r>
              <a:rPr lang="zh-TW" altLang="en-US" sz="2400" b="1" dirty="0">
                <a:solidFill>
                  <a:srgbClr val="D9962C"/>
                </a:solidFill>
                <a:latin typeface="PingFang TC"/>
                <a:ea typeface="PingFang TC"/>
              </a:rPr>
              <a:t> ，</a:t>
            </a:r>
            <a:r>
              <a:rPr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選區</a:t>
            </a:r>
            <a:r>
              <a:rPr lang="zh-TW" altLang="en-US" sz="2400" b="1" dirty="0">
                <a:solidFill>
                  <a:srgbClr val="D9962C"/>
                </a:solidFill>
                <a:latin typeface="PingFang TC"/>
                <a:ea typeface="PingFang TC"/>
              </a:rPr>
              <a:t>不是地圖上的切線</a:t>
            </a:r>
            <a:endParaRPr sz="2400" b="1" dirty="0">
              <a:solidFill>
                <a:srgbClr val="D9962C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9">
            <a:extLst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9">
            <a:extLst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zh-CN" altLang="en-US" sz="1349" dirty="0">
                <a:solidFill>
                  <a:srgbClr val="142B34"/>
                </a:solidFill>
                <a:latin typeface="PingFang TC"/>
                <a:ea typeface="PingFang TC"/>
              </a:rPr>
              <a:t>每一個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</a:rPr>
              <a:t>選舉區，不只是地圖上的切線，而是</a:t>
            </a:r>
            <a:r>
              <a:rPr lang="zh-TW" altLang="en-US" sz="1349" dirty="0">
                <a:solidFill>
                  <a:srgbClr val="142B34"/>
                </a:solidFill>
                <a:latin typeface="PingFang TC"/>
                <a:ea typeface="PingFang TC"/>
              </a:rPr>
              <a:t>多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</a:rPr>
              <a:t>種觀看城市的角度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從石門、三芝、淡水與八里的海風吹進城市；到林口、五股、泰山快速成長的新生活；新莊在產業記憶與新都心之間持續前進；蘆洲、三重沿著河岸與街巷，承接最密集也最真切的日常。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地方不同，關心的事不同；每一種生活，都應該有被理解的位置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1–4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選舉區｜海岸．成長．新舊交會．河岸生活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9">
            <a:extLst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0">
            <a:extLst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 dirty="0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0">
            <a:extLst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城市的尺度不同，生活的重量相同</a:t>
            </a:r>
            <a:endParaRPr sz="2400" b="1" dirty="0">
              <a:solidFill>
                <a:srgbClr val="D9962C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0">
            <a:extLst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10">
            <a:extLst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1">
            <a:extLst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 dirty="0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1">
            <a:extLst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看見地理</a:t>
            </a:r>
            <a:r>
              <a:rPr sz="2400" b="1" dirty="0">
                <a:solidFill>
                  <a:srgbClr val="D9962C"/>
                </a:solidFill>
                <a:latin typeface="PingFang TC"/>
                <a:ea typeface="PingFang TC"/>
              </a:rPr>
              <a:t>，</a:t>
            </a:r>
            <a:r>
              <a:rPr lang="en-US" altLang="zh-TW" sz="2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多元共榮的日常</a:t>
            </a:r>
            <a:endParaRPr sz="2400" b="1" dirty="0">
              <a:solidFill>
                <a:srgbClr val="D9962C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1">
            <a:extLst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11">
            <a:extLst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還有跨越行政邊界的平地與山地原住民選區，讓族人的生活、語言與文化，在城市裡持續被看見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十三個選區，六十八席民意；每一席，都連著一群人的現在與未來</a:t>
            </a:r>
            <a:r>
              <a:rPr lang="zh-TW" altLang="en-US"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多元,不只是共處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——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是彼此看見,一起變好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。 </a:t>
            </a:r>
            <a:endParaRPr sz="1349" dirty="0">
              <a:solidFill>
                <a:srgbClr val="142B34"/>
              </a:solidFill>
              <a:latin typeface="PingFang TC"/>
              <a:ea typeface="PingFang TC"/>
            </a:endParaRP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9–13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選舉區｜山海．城鄉．族群．文化傳承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1">
            <a:extLst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2">
            <a:extLst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</a:t>
            </a:r>
            <a:r>
              <a:rPr lang="zh-TW" altLang="en-US" sz="1049" b="1" dirty="0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二</a:t>
            </a: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2">
            <a:extLst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2">
            <a:extLst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當一個聲音走進議會，它會怎麼成為改變的開始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？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footer-line-12">
            <a:extLst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3">
            <a:extLst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3">
            <a:extLst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noGrp="1"/>
          </p:cNvSpPr>
          <p:nvPr/>
        </p:nvSpPr>
        <p:spPr>
          <a:xfrm>
            <a:off x="459667" y="723363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dirty="0" err="1">
                <a:solidFill>
                  <a:srgbClr val="416E8A"/>
                </a:solidFill>
                <a:latin typeface="PingFang TC"/>
                <a:ea typeface="PingFang TC"/>
              </a:rPr>
              <a:t>看見</a:t>
            </a:r>
            <a:r>
              <a:rPr lang="zh-CN" altLang="en-US" sz="2400" b="1" dirty="0">
                <a:solidFill>
                  <a:srgbClr val="416E8A"/>
                </a:solidFill>
                <a:latin typeface="PingFang TC"/>
                <a:ea typeface="PingFang TC"/>
              </a:rPr>
              <a:t>問題</a:t>
            </a:r>
            <a:r>
              <a:rPr lang="zh-TW" altLang="en-US" sz="2400" b="1" dirty="0">
                <a:solidFill>
                  <a:srgbClr val="416E8A"/>
                </a:solidFill>
                <a:latin typeface="PingFang TC"/>
                <a:ea typeface="PingFang TC"/>
              </a:rPr>
              <a:t>，</a:t>
            </a:r>
            <a:r>
              <a:rPr lang="en-US" altLang="zh-TW" sz="2400" b="1" dirty="0" err="1">
                <a:solidFill>
                  <a:srgbClr val="416E8A"/>
                </a:solidFill>
                <a:latin typeface="PingFang TC"/>
                <a:ea typeface="PingFang TC"/>
              </a:rPr>
              <a:t>跟著一份提案走進議會</a:t>
            </a:r>
            <a:endParaRPr lang="en-US" altLang="zh-TW" sz="2400" b="1" dirty="0">
              <a:solidFill>
                <a:srgbClr val="416E8A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3">
            <a:extLst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3">
            <a:extLst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市民看見的每一個改變,在這裡都有一段旅程。一份提案</a:t>
            </a:r>
            <a:r>
              <a:rPr lang="zh-CN" altLang="en-US" sz="1349" dirty="0">
                <a:solidFill>
                  <a:srgbClr val="142B34"/>
                </a:solidFill>
                <a:latin typeface="PingFang TC"/>
                <a:ea typeface="PingFang TC"/>
              </a:rPr>
              <a:t>與陳請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,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從服務處出發,走進委員會,被逐條檢視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</a:rPr>
              <a:t>。
一個看似單純的困難，可能牽涉安全、預算、法規與不同機關的權責。議會的工作，是把零散感受整理成可以討論的問題，把個人的不方便，轉化為公共議題。
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每一年,數千億的市政預算在這裡逐項把關;大會與各委員會分工合力,只為一件事:讓你的聲音,成為城市的決定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查證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現勘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3">
            <a:extLst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4">
            <a:extLst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4">
            <a:extLst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416E8A"/>
                </a:solidFill>
                <a:latin typeface="PingFang TC"/>
                <a:ea typeface="PingFang TC"/>
              </a:rPr>
              <a:t>讓承諾有進度，讓改變被追蹤</a:t>
            </a:r>
            <a:endParaRPr sz="2400" b="1" dirty="0">
              <a:solidFill>
                <a:srgbClr val="416E8A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4">
            <a:extLst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4">
            <a:extLst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5">
            <a:extLst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5">
            <a:extLst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  <a:endParaRPr sz="20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5">
            <a:extLst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5">
            <a:extLst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民意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提案／市府提案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審查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大會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執行與監督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5">
            <a:extLst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6">
            <a:extLst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6">
            <a:extLst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6">
            <a:extLst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8">
            <a:extLst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  <a:endParaRPr sz="1049" b="1" dirty="0">
              <a:solidFill>
                <a:srgbClr val="C85B4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8">
            <a:extLst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1DC"/>
          </a:solidFill>
          <a:ln w="0">
            <a:noFill/>
            <a:prstDash val="solid"/>
          </a:ln>
        </p:spPr>
      </p:sp>
      <p:sp>
        <p:nvSpPr>
          <p:cNvPr id="4" name="scene-band-label-18">
            <a:extLst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｜議長於議事廳或自然採光空間受訪；鏡位平視、背景保留議會辨識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｜致詞間穿插：就職合照、議員傾聽、市民互動、現勘與質詢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｜第 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｜鏡頭由群像拉遠，轉入城市夜景與清晨呼應</a:t>
            </a:r>
          </a:p>
        </p:txBody>
      </p:sp>
      <p:sp>
        <p:nvSpPr>
          <p:cNvPr id="16" name="audio-18">
            <a:extLst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看見.共好｜第五章｜走向共好｜10:15–11:25</a:t>
            </a:r>
          </a:p>
        </p:txBody>
      </p:sp>
      <p:sp>
        <p:nvSpPr>
          <p:cNvPr id="20" name="footer-page-18">
            <a:extLst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22" name="scene-duration-17">
            <a:extLst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10:15</a:t>
            </a: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9">
            <a:extLst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1DC"/>
          </a:solidFill>
          <a:ln w="0">
            <a:noFill/>
            <a:prstDash val="solid"/>
          </a:ln>
        </p:spPr>
      </p:sp>
      <p:sp>
        <p:nvSpPr>
          <p:cNvPr id="4" name="scene-band-label-19">
            <a:extLst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5–11: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0｜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55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6" name="col-head-19-0">
            <a:extLst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｜清晨同一組人物，此刻進入一天：孩子走進校門、店家迎客、列車抵站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｜議場燈光亮起，全體席位空鏡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7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｜句點化為節點，多個節點匯成新北輪廓／議會識別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看見.共好｜片尾｜回到片名｜11:25–11:50</a:t>
            </a:r>
          </a:p>
        </p:txBody>
      </p:sp>
      <p:sp>
        <p:nvSpPr>
          <p:cNvPr id="20" name="footer-page-19">
            <a:extLst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2566</Words>
  <Application>Microsoft Macintosh PowerPoint</Application>
  <PresentationFormat>自訂</PresentationFormat>
  <Paragraphs>515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Microsoft JhengHei</vt:lpstr>
      <vt:lpstr>新細明體</vt:lpstr>
      <vt:lpstr>PingFang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15</cp:revision>
  <dcterms:created xsi:type="dcterms:W3CDTF">2026-09-02T15:50:55Z</dcterms:created>
  <dcterms:modified xsi:type="dcterms:W3CDTF">2026-09-03T03:26:48Z</dcterms:modified>
</cp:coreProperties>
</file>