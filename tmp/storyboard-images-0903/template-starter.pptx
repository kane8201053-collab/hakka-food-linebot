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601bc81b3b4fe3" /><Relationship Type="http://schemas.openxmlformats.org/officeDocument/2006/relationships/extended-properties" Target="/docProps/app.xml" Id="Rbe211c33ec4c44c6" /><Relationship Type="http://schemas.openxmlformats.org/officeDocument/2006/relationships/officeDocument" Target="/ppt/presentation.xml" Id="R87f49b99806b40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e6a78e2192466b"/>
  </p:sldMasterIdLst>
  <p:notesMasterIdLst>
    <p:notesMasterId xmlns:r="http://schemas.openxmlformats.org/officeDocument/2006/relationships" r:id="R82cddd63adea4129"/>
  </p:notesMasterIdLst>
  <p:sldIdLst>
    <p:sldId xmlns:r="http://schemas.openxmlformats.org/officeDocument/2006/relationships" id="256" r:id="Rf625cc3563da4668"/>
    <p:sldId xmlns:r="http://schemas.openxmlformats.org/officeDocument/2006/relationships" id="257" r:id="R34f9251f4a114fdb"/>
    <p:sldId xmlns:r="http://schemas.openxmlformats.org/officeDocument/2006/relationships" id="258" r:id="R9aae578ac47a46b9"/>
    <p:sldId xmlns:r="http://schemas.openxmlformats.org/officeDocument/2006/relationships" id="259" r:id="R8469fbabf2b04d9a"/>
    <p:sldId xmlns:r="http://schemas.openxmlformats.org/officeDocument/2006/relationships" id="260" r:id="R31b3eedd586f45cb"/>
    <p:sldId xmlns:r="http://schemas.openxmlformats.org/officeDocument/2006/relationships" id="261" r:id="R53ea2671da3749de"/>
    <p:sldId xmlns:r="http://schemas.openxmlformats.org/officeDocument/2006/relationships" id="262" r:id="R5f063fa63bf5468b"/>
    <p:sldId xmlns:r="http://schemas.openxmlformats.org/officeDocument/2006/relationships" id="263" r:id="Rff555cf0a49041d3"/>
    <p:sldId xmlns:r="http://schemas.openxmlformats.org/officeDocument/2006/relationships" id="264" r:id="Rcf72ad684d584b16"/>
    <p:sldId xmlns:r="http://schemas.openxmlformats.org/officeDocument/2006/relationships" id="265" r:id="R9da773038fa2487b"/>
    <p:sldId xmlns:r="http://schemas.openxmlformats.org/officeDocument/2006/relationships" id="266" r:id="R0a9159f472b14ebc"/>
    <p:sldId xmlns:r="http://schemas.openxmlformats.org/officeDocument/2006/relationships" id="267" r:id="Rd162be4cd9e043ea"/>
    <p:sldId xmlns:r="http://schemas.openxmlformats.org/officeDocument/2006/relationships" id="268" r:id="R9ab4b5cee0ba4215"/>
    <p:sldId xmlns:r="http://schemas.openxmlformats.org/officeDocument/2006/relationships" id="269" r:id="Rcb112791a305464a"/>
    <p:sldId xmlns:r="http://schemas.openxmlformats.org/officeDocument/2006/relationships" id="270" r:id="R73e41d2af93444e9"/>
    <p:sldId xmlns:r="http://schemas.openxmlformats.org/officeDocument/2006/relationships" id="271" r:id="Rbbe04357ef204205"/>
  </p:sldIdLst>
  <p:sldSz cx="7562850" cy="10688638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6b574727d34fec" /><Relationship Type="http://schemas.openxmlformats.org/officeDocument/2006/relationships/slideMaster" Target="/ppt/slideMasters/slideMaster1.xml" Id="Rcce6a78e2192466b" /><Relationship Type="http://schemas.openxmlformats.org/officeDocument/2006/relationships/notesMaster" Target="/ppt/notesMasters/notesMaster1.xml" Id="R82cddd63adea4129" /><Relationship Type="http://schemas.openxmlformats.org/officeDocument/2006/relationships/presProps" Target="/ppt/presProps.xml" Id="R58184969a05f452d" /><Relationship Type="http://schemas.openxmlformats.org/officeDocument/2006/relationships/viewProps" Target="/ppt/viewProps.xml" Id="R7cf8c3d98ded4408" /><Relationship Type="http://schemas.openxmlformats.org/officeDocument/2006/relationships/tableStyles" Target="/ppt/tableStyles.xml" Id="Rde187fc01ff9493c" /><Relationship Type="http://schemas.openxmlformats.org/officeDocument/2006/relationships/slide" Target="/ppt/slides/slide1.xml" Id="Rf625cc3563da4668" /><Relationship Type="http://schemas.openxmlformats.org/officeDocument/2006/relationships/slide" Target="/ppt/slides/slide2.xml" Id="R34f9251f4a114fdb" /><Relationship Type="http://schemas.openxmlformats.org/officeDocument/2006/relationships/slide" Target="/ppt/slides/slide3.xml" Id="R9aae578ac47a46b9" /><Relationship Type="http://schemas.openxmlformats.org/officeDocument/2006/relationships/slide" Target="/ppt/slides/slide4.xml" Id="R8469fbabf2b04d9a" /><Relationship Type="http://schemas.openxmlformats.org/officeDocument/2006/relationships/slide" Target="/ppt/slides/slide5.xml" Id="R31b3eedd586f45cb" /><Relationship Type="http://schemas.openxmlformats.org/officeDocument/2006/relationships/slide" Target="/ppt/slides/slide6.xml" Id="R53ea2671da3749de" /><Relationship Type="http://schemas.openxmlformats.org/officeDocument/2006/relationships/slide" Target="/ppt/slides/slide7.xml" Id="R5f063fa63bf5468b" /><Relationship Type="http://schemas.openxmlformats.org/officeDocument/2006/relationships/slide" Target="/ppt/slides/slide8.xml" Id="Rff555cf0a49041d3" /><Relationship Type="http://schemas.openxmlformats.org/officeDocument/2006/relationships/slide" Target="/ppt/slides/slide9.xml" Id="Rcf72ad684d584b16" /><Relationship Type="http://schemas.openxmlformats.org/officeDocument/2006/relationships/slide" Target="/ppt/slides/slide10.xml" Id="R9da773038fa2487b" /><Relationship Type="http://schemas.openxmlformats.org/officeDocument/2006/relationships/slide" Target="/ppt/slides/slide11.xml" Id="R0a9159f472b14ebc" /><Relationship Type="http://schemas.openxmlformats.org/officeDocument/2006/relationships/slide" Target="/ppt/slides/slide12.xml" Id="Rd162be4cd9e043ea" /><Relationship Type="http://schemas.openxmlformats.org/officeDocument/2006/relationships/slide" Target="/ppt/slides/slide13.xml" Id="R9ab4b5cee0ba4215" /><Relationship Type="http://schemas.openxmlformats.org/officeDocument/2006/relationships/slide" Target="/ppt/slides/slide14.xml" Id="Rcb112791a305464a" /><Relationship Type="http://schemas.openxmlformats.org/officeDocument/2006/relationships/slide" Target="/ppt/slides/slide15.xml" Id="R73e41d2af93444e9" /><Relationship Type="http://schemas.openxmlformats.org/officeDocument/2006/relationships/slide" Target="/ppt/slides/slide16.xml" Id="Rbbe04357ef2042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ac97f3a0da4e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19a5ba8f384f95" /><Relationship Type="http://schemas.openxmlformats.org/officeDocument/2006/relationships/notesMaster" Target="/ppt/notesMasters/notesMaster1.xml" Id="R1a932f928d144e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50a31f796e4696" /><Relationship Type="http://schemas.openxmlformats.org/officeDocument/2006/relationships/notesMaster" Target="/ppt/notesMasters/notesMaster1.xml" Id="R8e84a83145ba43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9ea2a4e4bf48e1" /><Relationship Type="http://schemas.openxmlformats.org/officeDocument/2006/relationships/notesMaster" Target="/ppt/notesMasters/notesMaster1.xml" Id="R3239c10027b447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404754e4764b14" /><Relationship Type="http://schemas.openxmlformats.org/officeDocument/2006/relationships/notesMaster" Target="/ppt/notesMasters/notesMaster1.xml" Id="R5f3c3b6c6fad49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00d7e95ee54d9a" /><Relationship Type="http://schemas.openxmlformats.org/officeDocument/2006/relationships/notesMaster" Target="/ppt/notesMasters/notesMaster1.xml" Id="Rda072c77d5914e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bb8310692b469d" /><Relationship Type="http://schemas.openxmlformats.org/officeDocument/2006/relationships/notesMaster" Target="/ppt/notesMasters/notesMaster1.xml" Id="R5d7e01ccc81a44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5fe0d094464659" /><Relationship Type="http://schemas.openxmlformats.org/officeDocument/2006/relationships/notesMaster" Target="/ppt/notesMasters/notesMaster1.xml" Id="Rc3e2cfe862c441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61c9c5142043a1" /><Relationship Type="http://schemas.openxmlformats.org/officeDocument/2006/relationships/notesMaster" Target="/ppt/notesMasters/notesMaster1.xml" Id="Rd0756694a5e44a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31537072a94137" /><Relationship Type="http://schemas.openxmlformats.org/officeDocument/2006/relationships/notesMaster" Target="/ppt/notesMasters/notesMaster1.xml" Id="R83e3aee0367048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8f60faee3541fe" /><Relationship Type="http://schemas.openxmlformats.org/officeDocument/2006/relationships/notesMaster" Target="/ppt/notesMasters/notesMaster1.xml" Id="Rf5ae0c2cbb454c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6a28e7a9c714c78" /><Relationship Type="http://schemas.openxmlformats.org/officeDocument/2006/relationships/notesMaster" Target="/ppt/notesMasters/notesMaster1.xml" Id="R10d1d37b40a642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69fe216b3d741a0" /><Relationship Type="http://schemas.openxmlformats.org/officeDocument/2006/relationships/notesMaster" Target="/ppt/notesMasters/notesMaster1.xml" Id="R0fdb3a70ea2044b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8fb88061a9a4b28" /><Relationship Type="http://schemas.openxmlformats.org/officeDocument/2006/relationships/notesMaster" Target="/ppt/notesMasters/notesMaster1.xml" Id="R687d31cc3d864bc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92cd4945a67421a" /><Relationship Type="http://schemas.openxmlformats.org/officeDocument/2006/relationships/notesMaster" Target="/ppt/notesMasters/notesMaster1.xml" Id="R77fa31543cb841a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5cc1c2a727b4724" /><Relationship Type="http://schemas.openxmlformats.org/officeDocument/2006/relationships/notesMaster" Target="/ppt/notesMasters/notesMaster1.xml" Id="R731ad63e74644ca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efb085b7852445f" /><Relationship Type="http://schemas.openxmlformats.org/officeDocument/2006/relationships/notesMaster" Target="/ppt/notesMasters/notesMaster1.xml" Id="R9eeaa516c84c47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- https://gazette.nat.gov.tw/egFront/eguploadpubWrapper?file=%2FEG_FileManager%2Feguploadpub%2Feg032154%2Fch02%2Ftype3%2Fgov15%2Fnum2%2FEg.htm&amp;metaid=167808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- https://web.cec.gov.tw/api/file/49859749-3bbe-444c-b516-a4fc724d7e94.pdf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- https://web.cec.gov.tw/api/file/49859749-3bbe-444c-b516-a4fc724d7e94.pdf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- https://web.cec.gov.tw/api/file/49859749-3bbe-444c-b516-a4fc724d7e94.pdf</a:t>
            </a:r>
          </a:p>
          <a:p xmlns:a="http://schemas.openxmlformats.org/drawingml/2006/main">
            <a:r>
              <a:t>- https://gazette.nat.gov.tw/egFront/eguploadpubWrapper?file=%2FEG_FileManager%2Feguploadpub%2Feg032154%2Fch02%2Ftype3%2Fgov15%2Fnum2%2FEg.htm&amp;metaid=167808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- https://bms1.ntp.gov.tw/billsystem/mam/ScheduleAnnex/0407T/f0b20b98-9369-4730-9423-bc95900d22c4.pdf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- https://gazette.nat.gov.tw/egFront/eguploadpubWrapper?file=%2FEG_FileManager%2Feguploadpub%2Feg032154%2Fch02%2Ftype3%2Fgov15%2Fnum2%2FEg.htm&amp;metaid=167808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1ec4442d4643d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aa8435248447ce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d6e0b94bbc456b" /><Relationship Type="http://schemas.openxmlformats.org/officeDocument/2006/relationships/slideLayout" Target="/ppt/slideLayouts/slideLayout1.xml" Id="R5a4ea25f59b0491c" /><Relationship Type="http://schemas.openxmlformats.org/officeDocument/2006/relationships/slideLayout" Target="/ppt/slideLayouts/slideLayout2.xml" Id="Ra148fd1e7cd6498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4ea25f59b0491c"/>
    <p:sldLayoutId xmlns:r="http://schemas.openxmlformats.org/officeDocument/2006/relationships" id="2147483650" r:id="Ra148fd1e7cd64989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c615bd4374447" /><Relationship Type="http://schemas.openxmlformats.org/officeDocument/2006/relationships/notesSlide" Target="/ppt/notesSlides/notesSlide1.xml" Id="R2a387267c5b941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22cf3d59546c0" /><Relationship Type="http://schemas.openxmlformats.org/officeDocument/2006/relationships/notesSlide" Target="/ppt/notesSlides/notesSlide2.xml" Id="R4d4b738666bf45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b57b551f2649c7" /><Relationship Type="http://schemas.openxmlformats.org/officeDocument/2006/relationships/image" Target="/ppt/media/image.png" Id="R3676f85d3c474cb3" /><Relationship Type="http://schemas.openxmlformats.org/officeDocument/2006/relationships/notesSlide" Target="/ppt/notesSlides/notesSlide3.xml" Id="R7ab07ee2397442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a63848174d4a58" /><Relationship Type="http://schemas.openxmlformats.org/officeDocument/2006/relationships/notesSlide" Target="/ppt/notesSlides/notesSlide4.xml" Id="Raba357258d674a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70120126cb4404" /><Relationship Type="http://schemas.openxmlformats.org/officeDocument/2006/relationships/notesSlide" Target="/ppt/notesSlides/notesSlide5.xml" Id="R5e2c19c7ae2240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2ec9198c3f4c54" /><Relationship Type="http://schemas.openxmlformats.org/officeDocument/2006/relationships/notesSlide" Target="/ppt/notesSlides/notesSlide6.xml" Id="R3db5973bee8c45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4250eb0a114a2a" /><Relationship Type="http://schemas.openxmlformats.org/officeDocument/2006/relationships/notesSlide" Target="/ppt/notesSlides/notesSlide7.xml" Id="Rf3b922db09a248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74448b2c454f3e" /><Relationship Type="http://schemas.openxmlformats.org/officeDocument/2006/relationships/notesSlide" Target="/ppt/notesSlides/notesSlide8.xml" Id="Rba4e6ea2cf4943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d88aa5fcb14191" /><Relationship Type="http://schemas.openxmlformats.org/officeDocument/2006/relationships/notesSlide" Target="/ppt/notesSlides/notesSlide9.xml" Id="Rd1dc96a38e7243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df8144313543e6" /><Relationship Type="http://schemas.openxmlformats.org/officeDocument/2006/relationships/notesSlide" Target="/ppt/notesSlides/notesSlide10.xml" Id="Rda0db0850840478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971128de654b55" /><Relationship Type="http://schemas.openxmlformats.org/officeDocument/2006/relationships/notesSlide" Target="/ppt/notesSlides/notesSlide11.xml" Id="R1f80267c7733474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7695ce74b549b0" /><Relationship Type="http://schemas.openxmlformats.org/officeDocument/2006/relationships/notesSlide" Target="/ppt/notesSlides/notesSlide12.xml" Id="R632d03423526455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358a586b594e1c" /><Relationship Type="http://schemas.openxmlformats.org/officeDocument/2006/relationships/notesSlide" Target="/ppt/notesSlides/notesSlide13.xml" Id="R49d98574f35d448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99a0bdd8f0452c" /><Relationship Type="http://schemas.openxmlformats.org/officeDocument/2006/relationships/notesSlide" Target="/ppt/notesSlides/notesSlide14.xml" Id="R8038c6fb983b454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9c5591a95f4cd4" /><Relationship Type="http://schemas.openxmlformats.org/officeDocument/2006/relationships/notesSlide" Target="/ppt/notesSlides/notesSlide15.xml" Id="Re01b132859584ec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0ff9381d8f4687" /><Relationship Type="http://schemas.openxmlformats.org/officeDocument/2006/relationships/notesSlide" Target="/ppt/notesSlides/notesSlide16.xml" Id="R4cb79552c9eb4b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584AB2E-099B-46ED-A1D4-4E345AF8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20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CONCEPT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A776CB-2D3C-4032-AAE4-E2DD5CBF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274320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看見.共好 － 第5屆新北市議會|影片腳本</a:t>
            </a:r>
            <a:endParaRPr sz="8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CE79361-EEDC-4D3C-84FA-16AEDF73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0352"/>
            <a:ext cx="646480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腳本核心概念:五章結構,一句「看見」貫穿全片</a:t>
            </a:r>
            <a:endParaRPr sz="1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B10615C-AE70-4975-A289-E8F388CD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2686" y="543610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2</a:t>
            </a:r>
            <a:endParaRPr sz="9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7398B04-1A4C-4504-8F0D-81B09F4E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33856"/>
            <a:ext cx="6464808" cy="1115568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4F6FA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1DF35B3-6D4A-47CA-A82F-2943011F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80160"/>
            <a:ext cx="6007608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8000"/>
              </a:lnSpc>
              <a:buNone/>
            </a:pPr>
            <a:r>
              <a:rPr sz="12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片名即敘事方法|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第4屆《傾聽.卓越》聽見聲音;第5屆《看見.共好》再進一步——</a:t>
            </a:r>
            <a:r>
              <a:rPr sz="12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「看見」是方法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:先看見生活,再看見機關(片頭 60 秒不出現議會外觀,直到最後一顆鏡頭);</a:t>
            </a:r>
            <a:r>
              <a:rPr sz="12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「共好」是結局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:當民意被聽見、行動被檢驗、承諾被追蹤,城市才能一起變好。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D594A83-E433-4B25-9018-005EF32E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50592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五章結構與章名系統(對照第 3 頁起之分鏡腳本)</a:t>
            </a:r>
            <a:endParaRPr sz="13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D373AED-A198-49B0-8E23-010E1D70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34640"/>
            <a:ext cx="6464808" cy="530352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4F6FA"/>
          </a:solidFill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88F32CE-693A-4E8B-BA6A-BD727F20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926080"/>
            <a:ext cx="713232" cy="347472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1B2A4A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4720246-EF94-4DDA-B627-6A50680A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916936"/>
            <a:ext cx="7132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第一章</a:t>
            </a:r>
            <a:endParaRPr sz="1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0DFC48E-F04D-44B0-B0C3-A2CCB4FB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944368"/>
            <a:ext cx="1920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看見城市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60953AF-3826-443D-84E7-3388615F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97180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片頭・沿革・就職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880F1CA-A73A-47F0-8444-9754D761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6757" y="2984863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3A4A6B"/>
                </a:solidFill>
                <a:latin typeface="Microsoft JhengHei"/>
                <a:ea typeface="Microsoft JhengHei"/>
                <a:cs typeface="Microsoft JhengHei"/>
              </a:rPr>
              <a:t>00:00–02:35</a:t>
            </a:r>
            <a:endParaRPr sz="1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466B24D-4C02-4F43-A3C7-181DA5A3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037" y="2984863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2 分 35 秒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6A260B2-7E8A-42B4-9EC0-7676A49D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56432"/>
            <a:ext cx="6464808" cy="530352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DF6E0"/>
          </a:solidFill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E9C8F93-516C-4D3D-AEC7-AF8D6A64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47872"/>
            <a:ext cx="713232" cy="347472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1B2A4A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8CB840E-AD71-4131-BE2A-9922EC06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38728"/>
            <a:ext cx="7132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第二章</a:t>
            </a:r>
            <a:endParaRPr sz="10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AA4CB75-19BD-4147-A1E0-BDBBBC8C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3566160"/>
            <a:ext cx="1920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看見每一種生活</a:t>
            </a:r>
            <a:endParaRPr sz="14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7E53F83-908D-4647-AFA2-0BB64922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593592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選區群像 A/B/C</a:t>
            </a:r>
            <a:endParaRPr sz="12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369B6A7-F57F-4AE0-B464-A18CE32B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6757" y="3606655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3A4A6B"/>
                </a:solidFill>
                <a:latin typeface="Microsoft JhengHei"/>
                <a:ea typeface="Microsoft JhengHei"/>
                <a:cs typeface="Microsoft JhengHei"/>
              </a:rPr>
              <a:t>02:35–04:55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3B7966B-8D09-4404-8D36-3601D4F1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037" y="3606655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2 分 20 秒</a:t>
            </a:r>
            <a:endParaRPr sz="12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147D15D-FC7B-461A-9869-1597B3AE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78224"/>
            <a:ext cx="6464808" cy="530352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DF6E0"/>
          </a:solidFill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3199BA9F-026C-474C-A6B1-F1F4449B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69664"/>
            <a:ext cx="713232" cy="347472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1B2A4A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E5367E0-94C9-4093-AB37-628BCFAD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60520"/>
            <a:ext cx="7132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第三章</a:t>
            </a:r>
            <a:endParaRPr sz="10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28B12A6-469E-4995-B383-A9ECF6DB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187952"/>
            <a:ext cx="1920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看見民意如何成為行動</a:t>
            </a:r>
            <a:endParaRPr sz="14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E63E904-11DA-44C4-A710-DC03F7EF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215384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轉折・民意轉化</a:t>
            </a:r>
            <a:endParaRPr sz="12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34583305-35DD-4B7E-99C7-98584228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6757" y="4228447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3A4A6B"/>
                </a:solidFill>
                <a:latin typeface="Microsoft JhengHei"/>
                <a:ea typeface="Microsoft JhengHei"/>
                <a:cs typeface="Microsoft JhengHei"/>
              </a:rPr>
              <a:t>04:55–06:55</a:t>
            </a:r>
            <a:endParaRPr sz="12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26BDF5FC-4F05-4547-AC35-A1BD8D08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037" y="4228447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2 分 00 秒</a:t>
            </a:r>
            <a:endParaRPr sz="12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1CA1281F-6939-4E90-A4E3-161F85B7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00016"/>
            <a:ext cx="6464808" cy="530352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4F6FA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CB9260B7-F33B-4DFC-B398-4C3EAF8D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91456"/>
            <a:ext cx="713232" cy="347472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1B2A4A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78E1A2FF-BA0B-4A9A-A0AD-96C8E771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82312"/>
            <a:ext cx="7132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第四章</a:t>
            </a:r>
            <a:endParaRPr sz="10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73F5D45-87D0-4946-90D6-1BB389DE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809744"/>
            <a:ext cx="1920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看見議會如何運作</a:t>
            </a:r>
            <a:endParaRPr sz="14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4D7AF87-3981-4A1D-9952-29078578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837176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議會職權・行政團隊</a:t>
            </a:r>
            <a:endParaRPr sz="12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F66A9A84-5A76-47F0-8E7B-111D8CB6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6757" y="4850239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3A4A6B"/>
                </a:solidFill>
                <a:latin typeface="Microsoft JhengHei"/>
                <a:ea typeface="Microsoft JhengHei"/>
                <a:cs typeface="Microsoft JhengHei"/>
              </a:rPr>
              <a:t>06:55–09:10</a:t>
            </a:r>
            <a:endParaRPr sz="12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859DA640-7D70-40A1-9FA1-824EB390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037" y="4850239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2 分 15 秒</a:t>
            </a:r>
            <a:endParaRPr sz="120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0634861B-80AE-47E7-ACCA-7632780F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21808"/>
            <a:ext cx="6464808" cy="530352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4F6FA"/>
          </a:solidFill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9AD56E93-F150-415F-ACBB-1CBD8BFB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413248"/>
            <a:ext cx="713232" cy="347472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1B2A4A"/>
          </a:solidFill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8BE60E65-A848-4BF3-9B7F-BDD739AE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404104"/>
            <a:ext cx="7132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第五章</a:t>
            </a:r>
            <a:endParaRPr sz="10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98F93762-290F-4452-9298-5A582008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5431536"/>
            <a:ext cx="1920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走向共好</a:t>
            </a:r>
            <a:endParaRPr sz="140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9CC2B2A4-EC55-4354-A042-10038C6B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5458968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議長期許・片尾回到片名</a:t>
            </a:r>
            <a:endParaRPr sz="120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5A1208C3-6843-430E-9715-7A8F41D3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6757" y="5472031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3A4A6B"/>
                </a:solidFill>
                <a:latin typeface="Microsoft JhengHei"/>
                <a:ea typeface="Microsoft JhengHei"/>
                <a:cs typeface="Microsoft JhengHei"/>
              </a:rPr>
              <a:t>09:10–11:10</a:t>
            </a:r>
            <a:endParaRPr sz="120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ED9F30B2-E0FB-4112-B896-9CCAB1B6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037" y="5472031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2 分 00 秒</a:t>
            </a:r>
            <a:endParaRPr sz="120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2B1C9813-2BF7-4E0E-B392-D3DCD351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108192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與 2022 版《傾聽.卓越》的三個「不一樣」</a:t>
            </a:r>
            <a:endParaRPr sz="1350"/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D2D6F3E5-8491-43F2-8650-3C61BC22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0"/>
            <a:ext cx="6464808" cy="932688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4F6FA"/>
          </a:solidFill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C28D09BD-2B1D-4FA4-AFA0-71988F13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638544"/>
            <a:ext cx="105156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B2A4A"/>
          </a:solidFill>
        </p:spPr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55608D17-6FB9-4DC5-8552-89B15CC9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629400"/>
            <a:ext cx="1051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視角翻轉</a:t>
            </a:r>
            <a:endParaRPr sz="1100"/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3EA66AB0-5942-46B5-AB08-3E5D6797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6638544"/>
            <a:ext cx="4864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第4屆:議會介紹自己(機構視角)</a:t>
            </a:r>
            <a:endParaRPr sz="1100"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4E9E053C-C1BC-451A-94AE-A8754C93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6931152"/>
            <a:ext cx="48646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第5屆:先看見生活,再看見機關——片頭以四百萬雙眼睛開場,議會外觀留到第 1 分鐘最後一顆鏡頭才出現</a:t>
            </a:r>
            <a:endParaRPr sz="1200"/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B46C5EA8-09AA-434A-901A-65CEB549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552944"/>
            <a:ext cx="6464808" cy="932688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4F6FA"/>
          </a:solidFill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25DDAAC6-4EAC-42D5-B472-378A2A96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7699248"/>
            <a:ext cx="105156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B2A4A"/>
          </a:solidFill>
        </p:spPr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39AA0EF1-FC7F-4A52-B85B-51F984BE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7690104"/>
            <a:ext cx="1051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選區重組</a:t>
            </a:r>
            <a:endParaRPr sz="1100"/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21E56940-9D33-4CC4-BBC6-BC59B14C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7699248"/>
            <a:ext cx="4864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第4屆:12 選區逐區介紹,共 7 分 30 秒</a:t>
            </a:r>
            <a:endParaRPr sz="1100"/>
          </a:p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7642D6E8-5720-4B8C-BFD9-A42DFC2F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7991856"/>
            <a:ext cx="48646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第5屆:13 選舉區分為三組群像,每區採「人 3 秒＋地景 3 秒＋公共服務 3 秒」公平配置,區名固定位置出現,避免觀光廣告感</a:t>
            </a:r>
            <a:endParaRPr sz="1200"/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970354CA-2E60-4CE2-A201-365D50FF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13648"/>
            <a:ext cx="6464808" cy="932688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4F6FA"/>
          </a:solidFill>
        </p:spPr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D57504E4-E4AA-489F-B629-B2171CA2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8759952"/>
            <a:ext cx="105156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B2A4A"/>
          </a:solidFill>
        </p:spPr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CDE2CC20-8B84-4ECC-AA14-41BCCE1E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8750808"/>
            <a:ext cx="1051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職權敘事</a:t>
            </a:r>
            <a:endParaRPr sz="1100"/>
          </a:p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B4796363-BA0E-435D-998C-621987E4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8759952"/>
            <a:ext cx="4864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第4屆:組織架構圖 + 職權條列</a:t>
            </a:r>
            <a:endParaRPr sz="1100"/>
          </a:p>
        </p:txBody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DC9DA95E-B317-4B0B-8D96-6AE6068B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9052560"/>
            <a:ext cx="48646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第5屆:跟著一份陳情走完十個步驟——受理→查證→現勘→提案→質詢→審查→議決→追蹤→回到現場,同機位呈現改善前後</a:t>
            </a:r>
            <a:endParaRPr sz="1200"/>
          </a:p>
        </p:txBody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F7C95F16-20E2-4BD4-9F89-10EC4A38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042" y="4887468"/>
            <a:ext cx="6464808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DF6E0"/>
          </a:solidFill>
        </p:spPr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B84A655D-8943-4DC3-89E2-698088AA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642" y="5015484"/>
            <a:ext cx="600760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6000"/>
              </a:lnSpc>
              <a:buNone/>
            </a:pPr>
            <a:r>
              <a:rPr sz="10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貫穿全片的三個母題|</a:t>
            </a:r>
            <a:endParaRPr sz="1050"/>
          </a:p>
          <a:p xmlns:a="http://schemas.openxmlformats.org/drawingml/2006/main">
            <a:pPr marL="0" indent="0">
              <a:lnSpc>
                <a:spcPct val="126000"/>
              </a:lnSpc>
              <a:buNone/>
            </a:pPr>
            <a:r>
              <a:rPr sz="105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① 眼睛與光</a:t>
            </a:r>
            <a:r>
              <a:rPr sz="105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:片頭「睜開的眼睛」蒙太奇 → 片尾句點化為節點、匯成議會識別。   </a:t>
            </a:r>
            <a:r>
              <a:rPr sz="105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② 同機位前後對照</a:t>
            </a:r>
            <a:r>
              <a:rPr sz="105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:第三章 STEP 10 以同一機位拍改善前後,未完成者誠實呈現追蹤狀態。   </a:t>
            </a:r>
            <a:r>
              <a:rPr sz="105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③ 聲音接力</a:t>
            </a:r>
            <a:r>
              <a:rPr sz="105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:環境音 → 翻頁與議事聲 → 回到清晨,音樂自單一鋼琴音起、於片名與片尾兩次完整展開。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2988911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F84555D-D2FE-47E6-A6FE-40CB393C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20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OUTLINE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C6AFB1B-E1B1-4303-A951-01979EA3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274320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看見.共好 － 第5屆新北市議會|影片腳本</a:t>
            </a:r>
            <a:endParaRPr sz="8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15706B4-E242-4EA1-9A8C-75F70447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0352"/>
            <a:ext cx="646480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分鏡腳本對照總表(總長度:11 分 10 秒)</a:t>
            </a:r>
            <a:endParaRPr sz="1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5CBDA42-C7BF-47C2-920E-3A9DB3CC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277856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3</a:t>
            </a:r>
            <a:endParaRPr sz="950"/>
          </a:p>
        </p:txBody>
      </p:sp>
      <p:graphicFrame>
        <p:nvGraphicFramePr>
          <p:cNvPr id="15" name="Table 0"/>
          <p:cNvGraphicFramePr/>
          <p:nvPr/>
        </p:nvGraphicFramePr>
        <p:xfrm>
          <a:off xmlns:a="http://schemas.openxmlformats.org/drawingml/2006/main" x="548640" y="1133856"/>
          <a:ext xmlns:a="http://schemas.openxmlformats.org/drawingml/2006/main" cx="6464808" cy="660028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6928"/>
                <a:gridCol w="3246120"/>
                <a:gridCol w="1051560"/>
                <a:gridCol w="777240"/>
                <a:gridCol w="822960"/>
              </a:tblGrid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編號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章節 / 段落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時間碼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長度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累計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3871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0" i="0">
                          <a:solidFill>
                            <a:srgbClr val="C9A2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第一章 看見城市|先看見生活,再看見機關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1-1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片頭|城市醒來,四百萬雙眼睛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00:00–01:00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60 秒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01:00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1-2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議會沿革|讓歷史成為民意的來路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01:00–01:50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 秒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01:50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1-3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就職與片名|從選票走進議事殿堂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01:50–02:35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 秒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02:35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71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0" i="0">
                          <a:solidFill>
                            <a:srgbClr val="C9A2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第二章 看見每一種生活|13 選舉區、68 席民意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2-1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選區群像 A|第 1–4 選舉區(海岸・成長・新舊交會・河岸)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02:35–03:20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 秒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03:20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2-2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選區群像 B|第 5–8 選舉區(核心・密度・公共空間・文化產業)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03:20–04:05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 秒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04:05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2-3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選區群像 C|第 9–13 選舉區(山海・城鄉・族群・文化傳承)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04:05–04:55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 秒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04:55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71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0" i="0">
                          <a:solidFill>
                            <a:srgbClr val="C9A2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第三章 看見民意如何成為行動|跟著一份陳情走進議會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3-1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轉折|三個日常問題,是行動的起點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04:55–05:15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 秒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05:15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3-2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民意轉化 A|受理 → 查證 → 現勘 → 定義問題 → 提案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05:15–06:05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 秒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06:05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3-3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民意轉化 B|質詢 → 審查 → 議決 → 追蹤 → 回到現場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06:05–06:55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 秒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06:55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71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0" i="0">
                          <a:solidFill>
                            <a:srgbClr val="C9A2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第四章 看見議會如何運作|制度與團隊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4-1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議會職權|議決・審查・質詢・請願・監督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06:55–08:15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80 秒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08:15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4-2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行政團隊|會史館與簡報室,保存民主紀錄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08:15–09:10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55 秒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09:10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711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50" b="0" i="0">
                          <a:solidFill>
                            <a:srgbClr val="C9A227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第五章 走向共好|承諾與回望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233154"/>
                    </a:solidFill>
                  </a:tcPr>
                </a:tc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5-1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議長期許|讓每一份託付持續被看見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09:10–10:15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65 秒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10:15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184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5-2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片尾|回收清晨,回到片名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10:15–11:10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55 秒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0" i="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11:10</a:t>
                      </a:r>
                      <a:endParaRPr sz="1050" b="0" i="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5720" marR="45720" marT="45720" marB="45720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6E3F5564-A851-4DF2-B966-C3979C95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021" y="7877193"/>
            <a:ext cx="6464808" cy="1739247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DF6E0"/>
          </a:solidFill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EF28D28-271D-486D-8731-330E7A3B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621" y="8023498"/>
            <a:ext cx="6007608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6000"/>
              </a:lnSpc>
              <a:buNone/>
            </a:pPr>
            <a:r>
              <a:rPr sz="12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需求書合規|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全片 11 分 10 秒,符合「10 至 12 分鐘」規範,且距上限尚餘 50 秒,可供審查階段增補內容;</a:t>
            </a:r>
            <a:endParaRPr sz="1200"/>
          </a:p>
          <a:p xmlns:a="http://schemas.openxmlformats.org/drawingml/2006/main">
            <a:pPr marL="0" indent="0">
              <a:lnSpc>
                <a:spcPct val="126000"/>
              </a:lnSpc>
              <a:buNone/>
            </a:pP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第5屆議員就職典禮全程錄影及拍照素材用於 1-3 段;會史館展示更新與簡報室新 LED 多語播放,於 4-2 段入鏡,四項工作成果於片中互相呼應;</a:t>
            </a:r>
            <a:endParaRPr sz="1200"/>
          </a:p>
          <a:p xmlns:a="http://schemas.openxmlformats.org/drawingml/2006/main">
            <a:pPr marL="0" indent="0">
              <a:lnSpc>
                <a:spcPct val="126000"/>
              </a:lnSpc>
              <a:buNone/>
            </a:pP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全片以 2K 以上等級攝影機拍攝並以相同規格剪輯輸出;中、英、日、台、韓五語版本畫面共用、語音與字幕分軌,片名字卡五語同步設計。</a:t>
            </a:r>
            <a:endParaRPr sz="12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928FC8A-7A21-4940-91FD-DB1D6912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021" y="9616440"/>
            <a:ext cx="646480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900" i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註:13 選舉區、應選 68 席(區域 62、平地原住民 4、山地原住民 2)依中選會公告;第5屆議員就職日為 115 年 12 月 25 日。實際議員人數、選區內容與議長致詞,得標後依本會核定資料修正。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8773707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6">
            <a:extLst xmlns:a="http://schemas.openxmlformats.org/drawingml/2006/main">
              <a:ext uri="{FF2B5EF4-FFF2-40B4-BE49-F238E27FC236}">
                <a16:creationId xmlns:a16="http://schemas.microsoft.com/office/drawing/2014/main" id="{A9C6311D-B81A-44FA-9755-9495092E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分鏡腳本｜第一章</a:t>
            </a:r>
            <a:endParaRPr sz="1049" b="1">
              <a:solidFill>
                <a:srgbClr val="147A78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6">
            <a:extLst xmlns:a="http://schemas.openxmlformats.org/drawingml/2006/main">
              <a:ext uri="{FF2B5EF4-FFF2-40B4-BE49-F238E27FC236}">
                <a16:creationId xmlns:a16="http://schemas.microsoft.com/office/drawing/2014/main" id="{883FCB42-83F0-453F-B7AD-EA55CFBE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看見城市</a:t>
            </a:r>
            <a:endParaRPr sz="2099" b="1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6">
            <a:extLst xmlns:a="http://schemas.openxmlformats.org/drawingml/2006/main">
              <a:ext uri="{FF2B5EF4-FFF2-40B4-BE49-F238E27FC236}">
                <a16:creationId xmlns:a16="http://schemas.microsoft.com/office/drawing/2014/main" id="{7DB8D714-9EF5-466A-B073-36565099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6">
            <a:extLst xmlns:a="http://schemas.openxmlformats.org/drawingml/2006/main">
              <a:ext uri="{FF2B5EF4-FFF2-40B4-BE49-F238E27FC236}">
                <a16:creationId xmlns:a16="http://schemas.microsoft.com/office/drawing/2014/main" id="{988CC1F6-4AE0-47B2-9F63-9C868F9C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片頭｜先看見生活，再看見機關</a:t>
            </a:r>
          </a:p>
        </p:txBody>
      </p:sp>
      <p:sp>
        <p:nvSpPr>
          <p:cNvPr id="5" name="scene-duration-6">
            <a:extLst xmlns:a="http://schemas.openxmlformats.org/drawingml/2006/main">
              <a:ext uri="{FF2B5EF4-FFF2-40B4-BE49-F238E27FC236}">
                <a16:creationId xmlns:a16="http://schemas.microsoft.com/office/drawing/2014/main" id="{38005ED9-9DF6-4458-B196-A4DFCE08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00:00–0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: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00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60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秒｜累計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0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: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00</a:t>
            </a:r>
            <a:endParaRPr sz="899" b="1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6" name="col-head-6-0">
            <a:extLst xmlns:a="http://schemas.openxmlformats.org/drawingml/2006/main">
              <a:ext uri="{FF2B5EF4-FFF2-40B4-BE49-F238E27FC236}">
                <a16:creationId xmlns:a16="http://schemas.microsoft.com/office/drawing/2014/main" id="{19669B8E-2D11-491D-A43B-8602B390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6-0">
            <a:extLst xmlns:a="http://schemas.openxmlformats.org/drawingml/2006/main">
              <a:ext uri="{FF2B5EF4-FFF2-40B4-BE49-F238E27FC236}">
                <a16:creationId xmlns:a16="http://schemas.microsoft.com/office/drawing/2014/main" id="{24B01A00-1AAC-46FE-9FB6-E13CB6B7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6-0">
            <a:extLst xmlns:a="http://schemas.openxmlformats.org/drawingml/2006/main">
              <a:ext uri="{FF2B5EF4-FFF2-40B4-BE49-F238E27FC236}">
                <a16:creationId xmlns:a16="http://schemas.microsoft.com/office/drawing/2014/main" id="{59493D12-D86D-44B7-9237-804063DB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6-1">
            <a:extLst xmlns:a="http://schemas.openxmlformats.org/drawingml/2006/main">
              <a:ext uri="{FF2B5EF4-FFF2-40B4-BE49-F238E27FC236}">
                <a16:creationId xmlns:a16="http://schemas.microsoft.com/office/drawing/2014/main" id="{2E81034E-4EBE-410E-B045-6D8B585A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6-1">
            <a:extLst xmlns:a="http://schemas.openxmlformats.org/drawingml/2006/main">
              <a:ext uri="{FF2B5EF4-FFF2-40B4-BE49-F238E27FC236}">
                <a16:creationId xmlns:a16="http://schemas.microsoft.com/office/drawing/2014/main" id="{ED320CF8-1D66-468D-81BA-DD1ED9A6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6-1">
            <a:extLst xmlns:a="http://schemas.openxmlformats.org/drawingml/2006/main">
              <a:ext uri="{FF2B5EF4-FFF2-40B4-BE49-F238E27FC236}">
                <a16:creationId xmlns:a16="http://schemas.microsoft.com/office/drawing/2014/main" id="{059332D6-B943-4876-919A-7E2F754D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6-2">
            <a:extLst xmlns:a="http://schemas.openxmlformats.org/drawingml/2006/main">
              <a:ext uri="{FF2B5EF4-FFF2-40B4-BE49-F238E27FC236}">
                <a16:creationId xmlns:a16="http://schemas.microsoft.com/office/drawing/2014/main" id="{ED6A7F36-E004-44C7-841B-AC497813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6-2">
            <a:extLst xmlns:a="http://schemas.openxmlformats.org/drawingml/2006/main">
              <a:ext uri="{FF2B5EF4-FFF2-40B4-BE49-F238E27FC236}">
                <a16:creationId xmlns:a16="http://schemas.microsoft.com/office/drawing/2014/main" id="{A4F2FB71-E77A-4757-8231-3A0F54C0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6-2">
            <a:extLst xmlns:a="http://schemas.openxmlformats.org/drawingml/2006/main">
              <a:ext uri="{FF2B5EF4-FFF2-40B4-BE49-F238E27FC236}">
                <a16:creationId xmlns:a16="http://schemas.microsoft.com/office/drawing/2014/main" id="{0A2AB64C-1128-4278-B16D-C7631C4B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6">
            <a:extLst xmlns:a="http://schemas.openxmlformats.org/drawingml/2006/main">
              <a:ext uri="{FF2B5EF4-FFF2-40B4-BE49-F238E27FC236}">
                <a16:creationId xmlns:a16="http://schemas.microsoft.com/office/drawing/2014/main" id="{9EFDD805-C73D-4346-87BF-1068958D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01｜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黑幕一聲心跳→晨光穿雲縮時→淡水河面反光、山稜線</a:t>
            </a:r>
            <a:br/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02｜</a:t>
            </a: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「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睜開的眼睛」特寫蒙太奇:孩子、長者、上班族、議事廳裡的眼神</a:t>
            </a:r>
            <a:br/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03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萬千目光化為光點,匯聚成片名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3D LOGO</a:t>
            </a:r>
            <a:br/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04｜空拍由海岸、河川、山城推進都會</a:t>
            </a: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→29 </a:t>
            </a: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區地圖光點依序亮起</a:t>
            </a: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；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最後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再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看見議會外觀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6" name="audio-6">
            <a:extLst xmlns:a="http://schemas.openxmlformats.org/drawingml/2006/main">
              <a:ext uri="{FF2B5EF4-FFF2-40B4-BE49-F238E27FC236}">
                <a16:creationId xmlns:a16="http://schemas.microsoft.com/office/drawing/2014/main" id="{A4DDD797-3BD2-4639-AADE-78EAF8AD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0–4 </a:t>
            </a: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秒僅留環境音</a:t>
            </a:r>
            <a:br/>
            <a:br/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4K 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空拍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 + 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眼神特寫</a:t>
            </a:r>
            <a:endParaRPr sz="1200"/>
          </a:p>
          <a:p xmlns:a="http://schemas.openxmlformats.org/drawingml/2006/main">
            <a:pPr>
              <a:lnSpc>
                <a:spcPct val="122000"/>
              </a:lnSpc>
              <a:buNone/>
            </a:pP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「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眼睛與光」為全片視覺母題</a:t>
            </a:r>
            <a:br/>
            <a:endParaRPr sz="1200"/>
          </a:p>
          <a:p xmlns:a="http://schemas.openxmlformats.org/drawingml/2006/main">
            <a:pPr>
              <a:lnSpc>
                <a:spcPct val="122000"/>
              </a:lnSpc>
              <a:buNone/>
            </a:pP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虹膜內映城市倒影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(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後期合成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)</a:t>
            </a:r>
            <a:br/>
            <a:br/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人口約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 400 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萬、面積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 2,052 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平方公里、海岸線約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 120 公里、29 行政區、12 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選區</a:t>
            </a:r>
            <a:endParaRPr sz="1200"/>
          </a:p>
          <a:p xmlns:a="http://schemas.openxmlformats.org/drawingml/2006/main">
            <a:pPr>
              <a:lnSpc>
                <a:spcPct val="122000"/>
              </a:lnSpc>
              <a:buNone/>
            </a:pPr>
            <a:endParaRPr sz="1200">
              <a:solidFill>
                <a:srgbClr val="22293A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音樂從單一鋼琴音開始，弦樂慢慢展開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鏡頭切換不追求快，讓每個日常停留 </a:t>
            </a: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2–3 </a:t>
            </a: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秒</a:t>
            </a:r>
          </a:p>
          <a:p xmlns:a="http://schemas.openxmlformats.org/drawingml/2006/main">
            <a:pPr>
              <a:lnSpc>
                <a:spcPct val="122000"/>
              </a:lnSpc>
              <a:buNone/>
            </a:pPr>
            <a:br/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7" name="narration-6">
            <a:extLst xmlns:a="http://schemas.openxmlformats.org/drawingml/2006/main">
              <a:ext uri="{FF2B5EF4-FFF2-40B4-BE49-F238E27FC236}">
                <a16:creationId xmlns:a16="http://schemas.microsoft.com/office/drawing/2014/main" id="{AF934EB7-7E38-4CFF-8EAB-80BBE721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每一天,新北在四百萬雙眼睛裡醒來。有人看見山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海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,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有人看見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城市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,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有人看見孩子上學的路。而有一群人,把這四百萬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個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目光,看成自己的責任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 </a:t>
            </a:r>
            <a:br/>
            <a:br/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二千零五十二平方公里,從三千公尺的山,到一百二十公里的海岸線;二十九個行政區、四百萬市民,匯聚成臺灣最大的城市。這座城市的每一種樣貌,都值得被看見—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而看見,是所有改變的開始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。它由一個個被珍惜的日常，慢慢成為我們共同生活的地方。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
而議會要做的第一件事，就是看見。</a:t>
            </a:r>
          </a:p>
          <a:p xmlns:a="http://schemas.openxmlformats.org/drawingml/2006/main">
            <a:pPr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br/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字卡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4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 《</a:t>
            </a:r>
            <a:r>
              <a:rPr sz="14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看見.共好</a:t>
            </a:r>
            <a:r>
              <a:rPr sz="14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》－ 第5屆新北市議會</a:t>
            </a:r>
            <a:br/>
            <a:endParaRPr sz="1349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8" name="footer-line-6">
            <a:extLst xmlns:a="http://schemas.openxmlformats.org/drawingml/2006/main">
              <a:ext uri="{FF2B5EF4-FFF2-40B4-BE49-F238E27FC236}">
                <a16:creationId xmlns:a16="http://schemas.microsoft.com/office/drawing/2014/main" id="{CAE6F84A-937D-4012-9C7E-55B839C5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D104B25B-E980-42D1-9EFA-BE86A258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看見.共好｜第一章｜看見城市｜00:00–00:45</a:t>
            </a:r>
          </a:p>
        </p:txBody>
      </p:sp>
      <p:sp>
        <p:nvSpPr>
          <p:cNvPr id="20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59B061DD-7DFC-4BAE-BB7B-79F9F794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76f85d3c474c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408" y="6528122"/>
            <a:ext cx="2037143" cy="11458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38904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7">
            <a:extLst xmlns:a="http://schemas.openxmlformats.org/drawingml/2006/main">
              <a:ext uri="{FF2B5EF4-FFF2-40B4-BE49-F238E27FC236}">
                <a16:creationId xmlns:a16="http://schemas.microsoft.com/office/drawing/2014/main" id="{ACFE6A08-BC40-4BAA-8D0D-6C526A69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分鏡腳本｜第一章</a:t>
            </a:r>
            <a:endParaRPr sz="1049" b="1">
              <a:solidFill>
                <a:srgbClr val="147A78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7">
            <a:extLst xmlns:a="http://schemas.openxmlformats.org/drawingml/2006/main">
              <a:ext uri="{FF2B5EF4-FFF2-40B4-BE49-F238E27FC236}">
                <a16:creationId xmlns:a16="http://schemas.microsoft.com/office/drawing/2014/main" id="{26EF534C-B57B-4787-8F2D-50F3E83A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看見傳承</a:t>
            </a:r>
            <a:r>
              <a:rPr sz="240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(</a:t>
            </a:r>
            <a:r>
              <a:rPr sz="240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議會沿革</a:t>
            </a:r>
            <a:r>
              <a:rPr sz="240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 + 第5屆就職)</a:t>
            </a:r>
          </a:p>
        </p:txBody>
      </p:sp>
      <p:sp>
        <p:nvSpPr>
          <p:cNvPr id="3" name="scene-band-7">
            <a:extLst xmlns:a="http://schemas.openxmlformats.org/drawingml/2006/main">
              <a:ext uri="{FF2B5EF4-FFF2-40B4-BE49-F238E27FC236}">
                <a16:creationId xmlns:a16="http://schemas.microsoft.com/office/drawing/2014/main" id="{8393C4EC-950A-4E9C-8564-89AF3540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7">
            <a:extLst xmlns:a="http://schemas.openxmlformats.org/drawingml/2006/main">
              <a:ext uri="{FF2B5EF4-FFF2-40B4-BE49-F238E27FC236}">
                <a16:creationId xmlns:a16="http://schemas.microsoft.com/office/drawing/2014/main" id="{DACC5345-6392-47F0-8FA2-DB6AF8D7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議會沿革｜讓歷史成為民意的來路</a:t>
            </a:r>
          </a:p>
        </p:txBody>
      </p:sp>
      <p:sp>
        <p:nvSpPr>
          <p:cNvPr id="5" name="scene-duration-7">
            <a:extLst xmlns:a="http://schemas.openxmlformats.org/drawingml/2006/main">
              <a:ext uri="{FF2B5EF4-FFF2-40B4-BE49-F238E27FC236}">
                <a16:creationId xmlns:a16="http://schemas.microsoft.com/office/drawing/2014/main" id="{B35204C9-7809-4719-86DA-7E91C2A7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: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00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–01: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50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｜5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秒｜累計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0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: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50</a:t>
            </a:r>
            <a:endParaRPr sz="899" b="1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6" name="col-head-7-0">
            <a:extLst xmlns:a="http://schemas.openxmlformats.org/drawingml/2006/main">
              <a:ext uri="{FF2B5EF4-FFF2-40B4-BE49-F238E27FC236}">
                <a16:creationId xmlns:a16="http://schemas.microsoft.com/office/drawing/2014/main" id="{E620FC1D-484F-47C0-AF73-A46D09E4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7-0">
            <a:extLst xmlns:a="http://schemas.openxmlformats.org/drawingml/2006/main">
              <a:ext uri="{FF2B5EF4-FFF2-40B4-BE49-F238E27FC236}">
                <a16:creationId xmlns:a16="http://schemas.microsoft.com/office/drawing/2014/main" id="{56467B01-1203-47DC-9CCD-F032CBA5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7-0">
            <a:extLst xmlns:a="http://schemas.openxmlformats.org/drawingml/2006/main">
              <a:ext uri="{FF2B5EF4-FFF2-40B4-BE49-F238E27FC236}">
                <a16:creationId xmlns:a16="http://schemas.microsoft.com/office/drawing/2014/main" id="{D418C139-F85D-48B5-B03C-E499016F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7-1">
            <a:extLst xmlns:a="http://schemas.openxmlformats.org/drawingml/2006/main">
              <a:ext uri="{FF2B5EF4-FFF2-40B4-BE49-F238E27FC236}">
                <a16:creationId xmlns:a16="http://schemas.microsoft.com/office/drawing/2014/main" id="{694AF972-F4F0-4F1B-B442-9B41AA29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7-1">
            <a:extLst xmlns:a="http://schemas.openxmlformats.org/drawingml/2006/main">
              <a:ext uri="{FF2B5EF4-FFF2-40B4-BE49-F238E27FC236}">
                <a16:creationId xmlns:a16="http://schemas.microsoft.com/office/drawing/2014/main" id="{6BD60779-984F-4E10-8FBC-E3037481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7-1">
            <a:extLst xmlns:a="http://schemas.openxmlformats.org/drawingml/2006/main">
              <a:ext uri="{FF2B5EF4-FFF2-40B4-BE49-F238E27FC236}">
                <a16:creationId xmlns:a16="http://schemas.microsoft.com/office/drawing/2014/main" id="{3774D5AD-D17B-48FD-AB50-7B98DC2B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7-2">
            <a:extLst xmlns:a="http://schemas.openxmlformats.org/drawingml/2006/main">
              <a:ext uri="{FF2B5EF4-FFF2-40B4-BE49-F238E27FC236}">
                <a16:creationId xmlns:a16="http://schemas.microsoft.com/office/drawing/2014/main" id="{7FA34333-A9AB-49F8-AA9B-6DE6A624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7-2">
            <a:extLst xmlns:a="http://schemas.openxmlformats.org/drawingml/2006/main">
              <a:ext uri="{FF2B5EF4-FFF2-40B4-BE49-F238E27FC236}">
                <a16:creationId xmlns:a16="http://schemas.microsoft.com/office/drawing/2014/main" id="{5634C708-D204-4AF0-8E21-2433F135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7-2">
            <a:extLst xmlns:a="http://schemas.openxmlformats.org/drawingml/2006/main">
              <a:ext uri="{FF2B5EF4-FFF2-40B4-BE49-F238E27FC236}">
                <a16:creationId xmlns:a16="http://schemas.microsoft.com/office/drawing/2014/main" id="{6E6C20E0-E656-400E-9128-F191EA06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7">
            <a:extLst xmlns:a="http://schemas.openxmlformats.org/drawingml/2006/main">
              <a:ext uri="{FF2B5EF4-FFF2-40B4-BE49-F238E27FC236}">
                <a16:creationId xmlns:a16="http://schemas.microsoft.com/office/drawing/2014/main" id="{C3A89C8B-0F7E-4366-8EB7-6FC461BF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05｜舊照片細節：會議桌、名牌、議事槌、手寫文件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06｜臺北縣參議會、歷屆臺北縣議會影像，採疊化與推鏡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07｜民國 99 年改制畫面，舊門牌過渡至「新北市議會」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08｜現代議場空鏡，座位燈逐排亮起</a:t>
            </a:r>
          </a:p>
        </p:txBody>
      </p:sp>
      <p:sp>
        <p:nvSpPr>
          <p:cNvPr id="16" name="audio-7">
            <a:extLst xmlns:a="http://schemas.openxmlformats.org/drawingml/2006/main">
              <a:ext uri="{FF2B5EF4-FFF2-40B4-BE49-F238E27FC236}">
                <a16:creationId xmlns:a16="http://schemas.microsoft.com/office/drawing/2014/main" id="{FD6B65CB-9B68-44CC-9C50-6FD43AC8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老照片以紙張翻頁聲串接</a:t>
            </a:r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歷史照片修復與調色,以光的軌跡串接年代</a:t>
            </a:r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音樂加入低音弦樂，維持莊重、清楚</a:t>
            </a:r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最後一排座位亮起時，接入輕微議場空間聲</a:t>
            </a:r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7" name="narration-7">
            <a:extLst xmlns:a="http://schemas.openxmlformats.org/drawingml/2006/main">
              <a:ext uri="{FF2B5EF4-FFF2-40B4-BE49-F238E27FC236}">
                <a16:creationId xmlns:a16="http://schemas.microsoft.com/office/drawing/2014/main" id="{58DF1825-3C7C-41EF-92AA-52862360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民國三十五年，臺北縣參議會開啟地方自治的篇章；歷經十六屆臺北縣議會，地方的聲音在一次次討論、提案與監督中累積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民國九十九年，臺北縣改制為新北市，議會也以新的名稱，承接不變的責任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時代改變，城市擴大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，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七十多年來,這道光不曾熄滅。今天它傳到了第5屆——66 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位議員在四百萬市民的注視下宣誓:看見民意,守護共好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</a:t>
            </a:r>
            <a:br/>
            <a:endParaRPr sz="1349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字卡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</a:t>
            </a:r>
            <a:br/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看見傳承.民主如光</a:t>
            </a:r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b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</a:br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從地方自治出發，讓民意一路被看見</a:t>
            </a:r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8" name="footer-line-7">
            <a:extLst xmlns:a="http://schemas.openxmlformats.org/drawingml/2006/main">
              <a:ext uri="{FF2B5EF4-FFF2-40B4-BE49-F238E27FC236}">
                <a16:creationId xmlns:a16="http://schemas.microsoft.com/office/drawing/2014/main" id="{B5C9742B-38C9-46CD-A7AB-DC1C0D76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1924344D-5F47-4F10-8C53-CD80794E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看見.共好｜第一章｜看見城市｜00:45–01:35</a:t>
            </a:r>
          </a:p>
        </p:txBody>
      </p:sp>
      <p:sp>
        <p:nvSpPr>
          <p:cNvPr id="20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3B9A0326-BB0C-41E0-AEE7-1E835117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2634123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8">
            <a:extLst xmlns:a="http://schemas.openxmlformats.org/drawingml/2006/main">
              <a:ext uri="{FF2B5EF4-FFF2-40B4-BE49-F238E27FC236}">
                <a16:creationId xmlns:a16="http://schemas.microsoft.com/office/drawing/2014/main" id="{1097301B-5D56-476F-AB6A-76B35CE7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分鏡腳本｜第一章</a:t>
            </a:r>
            <a:endParaRPr sz="1049" b="1">
              <a:solidFill>
                <a:srgbClr val="147A78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8">
            <a:extLst xmlns:a="http://schemas.openxmlformats.org/drawingml/2006/main">
              <a:ext uri="{FF2B5EF4-FFF2-40B4-BE49-F238E27FC236}">
                <a16:creationId xmlns:a16="http://schemas.microsoft.com/office/drawing/2014/main" id="{911FA395-526B-4145-8FF0-6945FB8D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每一席，都</a:t>
            </a:r>
            <a:r>
              <a:rPr sz="240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是眾多希望的託付</a:t>
            </a:r>
            <a:endParaRPr sz="2400" b="1">
              <a:solidFill>
                <a:srgbClr val="147A78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8">
            <a:extLst xmlns:a="http://schemas.openxmlformats.org/drawingml/2006/main">
              <a:ext uri="{FF2B5EF4-FFF2-40B4-BE49-F238E27FC236}">
                <a16:creationId xmlns:a16="http://schemas.microsoft.com/office/drawing/2014/main" id="{DFE6FFFD-C6FC-41C6-8913-858D40E9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8">
            <a:extLst xmlns:a="http://schemas.openxmlformats.org/drawingml/2006/main">
              <a:ext uri="{FF2B5EF4-FFF2-40B4-BE49-F238E27FC236}">
                <a16:creationId xmlns:a16="http://schemas.microsoft.com/office/drawing/2014/main" id="{4633B294-2359-49BA-AC95-CEECBC96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就職與片名｜從選票走進議事殿堂</a:t>
            </a:r>
          </a:p>
        </p:txBody>
      </p:sp>
      <p:sp>
        <p:nvSpPr>
          <p:cNvPr id="5" name="scene-duration-8">
            <a:extLst xmlns:a="http://schemas.openxmlformats.org/drawingml/2006/main">
              <a:ext uri="{FF2B5EF4-FFF2-40B4-BE49-F238E27FC236}">
                <a16:creationId xmlns:a16="http://schemas.microsoft.com/office/drawing/2014/main" id="{9D8CD050-50DA-4772-84A3-77FB1BDA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01: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50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–02: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35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45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秒｜累計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02: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35</a:t>
            </a:r>
            <a:endParaRPr sz="899" b="1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6" name="col-head-8-0">
            <a:extLst xmlns:a="http://schemas.openxmlformats.org/drawingml/2006/main">
              <a:ext uri="{FF2B5EF4-FFF2-40B4-BE49-F238E27FC236}">
                <a16:creationId xmlns:a16="http://schemas.microsoft.com/office/drawing/2014/main" id="{FA140226-8437-4BFD-A94E-D355F2D7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8-0">
            <a:extLst xmlns:a="http://schemas.openxmlformats.org/drawingml/2006/main">
              <a:ext uri="{FF2B5EF4-FFF2-40B4-BE49-F238E27FC236}">
                <a16:creationId xmlns:a16="http://schemas.microsoft.com/office/drawing/2014/main" id="{D1F32743-36F9-4D86-A5ED-6143B19E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8-0">
            <a:extLst xmlns:a="http://schemas.openxmlformats.org/drawingml/2006/main">
              <a:ext uri="{FF2B5EF4-FFF2-40B4-BE49-F238E27FC236}">
                <a16:creationId xmlns:a16="http://schemas.microsoft.com/office/drawing/2014/main" id="{AD327E27-A5D3-481E-9F23-0F002108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8-1">
            <a:extLst xmlns:a="http://schemas.openxmlformats.org/drawingml/2006/main">
              <a:ext uri="{FF2B5EF4-FFF2-40B4-BE49-F238E27FC236}">
                <a16:creationId xmlns:a16="http://schemas.microsoft.com/office/drawing/2014/main" id="{448FBE10-F158-4FF0-AA55-3F844177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8-1">
            <a:extLst xmlns:a="http://schemas.openxmlformats.org/drawingml/2006/main">
              <a:ext uri="{FF2B5EF4-FFF2-40B4-BE49-F238E27FC236}">
                <a16:creationId xmlns:a16="http://schemas.microsoft.com/office/drawing/2014/main" id="{AA912C21-8DCE-4E78-AE97-80080A6D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8-1">
            <a:extLst xmlns:a="http://schemas.openxmlformats.org/drawingml/2006/main">
              <a:ext uri="{FF2B5EF4-FFF2-40B4-BE49-F238E27FC236}">
                <a16:creationId xmlns:a16="http://schemas.microsoft.com/office/drawing/2014/main" id="{347AA2CC-7C70-4C96-9A00-D648D3B7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8-2">
            <a:extLst xmlns:a="http://schemas.openxmlformats.org/drawingml/2006/main">
              <a:ext uri="{FF2B5EF4-FFF2-40B4-BE49-F238E27FC236}">
                <a16:creationId xmlns:a16="http://schemas.microsoft.com/office/drawing/2014/main" id="{3B9D1D53-4BA4-491A-8CBB-F2AC72D8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8-2">
            <a:extLst xmlns:a="http://schemas.openxmlformats.org/drawingml/2006/main">
              <a:ext uri="{FF2B5EF4-FFF2-40B4-BE49-F238E27FC236}">
                <a16:creationId xmlns:a16="http://schemas.microsoft.com/office/drawing/2014/main" id="{1BF903AF-BE08-4114-8C5C-92657DF1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8-2">
            <a:extLst xmlns:a="http://schemas.openxmlformats.org/drawingml/2006/main">
              <a:ext uri="{FF2B5EF4-FFF2-40B4-BE49-F238E27FC236}">
                <a16:creationId xmlns:a16="http://schemas.microsoft.com/office/drawing/2014/main" id="{4BDF6BD1-63D0-4B0B-8986-21A1C0C9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8">
            <a:extLst xmlns:a="http://schemas.openxmlformats.org/drawingml/2006/main">
              <a:ext uri="{FF2B5EF4-FFF2-40B4-BE49-F238E27FC236}">
                <a16:creationId xmlns:a16="http://schemas.microsoft.com/office/drawing/2014/main" id="{6C85AA93-CC00-458F-AB52-5DCDA4FE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9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｜12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月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25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日就職典禮：報到、胸花、宣誓、簽名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｜議長／副議長選舉與握手、大合照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｜句點由選票印記化為節點，連成片名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TITLE｜看見.共好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－ 第5屆新北市議會</a:t>
            </a:r>
          </a:p>
        </p:txBody>
      </p:sp>
      <p:sp>
        <p:nvSpPr>
          <p:cNvPr id="16" name="audio-8">
            <a:extLst xmlns:a="http://schemas.openxmlformats.org/drawingml/2006/main">
              <a:ext uri="{FF2B5EF4-FFF2-40B4-BE49-F238E27FC236}">
                <a16:creationId xmlns:a16="http://schemas.microsoft.com/office/drawing/2014/main" id="{86015341-79D6-4D49-A268-D8D4141A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宣誓段落保留現場原音 8–10 秒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快門聲只保留一次，避免過度煽情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片名出現時音樂第一次完整展開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畫面節奏：個人近景 → 群體全景 → 片名</a:t>
            </a:r>
          </a:p>
        </p:txBody>
      </p:sp>
      <p:sp>
        <p:nvSpPr>
          <p:cNvPr id="17" name="narration-8">
            <a:extLst xmlns:a="http://schemas.openxmlformats.org/drawingml/2006/main">
              <a:ext uri="{FF2B5EF4-FFF2-40B4-BE49-F238E27FC236}">
                <a16:creationId xmlns:a16="http://schemas.microsoft.com/office/drawing/2014/main" id="{05849887-1E41-40D6-8CF0-0629D742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一張選票，是一次託付；一席議員，是一個地區、一群人、一種生活的代表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民國一百一十五年十二月二十五日，第五屆新北市議會宣誓就職。六十八席民意，從十三個選舉區走進同一座議事殿堂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在這裡，不同立場將彼此相遇；共同的目標，是讓每一份託付都被認真回應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現場原音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擷取宣誓誓詞重點與全體回應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動畫字卡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看見.共好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－ 第5屆新北市議會</a:t>
            </a:r>
          </a:p>
        </p:txBody>
      </p:sp>
      <p:sp>
        <p:nvSpPr>
          <p:cNvPr id="18" name="footer-line-8">
            <a:extLst xmlns:a="http://schemas.openxmlformats.org/drawingml/2006/main">
              <a:ext uri="{FF2B5EF4-FFF2-40B4-BE49-F238E27FC236}">
                <a16:creationId xmlns:a16="http://schemas.microsoft.com/office/drawing/2014/main" id="{9C9CEF3A-74C5-46D3-A090-C5CC38E5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CBDDD11B-157E-443D-9ADC-9B05C295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看見.共好｜第一章｜看見城市｜01:35–02:35</a:t>
            </a:r>
          </a:p>
        </p:txBody>
      </p:sp>
      <p:sp>
        <p:nvSpPr>
          <p:cNvPr id="20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835E3A62-AE33-458C-B31B-D00C9A1F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02491638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9">
            <a:extLst xmlns:a="http://schemas.openxmlformats.org/drawingml/2006/main">
              <a:ext uri="{FF2B5EF4-FFF2-40B4-BE49-F238E27FC236}">
                <a16:creationId xmlns:a16="http://schemas.microsoft.com/office/drawing/2014/main" id="{F32BBA73-9FE5-4CCC-8461-7F76066D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分鏡腳本｜第二章</a:t>
            </a:r>
            <a:endParaRPr sz="1049" b="1">
              <a:solidFill>
                <a:srgbClr val="D9962C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9">
            <a:extLst xmlns:a="http://schemas.openxmlformats.org/drawingml/2006/main">
              <a:ext uri="{FF2B5EF4-FFF2-40B4-BE49-F238E27FC236}">
                <a16:creationId xmlns:a16="http://schemas.microsoft.com/office/drawing/2014/main" id="{82C10CF3-6720-4513-9828-4FD77A39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看見日常</a:t>
            </a:r>
            <a:r>
              <a:rPr sz="240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 ，</a:t>
            </a:r>
            <a:r>
              <a:rPr sz="240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選區</a:t>
            </a:r>
            <a:r>
              <a:rPr sz="240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不是地圖上的切線</a:t>
            </a:r>
            <a:endParaRPr sz="2400" b="1">
              <a:solidFill>
                <a:srgbClr val="D9962C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9">
            <a:extLst xmlns:a="http://schemas.openxmlformats.org/drawingml/2006/main">
              <a:ext uri="{FF2B5EF4-FFF2-40B4-BE49-F238E27FC236}">
                <a16:creationId xmlns:a16="http://schemas.microsoft.com/office/drawing/2014/main" id="{32F8FAD0-FE2D-42FD-A9A5-7BE685AC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9">
            <a:extLst xmlns:a="http://schemas.openxmlformats.org/drawingml/2006/main">
              <a:ext uri="{FF2B5EF4-FFF2-40B4-BE49-F238E27FC236}">
                <a16:creationId xmlns:a16="http://schemas.microsoft.com/office/drawing/2014/main" id="{6B3F4B1D-60F1-44A6-8DAA-59C11FFF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選區群像 A｜第 1 至第 4 選舉區</a:t>
            </a:r>
          </a:p>
        </p:txBody>
      </p:sp>
      <p:sp>
        <p:nvSpPr>
          <p:cNvPr id="5" name="scene-duration-9">
            <a:extLst xmlns:a="http://schemas.openxmlformats.org/drawingml/2006/main">
              <a:ext uri="{FF2B5EF4-FFF2-40B4-BE49-F238E27FC236}">
                <a16:creationId xmlns:a16="http://schemas.microsoft.com/office/drawing/2014/main" id="{BF604D09-2527-47BA-A327-52BBCE40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02:35–03:20｜45 秒｜累計 03:20</a:t>
            </a:r>
          </a:p>
        </p:txBody>
      </p:sp>
      <p:sp>
        <p:nvSpPr>
          <p:cNvPr id="6" name="col-head-9-0">
            <a:extLst xmlns:a="http://schemas.openxmlformats.org/drawingml/2006/main">
              <a:ext uri="{FF2B5EF4-FFF2-40B4-BE49-F238E27FC236}">
                <a16:creationId xmlns:a16="http://schemas.microsoft.com/office/drawing/2014/main" id="{4F695113-06CA-428D-B42F-8C66E609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9-0">
            <a:extLst xmlns:a="http://schemas.openxmlformats.org/drawingml/2006/main">
              <a:ext uri="{FF2B5EF4-FFF2-40B4-BE49-F238E27FC236}">
                <a16:creationId xmlns:a16="http://schemas.microsoft.com/office/drawing/2014/main" id="{25BD7A16-DAC2-4C12-863A-11D94D2D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9-0">
            <a:extLst xmlns:a="http://schemas.openxmlformats.org/drawingml/2006/main">
              <a:ext uri="{FF2B5EF4-FFF2-40B4-BE49-F238E27FC236}">
                <a16:creationId xmlns:a16="http://schemas.microsoft.com/office/drawing/2014/main" id="{80355854-ECB3-42EF-AC06-B821C4FA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9-1">
            <a:extLst xmlns:a="http://schemas.openxmlformats.org/drawingml/2006/main">
              <a:ext uri="{FF2B5EF4-FFF2-40B4-BE49-F238E27FC236}">
                <a16:creationId xmlns:a16="http://schemas.microsoft.com/office/drawing/2014/main" id="{2089D4FE-DD5F-4FE5-9461-B70F8CE9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9-1">
            <a:extLst xmlns:a="http://schemas.openxmlformats.org/drawingml/2006/main">
              <a:ext uri="{FF2B5EF4-FFF2-40B4-BE49-F238E27FC236}">
                <a16:creationId xmlns:a16="http://schemas.microsoft.com/office/drawing/2014/main" id="{17D168C8-C09A-4AF6-A16B-ECEC7467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9-1">
            <a:extLst xmlns:a="http://schemas.openxmlformats.org/drawingml/2006/main">
              <a:ext uri="{FF2B5EF4-FFF2-40B4-BE49-F238E27FC236}">
                <a16:creationId xmlns:a16="http://schemas.microsoft.com/office/drawing/2014/main" id="{4E5088CE-5FD4-4995-8AD5-A311D86B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9-2">
            <a:extLst xmlns:a="http://schemas.openxmlformats.org/drawingml/2006/main">
              <a:ext uri="{FF2B5EF4-FFF2-40B4-BE49-F238E27FC236}">
                <a16:creationId xmlns:a16="http://schemas.microsoft.com/office/drawing/2014/main" id="{C5A9A1CE-C4C8-4E7A-99D2-D1DC89CE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9-2">
            <a:extLst xmlns:a="http://schemas.openxmlformats.org/drawingml/2006/main">
              <a:ext uri="{FF2B5EF4-FFF2-40B4-BE49-F238E27FC236}">
                <a16:creationId xmlns:a16="http://schemas.microsoft.com/office/drawing/2014/main" id="{6CD2343E-D896-401E-9ECC-D828DDD7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9-2">
            <a:extLst xmlns:a="http://schemas.openxmlformats.org/drawingml/2006/main">
              <a:ext uri="{FF2B5EF4-FFF2-40B4-BE49-F238E27FC236}">
                <a16:creationId xmlns:a16="http://schemas.microsoft.com/office/drawing/2014/main" id="{651EFEFD-1FA3-40E3-80D4-A306FD96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9">
            <a:extLst xmlns:a="http://schemas.openxmlformats.org/drawingml/2006/main">
              <a:ext uri="{FF2B5EF4-FFF2-40B4-BE49-F238E27FC236}">
                <a16:creationId xmlns:a16="http://schemas.microsoft.com/office/drawing/2014/main" id="{E1653382-33CE-4D33-B439-6D9C5F9A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1 選區｜石門、三芝、淡水、八里：海岸、漁港、老街、輕軌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2 選區｜林口、五股、泰山：新市鎮、產業、交通節點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3 選區｜新莊：老街、工業脈絡、住宅與副都心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4 選區｜蘆洲、三重：河岸、密集街區、通勤與市場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每區採「人 3 秒＋地景 3 秒＋公共服務 3 秒」公平配置</a:t>
            </a:r>
          </a:p>
        </p:txBody>
      </p:sp>
      <p:sp>
        <p:nvSpPr>
          <p:cNvPr id="16" name="audio-9">
            <a:extLst xmlns:a="http://schemas.openxmlformats.org/drawingml/2006/main">
              <a:ext uri="{FF2B5EF4-FFF2-40B4-BE49-F238E27FC236}">
                <a16:creationId xmlns:a16="http://schemas.microsoft.com/office/drawing/2014/main" id="{F17FDDF7-1CED-4059-ADF5-8C1CAF51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以列車行進節奏串連選區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每個選區保留一個辨識度高的環境音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區名採固定位置出現，避免像觀光廣告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地圖只做定位，不做主畫面</a:t>
            </a:r>
          </a:p>
        </p:txBody>
      </p:sp>
      <p:sp>
        <p:nvSpPr>
          <p:cNvPr id="17" name="narration-9">
            <a:extLst xmlns:a="http://schemas.openxmlformats.org/drawingml/2006/main">
              <a:ext uri="{FF2B5EF4-FFF2-40B4-BE49-F238E27FC236}">
                <a16:creationId xmlns:a16="http://schemas.microsoft.com/office/drawing/2014/main" id="{C35A4969-855D-448E-BD3C-DE5B4CAD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每一個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選舉區，不只是地圖上的切線，而是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多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種觀看城市的角度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從石門、三芝、淡水與八里的海風吹進城市；到林口、五股、泰山快速成長的新生活；新莊在產業記憶與新都心之間持續前進；蘆洲、三重沿著河岸與街巷，承接最密集也最真切的日常。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地方不同，關心的事不同；每一種生活，都應該有被理解的位置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字卡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1–4 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選舉區｜海岸．成長．新舊交會．河岸生活</a:t>
            </a:r>
            <a:endParaRPr sz="1349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8" name="footer-line-9">
            <a:extLst xmlns:a="http://schemas.openxmlformats.org/drawingml/2006/main">
              <a:ext uri="{FF2B5EF4-FFF2-40B4-BE49-F238E27FC236}">
                <a16:creationId xmlns:a16="http://schemas.microsoft.com/office/drawing/2014/main" id="{6B3BD034-9D76-4B3E-A7A7-131E95F3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9">
            <a:extLst xmlns:a="http://schemas.openxmlformats.org/drawingml/2006/main">
              <a:ext uri="{FF2B5EF4-FFF2-40B4-BE49-F238E27FC236}">
                <a16:creationId xmlns:a16="http://schemas.microsoft.com/office/drawing/2014/main" id="{9AEE0355-6949-4F35-8152-9F382829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看見.共好｜第二章｜看見每一種生活｜02:35–03:20</a:t>
            </a:r>
          </a:p>
        </p:txBody>
      </p:sp>
      <p:sp>
        <p:nvSpPr>
          <p:cNvPr id="20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E4F3D489-096B-45AE-84CB-E17B8E02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3009298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0">
            <a:extLst xmlns:a="http://schemas.openxmlformats.org/drawingml/2006/main">
              <a:ext uri="{FF2B5EF4-FFF2-40B4-BE49-F238E27FC236}">
                <a16:creationId xmlns:a16="http://schemas.microsoft.com/office/drawing/2014/main" id="{C281F7DE-940F-4699-9650-023ECFEC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分鏡腳本｜第二章</a:t>
            </a:r>
            <a:endParaRPr sz="1049" b="1">
              <a:solidFill>
                <a:srgbClr val="D9962C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0">
            <a:extLst xmlns:a="http://schemas.openxmlformats.org/drawingml/2006/main">
              <a:ext uri="{FF2B5EF4-FFF2-40B4-BE49-F238E27FC236}">
                <a16:creationId xmlns:a16="http://schemas.microsoft.com/office/drawing/2014/main" id="{78A2B83A-653B-4321-8CE7-5552FEF8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城市的尺度不同，生活的重量相同</a:t>
            </a:r>
            <a:endParaRPr sz="2400" b="1">
              <a:solidFill>
                <a:srgbClr val="D9962C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10">
            <a:extLst xmlns:a="http://schemas.openxmlformats.org/drawingml/2006/main">
              <a:ext uri="{FF2B5EF4-FFF2-40B4-BE49-F238E27FC236}">
                <a16:creationId xmlns:a16="http://schemas.microsoft.com/office/drawing/2014/main" id="{0D6575CB-EC13-44C5-ABBD-86B8BA60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0">
            <a:extLst xmlns:a="http://schemas.openxmlformats.org/drawingml/2006/main">
              <a:ext uri="{FF2B5EF4-FFF2-40B4-BE49-F238E27FC236}">
                <a16:creationId xmlns:a16="http://schemas.microsoft.com/office/drawing/2014/main" id="{EB89592C-06CF-42BB-8DFC-3517818D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選區群像 B｜第 5 至第 8 選舉區</a:t>
            </a:r>
          </a:p>
        </p:txBody>
      </p:sp>
      <p:sp>
        <p:nvSpPr>
          <p:cNvPr id="5" name="scene-duration-10">
            <a:extLst xmlns:a="http://schemas.openxmlformats.org/drawingml/2006/main">
              <a:ext uri="{FF2B5EF4-FFF2-40B4-BE49-F238E27FC236}">
                <a16:creationId xmlns:a16="http://schemas.microsoft.com/office/drawing/2014/main" id="{DDE0D45A-8960-4815-8D6F-69C586D4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03:20–04:05｜45 秒｜累計 04:05</a:t>
            </a:r>
          </a:p>
        </p:txBody>
      </p:sp>
      <p:sp>
        <p:nvSpPr>
          <p:cNvPr id="6" name="col-head-10-0">
            <a:extLst xmlns:a="http://schemas.openxmlformats.org/drawingml/2006/main">
              <a:ext uri="{FF2B5EF4-FFF2-40B4-BE49-F238E27FC236}">
                <a16:creationId xmlns:a16="http://schemas.microsoft.com/office/drawing/2014/main" id="{5C724964-1140-44EA-BFD1-72FF855B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0-0">
            <a:extLst xmlns:a="http://schemas.openxmlformats.org/drawingml/2006/main">
              <a:ext uri="{FF2B5EF4-FFF2-40B4-BE49-F238E27FC236}">
                <a16:creationId xmlns:a16="http://schemas.microsoft.com/office/drawing/2014/main" id="{5D66FFBA-DFFA-437E-A659-05526CC1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0-0">
            <a:extLst xmlns:a="http://schemas.openxmlformats.org/drawingml/2006/main">
              <a:ext uri="{FF2B5EF4-FFF2-40B4-BE49-F238E27FC236}">
                <a16:creationId xmlns:a16="http://schemas.microsoft.com/office/drawing/2014/main" id="{66AD9FB9-F18E-4E23-B95E-30738E12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0-1">
            <a:extLst xmlns:a="http://schemas.openxmlformats.org/drawingml/2006/main">
              <a:ext uri="{FF2B5EF4-FFF2-40B4-BE49-F238E27FC236}">
                <a16:creationId xmlns:a16="http://schemas.microsoft.com/office/drawing/2014/main" id="{6C8615C3-7090-4A78-A7E4-54F50B76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0-1">
            <a:extLst xmlns:a="http://schemas.openxmlformats.org/drawingml/2006/main">
              <a:ext uri="{FF2B5EF4-FFF2-40B4-BE49-F238E27FC236}">
                <a16:creationId xmlns:a16="http://schemas.microsoft.com/office/drawing/2014/main" id="{1FD902C9-32B1-4685-811F-352F8454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0-1">
            <a:extLst xmlns:a="http://schemas.openxmlformats.org/drawingml/2006/main">
              <a:ext uri="{FF2B5EF4-FFF2-40B4-BE49-F238E27FC236}">
                <a16:creationId xmlns:a16="http://schemas.microsoft.com/office/drawing/2014/main" id="{2C6FC810-35E0-4E74-81E5-3DB8EC6C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0-2">
            <a:extLst xmlns:a="http://schemas.openxmlformats.org/drawingml/2006/main">
              <a:ext uri="{FF2B5EF4-FFF2-40B4-BE49-F238E27FC236}">
                <a16:creationId xmlns:a16="http://schemas.microsoft.com/office/drawing/2014/main" id="{A476EC80-113D-440F-B95F-22D3F99B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0-2">
            <a:extLst xmlns:a="http://schemas.openxmlformats.org/drawingml/2006/main">
              <a:ext uri="{FF2B5EF4-FFF2-40B4-BE49-F238E27FC236}">
                <a16:creationId xmlns:a16="http://schemas.microsoft.com/office/drawing/2014/main" id="{B773C727-6C03-4A73-A9FD-87245404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0-2">
            <a:extLst xmlns:a="http://schemas.openxmlformats.org/drawingml/2006/main">
              <a:ext uri="{FF2B5EF4-FFF2-40B4-BE49-F238E27FC236}">
                <a16:creationId xmlns:a16="http://schemas.microsoft.com/office/drawing/2014/main" id="{64E405FA-5360-44A3-9D80-35B009C1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0">
            <a:extLst xmlns:a="http://schemas.openxmlformats.org/drawingml/2006/main">
              <a:ext uri="{FF2B5EF4-FFF2-40B4-BE49-F238E27FC236}">
                <a16:creationId xmlns:a16="http://schemas.microsoft.com/office/drawing/2014/main" id="{D663D4D6-DA5D-4D26-8D6B-94BCDBF3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5 選區｜板橋：議會、市府、車站、文化街區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6 選區｜中和：住宅、產業園區、通勤節點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7 選區｜永和：巷弄、公園、橋梁與高密度生活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8 選區｜樹林、鶯歌、土城、三峽：陶瓷、老街、產業、校園、山景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畫面避開單一建設政績，聚焦人在空間裡的使用</a:t>
            </a:r>
          </a:p>
        </p:txBody>
      </p:sp>
      <p:sp>
        <p:nvSpPr>
          <p:cNvPr id="16" name="audio-10">
            <a:extLst xmlns:a="http://schemas.openxmlformats.org/drawingml/2006/main">
              <a:ext uri="{FF2B5EF4-FFF2-40B4-BE49-F238E27FC236}">
                <a16:creationId xmlns:a16="http://schemas.microsoft.com/office/drawing/2014/main" id="{F9B5E15C-F5BF-45F8-8FEB-89621598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聲音由都會節奏轉入陶土、樹葉與校園環境音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切換速度略加快，再於三峽河岸停留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不使用口號式配樂；以生活感維持可信度</a:t>
            </a:r>
          </a:p>
        </p:txBody>
      </p:sp>
      <p:sp>
        <p:nvSpPr>
          <p:cNvPr id="17" name="narration-10">
            <a:extLst xmlns:a="http://schemas.openxmlformats.org/drawingml/2006/main">
              <a:ext uri="{FF2B5EF4-FFF2-40B4-BE49-F238E27FC236}">
                <a16:creationId xmlns:a16="http://schemas.microsoft.com/office/drawing/2014/main" id="{520D18EE-E5D0-4AB1-AD9E-84AFB0A7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板橋是行政與交通交會的核心；中和在居住、產業與通勤之間尋找更好的平衡；永和以緊密的城市尺度，讓每一寸公共空間都格外重要。
再往西南，樹林、鶯歌、土城與三峽，把產業、工藝、校園、河川與山景放進同一幅生活圖像。
有的需求來自快速成長，有的來自老城更新；城市的尺度不同，生活的重量相同。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5–8 選舉區｜核心．密度．公共空間．文化與產業</a:t>
            </a:r>
          </a:p>
        </p:txBody>
      </p:sp>
      <p:sp>
        <p:nvSpPr>
          <p:cNvPr id="18" name="footer-line-10">
            <a:extLst xmlns:a="http://schemas.openxmlformats.org/drawingml/2006/main">
              <a:ext uri="{FF2B5EF4-FFF2-40B4-BE49-F238E27FC236}">
                <a16:creationId xmlns:a16="http://schemas.microsoft.com/office/drawing/2014/main" id="{4EA7BCBF-E90E-415C-95AF-6F88B0C9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0">
            <a:extLst xmlns:a="http://schemas.openxmlformats.org/drawingml/2006/main">
              <a:ext uri="{FF2B5EF4-FFF2-40B4-BE49-F238E27FC236}">
                <a16:creationId xmlns:a16="http://schemas.microsoft.com/office/drawing/2014/main" id="{A75E96F3-3F55-4439-99EF-76B7AB9B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看見.共好｜第二章｜看見每一種生活｜03:20–04:05</a:t>
            </a:r>
          </a:p>
        </p:txBody>
      </p:sp>
      <p:sp>
        <p:nvSpPr>
          <p:cNvPr id="20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1F3531AB-7D51-4479-A391-FB21A20C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5206021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1">
            <a:extLst xmlns:a="http://schemas.openxmlformats.org/drawingml/2006/main">
              <a:ext uri="{FF2B5EF4-FFF2-40B4-BE49-F238E27FC236}">
                <a16:creationId xmlns:a16="http://schemas.microsoft.com/office/drawing/2014/main" id="{E0EB8D69-DFB5-48B4-9A42-40264390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分鏡腳本｜第二章</a:t>
            </a:r>
            <a:endParaRPr sz="1049" b="1">
              <a:solidFill>
                <a:srgbClr val="D9962C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1">
            <a:extLst xmlns:a="http://schemas.openxmlformats.org/drawingml/2006/main">
              <a:ext uri="{FF2B5EF4-FFF2-40B4-BE49-F238E27FC236}">
                <a16:creationId xmlns:a16="http://schemas.microsoft.com/office/drawing/2014/main" id="{06AF4F81-449B-404A-AE7C-3A9D4AF4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看見地理</a:t>
            </a:r>
            <a:r>
              <a:rPr sz="240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，</a:t>
            </a:r>
            <a:r>
              <a:rPr sz="2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40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多元共榮的日常</a:t>
            </a:r>
            <a:endParaRPr sz="2400" b="1">
              <a:solidFill>
                <a:srgbClr val="D9962C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11">
            <a:extLst xmlns:a="http://schemas.openxmlformats.org/drawingml/2006/main">
              <a:ext uri="{FF2B5EF4-FFF2-40B4-BE49-F238E27FC236}">
                <a16:creationId xmlns:a16="http://schemas.microsoft.com/office/drawing/2014/main" id="{A30C5B9A-8240-484C-AF40-3D84FE23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1">
            <a:extLst xmlns:a="http://schemas.openxmlformats.org/drawingml/2006/main">
              <a:ext uri="{FF2B5EF4-FFF2-40B4-BE49-F238E27FC236}">
                <a16:creationId xmlns:a16="http://schemas.microsoft.com/office/drawing/2014/main" id="{75807745-5229-4A27-973C-14E3199D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選區群像 C｜第 9 至第 13 選舉區</a:t>
            </a:r>
          </a:p>
        </p:txBody>
      </p:sp>
      <p:sp>
        <p:nvSpPr>
          <p:cNvPr id="5" name="scene-duration-11">
            <a:extLst xmlns:a="http://schemas.openxmlformats.org/drawingml/2006/main">
              <a:ext uri="{FF2B5EF4-FFF2-40B4-BE49-F238E27FC236}">
                <a16:creationId xmlns:a16="http://schemas.microsoft.com/office/drawing/2014/main" id="{FA79D0A4-8702-480F-B814-65E58833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04:05–04:55｜50 秒｜累計 04:55</a:t>
            </a:r>
          </a:p>
        </p:txBody>
      </p:sp>
      <p:sp>
        <p:nvSpPr>
          <p:cNvPr id="6" name="col-head-11-0">
            <a:extLst xmlns:a="http://schemas.openxmlformats.org/drawingml/2006/main">
              <a:ext uri="{FF2B5EF4-FFF2-40B4-BE49-F238E27FC236}">
                <a16:creationId xmlns:a16="http://schemas.microsoft.com/office/drawing/2014/main" id="{95195B70-8CE1-47E3-A063-35C19713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1-0">
            <a:extLst xmlns:a="http://schemas.openxmlformats.org/drawingml/2006/main">
              <a:ext uri="{FF2B5EF4-FFF2-40B4-BE49-F238E27FC236}">
                <a16:creationId xmlns:a16="http://schemas.microsoft.com/office/drawing/2014/main" id="{A4827FA2-4A32-4ACA-9B1B-9F0A5B24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1-0">
            <a:extLst xmlns:a="http://schemas.openxmlformats.org/drawingml/2006/main">
              <a:ext uri="{FF2B5EF4-FFF2-40B4-BE49-F238E27FC236}">
                <a16:creationId xmlns:a16="http://schemas.microsoft.com/office/drawing/2014/main" id="{F143B225-C48D-4524-9652-8E68083F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1-1">
            <a:extLst xmlns:a="http://schemas.openxmlformats.org/drawingml/2006/main">
              <a:ext uri="{FF2B5EF4-FFF2-40B4-BE49-F238E27FC236}">
                <a16:creationId xmlns:a16="http://schemas.microsoft.com/office/drawing/2014/main" id="{09B21417-1348-496E-9827-E14F0351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1-1">
            <a:extLst xmlns:a="http://schemas.openxmlformats.org/drawingml/2006/main">
              <a:ext uri="{FF2B5EF4-FFF2-40B4-BE49-F238E27FC236}">
                <a16:creationId xmlns:a16="http://schemas.microsoft.com/office/drawing/2014/main" id="{8B1186FE-95A3-4EC3-BE80-108502A9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1-1">
            <a:extLst xmlns:a="http://schemas.openxmlformats.org/drawingml/2006/main">
              <a:ext uri="{FF2B5EF4-FFF2-40B4-BE49-F238E27FC236}">
                <a16:creationId xmlns:a16="http://schemas.microsoft.com/office/drawing/2014/main" id="{5D6B82CE-8B10-4BD1-B5F2-D10F6403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1-2">
            <a:extLst xmlns:a="http://schemas.openxmlformats.org/drawingml/2006/main">
              <a:ext uri="{FF2B5EF4-FFF2-40B4-BE49-F238E27FC236}">
                <a16:creationId xmlns:a16="http://schemas.microsoft.com/office/drawing/2014/main" id="{5AC3CD6A-C5D5-48D0-B631-A87F9225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1-2">
            <a:extLst xmlns:a="http://schemas.openxmlformats.org/drawingml/2006/main">
              <a:ext uri="{FF2B5EF4-FFF2-40B4-BE49-F238E27FC236}">
                <a16:creationId xmlns:a16="http://schemas.microsoft.com/office/drawing/2014/main" id="{0DA077E1-FC0C-479A-BAC2-0C44D489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1-2">
            <a:extLst xmlns:a="http://schemas.openxmlformats.org/drawingml/2006/main">
              <a:ext uri="{FF2B5EF4-FFF2-40B4-BE49-F238E27FC236}">
                <a16:creationId xmlns:a16="http://schemas.microsoft.com/office/drawing/2014/main" id="{0A8E323D-93BF-44EE-AF90-4324C652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1">
            <a:extLst xmlns:a="http://schemas.openxmlformats.org/drawingml/2006/main">
              <a:ext uri="{FF2B5EF4-FFF2-40B4-BE49-F238E27FC236}">
                <a16:creationId xmlns:a16="http://schemas.microsoft.com/office/drawing/2014/main" id="{FB48F3C2-4955-4D77-B31C-A9C6AF76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9 選區｜新店、深坑、石碇、坪林、烏來：溪谷、茶鄉、山路、部落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10 選區｜平溪、瑞芳、雙溪、貢寮：山城、鐵道、海岸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11 選區｜金山、萬里、汐止：漁港、溫泉、科技與通勤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12 選區｜平地原住民：跨行政區的族人生活與文化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13 選區｜山地原住民：部落、語言、工藝、土地連結</a:t>
            </a:r>
          </a:p>
        </p:txBody>
      </p:sp>
      <p:sp>
        <p:nvSpPr>
          <p:cNvPr id="16" name="audio-11">
            <a:extLst xmlns:a="http://schemas.openxmlformats.org/drawingml/2006/main">
              <a:ext uri="{FF2B5EF4-FFF2-40B4-BE49-F238E27FC236}">
                <a16:creationId xmlns:a16="http://schemas.microsoft.com/office/drawing/2014/main" id="{CDDBCA6B-8D73-4238-93A5-C3EB67B5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溪流與鐵道聲串起山海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進入原住民選區時，採現場族語問候或經授權歌聲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音樂不挪用儀式性歌謠；文化素材先取得族群同意</a:t>
            </a:r>
          </a:p>
        </p:txBody>
      </p:sp>
      <p:sp>
        <p:nvSpPr>
          <p:cNvPr id="17" name="narration-11">
            <a:extLst xmlns:a="http://schemas.openxmlformats.org/drawingml/2006/main">
              <a:ext uri="{FF2B5EF4-FFF2-40B4-BE49-F238E27FC236}">
                <a16:creationId xmlns:a16="http://schemas.microsoft.com/office/drawing/2014/main" id="{ED750354-02C6-477D-A4D4-26ED126A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新店、深坑、石碇、坪林與烏來，沿著溪谷連結都會、茶鄉與部落；平溪、瑞芳、雙溪、貢寮，讓山城、鐵道與海岸彼此相望；金山、萬里、汐止，則把海洋、溫泉、科技與通勤生活連成一線。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還有跨越行政邊界的平地與山地原住民選區，讓族人的生活、語言與文化，在城市裡持續被看見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十三個選區，六十八席民意；每一席，都連著一群人的現在與未來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，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多元,不只是共處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——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是彼此看見,一起變好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 </a:t>
            </a:r>
            <a:endParaRPr sz="1349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字卡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9–13 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選舉區｜山海．城鄉．族群．文化傳承</a:t>
            </a:r>
            <a:endParaRPr sz="1349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8" name="footer-line-11">
            <a:extLst xmlns:a="http://schemas.openxmlformats.org/drawingml/2006/main">
              <a:ext uri="{FF2B5EF4-FFF2-40B4-BE49-F238E27FC236}">
                <a16:creationId xmlns:a16="http://schemas.microsoft.com/office/drawing/2014/main" id="{307C2E46-CB21-4E72-96C5-7C266A48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1">
            <a:extLst xmlns:a="http://schemas.openxmlformats.org/drawingml/2006/main">
              <a:ext uri="{FF2B5EF4-FFF2-40B4-BE49-F238E27FC236}">
                <a16:creationId xmlns:a16="http://schemas.microsoft.com/office/drawing/2014/main" id="{F030A3B7-1391-447F-876D-859A8D15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看見.共好｜第二章｜看見每一種生活｜04:05–04:55</a:t>
            </a:r>
          </a:p>
        </p:txBody>
      </p:sp>
      <p:sp>
        <p:nvSpPr>
          <p:cNvPr id="20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1286B14D-214B-43CA-911F-B9122CC1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3394763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2">
            <a:extLst xmlns:a="http://schemas.openxmlformats.org/drawingml/2006/main">
              <a:ext uri="{FF2B5EF4-FFF2-40B4-BE49-F238E27FC236}">
                <a16:creationId xmlns:a16="http://schemas.microsoft.com/office/drawing/2014/main" id="{AADA789A-459B-4608-9F38-615BB58C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</a:t>
            </a: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二</a:t>
            </a: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章</a:t>
            </a:r>
            <a:endParaRPr sz="1049" b="1">
              <a:solidFill>
                <a:srgbClr val="416E8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2">
            <a:extLst xmlns:a="http://schemas.openxmlformats.org/drawingml/2006/main">
              <a:ext uri="{FF2B5EF4-FFF2-40B4-BE49-F238E27FC236}">
                <a16:creationId xmlns:a16="http://schemas.microsoft.com/office/drawing/2014/main" id="{68A5CFED-7FBE-44C8-9D5B-3693F11E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看見民意，面對問題</a:t>
            </a:r>
            <a:endParaRPr sz="2099" b="1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12">
            <a:extLst xmlns:a="http://schemas.openxmlformats.org/drawingml/2006/main">
              <a:ext uri="{FF2B5EF4-FFF2-40B4-BE49-F238E27FC236}">
                <a16:creationId xmlns:a16="http://schemas.microsoft.com/office/drawing/2014/main" id="{704ABBD9-266D-495A-868D-EBC5DB0F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2">
            <a:extLst xmlns:a="http://schemas.openxmlformats.org/drawingml/2006/main">
              <a:ext uri="{FF2B5EF4-FFF2-40B4-BE49-F238E27FC236}">
                <a16:creationId xmlns:a16="http://schemas.microsoft.com/office/drawing/2014/main" id="{CA18AE02-065B-4032-8CDA-AFB6DC37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轉折｜從城市群像走入議會核心</a:t>
            </a:r>
          </a:p>
        </p:txBody>
      </p:sp>
      <p:sp>
        <p:nvSpPr>
          <p:cNvPr id="5" name="scene-duration-12">
            <a:extLst xmlns:a="http://schemas.openxmlformats.org/drawingml/2006/main">
              <a:ext uri="{FF2B5EF4-FFF2-40B4-BE49-F238E27FC236}">
                <a16:creationId xmlns:a16="http://schemas.microsoft.com/office/drawing/2014/main" id="{69354279-3ED1-4AB5-8BA8-E9BC4389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04:55–05:15｜20 秒｜累計 05:15</a:t>
            </a:r>
          </a:p>
        </p:txBody>
      </p:sp>
      <p:sp>
        <p:nvSpPr>
          <p:cNvPr id="6" name="col-head-12-0">
            <a:extLst xmlns:a="http://schemas.openxmlformats.org/drawingml/2006/main">
              <a:ext uri="{FF2B5EF4-FFF2-40B4-BE49-F238E27FC236}">
                <a16:creationId xmlns:a16="http://schemas.microsoft.com/office/drawing/2014/main" id="{D2582608-8EF8-461B-B292-373CD8EC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2-0">
            <a:extLst xmlns:a="http://schemas.openxmlformats.org/drawingml/2006/main">
              <a:ext uri="{FF2B5EF4-FFF2-40B4-BE49-F238E27FC236}">
                <a16:creationId xmlns:a16="http://schemas.microsoft.com/office/drawing/2014/main" id="{4CA3B7F3-FCA5-4487-9574-D1CB38EF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2-0">
            <a:extLst xmlns:a="http://schemas.openxmlformats.org/drawingml/2006/main">
              <a:ext uri="{FF2B5EF4-FFF2-40B4-BE49-F238E27FC236}">
                <a16:creationId xmlns:a16="http://schemas.microsoft.com/office/drawing/2014/main" id="{8D3B92C4-D407-4C25-AB6B-A75700FC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2-1">
            <a:extLst xmlns:a="http://schemas.openxmlformats.org/drawingml/2006/main">
              <a:ext uri="{FF2B5EF4-FFF2-40B4-BE49-F238E27FC236}">
                <a16:creationId xmlns:a16="http://schemas.microsoft.com/office/drawing/2014/main" id="{04CCF04B-D7FB-4195-8677-1E045624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2-1">
            <a:extLst xmlns:a="http://schemas.openxmlformats.org/drawingml/2006/main">
              <a:ext uri="{FF2B5EF4-FFF2-40B4-BE49-F238E27FC236}">
                <a16:creationId xmlns:a16="http://schemas.microsoft.com/office/drawing/2014/main" id="{9F7A1922-8C97-4934-B43C-B38F3452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2-1">
            <a:extLst xmlns:a="http://schemas.openxmlformats.org/drawingml/2006/main">
              <a:ext uri="{FF2B5EF4-FFF2-40B4-BE49-F238E27FC236}">
                <a16:creationId xmlns:a16="http://schemas.microsoft.com/office/drawing/2014/main" id="{8EE3FDEE-C3FE-4050-8FA5-38E0FE61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2-2">
            <a:extLst xmlns:a="http://schemas.openxmlformats.org/drawingml/2006/main">
              <a:ext uri="{FF2B5EF4-FFF2-40B4-BE49-F238E27FC236}">
                <a16:creationId xmlns:a16="http://schemas.microsoft.com/office/drawing/2014/main" id="{1CB18380-4547-49A9-A209-22EA0B69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2-2">
            <a:extLst xmlns:a="http://schemas.openxmlformats.org/drawingml/2006/main">
              <a:ext uri="{FF2B5EF4-FFF2-40B4-BE49-F238E27FC236}">
                <a16:creationId xmlns:a16="http://schemas.microsoft.com/office/drawing/2014/main" id="{B64E2CDC-D31A-43CC-94F2-A1B1DCEC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2-2">
            <a:extLst xmlns:a="http://schemas.openxmlformats.org/drawingml/2006/main">
              <a:ext uri="{FF2B5EF4-FFF2-40B4-BE49-F238E27FC236}">
                <a16:creationId xmlns:a16="http://schemas.microsoft.com/office/drawing/2014/main" id="{7E2E3AE8-9AF8-43B2-9FB0-92E15359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2">
            <a:extLst xmlns:a="http://schemas.openxmlformats.org/drawingml/2006/main">
              <a:ext uri="{FF2B5EF4-FFF2-40B4-BE49-F238E27FC236}">
                <a16:creationId xmlns:a16="http://schemas.microsoft.com/office/drawing/2014/main" id="{1A0985D6-D10D-4C9E-BEB9-E39E2C17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13｜快速收斂三個日常細節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雨天積水停在鞋尖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家長牽孩子穿越路口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長者在候車亭等待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14｜市民手機畫面／陳情資料／照片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15｜畫面停在「已受理」或服務處筆記，不呈現個資</a:t>
            </a:r>
          </a:p>
        </p:txBody>
      </p:sp>
      <p:sp>
        <p:nvSpPr>
          <p:cNvPr id="16" name="audio-12">
            <a:extLst xmlns:a="http://schemas.openxmlformats.org/drawingml/2006/main">
              <a:ext uri="{FF2B5EF4-FFF2-40B4-BE49-F238E27FC236}">
                <a16:creationId xmlns:a16="http://schemas.microsoft.com/office/drawing/2014/main" id="{2910D265-7178-4C28-B05A-E444E76A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音樂突然收斂，只留下雨聲、號誌聲、紙張聲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三個問題各 3 秒，不交代答案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最後以一聲訊息提示，帶入下一段</a:t>
            </a:r>
          </a:p>
        </p:txBody>
      </p:sp>
      <p:sp>
        <p:nvSpPr>
          <p:cNvPr id="17" name="narration-12">
            <a:extLst xmlns:a="http://schemas.openxmlformats.org/drawingml/2006/main">
              <a:ext uri="{FF2B5EF4-FFF2-40B4-BE49-F238E27FC236}">
                <a16:creationId xmlns:a16="http://schemas.microsoft.com/office/drawing/2014/main" id="{D3B4AA9C-DDF6-4CCC-9DDE-508880E8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一場雨後的積水、一條不安心的上學路、一段等不到車的日常，都可能是城市下一步要回答的問題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當一個聲音走進議會，它會怎麼成為改變的開始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？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動畫字卡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看見問題｜不是終點，是行動的起點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</a:t>
            </a:r>
          </a:p>
        </p:txBody>
      </p:sp>
      <p:sp>
        <p:nvSpPr>
          <p:cNvPr id="18" name="footer-line-12">
            <a:extLst xmlns:a="http://schemas.openxmlformats.org/drawingml/2006/main">
              <a:ext uri="{FF2B5EF4-FFF2-40B4-BE49-F238E27FC236}">
                <a16:creationId xmlns:a16="http://schemas.microsoft.com/office/drawing/2014/main" id="{2DE6455A-29BF-41E7-A370-798F4370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2">
            <a:extLst xmlns:a="http://schemas.openxmlformats.org/drawingml/2006/main">
              <a:ext uri="{FF2B5EF4-FFF2-40B4-BE49-F238E27FC236}">
                <a16:creationId xmlns:a16="http://schemas.microsoft.com/office/drawing/2014/main" id="{9F413961-1D5E-463D-92E3-3C64F15F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看見.共好｜第三章｜看見民意如何成為行動｜04:55–05:15</a:t>
            </a:r>
          </a:p>
        </p:txBody>
      </p:sp>
      <p:sp>
        <p:nvSpPr>
          <p:cNvPr id="20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042D3C44-2F66-415E-A94F-C288C8E7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0582398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3">
            <a:extLst xmlns:a="http://schemas.openxmlformats.org/drawingml/2006/main">
              <a:ext uri="{FF2B5EF4-FFF2-40B4-BE49-F238E27FC236}">
                <a16:creationId xmlns:a16="http://schemas.microsoft.com/office/drawing/2014/main" id="{CDA95771-A9F8-4A90-A012-FC7F9DDD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分鏡腳本｜第三章</a:t>
            </a:r>
            <a:endParaRPr sz="1049" b="1">
              <a:solidFill>
                <a:srgbClr val="416E8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3">
            <a:extLst xmlns:a="http://schemas.openxmlformats.org/drawingml/2006/main">
              <a:ext uri="{FF2B5EF4-FFF2-40B4-BE49-F238E27FC236}">
                <a16:creationId xmlns:a16="http://schemas.microsoft.com/office/drawing/2014/main" id="{095A85D3-E498-4C52-973E-7D14CB46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723363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看見</a:t>
            </a:r>
            <a:r>
              <a:rPr sz="2400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問題</a:t>
            </a:r>
            <a:r>
              <a:rPr sz="2400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，</a:t>
            </a:r>
            <a:r>
              <a:rPr sz="2400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跟著一份提案走進議會</a:t>
            </a:r>
            <a:endParaRPr sz="2400" b="1">
              <a:solidFill>
                <a:srgbClr val="416E8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13">
            <a:extLst xmlns:a="http://schemas.openxmlformats.org/drawingml/2006/main">
              <a:ext uri="{FF2B5EF4-FFF2-40B4-BE49-F238E27FC236}">
                <a16:creationId xmlns:a16="http://schemas.microsoft.com/office/drawing/2014/main" id="{4F027AD6-C734-448D-9B99-01542C99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3">
            <a:extLst xmlns:a="http://schemas.openxmlformats.org/drawingml/2006/main">
              <a:ext uri="{FF2B5EF4-FFF2-40B4-BE49-F238E27FC236}">
                <a16:creationId xmlns:a16="http://schemas.microsoft.com/office/drawing/2014/main" id="{2BC5022E-1D52-4835-9130-6A697F69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民意轉化 A｜受理、查證、現勘、提案</a:t>
            </a:r>
          </a:p>
        </p:txBody>
      </p:sp>
      <p:sp>
        <p:nvSpPr>
          <p:cNvPr id="5" name="scene-duration-13">
            <a:extLst xmlns:a="http://schemas.openxmlformats.org/drawingml/2006/main">
              <a:ext uri="{FF2B5EF4-FFF2-40B4-BE49-F238E27FC236}">
                <a16:creationId xmlns:a16="http://schemas.microsoft.com/office/drawing/2014/main" id="{9BFEBDAD-8FAC-45B8-92D7-418B45C8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05:15–06:05｜50 秒｜累計 06:05</a:t>
            </a:r>
          </a:p>
        </p:txBody>
      </p:sp>
      <p:sp>
        <p:nvSpPr>
          <p:cNvPr id="6" name="col-head-13-0">
            <a:extLst xmlns:a="http://schemas.openxmlformats.org/drawingml/2006/main">
              <a:ext uri="{FF2B5EF4-FFF2-40B4-BE49-F238E27FC236}">
                <a16:creationId xmlns:a16="http://schemas.microsoft.com/office/drawing/2014/main" id="{5FDB888E-8773-42CF-8B46-65C1BC04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3-0">
            <a:extLst xmlns:a="http://schemas.openxmlformats.org/drawingml/2006/main">
              <a:ext uri="{FF2B5EF4-FFF2-40B4-BE49-F238E27FC236}">
                <a16:creationId xmlns:a16="http://schemas.microsoft.com/office/drawing/2014/main" id="{EEEF866C-D705-4E8F-81E2-88384D7B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3-0">
            <a:extLst xmlns:a="http://schemas.openxmlformats.org/drawingml/2006/main">
              <a:ext uri="{FF2B5EF4-FFF2-40B4-BE49-F238E27FC236}">
                <a16:creationId xmlns:a16="http://schemas.microsoft.com/office/drawing/2014/main" id="{2CAF4D36-7499-458D-B550-8C34C2CC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3-1">
            <a:extLst xmlns:a="http://schemas.openxmlformats.org/drawingml/2006/main">
              <a:ext uri="{FF2B5EF4-FFF2-40B4-BE49-F238E27FC236}">
                <a16:creationId xmlns:a16="http://schemas.microsoft.com/office/drawing/2014/main" id="{C8C472FE-0751-4122-8E38-90E257B5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3-1">
            <a:extLst xmlns:a="http://schemas.openxmlformats.org/drawingml/2006/main">
              <a:ext uri="{FF2B5EF4-FFF2-40B4-BE49-F238E27FC236}">
                <a16:creationId xmlns:a16="http://schemas.microsoft.com/office/drawing/2014/main" id="{17DF658D-8587-4163-8648-B011C721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3-1">
            <a:extLst xmlns:a="http://schemas.openxmlformats.org/drawingml/2006/main">
              <a:ext uri="{FF2B5EF4-FFF2-40B4-BE49-F238E27FC236}">
                <a16:creationId xmlns:a16="http://schemas.microsoft.com/office/drawing/2014/main" id="{A72D4CB6-6757-4300-ACDC-70FDD9E6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3-2">
            <a:extLst xmlns:a="http://schemas.openxmlformats.org/drawingml/2006/main">
              <a:ext uri="{FF2B5EF4-FFF2-40B4-BE49-F238E27FC236}">
                <a16:creationId xmlns:a16="http://schemas.microsoft.com/office/drawing/2014/main" id="{128395E8-1EBC-4F94-AF49-8729252B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3-2">
            <a:extLst xmlns:a="http://schemas.openxmlformats.org/drawingml/2006/main">
              <a:ext uri="{FF2B5EF4-FFF2-40B4-BE49-F238E27FC236}">
                <a16:creationId xmlns:a16="http://schemas.microsoft.com/office/drawing/2014/main" id="{BB45A497-4E0C-4C3D-BA40-4D171B4C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3-2">
            <a:extLst xmlns:a="http://schemas.openxmlformats.org/drawingml/2006/main">
              <a:ext uri="{FF2B5EF4-FFF2-40B4-BE49-F238E27FC236}">
                <a16:creationId xmlns:a16="http://schemas.microsoft.com/office/drawing/2014/main" id="{F04AC031-7152-46AB-B3CC-23407D7C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3">
            <a:extLst xmlns:a="http://schemas.openxmlformats.org/drawingml/2006/main">
              <a:ext uri="{FF2B5EF4-FFF2-40B4-BE49-F238E27FC236}">
                <a16:creationId xmlns:a16="http://schemas.microsoft.com/office/drawing/2014/main" id="{62C3B58A-9C18-4808-A876-45F4A344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1｜市民陳情：電話、線上、服務處與當面反映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2｜資料整理：遮蔽個資後呈現案件照片、地圖、時間軸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3｜現地了解：議員、居民與相關單位共同會勘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4｜問題定義：把個案拆成安全、預算、權責與期程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5｜形成提案或質詢重點</a:t>
            </a:r>
          </a:p>
        </p:txBody>
      </p:sp>
      <p:sp>
        <p:nvSpPr>
          <p:cNvPr id="16" name="audio-13">
            <a:extLst xmlns:a="http://schemas.openxmlformats.org/drawingml/2006/main">
              <a:ext uri="{FF2B5EF4-FFF2-40B4-BE49-F238E27FC236}">
                <a16:creationId xmlns:a16="http://schemas.microsoft.com/office/drawing/2014/main" id="{26F6825C-57B8-4E2A-9688-2835B193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節奏由單點訊息逐步堆疊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保留市民一句原音：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「我們希望有人把這件事說清楚。」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會勘現場以同期聲為主，不另配過度情緒化音樂</a:t>
            </a:r>
          </a:p>
        </p:txBody>
      </p:sp>
      <p:sp>
        <p:nvSpPr>
          <p:cNvPr id="17" name="narration-13">
            <a:extLst xmlns:a="http://schemas.openxmlformats.org/drawingml/2006/main">
              <a:ext uri="{FF2B5EF4-FFF2-40B4-BE49-F238E27FC236}">
                <a16:creationId xmlns:a16="http://schemas.microsoft.com/office/drawing/2014/main" id="{9CD3DC35-75A1-4874-8B74-E6098509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市民看見的每一個改變,在這裡都有一段旅程。一份提案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與陳請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,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從服務處出發,走進委員會,被逐條檢視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一個看似單純的困難，可能牽涉安全、預算、法規與不同機關的權責。議會的工作，是把零散感受整理成可以討論的問題，把個人的不方便，轉化為公共議題。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每一年,數千億的市政預算在這裡逐項把關;大會與各委員會分工合力,只為一件事:讓你的聲音,成為城市的決定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字卡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受理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查證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現勘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定義問題</a:t>
            </a:r>
            <a:endParaRPr sz="1349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8" name="footer-line-13">
            <a:extLst xmlns:a="http://schemas.openxmlformats.org/drawingml/2006/main">
              <a:ext uri="{FF2B5EF4-FFF2-40B4-BE49-F238E27FC236}">
                <a16:creationId xmlns:a16="http://schemas.microsoft.com/office/drawing/2014/main" id="{FE7B51E6-F5D5-43D2-BC3D-8B5E909A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3">
            <a:extLst xmlns:a="http://schemas.openxmlformats.org/drawingml/2006/main">
              <a:ext uri="{FF2B5EF4-FFF2-40B4-BE49-F238E27FC236}">
                <a16:creationId xmlns:a16="http://schemas.microsoft.com/office/drawing/2014/main" id="{CC97CB1D-F7D9-4D53-BF82-55B4683B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看見.共好｜第三章｜看見民意如何成為行動｜05:15–06:05</a:t>
            </a:r>
          </a:p>
        </p:txBody>
      </p:sp>
      <p:sp>
        <p:nvSpPr>
          <p:cNvPr id="20" name="footer-page-13">
            <a:extLst xmlns:a="http://schemas.openxmlformats.org/drawingml/2006/main">
              <a:ext uri="{FF2B5EF4-FFF2-40B4-BE49-F238E27FC236}">
                <a16:creationId xmlns:a16="http://schemas.microsoft.com/office/drawing/2014/main" id="{ECF06654-F5F2-49DA-96E4-C061F2C2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59044739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4">
            <a:extLst xmlns:a="http://schemas.openxmlformats.org/drawingml/2006/main">
              <a:ext uri="{FF2B5EF4-FFF2-40B4-BE49-F238E27FC236}">
                <a16:creationId xmlns:a16="http://schemas.microsoft.com/office/drawing/2014/main" id="{117EDF47-2010-4246-B584-DDEDC33E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分鏡腳本｜第三章</a:t>
            </a:r>
            <a:endParaRPr sz="1049" b="1">
              <a:solidFill>
                <a:srgbClr val="416E8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4">
            <a:extLst xmlns:a="http://schemas.openxmlformats.org/drawingml/2006/main">
              <a:ext uri="{FF2B5EF4-FFF2-40B4-BE49-F238E27FC236}">
                <a16:creationId xmlns:a16="http://schemas.microsoft.com/office/drawing/2014/main" id="{D6EF9010-9FA8-42B0-BB6F-A05F6B15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讓承諾有進度，讓改變被追蹤</a:t>
            </a:r>
            <a:endParaRPr sz="2400" b="1">
              <a:solidFill>
                <a:srgbClr val="416E8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14">
            <a:extLst xmlns:a="http://schemas.openxmlformats.org/drawingml/2006/main">
              <a:ext uri="{FF2B5EF4-FFF2-40B4-BE49-F238E27FC236}">
                <a16:creationId xmlns:a16="http://schemas.microsoft.com/office/drawing/2014/main" id="{88BCB0DA-3A0C-4B4A-9CA4-F7D462FC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4">
            <a:extLst xmlns:a="http://schemas.openxmlformats.org/drawingml/2006/main">
              <a:ext uri="{FF2B5EF4-FFF2-40B4-BE49-F238E27FC236}">
                <a16:creationId xmlns:a16="http://schemas.microsoft.com/office/drawing/2014/main" id="{351AB4AF-0577-4BC4-84E7-31D1615C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民意轉化 B｜質詢、審查、議決、追蹤</a:t>
            </a:r>
          </a:p>
        </p:txBody>
      </p:sp>
      <p:sp>
        <p:nvSpPr>
          <p:cNvPr id="5" name="scene-duration-14">
            <a:extLst xmlns:a="http://schemas.openxmlformats.org/drawingml/2006/main">
              <a:ext uri="{FF2B5EF4-FFF2-40B4-BE49-F238E27FC236}">
                <a16:creationId xmlns:a16="http://schemas.microsoft.com/office/drawing/2014/main" id="{CFD12C69-8AAB-4C3B-8277-2A450799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06:05–06:55｜50 秒｜累計 06:55</a:t>
            </a:r>
          </a:p>
        </p:txBody>
      </p:sp>
      <p:sp>
        <p:nvSpPr>
          <p:cNvPr id="6" name="col-head-14-0">
            <a:extLst xmlns:a="http://schemas.openxmlformats.org/drawingml/2006/main">
              <a:ext uri="{FF2B5EF4-FFF2-40B4-BE49-F238E27FC236}">
                <a16:creationId xmlns:a16="http://schemas.microsoft.com/office/drawing/2014/main" id="{603551B6-A92F-4378-AA85-81CB12EC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4-0">
            <a:extLst xmlns:a="http://schemas.openxmlformats.org/drawingml/2006/main">
              <a:ext uri="{FF2B5EF4-FFF2-40B4-BE49-F238E27FC236}">
                <a16:creationId xmlns:a16="http://schemas.microsoft.com/office/drawing/2014/main" id="{BC5A12AF-B52D-4E8E-A51D-15F8B6D0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4-0">
            <a:extLst xmlns:a="http://schemas.openxmlformats.org/drawingml/2006/main">
              <a:ext uri="{FF2B5EF4-FFF2-40B4-BE49-F238E27FC236}">
                <a16:creationId xmlns:a16="http://schemas.microsoft.com/office/drawing/2014/main" id="{37C7AA13-88CD-4668-A4D8-000D88F6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4-1">
            <a:extLst xmlns:a="http://schemas.openxmlformats.org/drawingml/2006/main">
              <a:ext uri="{FF2B5EF4-FFF2-40B4-BE49-F238E27FC236}">
                <a16:creationId xmlns:a16="http://schemas.microsoft.com/office/drawing/2014/main" id="{C21CE52D-D3AF-4F3B-95E7-01364768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4-1">
            <a:extLst xmlns:a="http://schemas.openxmlformats.org/drawingml/2006/main">
              <a:ext uri="{FF2B5EF4-FFF2-40B4-BE49-F238E27FC236}">
                <a16:creationId xmlns:a16="http://schemas.microsoft.com/office/drawing/2014/main" id="{168C172F-4121-4C2A-BBAA-16DB3AA4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4-1">
            <a:extLst xmlns:a="http://schemas.openxmlformats.org/drawingml/2006/main">
              <a:ext uri="{FF2B5EF4-FFF2-40B4-BE49-F238E27FC236}">
                <a16:creationId xmlns:a16="http://schemas.microsoft.com/office/drawing/2014/main" id="{0D5AABFD-D41D-4038-8CD1-86AEEB1E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4-2">
            <a:extLst xmlns:a="http://schemas.openxmlformats.org/drawingml/2006/main">
              <a:ext uri="{FF2B5EF4-FFF2-40B4-BE49-F238E27FC236}">
                <a16:creationId xmlns:a16="http://schemas.microsoft.com/office/drawing/2014/main" id="{9D0E1F00-B497-441B-8590-7285DA67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4-2">
            <a:extLst xmlns:a="http://schemas.openxmlformats.org/drawingml/2006/main">
              <a:ext uri="{FF2B5EF4-FFF2-40B4-BE49-F238E27FC236}">
                <a16:creationId xmlns:a16="http://schemas.microsoft.com/office/drawing/2014/main" id="{345BE1B6-A418-4C49-A33B-E9B7DEE1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4-2">
            <a:extLst xmlns:a="http://schemas.openxmlformats.org/drawingml/2006/main">
              <a:ext uri="{FF2B5EF4-FFF2-40B4-BE49-F238E27FC236}">
                <a16:creationId xmlns:a16="http://schemas.microsoft.com/office/drawing/2014/main" id="{BC667C5F-4392-4DC4-A0B7-4E5570F2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4">
            <a:extLst xmlns:a="http://schemas.openxmlformats.org/drawingml/2006/main">
              <a:ext uri="{FF2B5EF4-FFF2-40B4-BE49-F238E27FC236}">
                <a16:creationId xmlns:a16="http://schemas.microsoft.com/office/drawing/2014/main" id="{EFD239AE-8CE6-4922-B41C-F40EE9A6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6｜議事殿堂：口頭／書面質詢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7｜委員會：資料比對、專業審查、意見交換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8｜大會：討論、議決與公開紀錄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9｜後續追蹤：列管回覆、工程進度、政策修正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10｜回到現場：同一機位拍攝改善前後，未完成案件則呈現追蹤狀態</a:t>
            </a:r>
          </a:p>
        </p:txBody>
      </p:sp>
      <p:sp>
        <p:nvSpPr>
          <p:cNvPr id="16" name="audio-14">
            <a:extLst xmlns:a="http://schemas.openxmlformats.org/drawingml/2006/main">
              <a:ext uri="{FF2B5EF4-FFF2-40B4-BE49-F238E27FC236}">
                <a16:creationId xmlns:a16="http://schemas.microsoft.com/office/drawing/2014/main" id="{2E3F839D-A572-460A-978F-D5648EDE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議事槌、麥克風開啟、翻頁與鍵盤聲形成節拍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重要數據以簡潔動態字卡同步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不以「完工」作為唯一結局；誠實呈現持續追蹤</a:t>
            </a:r>
          </a:p>
        </p:txBody>
      </p:sp>
      <p:sp>
        <p:nvSpPr>
          <p:cNvPr id="17" name="narration-14">
            <a:extLst xmlns:a="http://schemas.openxmlformats.org/drawingml/2006/main">
              <a:ext uri="{FF2B5EF4-FFF2-40B4-BE49-F238E27FC236}">
                <a16:creationId xmlns:a16="http://schemas.microsoft.com/office/drawing/2014/main" id="{16B68102-D29B-4D25-B581-10E4A08C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接著，問題走進質詢與審查。議員要求說明、檢視資料、確認預算與期程；不同意見在會議中被提出，也在公開紀錄中留下軌跡。
有些事情能很快改善，有些需要跨局處協調，有些必須經過法規與預算程序。重要的不是一句承諾，而是每一步都有依據、每一個進度都能被追蹤。
從人民的聲音，到制度的行動，再回到生活的現場——這就是監督的意義，也是民主看得見的方式。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【動畫字卡】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質詢 → 審查 → 議決 → 追蹤 → 回到現場</a:t>
            </a:r>
          </a:p>
        </p:txBody>
      </p:sp>
      <p:sp>
        <p:nvSpPr>
          <p:cNvPr id="18" name="footer-line-14">
            <a:extLst xmlns:a="http://schemas.openxmlformats.org/drawingml/2006/main">
              <a:ext uri="{FF2B5EF4-FFF2-40B4-BE49-F238E27FC236}">
                <a16:creationId xmlns:a16="http://schemas.microsoft.com/office/drawing/2014/main" id="{889FB5AB-CA8F-4943-9CE7-78E387ED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4">
            <a:extLst xmlns:a="http://schemas.openxmlformats.org/drawingml/2006/main">
              <a:ext uri="{FF2B5EF4-FFF2-40B4-BE49-F238E27FC236}">
                <a16:creationId xmlns:a16="http://schemas.microsoft.com/office/drawing/2014/main" id="{54F1E0BA-01F5-422C-95BF-55195BE7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看見.共好｜第三章｜看見民意如何成為行動｜06:05–06:55</a:t>
            </a:r>
          </a:p>
        </p:txBody>
      </p:sp>
      <p:sp>
        <p:nvSpPr>
          <p:cNvPr id="20" name="footer-page-14">
            <a:extLst xmlns:a="http://schemas.openxmlformats.org/drawingml/2006/main">
              <a:ext uri="{FF2B5EF4-FFF2-40B4-BE49-F238E27FC236}">
                <a16:creationId xmlns:a16="http://schemas.microsoft.com/office/drawing/2014/main" id="{731FEDA5-566B-49EE-8882-15BA8C27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05790766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5">
            <a:extLst xmlns:a="http://schemas.openxmlformats.org/drawingml/2006/main">
              <a:ext uri="{FF2B5EF4-FFF2-40B4-BE49-F238E27FC236}">
                <a16:creationId xmlns:a16="http://schemas.microsoft.com/office/drawing/2014/main" id="{65EB682D-CBB1-4916-B5D9-25685F36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分鏡腳本｜第四章</a:t>
            </a:r>
            <a:endParaRPr sz="1049" b="1">
              <a:solidFill>
                <a:srgbClr val="416E8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5">
            <a:extLst xmlns:a="http://schemas.openxmlformats.org/drawingml/2006/main">
              <a:ext uri="{FF2B5EF4-FFF2-40B4-BE49-F238E27FC236}">
                <a16:creationId xmlns:a16="http://schemas.microsoft.com/office/drawing/2014/main" id="{26EBE2F0-5E04-414D-87BC-B9CC11E8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0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每一項決定，都經得起公開討論</a:t>
            </a:r>
            <a:endParaRPr sz="2099" b="1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15">
            <a:extLst xmlns:a="http://schemas.openxmlformats.org/drawingml/2006/main">
              <a:ext uri="{FF2B5EF4-FFF2-40B4-BE49-F238E27FC236}">
                <a16:creationId xmlns:a16="http://schemas.microsoft.com/office/drawing/2014/main" id="{51B69AD3-D8C5-4548-A3C1-D04C65BB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5">
            <a:extLst xmlns:a="http://schemas.openxmlformats.org/drawingml/2006/main">
              <a:ext uri="{FF2B5EF4-FFF2-40B4-BE49-F238E27FC236}">
                <a16:creationId xmlns:a16="http://schemas.microsoft.com/office/drawing/2014/main" id="{A6DD1198-CAB4-46E2-994A-A28E07A7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議會職權｜把制度拍成看得懂的流程</a:t>
            </a:r>
          </a:p>
        </p:txBody>
      </p:sp>
      <p:sp>
        <p:nvSpPr>
          <p:cNvPr id="5" name="scene-duration-15">
            <a:extLst xmlns:a="http://schemas.openxmlformats.org/drawingml/2006/main">
              <a:ext uri="{FF2B5EF4-FFF2-40B4-BE49-F238E27FC236}">
                <a16:creationId xmlns:a16="http://schemas.microsoft.com/office/drawing/2014/main" id="{F71EFABB-A35D-4634-B8D3-B6A3BA45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06:55–08:15｜80 秒｜累計 08:15</a:t>
            </a:r>
          </a:p>
        </p:txBody>
      </p:sp>
      <p:sp>
        <p:nvSpPr>
          <p:cNvPr id="6" name="col-head-15-0">
            <a:extLst xmlns:a="http://schemas.openxmlformats.org/drawingml/2006/main">
              <a:ext uri="{FF2B5EF4-FFF2-40B4-BE49-F238E27FC236}">
                <a16:creationId xmlns:a16="http://schemas.microsoft.com/office/drawing/2014/main" id="{9A13A44B-148E-4DD2-B511-573B5FEE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5-0">
            <a:extLst xmlns:a="http://schemas.openxmlformats.org/drawingml/2006/main">
              <a:ext uri="{FF2B5EF4-FFF2-40B4-BE49-F238E27FC236}">
                <a16:creationId xmlns:a16="http://schemas.microsoft.com/office/drawing/2014/main" id="{2390199E-AAEC-40FF-873A-D2D8B658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5-0">
            <a:extLst xmlns:a="http://schemas.openxmlformats.org/drawingml/2006/main">
              <a:ext uri="{FF2B5EF4-FFF2-40B4-BE49-F238E27FC236}">
                <a16:creationId xmlns:a16="http://schemas.microsoft.com/office/drawing/2014/main" id="{782D1824-2FC9-4F5F-BE5C-87E869DF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5-1">
            <a:extLst xmlns:a="http://schemas.openxmlformats.org/drawingml/2006/main">
              <a:ext uri="{FF2B5EF4-FFF2-40B4-BE49-F238E27FC236}">
                <a16:creationId xmlns:a16="http://schemas.microsoft.com/office/drawing/2014/main" id="{C44F42E8-B91F-443B-956D-D305574E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5-1">
            <a:extLst xmlns:a="http://schemas.openxmlformats.org/drawingml/2006/main">
              <a:ext uri="{FF2B5EF4-FFF2-40B4-BE49-F238E27FC236}">
                <a16:creationId xmlns:a16="http://schemas.microsoft.com/office/drawing/2014/main" id="{BD7C2563-386E-4BE3-9CF6-5A18B4A7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5-1">
            <a:extLst xmlns:a="http://schemas.openxmlformats.org/drawingml/2006/main">
              <a:ext uri="{FF2B5EF4-FFF2-40B4-BE49-F238E27FC236}">
                <a16:creationId xmlns:a16="http://schemas.microsoft.com/office/drawing/2014/main" id="{79913849-3524-403D-8A97-0C8A3CD5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5-2">
            <a:extLst xmlns:a="http://schemas.openxmlformats.org/drawingml/2006/main">
              <a:ext uri="{FF2B5EF4-FFF2-40B4-BE49-F238E27FC236}">
                <a16:creationId xmlns:a16="http://schemas.microsoft.com/office/drawing/2014/main" id="{035586F8-0BC2-42BE-8881-B240FF22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5-2">
            <a:extLst xmlns:a="http://schemas.openxmlformats.org/drawingml/2006/main">
              <a:ext uri="{FF2B5EF4-FFF2-40B4-BE49-F238E27FC236}">
                <a16:creationId xmlns:a16="http://schemas.microsoft.com/office/drawing/2014/main" id="{871C56CB-1B50-4A2A-8233-2961CAAB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5-2">
            <a:extLst xmlns:a="http://schemas.openxmlformats.org/drawingml/2006/main">
              <a:ext uri="{FF2B5EF4-FFF2-40B4-BE49-F238E27FC236}">
                <a16:creationId xmlns:a16="http://schemas.microsoft.com/office/drawing/2014/main" id="{F29B1CA4-DEB9-4777-8937-CA9A840D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5">
            <a:extLst xmlns:a="http://schemas.openxmlformats.org/drawingml/2006/main">
              <a:ext uri="{FF2B5EF4-FFF2-40B4-BE49-F238E27FC236}">
                <a16:creationId xmlns:a16="http://schemas.microsoft.com/office/drawing/2014/main" id="{172FD095-22F4-4030-A9F6-334017D1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16｜大會全景＋議程字幕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17｜程序會、各審查委員會、法規審查、聯席會議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18｜市政總質詢、業務質詢、書面資料特寫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19｜預算書、決算審核報告、自治條例三讀畫面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20｜議事影音平台、表決與會議紀錄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民意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提案／市府提案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審查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大會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執行與監督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6" name="audio-15">
            <a:extLst xmlns:a="http://schemas.openxmlformats.org/drawingml/2006/main">
              <a:ext uri="{FF2B5EF4-FFF2-40B4-BE49-F238E27FC236}">
                <a16:creationId xmlns:a16="http://schemas.microsoft.com/office/drawing/2014/main" id="{A988B9A1-0F5F-4CCF-B550-8896CEDA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旁白講職權時，每項搭配真實會議動作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避免長時間停留在組織圖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音樂降低，讓質詢原音穿插 2–3 句，每句不超過 4 秒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字幕標示「實際議事畫面」與議程名稱</a:t>
            </a:r>
          </a:p>
        </p:txBody>
      </p:sp>
      <p:sp>
        <p:nvSpPr>
          <p:cNvPr id="17" name="narration-15">
            <a:extLst xmlns:a="http://schemas.openxmlformats.org/drawingml/2006/main">
              <a:ext uri="{FF2B5EF4-FFF2-40B4-BE49-F238E27FC236}">
                <a16:creationId xmlns:a16="http://schemas.microsoft.com/office/drawing/2014/main" id="{55317372-B963-4899-B9D6-AF8C1232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75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議會，是地方自治中代表市民行使監督與議決權的機關。
從城市的法規、年度預算與決算，到市稅、公共財產、市府組織與各項提案，都必須透過議會的程序接受檢視。人民的請願，也能在這裡進入正式的制度。
議案依性質進入程序與各審查委員會，經資料審閱、詢答、討論，再送交大會議決；議員也透過市政總質詢、業務質詢、現勘與書面建議，要求行政部門說明並改善。
監督不是阻擋前進，而是讓每一筆公共資源用得更負責；討論也不是拖延，而是讓不同影響被充分看見。
每一項決定，都必須留下紀錄，也必須經得起公開討論。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275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
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議決｜審查｜質詢｜請願｜監督</a:t>
            </a:r>
          </a:p>
        </p:txBody>
      </p:sp>
      <p:sp>
        <p:nvSpPr>
          <p:cNvPr id="18" name="footer-line-15">
            <a:extLst xmlns:a="http://schemas.openxmlformats.org/drawingml/2006/main">
              <a:ext uri="{FF2B5EF4-FFF2-40B4-BE49-F238E27FC236}">
                <a16:creationId xmlns:a16="http://schemas.microsoft.com/office/drawing/2014/main" id="{D58E675F-4C3A-4456-94A3-9AD6BF77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5">
            <a:extLst xmlns:a="http://schemas.openxmlformats.org/drawingml/2006/main">
              <a:ext uri="{FF2B5EF4-FFF2-40B4-BE49-F238E27FC236}">
                <a16:creationId xmlns:a16="http://schemas.microsoft.com/office/drawing/2014/main" id="{89AA2BF8-DA3B-4366-8928-9D29746F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看見.共好｜第四章｜看見議會如何運作｜06:55–08:15</a:t>
            </a:r>
          </a:p>
        </p:txBody>
      </p:sp>
      <p:sp>
        <p:nvSpPr>
          <p:cNvPr id="20" name="footer-page-15">
            <a:extLst xmlns:a="http://schemas.openxmlformats.org/drawingml/2006/main">
              <a:ext uri="{FF2B5EF4-FFF2-40B4-BE49-F238E27FC236}">
                <a16:creationId xmlns:a16="http://schemas.microsoft.com/office/drawing/2014/main" id="{C80EA151-0155-42C2-A822-825ED52C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37524109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6">
            <a:extLst xmlns:a="http://schemas.openxmlformats.org/drawingml/2006/main">
              <a:ext uri="{FF2B5EF4-FFF2-40B4-BE49-F238E27FC236}">
                <a16:creationId xmlns:a16="http://schemas.microsoft.com/office/drawing/2014/main" id="{97301798-40B2-46FC-9673-E527098F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分鏡腳本｜第四章</a:t>
            </a:r>
            <a:endParaRPr sz="1049" b="1">
              <a:solidFill>
                <a:srgbClr val="416E8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6">
            <a:extLst xmlns:a="http://schemas.openxmlformats.org/drawingml/2006/main">
              <a:ext uri="{FF2B5EF4-FFF2-40B4-BE49-F238E27FC236}">
                <a16:creationId xmlns:a16="http://schemas.microsoft.com/office/drawing/2014/main" id="{FB43A0ED-B6F6-4CA3-B0DD-F65B549D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0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讓民主被理解，也被完整保存</a:t>
            </a:r>
          </a:p>
        </p:txBody>
      </p:sp>
      <p:sp>
        <p:nvSpPr>
          <p:cNvPr id="3" name="scene-band-16">
            <a:extLst xmlns:a="http://schemas.openxmlformats.org/drawingml/2006/main">
              <a:ext uri="{FF2B5EF4-FFF2-40B4-BE49-F238E27FC236}">
                <a16:creationId xmlns:a16="http://schemas.microsoft.com/office/drawing/2014/main" id="{7D06B2FC-90FF-4CF1-BCF5-1DE4294C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6">
            <a:extLst xmlns:a="http://schemas.openxmlformats.org/drawingml/2006/main">
              <a:ext uri="{FF2B5EF4-FFF2-40B4-BE49-F238E27FC236}">
                <a16:creationId xmlns:a16="http://schemas.microsoft.com/office/drawing/2014/main" id="{83353A3F-48BD-4725-A397-1FF834A0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行政團隊｜讓每一場會議可信、可查</a:t>
            </a:r>
          </a:p>
        </p:txBody>
      </p:sp>
      <p:sp>
        <p:nvSpPr>
          <p:cNvPr id="5" name="scene-duration-16">
            <a:extLst xmlns:a="http://schemas.openxmlformats.org/drawingml/2006/main">
              <a:ext uri="{FF2B5EF4-FFF2-40B4-BE49-F238E27FC236}">
                <a16:creationId xmlns:a16="http://schemas.microsoft.com/office/drawing/2014/main" id="{518C8E5B-3130-4CE6-A42F-657F4F18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08:15–09:10｜55 秒｜累計 09:10</a:t>
            </a:r>
          </a:p>
        </p:txBody>
      </p:sp>
      <p:sp>
        <p:nvSpPr>
          <p:cNvPr id="6" name="col-head-16-0">
            <a:extLst xmlns:a="http://schemas.openxmlformats.org/drawingml/2006/main">
              <a:ext uri="{FF2B5EF4-FFF2-40B4-BE49-F238E27FC236}">
                <a16:creationId xmlns:a16="http://schemas.microsoft.com/office/drawing/2014/main" id="{05F6B5F8-7986-4EE8-A911-F4B889C2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6-0">
            <a:extLst xmlns:a="http://schemas.openxmlformats.org/drawingml/2006/main">
              <a:ext uri="{FF2B5EF4-FFF2-40B4-BE49-F238E27FC236}">
                <a16:creationId xmlns:a16="http://schemas.microsoft.com/office/drawing/2014/main" id="{029CCD11-2220-4CA8-AD28-D8BB6C94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6-0">
            <a:extLst xmlns:a="http://schemas.openxmlformats.org/drawingml/2006/main">
              <a:ext uri="{FF2B5EF4-FFF2-40B4-BE49-F238E27FC236}">
                <a16:creationId xmlns:a16="http://schemas.microsoft.com/office/drawing/2014/main" id="{97D57F47-B42E-45FB-BE60-E6AC873E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6-1">
            <a:extLst xmlns:a="http://schemas.openxmlformats.org/drawingml/2006/main">
              <a:ext uri="{FF2B5EF4-FFF2-40B4-BE49-F238E27FC236}">
                <a16:creationId xmlns:a16="http://schemas.microsoft.com/office/drawing/2014/main" id="{EC7A94C1-AB8A-4DA4-B55A-C792FC2D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6-1">
            <a:extLst xmlns:a="http://schemas.openxmlformats.org/drawingml/2006/main">
              <a:ext uri="{FF2B5EF4-FFF2-40B4-BE49-F238E27FC236}">
                <a16:creationId xmlns:a16="http://schemas.microsoft.com/office/drawing/2014/main" id="{2C5ED556-F55E-456F-81E8-9C4AECCF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6-1">
            <a:extLst xmlns:a="http://schemas.openxmlformats.org/drawingml/2006/main">
              <a:ext uri="{FF2B5EF4-FFF2-40B4-BE49-F238E27FC236}">
                <a16:creationId xmlns:a16="http://schemas.microsoft.com/office/drawing/2014/main" id="{19497590-D156-4EAE-9120-CB942300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6-2">
            <a:extLst xmlns:a="http://schemas.openxmlformats.org/drawingml/2006/main">
              <a:ext uri="{FF2B5EF4-FFF2-40B4-BE49-F238E27FC236}">
                <a16:creationId xmlns:a16="http://schemas.microsoft.com/office/drawing/2014/main" id="{11A0AAFA-4D9F-4125-9A60-1A04B37B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6-2">
            <a:extLst xmlns:a="http://schemas.openxmlformats.org/drawingml/2006/main">
              <a:ext uri="{FF2B5EF4-FFF2-40B4-BE49-F238E27FC236}">
                <a16:creationId xmlns:a16="http://schemas.microsoft.com/office/drawing/2014/main" id="{EC5EC122-D852-4B46-9A77-C89B7E0C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6-2">
            <a:extLst xmlns:a="http://schemas.openxmlformats.org/drawingml/2006/main">
              <a:ext uri="{FF2B5EF4-FFF2-40B4-BE49-F238E27FC236}">
                <a16:creationId xmlns:a16="http://schemas.microsoft.com/office/drawing/2014/main" id="{E5E73552-F325-4F50-99D4-A2A2FF0A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6">
            <a:extLst xmlns:a="http://schemas.openxmlformats.org/drawingml/2006/main">
              <a:ext uri="{FF2B5EF4-FFF2-40B4-BE49-F238E27FC236}">
                <a16:creationId xmlns:a16="http://schemas.microsoft.com/office/drawing/2014/main" id="{5A29FA93-B2DD-4927-BDA7-397DFEB6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21｜開會前：議程、席次、麥克風、文件與系統測試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22｜會議中：議事、法制、文書、資訊與影音人員協作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23｜會議後：紀錄整理、議案上網、影音典藏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24｜會史館展示更新、簡報室新 LED 與多語播放測試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25｜國內外訪賓參訪、公共關係與導覽服務</a:t>
            </a:r>
          </a:p>
        </p:txBody>
      </p:sp>
      <p:sp>
        <p:nvSpPr>
          <p:cNvPr id="16" name="audio-16">
            <a:extLst xmlns:a="http://schemas.openxmlformats.org/drawingml/2006/main">
              <a:ext uri="{FF2B5EF4-FFF2-40B4-BE49-F238E27FC236}">
                <a16:creationId xmlns:a16="http://schemas.microsoft.com/office/drawing/2014/main" id="{9C1B68A2-AD62-4F99-A1D8-7664CE43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以開會前倒數聲建立秩序感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不同處室動作採聲音接力：翻頁、插線、測麥、鍵盤、快門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音樂重新加入溫度，節奏穩定向前</a:t>
            </a:r>
          </a:p>
        </p:txBody>
      </p:sp>
      <p:sp>
        <p:nvSpPr>
          <p:cNvPr id="17" name="narration-16">
            <a:extLst xmlns:a="http://schemas.openxmlformats.org/drawingml/2006/main">
              <a:ext uri="{FF2B5EF4-FFF2-40B4-BE49-F238E27FC236}">
                <a16:creationId xmlns:a16="http://schemas.microsoft.com/office/drawing/2014/main" id="{49AB0F68-65FC-4922-BE29-B828F0B0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一場會議能順利進行，背後有許多看不見的準備。
從議程安排、法制研析、文書與會議紀錄，到資訊系統、影音轉播、公共關係與行政支援，議會團隊讓每一場討論有秩序、有依據，也有可以查詢的紀錄。
會史館保存地方自治走過的路；更新後的簡報室，則讓議會的故事以更清楚、更友善的方式被看見。
當資料可以查找、影像可以回看、內容可以用不同語言理解，民主就不只發生在會議當下，也能被認識、被保存、被傳承。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準備每一場會議｜保存每一段民主紀錄</a:t>
            </a:r>
          </a:p>
        </p:txBody>
      </p:sp>
      <p:sp>
        <p:nvSpPr>
          <p:cNvPr id="18" name="footer-line-16">
            <a:extLst xmlns:a="http://schemas.openxmlformats.org/drawingml/2006/main">
              <a:ext uri="{FF2B5EF4-FFF2-40B4-BE49-F238E27FC236}">
                <a16:creationId xmlns:a16="http://schemas.microsoft.com/office/drawing/2014/main" id="{9CAA4206-9610-46BA-B08A-7C9B1CA7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6">
            <a:extLst xmlns:a="http://schemas.openxmlformats.org/drawingml/2006/main">
              <a:ext uri="{FF2B5EF4-FFF2-40B4-BE49-F238E27FC236}">
                <a16:creationId xmlns:a16="http://schemas.microsoft.com/office/drawing/2014/main" id="{DF3F98DD-DE97-4E2C-B4B4-E33A15F3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看見.共好｜第四章｜看見議會如何運作｜08:15–09:10</a:t>
            </a:r>
          </a:p>
        </p:txBody>
      </p:sp>
      <p:sp>
        <p:nvSpPr>
          <p:cNvPr id="20" name="footer-page-16">
            <a:extLst xmlns:a="http://schemas.openxmlformats.org/drawingml/2006/main">
              <a:ext uri="{FF2B5EF4-FFF2-40B4-BE49-F238E27FC236}">
                <a16:creationId xmlns:a16="http://schemas.microsoft.com/office/drawing/2014/main" id="{20577777-EC99-4C45-94BF-06C6016D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2415372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8">
            <a:extLst xmlns:a="http://schemas.openxmlformats.org/drawingml/2006/main">
              <a:ext uri="{FF2B5EF4-FFF2-40B4-BE49-F238E27FC236}">
                <a16:creationId xmlns:a16="http://schemas.microsoft.com/office/drawing/2014/main" id="{1A45D042-25A6-4773-9C33-7FABD365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分鏡腳本｜第五章</a:t>
            </a:r>
            <a:endParaRPr sz="1049" b="1">
              <a:solidFill>
                <a:srgbClr val="C85B4B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8">
            <a:extLst xmlns:a="http://schemas.openxmlformats.org/drawingml/2006/main">
              <a:ext uri="{FF2B5EF4-FFF2-40B4-BE49-F238E27FC236}">
                <a16:creationId xmlns:a16="http://schemas.microsoft.com/office/drawing/2014/main" id="{C0C6CFEC-A538-4059-94BE-9322975A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0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5 屆的承諾，是讓每一份託付持續被看見</a:t>
            </a:r>
          </a:p>
        </p:txBody>
      </p:sp>
      <p:sp>
        <p:nvSpPr>
          <p:cNvPr id="3" name="scene-band-18">
            <a:extLst xmlns:a="http://schemas.openxmlformats.org/drawingml/2006/main">
              <a:ext uri="{FF2B5EF4-FFF2-40B4-BE49-F238E27FC236}">
                <a16:creationId xmlns:a16="http://schemas.microsoft.com/office/drawing/2014/main" id="{9603BE48-F247-49A4-A203-96C587DA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8">
            <a:extLst xmlns:a="http://schemas.openxmlformats.org/drawingml/2006/main">
              <a:ext uri="{FF2B5EF4-FFF2-40B4-BE49-F238E27FC236}">
                <a16:creationId xmlns:a16="http://schemas.microsoft.com/office/drawing/2014/main" id="{E0F57F14-5EB3-4749-BDEF-CC40A61C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議長期許｜建議口白可直接送審錄製</a:t>
            </a:r>
          </a:p>
        </p:txBody>
      </p:sp>
      <p:sp>
        <p:nvSpPr>
          <p:cNvPr id="6" name="col-head-18-0">
            <a:extLst xmlns:a="http://schemas.openxmlformats.org/drawingml/2006/main">
              <a:ext uri="{FF2B5EF4-FFF2-40B4-BE49-F238E27FC236}">
                <a16:creationId xmlns:a16="http://schemas.microsoft.com/office/drawing/2014/main" id="{990A3B5E-99D6-41FB-8605-783D899F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8-0">
            <a:extLst xmlns:a="http://schemas.openxmlformats.org/drawingml/2006/main">
              <a:ext uri="{FF2B5EF4-FFF2-40B4-BE49-F238E27FC236}">
                <a16:creationId xmlns:a16="http://schemas.microsoft.com/office/drawing/2014/main" id="{49530B3A-056D-4837-AC46-EFC764FE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8-0">
            <a:extLst xmlns:a="http://schemas.openxmlformats.org/drawingml/2006/main">
              <a:ext uri="{FF2B5EF4-FFF2-40B4-BE49-F238E27FC236}">
                <a16:creationId xmlns:a16="http://schemas.microsoft.com/office/drawing/2014/main" id="{6024EEF8-94C0-410F-A352-416E3A21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8-1">
            <a:extLst xmlns:a="http://schemas.openxmlformats.org/drawingml/2006/main">
              <a:ext uri="{FF2B5EF4-FFF2-40B4-BE49-F238E27FC236}">
                <a16:creationId xmlns:a16="http://schemas.microsoft.com/office/drawing/2014/main" id="{77BFCBB0-0FDC-4C5E-88F9-6A77A05A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8-1">
            <a:extLst xmlns:a="http://schemas.openxmlformats.org/drawingml/2006/main">
              <a:ext uri="{FF2B5EF4-FFF2-40B4-BE49-F238E27FC236}">
                <a16:creationId xmlns:a16="http://schemas.microsoft.com/office/drawing/2014/main" id="{E0F9A63A-5716-4680-9C31-6E9CE242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8-1">
            <a:extLst xmlns:a="http://schemas.openxmlformats.org/drawingml/2006/main">
              <a:ext uri="{FF2B5EF4-FFF2-40B4-BE49-F238E27FC236}">
                <a16:creationId xmlns:a16="http://schemas.microsoft.com/office/drawing/2014/main" id="{E163E4EA-5F91-4B6E-AAF1-7D903EB5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8-2">
            <a:extLst xmlns:a="http://schemas.openxmlformats.org/drawingml/2006/main">
              <a:ext uri="{FF2B5EF4-FFF2-40B4-BE49-F238E27FC236}">
                <a16:creationId xmlns:a16="http://schemas.microsoft.com/office/drawing/2014/main" id="{EBF8D3CB-5A89-400F-98D7-A72E8727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8-2">
            <a:extLst xmlns:a="http://schemas.openxmlformats.org/drawingml/2006/main">
              <a:ext uri="{FF2B5EF4-FFF2-40B4-BE49-F238E27FC236}">
                <a16:creationId xmlns:a16="http://schemas.microsoft.com/office/drawing/2014/main" id="{F6254B14-6EEE-4F9A-A133-0268FF7B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8-2">
            <a:extLst xmlns:a="http://schemas.openxmlformats.org/drawingml/2006/main">
              <a:ext uri="{FF2B5EF4-FFF2-40B4-BE49-F238E27FC236}">
                <a16:creationId xmlns:a16="http://schemas.microsoft.com/office/drawing/2014/main" id="{1FCF9AD8-A9FD-4343-ADE2-B1045C81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8">
            <a:extLst xmlns:a="http://schemas.openxmlformats.org/drawingml/2006/main">
              <a:ext uri="{FF2B5EF4-FFF2-40B4-BE49-F238E27FC236}">
                <a16:creationId xmlns:a16="http://schemas.microsoft.com/office/drawing/2014/main" id="{06ABE9E8-EF67-4923-B1B8-161A2038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｜議長於議事廳或自然採光空間受訪；鏡位平視、背景保留議會辨識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2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｜致詞間穿插：就職合照、議員傾聽、市民互動、現勘與質詢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3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｜第 5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屆全體成員在議場／階梯完成正式群像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4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｜鏡頭由群像拉遠，轉入城市夜景與清晨呼應</a:t>
            </a:r>
          </a:p>
        </p:txBody>
      </p:sp>
      <p:sp>
        <p:nvSpPr>
          <p:cNvPr id="16" name="audio-18">
            <a:extLst xmlns:a="http://schemas.openxmlformats.org/drawingml/2006/main">
              <a:ext uri="{FF2B5EF4-FFF2-40B4-BE49-F238E27FC236}">
                <a16:creationId xmlns:a16="http://schemas.microsoft.com/office/drawing/2014/main" id="{CE001C49-C2D4-4B0B-A46E-B52B8E26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議長原音建議 28–32 秒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不使用提詞感過重的正面背稿；採兩段訪談剪接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背景音樂降至 25%，保留自然呼吸與停頓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末句後停 1 秒再進旁白</a:t>
            </a:r>
          </a:p>
        </p:txBody>
      </p:sp>
      <p:sp>
        <p:nvSpPr>
          <p:cNvPr id="17" name="narration-18">
            <a:extLst xmlns:a="http://schemas.openxmlformats.org/drawingml/2006/main">
              <a:ext uri="{FF2B5EF4-FFF2-40B4-BE49-F238E27FC236}">
                <a16:creationId xmlns:a16="http://schemas.microsoft.com/office/drawing/2014/main" id="{588EFCC8-D945-49B6-96D1-7A800D7A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75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【議長建議原音】
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第五屆新北市議會，承接的是六十八席民意，更是市民對這座城市的期待。
我們會尊重不同聲音，善盡審議與監督責任，讓公共資源回應真正的需要；也會持續走進地方、傾聽市民，讓每一項承諾都有進度、每一個問題都有回應。
新北的未來，需要市民、議會與市府一起努力。看見彼此，我們就能一起把城市變得更好。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275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每一屆議會，都站在前人走過的路上，也面向尚未完成的未來。第 5 屆的承諾，是讓每一份託付持續被看見，讓每一次討論，都更接近公共利益。</a:t>
            </a:r>
          </a:p>
        </p:txBody>
      </p:sp>
      <p:sp>
        <p:nvSpPr>
          <p:cNvPr id="18" name="footer-line-18">
            <a:extLst xmlns:a="http://schemas.openxmlformats.org/drawingml/2006/main">
              <a:ext uri="{FF2B5EF4-FFF2-40B4-BE49-F238E27FC236}">
                <a16:creationId xmlns:a16="http://schemas.microsoft.com/office/drawing/2014/main" id="{2EB84A32-E927-4A9A-8272-DAC91CAE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8">
            <a:extLst xmlns:a="http://schemas.openxmlformats.org/drawingml/2006/main">
              <a:ext uri="{FF2B5EF4-FFF2-40B4-BE49-F238E27FC236}">
                <a16:creationId xmlns:a16="http://schemas.microsoft.com/office/drawing/2014/main" id="{9B904E02-534D-4033-ACF9-5D672194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看見.共好｜第五章｜走向共好｜10:15–11:25</a:t>
            </a:r>
          </a:p>
        </p:txBody>
      </p:sp>
      <p:sp>
        <p:nvSpPr>
          <p:cNvPr id="20" name="footer-page-18">
            <a:extLst xmlns:a="http://schemas.openxmlformats.org/drawingml/2006/main">
              <a:ext uri="{FF2B5EF4-FFF2-40B4-BE49-F238E27FC236}">
                <a16:creationId xmlns:a16="http://schemas.microsoft.com/office/drawing/2014/main" id="{519B1DFD-536B-4828-935B-542A92CB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18</a:t>
            </a:r>
          </a:p>
        </p:txBody>
      </p:sp>
      <p:sp>
        <p:nvSpPr>
          <p:cNvPr id="22" name="scene-duration-17">
            <a:extLst xmlns:a="http://schemas.openxmlformats.org/drawingml/2006/main">
              <a:ext uri="{FF2B5EF4-FFF2-40B4-BE49-F238E27FC236}">
                <a16:creationId xmlns:a16="http://schemas.microsoft.com/office/drawing/2014/main" id="{530DA148-63B3-2D49-82E0-D4DE9C08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09:10–10:15｜65 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秒｜累計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10:15</a:t>
            </a:r>
          </a:p>
        </p:txBody>
      </p:sp>
    </p:spTree>
    <p:extLst>
      <p:ext uri="{BB962C8B-B14F-4D97-AF65-F5344CB8AC3E}">
        <p14:creationId xmlns:p14="http://schemas.microsoft.com/office/powerpoint/2010/main" val="387315475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9">
            <a:extLst xmlns:a="http://schemas.openxmlformats.org/drawingml/2006/main">
              <a:ext uri="{FF2B5EF4-FFF2-40B4-BE49-F238E27FC236}">
                <a16:creationId xmlns:a16="http://schemas.microsoft.com/office/drawing/2014/main" id="{6152CAC5-663C-4251-B237-24A16D9D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分鏡腳本｜片尾｜回到片名</a:t>
            </a:r>
          </a:p>
        </p:txBody>
      </p:sp>
      <p:sp>
        <p:nvSpPr>
          <p:cNvPr id="2" name="scene-title-19">
            <a:extLst xmlns:a="http://schemas.openxmlformats.org/drawingml/2006/main">
              <a:ext uri="{FF2B5EF4-FFF2-40B4-BE49-F238E27FC236}">
                <a16:creationId xmlns:a16="http://schemas.microsoft.com/office/drawing/2014/main" id="{2081CBF3-9BCC-412B-98FA-D22A0426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0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看見未來，共好新北</a:t>
            </a:r>
          </a:p>
        </p:txBody>
      </p:sp>
      <p:sp>
        <p:nvSpPr>
          <p:cNvPr id="3" name="scene-band-19">
            <a:extLst xmlns:a="http://schemas.openxmlformats.org/drawingml/2006/main">
              <a:ext uri="{FF2B5EF4-FFF2-40B4-BE49-F238E27FC236}">
                <a16:creationId xmlns:a16="http://schemas.microsoft.com/office/drawing/2014/main" id="{897DD5F0-0D8E-4F2D-88C9-6374E0B7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9">
            <a:extLst xmlns:a="http://schemas.openxmlformats.org/drawingml/2006/main">
              <a:ext uri="{FF2B5EF4-FFF2-40B4-BE49-F238E27FC236}">
                <a16:creationId xmlns:a16="http://schemas.microsoft.com/office/drawing/2014/main" id="{36CEAD27-2B63-4DB4-8108-DE338BDB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結尾｜回收清晨，讓片名成為記憶</a:t>
            </a:r>
          </a:p>
        </p:txBody>
      </p:sp>
      <p:sp>
        <p:nvSpPr>
          <p:cNvPr id="5" name="scene-duration-19">
            <a:extLst xmlns:a="http://schemas.openxmlformats.org/drawingml/2006/main">
              <a:ext uri="{FF2B5EF4-FFF2-40B4-BE49-F238E27FC236}">
                <a16:creationId xmlns:a16="http://schemas.microsoft.com/office/drawing/2014/main" id="{ACB4DD8A-FB7E-4996-ACDB-9D712D07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: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5–11: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0｜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55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秒｜累計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11: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</a:t>
            </a:r>
          </a:p>
        </p:txBody>
      </p:sp>
      <p:sp>
        <p:nvSpPr>
          <p:cNvPr id="6" name="col-head-19-0">
            <a:extLst xmlns:a="http://schemas.openxmlformats.org/drawingml/2006/main">
              <a:ext uri="{FF2B5EF4-FFF2-40B4-BE49-F238E27FC236}">
                <a16:creationId xmlns:a16="http://schemas.microsoft.com/office/drawing/2014/main" id="{2BC61680-9777-45E2-995C-3E9E3595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9-0">
            <a:extLst xmlns:a="http://schemas.openxmlformats.org/drawingml/2006/main">
              <a:ext uri="{FF2B5EF4-FFF2-40B4-BE49-F238E27FC236}">
                <a16:creationId xmlns:a16="http://schemas.microsoft.com/office/drawing/2014/main" id="{4C6A4348-73F8-4BC7-BC11-08867F35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9-0">
            <a:extLst xmlns:a="http://schemas.openxmlformats.org/drawingml/2006/main">
              <a:ext uri="{FF2B5EF4-FFF2-40B4-BE49-F238E27FC236}">
                <a16:creationId xmlns:a16="http://schemas.microsoft.com/office/drawing/2014/main" id="{7B54169C-24B9-43F9-9A56-7319BCCA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9-1">
            <a:extLst xmlns:a="http://schemas.openxmlformats.org/drawingml/2006/main">
              <a:ext uri="{FF2B5EF4-FFF2-40B4-BE49-F238E27FC236}">
                <a16:creationId xmlns:a16="http://schemas.microsoft.com/office/drawing/2014/main" id="{ADA02019-3F8F-496D-92B1-DB4A2581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9-1">
            <a:extLst xmlns:a="http://schemas.openxmlformats.org/drawingml/2006/main">
              <a:ext uri="{FF2B5EF4-FFF2-40B4-BE49-F238E27FC236}">
                <a16:creationId xmlns:a16="http://schemas.microsoft.com/office/drawing/2014/main" id="{14B18A34-176B-4614-A9F7-5DD79852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9-1">
            <a:extLst xmlns:a="http://schemas.openxmlformats.org/drawingml/2006/main">
              <a:ext uri="{FF2B5EF4-FFF2-40B4-BE49-F238E27FC236}">
                <a16:creationId xmlns:a16="http://schemas.microsoft.com/office/drawing/2014/main" id="{31351A83-9B4C-44E8-9D7D-B4FC1DC4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9-2">
            <a:extLst xmlns:a="http://schemas.openxmlformats.org/drawingml/2006/main">
              <a:ext uri="{FF2B5EF4-FFF2-40B4-BE49-F238E27FC236}">
                <a16:creationId xmlns:a16="http://schemas.microsoft.com/office/drawing/2014/main" id="{F96992CC-C2EB-4967-A108-784C6971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9-2">
            <a:extLst xmlns:a="http://schemas.openxmlformats.org/drawingml/2006/main">
              <a:ext uri="{FF2B5EF4-FFF2-40B4-BE49-F238E27FC236}">
                <a16:creationId xmlns:a16="http://schemas.microsoft.com/office/drawing/2014/main" id="{E4D72F67-B323-4E4E-95C2-80557629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9-2">
            <a:extLst xmlns:a="http://schemas.openxmlformats.org/drawingml/2006/main">
              <a:ext uri="{FF2B5EF4-FFF2-40B4-BE49-F238E27FC236}">
                <a16:creationId xmlns:a16="http://schemas.microsoft.com/office/drawing/2014/main" id="{E1B554B6-F2D2-421C-BA49-0DF618E1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9">
            <a:extLst xmlns:a="http://schemas.openxmlformats.org/drawingml/2006/main">
              <a:ext uri="{FF2B5EF4-FFF2-40B4-BE49-F238E27FC236}">
                <a16:creationId xmlns:a16="http://schemas.microsoft.com/office/drawing/2014/main" id="{649B480E-8A3E-4C74-8E75-7BCFBF69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5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｜清晨同一組人物，此刻進入一天：孩子走進校門、店家迎客、列車抵站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6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｜議場燈光亮起，全體席位空鏡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7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｜句點化為節點，多個節點匯成新北輪廓／議會識別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END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CARD｜新北市議會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LOGO＋正式片名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6" name="audio-19">
            <a:extLst xmlns:a="http://schemas.openxmlformats.org/drawingml/2006/main">
              <a:ext uri="{FF2B5EF4-FFF2-40B4-BE49-F238E27FC236}">
                <a16:creationId xmlns:a16="http://schemas.microsoft.com/office/drawing/2014/main" id="{B17AE9B9-0ACB-4CF2-9056-47B0EBE2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音樂回到片頭鋼琴主題，再加入完整弦樂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最後一句旁白後留 2 秒畫面呼吸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LOGO 動畫結束保留 3 秒，便於簡報室播放銜接</a:t>
            </a:r>
          </a:p>
        </p:txBody>
      </p:sp>
      <p:sp>
        <p:nvSpPr>
          <p:cNvPr id="17" name="narration-19">
            <a:extLst xmlns:a="http://schemas.openxmlformats.org/drawingml/2006/main">
              <a:ext uri="{FF2B5EF4-FFF2-40B4-BE49-F238E27FC236}">
                <a16:creationId xmlns:a16="http://schemas.microsoft.com/office/drawing/2014/main" id="{55A9ACBB-62AC-4D95-B767-11B2E289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看見，是願意靠近每一種生活；共好，是把不同的聲音，帶向共同的未來。
當民意被聽見、行動被檢驗、承諾被追蹤，城市就能一步一步，走得更穩、更遠。
看見每一個聲音，共好每一個日常。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【片名字卡】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看見.共好 － 第5屆新北市議會</a:t>
            </a:r>
          </a:p>
        </p:txBody>
      </p:sp>
      <p:sp>
        <p:nvSpPr>
          <p:cNvPr id="18" name="footer-line-19">
            <a:extLst xmlns:a="http://schemas.openxmlformats.org/drawingml/2006/main">
              <a:ext uri="{FF2B5EF4-FFF2-40B4-BE49-F238E27FC236}">
                <a16:creationId xmlns:a16="http://schemas.microsoft.com/office/drawing/2014/main" id="{9508DB98-F8F4-4E2B-9574-068A28C1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9">
            <a:extLst xmlns:a="http://schemas.openxmlformats.org/drawingml/2006/main">
              <a:ext uri="{FF2B5EF4-FFF2-40B4-BE49-F238E27FC236}">
                <a16:creationId xmlns:a16="http://schemas.microsoft.com/office/drawing/2014/main" id="{6A31A6FD-C315-4182-A34B-4AE3A87F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看見.共好｜片尾｜回到片名｜11:25–11:50</a:t>
            </a:r>
          </a:p>
        </p:txBody>
      </p:sp>
      <p:sp>
        <p:nvSpPr>
          <p:cNvPr id="20" name="footer-page-19">
            <a:extLst xmlns:a="http://schemas.openxmlformats.org/drawingml/2006/main">
              <a:ext uri="{FF2B5EF4-FFF2-40B4-BE49-F238E27FC236}">
                <a16:creationId xmlns:a16="http://schemas.microsoft.com/office/drawing/2014/main" id="{AA4DF830-BD6A-40E8-BA05-88B6B9FB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4238451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584AB2E-099B-46ED-A1D4-4E345AF8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20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CONCEPT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A776CB-2D3C-4032-AAE4-E2DD5CBF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274320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看見.共好 － 第5屆新北市議會|影片腳本</a:t>
            </a:r>
            <a:endParaRPr sz="8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CE79361-EEDC-4D3C-84FA-16AEDF73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0352"/>
            <a:ext cx="646480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腳本核心概念:五章結構,一句「看見」貫穿全片</a:t>
            </a:r>
            <a:endParaRPr sz="1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B10615C-AE70-4975-A289-E8F388CD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2686" y="5436108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2</a:t>
            </a:r>
            <a:endParaRPr sz="9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7398B04-1A4C-4504-8F0D-81B09F4E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33856"/>
            <a:ext cx="6464808" cy="1115568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4F6FA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1DF35B3-6D4A-47CA-A82F-2943011F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80160"/>
            <a:ext cx="6007608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8000"/>
              </a:lnSpc>
              <a:buNone/>
            </a:pPr>
            <a:r>
              <a:rPr sz="12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片名即敘事方法|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第4屆《傾聽.卓越》聽見聲音;第5屆《看見.共好》再進一步——</a:t>
            </a:r>
            <a:r>
              <a:rPr sz="12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「看見」是方法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:先看見生活,再看見機關(片頭 60 秒不出現議會外觀,直到最後一顆鏡頭);</a:t>
            </a:r>
            <a:r>
              <a:rPr sz="12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「共好」是結局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:當民意被聽見、行動被檢驗、承諾被追蹤,城市才能一起變好。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D594A83-E433-4B25-9018-005EF32E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50592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五章結構與章名系統(對照第 3 頁起之分鏡腳本)</a:t>
            </a:r>
            <a:endParaRPr sz="13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D373AED-A198-49B0-8E23-010E1D70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34640"/>
            <a:ext cx="6464808" cy="530352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4F6FA"/>
          </a:solidFill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88F32CE-693A-4E8B-BA6A-BD727F20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926080"/>
            <a:ext cx="713232" cy="347472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1B2A4A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4720246-EF94-4DDA-B627-6A50680A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916936"/>
            <a:ext cx="7132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第一章</a:t>
            </a:r>
            <a:endParaRPr sz="1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0DFC48E-F04D-44B0-B0C3-A2CCB4FB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944368"/>
            <a:ext cx="1920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看見城市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60953AF-3826-443D-84E7-3388615F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97180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片頭・沿革・就職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880F1CA-A73A-47F0-8444-9754D761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6757" y="2984863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3A4A6B"/>
                </a:solidFill>
                <a:latin typeface="Microsoft JhengHei"/>
                <a:ea typeface="Microsoft JhengHei"/>
                <a:cs typeface="Microsoft JhengHei"/>
              </a:rPr>
              <a:t>00:00–02:35</a:t>
            </a:r>
            <a:endParaRPr sz="1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466B24D-4C02-4F43-A3C7-181DA5A3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037" y="2984863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2 分 35 秒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6A260B2-7E8A-42B4-9EC0-7676A49D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56432"/>
            <a:ext cx="6464808" cy="530352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DF6E0"/>
          </a:solidFill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E9C8F93-516C-4D3D-AEC7-AF8D6A64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47872"/>
            <a:ext cx="713232" cy="347472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1B2A4A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8CB840E-AD71-4131-BE2A-9922EC06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38728"/>
            <a:ext cx="7132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第二章</a:t>
            </a:r>
            <a:endParaRPr sz="10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AA4CB75-19BD-4147-A1E0-BDBBBC8C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3566160"/>
            <a:ext cx="1920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看見每一種生活</a:t>
            </a:r>
            <a:endParaRPr sz="14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7E53F83-908D-4647-AFA2-0BB64922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593592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選區群像 A/B/C</a:t>
            </a:r>
            <a:endParaRPr sz="12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369B6A7-F57F-4AE0-B464-A18CE32B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6757" y="3606655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3A4A6B"/>
                </a:solidFill>
                <a:latin typeface="Microsoft JhengHei"/>
                <a:ea typeface="Microsoft JhengHei"/>
                <a:cs typeface="Microsoft JhengHei"/>
              </a:rPr>
              <a:t>02:35–04:55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3B7966B-8D09-4404-8D36-3601D4F1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037" y="3606655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2 分 20 秒</a:t>
            </a:r>
            <a:endParaRPr sz="12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147D15D-FC7B-461A-9869-1597B3AE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78224"/>
            <a:ext cx="6464808" cy="530352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DF6E0"/>
          </a:solidFill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3199BA9F-026C-474C-A6B1-F1F4449B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69664"/>
            <a:ext cx="713232" cy="347472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1B2A4A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E5367E0-94C9-4093-AB37-628BCFAD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60520"/>
            <a:ext cx="7132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第三章</a:t>
            </a:r>
            <a:endParaRPr sz="10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28B12A6-469E-4995-B383-A9ECF6DB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187952"/>
            <a:ext cx="1920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看見民意如何成為行動</a:t>
            </a:r>
            <a:endParaRPr sz="14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E63E904-11DA-44C4-A710-DC03F7EF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215384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轉折・民意轉化</a:t>
            </a:r>
            <a:endParaRPr sz="12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34583305-35DD-4B7E-99C7-98584228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6757" y="4228447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3A4A6B"/>
                </a:solidFill>
                <a:latin typeface="Microsoft JhengHei"/>
                <a:ea typeface="Microsoft JhengHei"/>
                <a:cs typeface="Microsoft JhengHei"/>
              </a:rPr>
              <a:t>04:55–06:55</a:t>
            </a:r>
            <a:endParaRPr sz="12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26BDF5FC-4F05-4547-AC35-A1BD8D08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037" y="4228447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2 分 00 秒</a:t>
            </a:r>
            <a:endParaRPr sz="12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1CA1281F-6939-4E90-A4E3-161F85B7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00016"/>
            <a:ext cx="6464808" cy="530352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4F6FA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CB9260B7-F33B-4DFC-B398-4C3EAF8D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91456"/>
            <a:ext cx="713232" cy="347472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1B2A4A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78E1A2FF-BA0B-4A9A-A0AD-96C8E771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82312"/>
            <a:ext cx="7132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第四章</a:t>
            </a:r>
            <a:endParaRPr sz="10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73F5D45-87D0-4946-90D6-1BB389DE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809744"/>
            <a:ext cx="1920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看見議會如何運作</a:t>
            </a:r>
            <a:endParaRPr sz="14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4D7AF87-3981-4A1D-9952-29078578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837176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議會職權・行政團隊</a:t>
            </a:r>
            <a:endParaRPr sz="12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F66A9A84-5A76-47F0-8E7B-111D8CB6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6757" y="4850239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3A4A6B"/>
                </a:solidFill>
                <a:latin typeface="Microsoft JhengHei"/>
                <a:ea typeface="Microsoft JhengHei"/>
                <a:cs typeface="Microsoft JhengHei"/>
              </a:rPr>
              <a:t>06:55–09:10</a:t>
            </a:r>
            <a:endParaRPr sz="12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859DA640-7D70-40A1-9FA1-824EB390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037" y="4850239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2 分 15 秒</a:t>
            </a:r>
            <a:endParaRPr sz="120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0634861B-80AE-47E7-ACCA-7632780F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21808"/>
            <a:ext cx="6464808" cy="530352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4F6FA"/>
          </a:solidFill>
        </p:spPr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9AD56E93-F150-415F-ACBB-1CBD8BFB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413248"/>
            <a:ext cx="713232" cy="347472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1B2A4A"/>
          </a:solidFill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8BE60E65-A848-4BF3-9B7F-BDD739AE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404104"/>
            <a:ext cx="7132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第五章</a:t>
            </a:r>
            <a:endParaRPr sz="10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98F93762-290F-4452-9298-5A582008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5431536"/>
            <a:ext cx="1920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走向共好</a:t>
            </a:r>
            <a:endParaRPr sz="140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9CC2B2A4-EC55-4354-A042-10038C6B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5458968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議長期許・片尾回到片名</a:t>
            </a:r>
            <a:endParaRPr sz="120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5A1208C3-6843-430E-9715-7A8F41D3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6757" y="5472031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3A4A6B"/>
                </a:solidFill>
                <a:latin typeface="Microsoft JhengHei"/>
                <a:ea typeface="Microsoft JhengHei"/>
                <a:cs typeface="Microsoft JhengHei"/>
              </a:rPr>
              <a:t>09:10–11:10</a:t>
            </a:r>
            <a:endParaRPr sz="120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ED9F30B2-E0FB-4112-B896-9CCAB1B6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037" y="5472031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2 分 00 秒</a:t>
            </a:r>
            <a:endParaRPr sz="120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2B1C9813-2BF7-4E0E-B392-D3DCD351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108192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與 2022 版《傾聽.卓越》的三個「不一樣」</a:t>
            </a:r>
            <a:endParaRPr sz="1350"/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D2D6F3E5-8491-43F2-8650-3C61BC22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92240"/>
            <a:ext cx="6464808" cy="932688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4F6FA"/>
          </a:solidFill>
        </p:spPr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C28D09BD-2B1D-4FA4-AFA0-71988F13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638544"/>
            <a:ext cx="105156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B2A4A"/>
          </a:solidFill>
        </p:spPr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55608D17-6FB9-4DC5-8552-89B15CC9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629400"/>
            <a:ext cx="1051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視角翻轉</a:t>
            </a:r>
            <a:endParaRPr sz="1100"/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3EA66AB0-5942-46B5-AB08-3E5D6797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6638544"/>
            <a:ext cx="4864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第4屆:議會介紹自己(機構視角)</a:t>
            </a:r>
            <a:endParaRPr sz="1100"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4E9E053C-C1BC-451A-94AE-A8754C93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6931152"/>
            <a:ext cx="48646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第5屆:先看見生活,再看見機關——片頭以四百萬雙眼睛開場,議會外觀留到第 1 分鐘最後一顆鏡頭才出現</a:t>
            </a:r>
            <a:endParaRPr sz="1200"/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B46C5EA8-09AA-434A-901A-65CEB549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552944"/>
            <a:ext cx="6464808" cy="932688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4F6FA"/>
          </a:solidFill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25DDAAC6-4EAC-42D5-B472-378A2A96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7699248"/>
            <a:ext cx="105156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B2A4A"/>
          </a:solidFill>
        </p:spPr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39AA0EF1-FC7F-4A52-B85B-51F984BE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7690104"/>
            <a:ext cx="1051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選區重組</a:t>
            </a:r>
            <a:endParaRPr sz="1100"/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21E56940-9D33-4CC4-BBC6-BC59B14C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7699248"/>
            <a:ext cx="4864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第4屆:12 選區逐區介紹,共 7 分 30 秒</a:t>
            </a:r>
            <a:endParaRPr sz="1100"/>
          </a:p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7642D6E8-5720-4B8C-BFD9-A42DFC2F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7991856"/>
            <a:ext cx="48646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第5屆:13 選舉區分為三組群像,每區採「人 3 秒＋地景 3 秒＋公共服務 3 秒」公平配置,區名固定位置出現,避免觀光廣告感</a:t>
            </a:r>
            <a:endParaRPr sz="1200"/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970354CA-2E60-4CE2-A201-365D50FF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613648"/>
            <a:ext cx="6464808" cy="932688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4F6FA"/>
          </a:solidFill>
        </p:spPr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D57504E4-E4AA-489F-B629-B2171CA2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8759952"/>
            <a:ext cx="105156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B2A4A"/>
          </a:solidFill>
        </p:spPr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CDE2CC20-8B84-4ECC-AA14-41BCCE1E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8750808"/>
            <a:ext cx="1051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職權敘事</a:t>
            </a:r>
            <a:endParaRPr sz="1100"/>
          </a:p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B4796363-BA0E-435D-998C-621987E4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8759952"/>
            <a:ext cx="486460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第4屆:組織架構圖 + 職權條列</a:t>
            </a:r>
            <a:endParaRPr sz="1100"/>
          </a:p>
        </p:txBody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DC9DA95E-B317-4B0B-8D96-6AE6068B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9052560"/>
            <a:ext cx="486460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第5屆:跟著一份陳情走完十個步驟——受理→查證→現勘→提案→質詢→審查→議決→追蹤→回到現場,同機位呈現改善前後</a:t>
            </a:r>
            <a:endParaRPr sz="1200"/>
          </a:p>
        </p:txBody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F7C95F16-20E2-4BD4-9F89-10EC4A38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042" y="4887468"/>
            <a:ext cx="6464808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DF6E0"/>
          </a:solidFill>
        </p:spPr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B84A655D-8943-4DC3-89E2-698088AA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642" y="5015484"/>
            <a:ext cx="6007608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6000"/>
              </a:lnSpc>
              <a:buNone/>
            </a:pPr>
            <a:r>
              <a:rPr sz="105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貫穿全片的三個母題|</a:t>
            </a:r>
            <a:endParaRPr sz="1050"/>
          </a:p>
          <a:p xmlns:a="http://schemas.openxmlformats.org/drawingml/2006/main">
            <a:pPr marL="0" indent="0">
              <a:lnSpc>
                <a:spcPct val="126000"/>
              </a:lnSpc>
              <a:buNone/>
            </a:pPr>
            <a:r>
              <a:rPr sz="105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① 眼睛與光</a:t>
            </a:r>
            <a:r>
              <a:rPr sz="105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:片頭「睜開的眼睛」蒙太奇 → 片尾句點化為節點、匯成議會識別。   </a:t>
            </a:r>
            <a:r>
              <a:rPr sz="105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② 同機位前後對照</a:t>
            </a:r>
            <a:r>
              <a:rPr sz="105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:第三章 STEP 10 以同一機位拍改善前後,未完成者誠實呈現追蹤狀態。   </a:t>
            </a:r>
            <a:r>
              <a:rPr sz="105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③ 聲音接力</a:t>
            </a:r>
            <a:r>
              <a:rPr sz="105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:環境音 → 翻頁與議事聲 → 回到清晨,音樂自單一鋼琴音起、於片名與片尾兩次完整展開。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29889115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2026-09-03T05:05:48.2270000Z</dcterms:created>
  <dcterms:modified xsi:type="dcterms:W3CDTF">2026-09-03T05:05:48.2270000Z</dcterms:modified>
</coreProperties>
</file>