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73" r:id="rId4"/>
    <p:sldId id="274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8" r:id="rId15"/>
    <p:sldId id="289" r:id="rId16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4"/>
    <p:restoredTop sz="94610"/>
  </p:normalViewPr>
  <p:slideViewPr>
    <p:cSldViewPr snapToGrid="0" snapToObjects="1">
      <p:cViewPr>
        <p:scale>
          <a:sx n="109" d="100"/>
          <a:sy n="109" d="100"/>
        </p:scale>
        <p:origin x="2400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8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3647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5168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6816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7461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651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https://web.cec.gov.tw/api/file/49859749-3bbe-444c-b516-a4fc724d7e94.pdf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3751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676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221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7252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https://bms1.ntp.gov.tw/billsystem/mam/ScheduleAnnex/0407T/f0b20b98-9369-4730-9423-bc95900d22c4.pdf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99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1073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- https://gazette.nat.gov.tw/egFront/eguploadpubWrapper?file=%2FEG_FileManager%2Feguploadpub%2Feg032154%2Fch02%2Ftype3%2Fgov15%2Fnum2%2FEg.htm&amp;metaid=167808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4596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/Users/zhangzixuan/Desktop/4.需求書.pdf</a:t>
            </a:r>
          </a:p>
          <a:p>
            <a:r>
              <a:t>- /Users/zhangzixuan/Desktop/(OK-列印版)2022新北市議會-企劃書0629(成)B.pdf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427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472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腳本核心概念:從「傾聽」到「看見」,終點是「共好」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415284" y="102778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15568"/>
            <a:ext cx="6464808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6007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命名的傳承|</a:t>
            </a: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第4屆《傾聽.卓越》聽見了四百萬市民的聲音;第5屆《看見.共好》更進一步——傾聽是聽見聲音,看見是看見彼此。當議會看見市民、市民看見議會、新北看見世界,城市才能一起變好:這就是「共好」。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2022 版的三個「不一樣」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464808" cy="1243584"/>
          </a:xfrm>
          <a:prstGeom prst="roundRect">
            <a:avLst>
              <a:gd name="adj" fmla="val 7353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324612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視角翻轉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264408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第4屆:議會介紹自己(機構視角)</a:t>
            </a:r>
            <a:endParaRPr lang="en-US" sz="1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148840" y="3630168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第5屆:從市民的眼睛出發——每段都由「一位市民看見的日常」進入,議會是市民目光的回應者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71416"/>
            <a:ext cx="6464808" cy="1481328"/>
          </a:xfrm>
          <a:prstGeom prst="roundRect">
            <a:avLst>
              <a:gd name="adj" fmla="val 6173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654296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645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結構重組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672584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第4屆:12選區逐區介紹(7分30秒)</a:t>
            </a:r>
            <a:endParaRPr lang="en-US" sz="1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2148840" y="5038344"/>
            <a:ext cx="4636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第5屆:以四個「生活現場」重組12選區——山與海/移動與安居/文化與學習/多元共榮,66位議員資訊以動態字卡完整涵蓋,敘事更快、更有感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117336"/>
            <a:ext cx="6464808" cy="1243584"/>
          </a:xfrm>
          <a:prstGeom prst="roundRect">
            <a:avLst>
              <a:gd name="adj" fmla="val 7353"/>
            </a:avLst>
          </a:prstGeom>
          <a:solidFill>
            <a:srgbClr val="F4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6300216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6291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職權敘事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6318504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第4屆:組織架構圖+職權條列</a:t>
            </a:r>
            <a:endParaRPr lang="en-US" sz="16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2148840" y="6684264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第5屆:「跟著一份提案走進議會」——用一段旅程看懂委員會、質詢與預算把關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7616952"/>
            <a:ext cx="6464808" cy="1280160"/>
          </a:xfrm>
          <a:prstGeom prst="roundRect">
            <a:avLst>
              <a:gd name="adj" fmla="val 5714"/>
            </a:avLst>
          </a:prstGeom>
          <a:solidFill>
            <a:srgbClr val="FDF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7781544"/>
            <a:ext cx="6007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全片視覺母題|</a:t>
            </a:r>
            <a:r>
              <a:rPr lang="en-US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「眼睛與光」——片頭由四百萬雙眼睛開場,每段轉場字卡皆以「看見○○」句式串接,片尾所有目光化為光點,匯聚成「共好」二字。母題同步延伸至會史館主視覺與手冊封面,全案一體。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172968" y="274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看見.共好 － 第5屆新北市議會|影片腳本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影片腳本大綱(總長度:11 分 50 秒)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415284" y="102778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80332"/>
              </p:ext>
            </p:extLst>
          </p:nvPr>
        </p:nvGraphicFramePr>
        <p:xfrm>
          <a:off x="548640" y="1115567"/>
          <a:ext cx="6464808" cy="7221925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5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3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段落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名稱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內容綱要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加總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片頭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睜開眼睛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四百萬雙眼睛甦醒蒙太奇,光匯聚成片名《看見.共好》3D LOGO 動畫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看見城市.山海之間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0:55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序章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看見城市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空拍山海入城,29 區、400 萬人口、120 公里海岸線——城市的每種樣貌都值得被看見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1:40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看見傳承.民主如光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1:45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段落一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看見傳承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議會沿革(臺北縣參議會起)+ 第5屆議員就職典禮宣誓、大合照(本案全程紀錄素材)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分 10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2:55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看見日常.萬家燈火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3:00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段落二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看見日常(核心)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四個生活現場重組 12 選區:山與海/移動與安居/文化與學習/多元共榮,各 70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分 40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7:40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看見殿堂.為民發聲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7:45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段落三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看見殿堂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跟著一份提案走進議會:委員會審查、議場質詢、預算把關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分 40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9:25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看見世界.攜手同行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9:30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段落四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看見世界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國際交流:姊妹市、外賓參訪,讓世界看見新北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10:20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看見未來.共好新北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70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10:25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段落五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看見未來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議長期許(致詞暫置)+ 行政團隊,黃昏議會亮起燈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11:20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片尾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共好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全片目光快閃回放,光點匯聚成「共好」,LOGO+五語片名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9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11:50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1148" marR="41148" marT="41148" marB="41148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6">
            <a:extLst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 dirty="0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6">
            <a:extLst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6">
            <a:extLst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endParaRPr sz="8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6-0">
            <a:extLst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lang="en-US" altLang="zh-TW" sz="1274" dirty="0" err="1">
                <a:solidFill>
                  <a:srgbClr val="142B34"/>
                </a:solidFill>
                <a:latin typeface="PingFang TC"/>
                <a:ea typeface="PingFang TC"/>
              </a:rPr>
              <a:t>黑幕一聲心跳→晨光穿雲縮時→淡水河面反光、山稜線</a:t>
            </a:r>
            <a:b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</a:b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  <a:t>「</a:t>
            </a:r>
            <a:r>
              <a:rPr lang="en-US" altLang="zh-TW" sz="1274" dirty="0" err="1">
                <a:solidFill>
                  <a:srgbClr val="142B34"/>
                </a:solidFill>
                <a:latin typeface="PingFang TC"/>
                <a:ea typeface="PingFang TC"/>
              </a:rPr>
              <a:t>睜開的眼睛」特寫蒙太奇:孩子、長者、上班族、議事廳裡的眼神</a:t>
            </a:r>
            <a:b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</a:br>
            <a:endParaRPr sz="1274" dirty="0">
              <a:solidFill>
                <a:srgbClr val="142B34"/>
              </a:solidFill>
              <a:latin typeface="PingFang TC"/>
              <a:ea typeface="PingFang TC"/>
            </a:endParaRPr>
          </a:p>
          <a:p>
            <a:pPr>
              <a:lnSpc>
                <a:spcPct val="122000"/>
              </a:lnSpc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</a:rPr>
              <a:t>｜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lang="en-US" altLang="zh-TW" sz="1274" dirty="0" err="1">
                <a:solidFill>
                  <a:srgbClr val="142B34"/>
                </a:solidFill>
                <a:latin typeface="PingFang TC"/>
                <a:ea typeface="PingFang TC"/>
              </a:rPr>
              <a:t>萬千目光化為光點,匯聚成片名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  <a:t> 3D LOGO</a:t>
            </a:r>
            <a:b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</a:rPr>
            </a:br>
            <a:endParaRPr sz="1274" dirty="0">
              <a:solidFill>
                <a:srgbClr val="142B34"/>
              </a:solidFill>
              <a:latin typeface="PingFang TC"/>
              <a:ea typeface="PingFang TC"/>
            </a:endParaRPr>
          </a:p>
          <a:p>
            <a:pPr>
              <a:lnSpc>
                <a:spcPct val="122000"/>
              </a:lnSpc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→29 </a:t>
            </a:r>
            <a:r>
              <a:rPr lang="en-US" altLang="zh-TW" sz="14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區地圖光點依序亮起</a:t>
            </a:r>
            <a: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</a:t>
            </a:r>
            <a:r>
              <a:rPr lang="zh-CN" altLang="en-US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再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看見議會外觀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</a:t>
            </a:r>
            <a:r>
              <a:rPr sz="1199" dirty="0" err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秒僅留環境音</a:t>
            </a:r>
            <a:br>
              <a:rPr lang="en-US" altLang="zh-TW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</a:br>
            <a:br>
              <a:rPr lang="en-US" altLang="zh-TW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</a:b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4K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空拍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眼神特寫</a:t>
            </a:r>
            <a:endParaRPr lang="en-US" altLang="zh-TW" sz="1200" dirty="0"/>
          </a:p>
          <a:p>
            <a:pPr>
              <a:lnSpc>
                <a:spcPct val="122000"/>
              </a:lnSpc>
            </a:pP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眼睛與光」為全片視覺母題</a:t>
            </a:r>
            <a:b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endParaRPr lang="en-US" altLang="zh-TW" sz="1200" dirty="0"/>
          </a:p>
          <a:p>
            <a:pPr>
              <a:lnSpc>
                <a:spcPct val="122000"/>
              </a:lnSpc>
            </a:pP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虹膜內映城市倒影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後期合成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b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b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人口約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400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萬、面積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2,052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平方公里、海岸線約</a:t>
            </a:r>
            <a: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120 公里、29 行政區、12 </a:t>
            </a:r>
            <a:r>
              <a:rPr lang="en-US" altLang="zh-TW" sz="1200" dirty="0" err="1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選區</a:t>
            </a:r>
            <a:endParaRPr lang="en-US" altLang="zh-TW" sz="1200" dirty="0"/>
          </a:p>
          <a:p>
            <a:pPr>
              <a:lnSpc>
                <a:spcPct val="122000"/>
              </a:lnSpc>
            </a:pPr>
            <a:endParaRPr lang="en-US" altLang="zh-TW" sz="1200" dirty="0">
              <a:solidFill>
                <a:srgbClr val="22293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122000"/>
              </a:lnSpc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>
            <a:endParaRPr lang="zh-TW" altLang="en-US"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</a:t>
            </a:r>
            <a:r>
              <a:rPr lang="en-US" altLang="zh-TW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2–3 </a:t>
            </a:r>
            <a:r>
              <a:rPr lang="zh-TW" altLang="en-US" sz="1199" dirty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</a:t>
            </a:r>
          </a:p>
          <a:p>
            <a:pPr>
              <a:lnSpc>
                <a:spcPct val="122000"/>
              </a:lnSpc>
            </a:pPr>
            <a:br>
              <a:rPr lang="en-US" altLang="zh-TW" sz="12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每一天,新北在四百萬雙眼睛裡醒來。有人看見山</a:t>
            </a:r>
            <a:r>
              <a:rPr lang="zh-CN" altLang="en-US" sz="1400" dirty="0">
                <a:solidFill>
                  <a:srgbClr val="142B34"/>
                </a:solidFill>
                <a:latin typeface="PingFang TC"/>
                <a:ea typeface="PingFang TC"/>
              </a:rPr>
              <a:t>海</a:t>
            </a: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,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有人看見</a:t>
            </a:r>
            <a:r>
              <a:rPr lang="zh-CN" altLang="en-US" sz="1400" dirty="0">
                <a:solidFill>
                  <a:srgbClr val="142B34"/>
                </a:solidFill>
                <a:latin typeface="PingFang TC"/>
                <a:ea typeface="PingFang TC"/>
              </a:rPr>
              <a:t>城市</a:t>
            </a: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,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有人看見孩子上學的路。而有一群人,把這四百萬</a:t>
            </a:r>
            <a:r>
              <a:rPr lang="zh-CN" altLang="en-US" sz="1400" dirty="0">
                <a:solidFill>
                  <a:srgbClr val="142B34"/>
                </a:solidFill>
                <a:latin typeface="PingFang TC"/>
                <a:ea typeface="PingFang TC"/>
              </a:rPr>
              <a:t>個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目光,看成自己的責任</a:t>
            </a: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。 </a:t>
            </a:r>
            <a:b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b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</a:t>
            </a:r>
            <a:r>
              <a:rPr lang="en-US" altLang="zh-TW" sz="1400" dirty="0" err="1">
                <a:solidFill>
                  <a:srgbClr val="142B34"/>
                </a:solidFill>
                <a:latin typeface="PingFang TC"/>
                <a:ea typeface="PingFang TC"/>
              </a:rPr>
              <a:t>而看見,是所有改變的開始</a:t>
            </a:r>
            <a:r>
              <a:rPr lang="en-US" altLang="zh-TW" sz="1400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lang="zh-TW" altLang="en-US" sz="1400" dirty="0">
                <a:solidFill>
                  <a:srgbClr val="142B34"/>
                </a:solidFill>
                <a:latin typeface="PingFang TC"/>
                <a:ea typeface="PingFang TC"/>
              </a:rPr>
              <a:t>。它由一個個被珍惜的日常，慢慢成為我們共同生活的地方。</a:t>
            </a:r>
            <a:r>
              <a:rPr lang="zh-TW" altLang="en-US" sz="1400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而議會要做的第一件事，就是看見。</a:t>
            </a:r>
          </a:p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lang="en-US" altLang="zh-TW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《</a:t>
            </a:r>
            <a:r>
              <a:rPr lang="en-US" altLang="zh-TW" sz="1400" b="1" dirty="0" err="1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看見.共好</a:t>
            </a:r>
            <a:r>
              <a:rPr lang="en-US" altLang="zh-TW" sz="1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》－ 第5屆新北市議會</a:t>
            </a:r>
            <a:b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</a:b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看見.共好｜第一章｜看見城市｜00:00–00:45</a:t>
            </a:r>
          </a:p>
        </p:txBody>
      </p:sp>
      <p:sp>
        <p:nvSpPr>
          <p:cNvPr id="20" name="footer-page-6">
            <a:extLst>
              <a:ext uri="{FF2B5EF4-FFF2-40B4-BE49-F238E27FC236}">
                <a16:creationId xmlns:a16="http://schemas.microsoft.com/office/drawing/2014/main" id="{59B061DD-7DFC-4BAE-BB7B-79F9F794B5EE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pic>
        <p:nvPicPr>
          <p:cNvPr id="24" name="Image 0" descr="/home/claude/deck/frame_f02.png">
            <a:extLst>
              <a:ext uri="{FF2B5EF4-FFF2-40B4-BE49-F238E27FC236}">
                <a16:creationId xmlns:a16="http://schemas.microsoft.com/office/drawing/2014/main" id="{3EA3AAE7-D2F5-E14A-A485-9A0350000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08" y="6528122"/>
            <a:ext cx="2037143" cy="11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8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7">
            <a:extLst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 dirty="0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7">
            <a:extLst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dirty="0" err="1">
                <a:solidFill>
                  <a:srgbClr val="147A78"/>
                </a:solidFill>
                <a:latin typeface="PingFang TC"/>
                <a:ea typeface="PingFang TC"/>
              </a:rPr>
              <a:t>看見傳承</a:t>
            </a:r>
            <a:r>
              <a:rPr lang="en-US" altLang="zh-TW" sz="2400" b="1" dirty="0">
                <a:solidFill>
                  <a:srgbClr val="147A78"/>
                </a:solidFill>
                <a:latin typeface="PingFang TC"/>
                <a:ea typeface="PingFang TC"/>
              </a:rPr>
              <a:t>(</a:t>
            </a:r>
            <a:r>
              <a:rPr lang="en-US" altLang="zh-TW" sz="2400" b="1" dirty="0" err="1">
                <a:solidFill>
                  <a:srgbClr val="147A78"/>
                </a:solidFill>
                <a:latin typeface="PingFang TC"/>
                <a:ea typeface="PingFang TC"/>
              </a:rPr>
              <a:t>議會沿革</a:t>
            </a:r>
            <a:r>
              <a:rPr lang="en-US" altLang="zh-TW" sz="2400" b="1" dirty="0">
                <a:solidFill>
                  <a:srgbClr val="147A78"/>
                </a:solidFill>
                <a:latin typeface="PingFang TC"/>
                <a:ea typeface="PingFang TC"/>
              </a:rPr>
              <a:t> + 第5屆就職)</a:t>
            </a:r>
          </a:p>
        </p:txBody>
      </p:sp>
      <p:sp>
        <p:nvSpPr>
          <p:cNvPr id="3" name="scene-band-7">
            <a:extLst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7">
            <a:extLst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–01: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｜5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endParaRPr sz="8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7-0">
            <a:extLst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年改制畫面，舊門牌過渡至「新北市議會」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 dirty="0" err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2000"/>
              </a:lnSpc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1199" dirty="0" err="1">
                <a:solidFill>
                  <a:srgbClr val="60727A"/>
                </a:solidFill>
                <a:latin typeface="PingFang TC"/>
                <a:ea typeface="PingFang TC"/>
              </a:rPr>
              <a:t>歷史照片修復與調色,以光的軌跡串接年代</a:t>
            </a:r>
            <a:endParaRPr lang="en-US" altLang="zh-TW" sz="1199" dirty="0">
              <a:solidFill>
                <a:srgbClr val="60727A"/>
              </a:solidFill>
              <a:latin typeface="PingFang TC"/>
              <a:ea typeface="PingFang TC"/>
            </a:endParaRPr>
          </a:p>
          <a:p>
            <a:pPr>
              <a:lnSpc>
                <a:spcPct val="122000"/>
              </a:lnSpc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 dirty="0" err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 dirty="0" err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  <a:endParaRPr sz="1199" dirty="0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7">
            <a:extLst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民國九十九年，臺北縣改制為新北市，議會也以新的名稱，承接不變的責任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時代改變，城市擴大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</a:rPr>
              <a:t>，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 七十多年來,這道光不曾熄滅。今天它傳到了第5屆——66 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位議員在四百萬市民的注視下宣誓:看見民意,守護共好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。</a:t>
            </a:r>
            <a:br>
              <a:rPr lang="en-US" altLang="zh-TW" sz="1400" dirty="0">
                <a:solidFill>
                  <a:srgbClr val="2229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</a:t>
            </a:r>
            <a:br>
              <a:rPr lang="en-US" altLang="zh-TW"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</a:br>
            <a:r>
              <a:rPr lang="en-US" altLang="zh-TW" sz="14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看見傳承.民主如光</a:t>
            </a:r>
            <a:r>
              <a:rPr lang="en-US" altLang="zh-TW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</a:t>
            </a:r>
            <a:r>
              <a:rPr sz="1400" b="1" dirty="0" err="1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</a:rPr>
              <a:t>從地方自治出發，讓民意一路被看見</a:t>
            </a:r>
            <a:r>
              <a:rPr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</a:rPr>
              <a:t>。</a:t>
            </a:r>
          </a:p>
        </p:txBody>
      </p:sp>
      <p:sp>
        <p:nvSpPr>
          <p:cNvPr id="18" name="footer-line-7">
            <a:extLst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看見.共好｜第一章｜看見城市｜00:45–01:35</a:t>
            </a:r>
          </a:p>
        </p:txBody>
      </p:sp>
      <p:sp>
        <p:nvSpPr>
          <p:cNvPr id="20" name="footer-page-7">
            <a:extLst>
              <a:ext uri="{FF2B5EF4-FFF2-40B4-BE49-F238E27FC236}">
                <a16:creationId xmlns:a16="http://schemas.microsoft.com/office/drawing/2014/main" id="{3B9A0326-BB0C-41E0-AEE7-1E835117A94B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8">
            <a:extLst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 dirty="0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8">
            <a:extLst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147A78"/>
                </a:solidFill>
                <a:latin typeface="PingFang TC"/>
                <a:ea typeface="PingFang TC"/>
              </a:rPr>
              <a:t>每一席，都</a:t>
            </a:r>
            <a:r>
              <a:rPr lang="zh-TW" altLang="en-US" sz="2400" b="1" dirty="0">
                <a:solidFill>
                  <a:srgbClr val="147A78"/>
                </a:solidFill>
                <a:latin typeface="PingFang TC"/>
                <a:ea typeface="PingFang TC"/>
              </a:rPr>
              <a:t>是眾多希望的託付</a:t>
            </a:r>
            <a:endParaRPr sz="2400" b="1" dirty="0">
              <a:solidFill>
                <a:srgbClr val="147A78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8">
            <a:extLst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DEDEA"/>
          </a:solidFill>
          <a:ln w="0">
            <a:noFill/>
            <a:prstDash val="solid"/>
          </a:ln>
        </p:spPr>
      </p:sp>
      <p:sp>
        <p:nvSpPr>
          <p:cNvPr id="4" name="scene-band-label-8">
            <a:extLst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–02: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45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02: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endParaRPr sz="8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8-0">
            <a:extLst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9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｜12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月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25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日就職典禮：報到、胸花、宣誓、簽名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｜議長／副議長選舉與握手、大合照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｜句點由選票印記化為節點，連成片名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民國一百一十五年十二月二十五日，第五屆新北市議會宣誓就職。六十八席民意，從十三個選舉區走進同一座議事殿堂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在這裡，不同立場將彼此相遇；共同的目標，是讓每一份託付都被認真回應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現場原音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8" name="footer-line-8">
            <a:extLst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看見.共好｜第一章｜看見城市｜01:35–02:35</a:t>
            </a:r>
          </a:p>
        </p:txBody>
      </p:sp>
      <p:sp>
        <p:nvSpPr>
          <p:cNvPr id="20" name="footer-page-8">
            <a:extLst>
              <a:ext uri="{FF2B5EF4-FFF2-40B4-BE49-F238E27FC236}">
                <a16:creationId xmlns:a16="http://schemas.microsoft.com/office/drawing/2014/main" id="{835E3A62-AE33-458C-B31B-D00C9A1F1F2C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9">
            <a:extLst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 dirty="0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9">
            <a:extLst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看見日常</a:t>
            </a:r>
            <a:r>
              <a:rPr lang="zh-TW" altLang="en-US" sz="2400" b="1" dirty="0">
                <a:solidFill>
                  <a:srgbClr val="D9962C"/>
                </a:solidFill>
                <a:latin typeface="PingFang TC"/>
                <a:ea typeface="PingFang TC"/>
              </a:rPr>
              <a:t> ，</a:t>
            </a:r>
            <a:r>
              <a:rPr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選區</a:t>
            </a:r>
            <a:r>
              <a:rPr lang="zh-TW" altLang="en-US" sz="2400" b="1" dirty="0">
                <a:solidFill>
                  <a:srgbClr val="D9962C"/>
                </a:solidFill>
                <a:latin typeface="PingFang TC"/>
                <a:ea typeface="PingFang TC"/>
              </a:rPr>
              <a:t>不是地圖上的切線</a:t>
            </a:r>
            <a:endParaRPr sz="2400" b="1" dirty="0">
              <a:solidFill>
                <a:srgbClr val="D9962C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9">
            <a:extLst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9">
            <a:extLst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 選區｜石門、三芝、淡水、八里：海岸、漁港、老街、輕軌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2 選區｜林口、五股、泰山：新市鎮、產業、交通節點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3 選區｜新莊：老街、工業脈絡、住宅與副都心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4 選區｜蘆洲、三重：河岸、密集街區、通勤與市場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每區採「人 3 秒＋地景 3 秒＋公共服務 3 秒」公平配置</a:t>
            </a:r>
          </a:p>
        </p:txBody>
      </p:sp>
      <p:sp>
        <p:nvSpPr>
          <p:cNvPr id="16" name="audio-9">
            <a:extLst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lang="zh-CN" altLang="en-US" sz="1349" dirty="0">
                <a:solidFill>
                  <a:srgbClr val="142B34"/>
                </a:solidFill>
                <a:latin typeface="PingFang TC"/>
                <a:ea typeface="PingFang TC"/>
              </a:rPr>
              <a:t>每一個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</a:rPr>
              <a:t>選舉區，不只是地圖上的切線，而是</a:t>
            </a:r>
            <a:r>
              <a:rPr lang="zh-TW" altLang="en-US" sz="1349" dirty="0">
                <a:solidFill>
                  <a:srgbClr val="142B34"/>
                </a:solidFill>
                <a:latin typeface="PingFang TC"/>
                <a:ea typeface="PingFang TC"/>
              </a:rPr>
              <a:t>多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</a:rPr>
              <a:t>種觀看城市的角度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從石門、三芝、淡水與八里的海風吹進城市；到林口、五股、泰山快速成長的新生活；新莊在產業記憶與新都心之間持續前進；蘆洲、三重沿著河岸與街巷，承接最密集也最真切的日常。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地方不同，關心的事不同；每一種生活，都應該有被理解的位置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1–4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選舉區｜海岸．成長．新舊交會．河岸生活</a:t>
            </a: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9">
            <a:extLst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sp>
        <p:nvSpPr>
          <p:cNvPr id="20" name="footer-page-9">
            <a:extLst>
              <a:ext uri="{FF2B5EF4-FFF2-40B4-BE49-F238E27FC236}">
                <a16:creationId xmlns:a16="http://schemas.microsoft.com/office/drawing/2014/main" id="{E4F3D489-096B-45AE-84CB-E17B8E02BB5F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0">
            <a:extLst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 dirty="0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0">
            <a:extLst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城市的尺度不同，生活的重量相同</a:t>
            </a:r>
            <a:endParaRPr sz="2400" b="1" dirty="0">
              <a:solidFill>
                <a:srgbClr val="D9962C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10">
            <a:extLst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10">
            <a:extLst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選區｜板橋：議會、市府、車站、文化街區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6 選區｜中和：住宅、產業園區、通勤節點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7 選區｜永和：巷弄、公園、橋梁與高密度生活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8 選區｜樹林、鶯歌、土城、三峽：陶瓷、老街、產業、校園、山景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畫面避開單一建設政績，聚焦人在空間裡的使用</a:t>
            </a:r>
          </a:p>
        </p:txBody>
      </p:sp>
      <p:sp>
        <p:nvSpPr>
          <p:cNvPr id="16" name="audio-10">
            <a:extLst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8" name="footer-line-10">
            <a:extLst>
              <a:ext uri="{FF2B5EF4-FFF2-40B4-BE49-F238E27FC236}">
                <a16:creationId xmlns:a16="http://schemas.microsoft.com/office/drawing/2014/main" id="{4EA7BCBF-E90E-415C-95AF-6F88B0C906DC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0">
            <a:extLst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sp>
        <p:nvSpPr>
          <p:cNvPr id="20" name="footer-page-10">
            <a:extLst>
              <a:ext uri="{FF2B5EF4-FFF2-40B4-BE49-F238E27FC236}">
                <a16:creationId xmlns:a16="http://schemas.microsoft.com/office/drawing/2014/main" id="{1F3531AB-7D51-4479-A391-FB21A20CCA30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1">
            <a:extLst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 dirty="0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1">
            <a:extLst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看見地理</a:t>
            </a:r>
            <a:r>
              <a:rPr sz="2400" b="1" dirty="0">
                <a:solidFill>
                  <a:srgbClr val="D9962C"/>
                </a:solidFill>
                <a:latin typeface="PingFang TC"/>
                <a:ea typeface="PingFang TC"/>
              </a:rPr>
              <a:t>，</a:t>
            </a:r>
            <a:r>
              <a:rPr lang="en-US" altLang="zh-TW" sz="2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2400" b="1" dirty="0" err="1">
                <a:solidFill>
                  <a:srgbClr val="D9962C"/>
                </a:solidFill>
                <a:latin typeface="PingFang TC"/>
                <a:ea typeface="PingFang TC"/>
              </a:rPr>
              <a:t>多元共榮的日常</a:t>
            </a:r>
            <a:endParaRPr sz="2400" b="1" dirty="0">
              <a:solidFill>
                <a:srgbClr val="D9962C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11">
            <a:extLst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7C9"/>
          </a:solidFill>
          <a:ln w="0">
            <a:noFill/>
            <a:prstDash val="solid"/>
          </a:ln>
        </p:spPr>
      </p:sp>
      <p:sp>
        <p:nvSpPr>
          <p:cNvPr id="4" name="scene-band-label-11">
            <a:extLst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 選區｜新店、深坑、石碇、坪林、烏來：溪谷、茶鄉、山路、部落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10 選區｜平溪、瑞芳、雙溪、貢寮：山城、鐵道、海岸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11 選區｜金山、萬里、汐止：漁港、溫泉、科技與通勤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12 選區｜平地原住民：跨行政區的族人生活與文化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13 選區｜山地原住民：部落、語言、工藝、土地連結</a:t>
            </a:r>
          </a:p>
        </p:txBody>
      </p:sp>
      <p:sp>
        <p:nvSpPr>
          <p:cNvPr id="16" name="audio-11">
            <a:extLst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還有跨越行政邊界的平地與山地原住民選區，讓族人的生活、語言與文化，在城市裡持續被看見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十三個選區，六十八席民意；每一席，都連著一群人的現在與未來</a:t>
            </a:r>
            <a:r>
              <a:rPr lang="zh-TW" altLang="en-US"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多元,不只是共處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——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是彼此看見,一起變好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。 </a:t>
            </a:r>
            <a:endParaRPr sz="1349" dirty="0">
              <a:solidFill>
                <a:srgbClr val="142B34"/>
              </a:solidFill>
              <a:latin typeface="PingFang TC"/>
              <a:ea typeface="PingFang TC"/>
            </a:endParaRP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9–13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選舉區｜山海．城鄉．族群．文化傳承</a:t>
            </a: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1">
            <a:extLst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sp>
        <p:nvSpPr>
          <p:cNvPr id="20" name="footer-page-11">
            <a:extLst>
              <a:ext uri="{FF2B5EF4-FFF2-40B4-BE49-F238E27FC236}">
                <a16:creationId xmlns:a16="http://schemas.microsoft.com/office/drawing/2014/main" id="{1286B14D-214B-43CA-911F-B9122CC1B111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2">
            <a:extLst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</a:t>
            </a:r>
            <a:r>
              <a:rPr lang="zh-TW" altLang="en-US" sz="1049" b="1" dirty="0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二</a:t>
            </a: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2">
            <a:extLst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2">
            <a:extLst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雨天積水停在鞋尖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家長牽孩子穿越路口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長者在候車亭等待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當一個聲音走進議會，它會怎麼成為改變的開始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？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footer-line-12">
            <a:extLst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sp>
        <p:nvSpPr>
          <p:cNvPr id="20" name="footer-page-12">
            <a:extLst>
              <a:ext uri="{FF2B5EF4-FFF2-40B4-BE49-F238E27FC236}">
                <a16:creationId xmlns:a16="http://schemas.microsoft.com/office/drawing/2014/main" id="{042D3C44-2F66-415E-A94F-C288C8E788A9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3">
            <a:extLst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3">
            <a:extLst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noGrp="1"/>
          </p:cNvSpPr>
          <p:nvPr/>
        </p:nvSpPr>
        <p:spPr>
          <a:xfrm>
            <a:off x="459667" y="723363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8000"/>
              </a:lnSpc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dirty="0" err="1">
                <a:solidFill>
                  <a:srgbClr val="416E8A"/>
                </a:solidFill>
                <a:latin typeface="PingFang TC"/>
                <a:ea typeface="PingFang TC"/>
              </a:rPr>
              <a:t>看見</a:t>
            </a:r>
            <a:r>
              <a:rPr lang="zh-CN" altLang="en-US" sz="2400" b="1" dirty="0">
                <a:solidFill>
                  <a:srgbClr val="416E8A"/>
                </a:solidFill>
                <a:latin typeface="PingFang TC"/>
                <a:ea typeface="PingFang TC"/>
              </a:rPr>
              <a:t>問題</a:t>
            </a:r>
            <a:r>
              <a:rPr lang="zh-TW" altLang="en-US" sz="2400" b="1" dirty="0">
                <a:solidFill>
                  <a:srgbClr val="416E8A"/>
                </a:solidFill>
                <a:latin typeface="PingFang TC"/>
                <a:ea typeface="PingFang TC"/>
              </a:rPr>
              <a:t>，</a:t>
            </a:r>
            <a:r>
              <a:rPr lang="en-US" altLang="zh-TW" sz="2400" b="1" dirty="0" err="1">
                <a:solidFill>
                  <a:srgbClr val="416E8A"/>
                </a:solidFill>
                <a:latin typeface="PingFang TC"/>
                <a:ea typeface="PingFang TC"/>
              </a:rPr>
              <a:t>跟著一份提案走進議會</a:t>
            </a:r>
            <a:endParaRPr lang="en-US" altLang="zh-TW" sz="2400" b="1" dirty="0">
              <a:solidFill>
                <a:srgbClr val="416E8A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13">
            <a:extLst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3">
            <a:extLst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市民看見的每一個改變,在這裡都有一段旅程。一份提案</a:t>
            </a:r>
            <a:r>
              <a:rPr lang="zh-CN" altLang="en-US" sz="1349" dirty="0">
                <a:solidFill>
                  <a:srgbClr val="142B34"/>
                </a:solidFill>
                <a:latin typeface="PingFang TC"/>
                <a:ea typeface="PingFang TC"/>
              </a:rPr>
              <a:t>與陳請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,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從服務處出發,走進委員會,被逐條檢視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</a:rPr>
              <a:t>。
一個看似單純的困難，可能牽涉安全、預算、法規與不同機關的權責。議會的工作，是把零散感受整理成可以討論的問題，把個人的不方便，轉化為公共議題。
</a:t>
            </a:r>
            <a:r>
              <a:rPr lang="en-US" altLang="zh-TW" sz="1349" dirty="0" err="1">
                <a:solidFill>
                  <a:srgbClr val="142B34"/>
                </a:solidFill>
                <a:latin typeface="PingFang TC"/>
                <a:ea typeface="PingFang TC"/>
              </a:rPr>
              <a:t>每一年,數千億的市政預算在這裡逐項把關;大會與各委員會分工合力,只為一件事:讓你的聲音,成為城市的決定</a:t>
            </a:r>
            <a:r>
              <a:rPr lang="en-US" altLang="zh-TW" sz="1349" dirty="0">
                <a:solidFill>
                  <a:srgbClr val="142B34"/>
                </a:solidFill>
                <a:latin typeface="PingFang TC"/>
                <a:ea typeface="PingFang TC"/>
              </a:rPr>
              <a:t> 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</a:rPr>
              <a:t>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查證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現勘</a:t>
            </a:r>
            <a:r>
              <a:rPr sz="1349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1349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3">
            <a:extLst>
              <a:ext uri="{FF2B5EF4-FFF2-40B4-BE49-F238E27FC236}">
                <a16:creationId xmlns:a16="http://schemas.microsoft.com/office/drawing/2014/main" id="{FE7B51E6-F5D5-43D2-BC3D-8B5E909AED19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3">
            <a:extLst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0" name="footer-page-13">
            <a:extLst>
              <a:ext uri="{FF2B5EF4-FFF2-40B4-BE49-F238E27FC236}">
                <a16:creationId xmlns:a16="http://schemas.microsoft.com/office/drawing/2014/main" id="{ECF06654-F5F2-49DA-96E4-C061F2C23658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4">
            <a:extLst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4">
            <a:extLst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416E8A"/>
                </a:solidFill>
                <a:latin typeface="PingFang TC"/>
                <a:ea typeface="PingFang TC"/>
              </a:rPr>
              <a:t>讓承諾有進度，讓改變被追蹤</a:t>
            </a:r>
            <a:endParaRPr sz="2400" b="1" dirty="0">
              <a:solidFill>
                <a:srgbClr val="416E8A"/>
              </a:solidFill>
              <a:latin typeface="PingFang TC"/>
              <a:ea typeface="PingFang TC"/>
            </a:endParaRPr>
          </a:p>
        </p:txBody>
      </p:sp>
      <p:sp>
        <p:nvSpPr>
          <p:cNvPr id="3" name="scene-band-14">
            <a:extLst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4">
            <a:extLst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0" name="footer-page-14">
            <a:extLst>
              <a:ext uri="{FF2B5EF4-FFF2-40B4-BE49-F238E27FC236}">
                <a16:creationId xmlns:a16="http://schemas.microsoft.com/office/drawing/2014/main" id="{731FEDA5-566B-49EE-8882-15BA8C2710A3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5">
            <a:extLst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5">
            <a:extLst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  <a:endParaRPr sz="2099" b="1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5">
            <a:extLst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5">
            <a:extLst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民意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提案／市府提案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審查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大會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執行與監督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5">
            <a:extLst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0" name="footer-page-15">
            <a:extLst>
              <a:ext uri="{FF2B5EF4-FFF2-40B4-BE49-F238E27FC236}">
                <a16:creationId xmlns:a16="http://schemas.microsoft.com/office/drawing/2014/main" id="{C80EA151-0155-42C2-A822-825ED52CC3DE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6">
            <a:extLst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 dirty="0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6">
            <a:extLst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DEE8EE"/>
          </a:solidFill>
          <a:ln w="0">
            <a:noFill/>
            <a:prstDash val="solid"/>
          </a:ln>
        </p:spPr>
      </p:sp>
      <p:sp>
        <p:nvSpPr>
          <p:cNvPr id="4" name="scene-band-label-16">
            <a:extLst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與多語播放測試</a:t>
            </a:r>
          </a:p>
          <a:p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一場會議能順利進行，背後有許多看不見的準備。
從議程安排、法制研析、文書與會議紀錄，到資訊系統、影音轉播、公共關係與行政支援，議會團隊讓每一場討論有秩序、有依據，也有可以查詢的紀錄。
會史館保存地方自治走過的路；更新後的簡報室，則讓議會的故事以更清楚、更友善的方式被看見。
當資料可以查找、影像可以回看、內容可以用不同語言理解，民主就不只發生在會議當下，也能被認識、被保存、被傳承。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</a:p>
        </p:txBody>
      </p:sp>
      <p:sp>
        <p:nvSpPr>
          <p:cNvPr id="18" name="footer-line-16">
            <a:extLst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0" name="footer-page-16">
            <a:extLst>
              <a:ext uri="{FF2B5EF4-FFF2-40B4-BE49-F238E27FC236}">
                <a16:creationId xmlns:a16="http://schemas.microsoft.com/office/drawing/2014/main" id="{20577777-EC99-4C45-94BF-06C6016DCDD2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8">
            <a:extLst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 dirty="0" err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  <a:endParaRPr sz="1049" b="1" dirty="0">
              <a:solidFill>
                <a:srgbClr val="C85B4B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8">
            <a:extLst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1DC"/>
          </a:solidFill>
          <a:ln w="0">
            <a:noFill/>
            <a:prstDash val="solid"/>
          </a:ln>
        </p:spPr>
      </p:sp>
      <p:sp>
        <p:nvSpPr>
          <p:cNvPr id="4" name="scene-band-label-18">
            <a:extLst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6" name="col-head-18-0">
            <a:extLst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｜議長於議事廳或自然採光空間受訪；鏡位平視、背景保留議會辨識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｜致詞間穿插：就職合照、議員傾聽、市民互動、現勘與質詢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｜第 5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｜鏡頭由群像拉遠，轉入城市夜景與清晨呼應</a:t>
            </a:r>
          </a:p>
        </p:txBody>
      </p:sp>
      <p:sp>
        <p:nvSpPr>
          <p:cNvPr id="16" name="audio-18">
            <a:extLst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看見.共好｜第五章｜走向共好｜10:15–11:25</a:t>
            </a:r>
          </a:p>
        </p:txBody>
      </p:sp>
      <p:sp>
        <p:nvSpPr>
          <p:cNvPr id="20" name="footer-page-18">
            <a:extLst>
              <a:ext uri="{FF2B5EF4-FFF2-40B4-BE49-F238E27FC236}">
                <a16:creationId xmlns:a16="http://schemas.microsoft.com/office/drawing/2014/main" id="{519B1DFD-536B-4828-935B-542A92CBA94E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22" name="scene-duration-17">
            <a:extLst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10:15</a:t>
            </a: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ene-kicker-19">
            <a:extLst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noGrp="1"/>
          </p:cNvSpPr>
          <p:nvPr/>
        </p:nvSpPr>
        <p:spPr>
          <a:xfrm>
            <a:off x="459667" y="342646"/>
            <a:ext cx="3426455" cy="2665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noGrp="1"/>
          </p:cNvSpPr>
          <p:nvPr/>
        </p:nvSpPr>
        <p:spPr>
          <a:xfrm>
            <a:off x="459667" y="666256"/>
            <a:ext cx="6643516" cy="5710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noGrp="1"/>
          </p:cNvSpPr>
          <p:nvPr/>
        </p:nvSpPr>
        <p:spPr>
          <a:xfrm>
            <a:off x="459667" y="1408655"/>
            <a:ext cx="6643516" cy="456861"/>
          </a:xfrm>
          <a:prstGeom prst="rect">
            <a:avLst/>
          </a:prstGeom>
          <a:solidFill>
            <a:srgbClr val="F4E1DC"/>
          </a:solidFill>
          <a:ln w="0">
            <a:noFill/>
            <a:prstDash val="solid"/>
          </a:ln>
        </p:spPr>
      </p:sp>
      <p:sp>
        <p:nvSpPr>
          <p:cNvPr id="4" name="scene-band-label-19">
            <a:extLst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noGrp="1"/>
          </p:cNvSpPr>
          <p:nvPr/>
        </p:nvSpPr>
        <p:spPr>
          <a:xfrm>
            <a:off x="592918" y="1446727"/>
            <a:ext cx="3616814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noGrp="1"/>
          </p:cNvSpPr>
          <p:nvPr/>
        </p:nvSpPr>
        <p:spPr>
          <a:xfrm>
            <a:off x="4323947" y="1446727"/>
            <a:ext cx="2626949" cy="380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5–11: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0｜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55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11:</a:t>
            </a:r>
            <a:r>
              <a:rPr lang="en-US" altLang="zh-TW"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6" name="col-head-19-0">
            <a:extLst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noGrp="1"/>
          </p:cNvSpPr>
          <p:nvPr/>
        </p:nvSpPr>
        <p:spPr>
          <a:xfrm>
            <a:off x="459667" y="1979731"/>
            <a:ext cx="2141535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noGrp="1"/>
          </p:cNvSpPr>
          <p:nvPr/>
        </p:nvSpPr>
        <p:spPr>
          <a:xfrm>
            <a:off x="497739" y="1998766"/>
            <a:ext cx="2065391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noGrp="1"/>
          </p:cNvSpPr>
          <p:nvPr/>
        </p:nvSpPr>
        <p:spPr>
          <a:xfrm>
            <a:off x="459667" y="2341412"/>
            <a:ext cx="2141535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noGrp="1"/>
          </p:cNvSpPr>
          <p:nvPr/>
        </p:nvSpPr>
        <p:spPr>
          <a:xfrm>
            <a:off x="2601202" y="1979731"/>
            <a:ext cx="1751299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noGrp="1"/>
          </p:cNvSpPr>
          <p:nvPr/>
        </p:nvSpPr>
        <p:spPr>
          <a:xfrm>
            <a:off x="2639273" y="1998766"/>
            <a:ext cx="1675156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noGrp="1"/>
          </p:cNvSpPr>
          <p:nvPr/>
        </p:nvSpPr>
        <p:spPr>
          <a:xfrm>
            <a:off x="2601202" y="2341412"/>
            <a:ext cx="1751299" cy="7709525"/>
          </a:xfrm>
          <a:prstGeom prst="rect">
            <a:avLst/>
          </a:prstGeom>
          <a:solidFill>
            <a:srgbClr val="FCFAF5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noGrp="1"/>
          </p:cNvSpPr>
          <p:nvPr/>
        </p:nvSpPr>
        <p:spPr>
          <a:xfrm>
            <a:off x="4352502" y="1979731"/>
            <a:ext cx="2750682" cy="361681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noGrp="1"/>
          </p:cNvSpPr>
          <p:nvPr/>
        </p:nvSpPr>
        <p:spPr>
          <a:xfrm>
            <a:off x="4390573" y="1998766"/>
            <a:ext cx="2674539" cy="32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noGrp="1"/>
          </p:cNvSpPr>
          <p:nvPr/>
        </p:nvSpPr>
        <p:spPr>
          <a:xfrm>
            <a:off x="4352502" y="2341412"/>
            <a:ext cx="2750682" cy="7709525"/>
          </a:xfrm>
          <a:prstGeom prst="rect">
            <a:avLst/>
          </a:prstGeom>
          <a:solidFill>
            <a:srgbClr val="FFFDFC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noGrp="1"/>
          </p:cNvSpPr>
          <p:nvPr/>
        </p:nvSpPr>
        <p:spPr>
          <a:xfrm>
            <a:off x="573883" y="2474663"/>
            <a:ext cx="1913104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｜清晨同一組人物，此刻進入一天：孩子走進校門、店家迎客、列車抵站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｜議場燈光亮起，全體席位空鏡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lang="en-US" altLang="zh-TW"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7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｜句點化為節點，多個節點匯成新北輪廓／議會識別</a:t>
            </a:r>
          </a:p>
          <a:p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 dirty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 dirty="0" err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 dirty="0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noGrp="1"/>
          </p:cNvSpPr>
          <p:nvPr/>
        </p:nvSpPr>
        <p:spPr>
          <a:xfrm>
            <a:off x="2715417" y="2474663"/>
            <a:ext cx="1522869" cy="7443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noGrp="1"/>
          </p:cNvSpPr>
          <p:nvPr/>
        </p:nvSpPr>
        <p:spPr>
          <a:xfrm>
            <a:off x="4485753" y="2455627"/>
            <a:ext cx="2484180" cy="7481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noGrp="1"/>
          </p:cNvSpPr>
          <p:nvPr/>
        </p:nvSpPr>
        <p:spPr>
          <a:xfrm>
            <a:off x="459667" y="10231778"/>
            <a:ext cx="6643516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noGrp="1"/>
          </p:cNvSpPr>
          <p:nvPr/>
        </p:nvSpPr>
        <p:spPr>
          <a:xfrm>
            <a:off x="459667" y="10279367"/>
            <a:ext cx="5425221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看見.共好｜片尾｜回到片名｜11:25–11:50</a:t>
            </a:r>
          </a:p>
        </p:txBody>
      </p:sp>
      <p:sp>
        <p:nvSpPr>
          <p:cNvPr id="20" name="footer-page-19">
            <a:extLst>
              <a:ext uri="{FF2B5EF4-FFF2-40B4-BE49-F238E27FC236}">
                <a16:creationId xmlns:a16="http://schemas.microsoft.com/office/drawing/2014/main" id="{AA4DF830-BD6A-40E8-BA05-88B6B9FBAEFE}"/>
              </a:ext>
            </a:extLst>
          </p:cNvPr>
          <p:cNvSpPr>
            <a:spLocks noGrp="1"/>
          </p:cNvSpPr>
          <p:nvPr/>
        </p:nvSpPr>
        <p:spPr>
          <a:xfrm>
            <a:off x="6532107" y="10279367"/>
            <a:ext cx="571076" cy="2474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2338</Words>
  <Application>Microsoft Macintosh PowerPoint</Application>
  <PresentationFormat>自訂</PresentationFormat>
  <Paragraphs>483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Microsoft JhengHei</vt:lpstr>
      <vt:lpstr>新細明體</vt:lpstr>
      <vt:lpstr>PingFang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14</cp:revision>
  <dcterms:created xsi:type="dcterms:W3CDTF">2026-09-02T15:50:55Z</dcterms:created>
  <dcterms:modified xsi:type="dcterms:W3CDTF">2026-09-03T02:01:01Z</dcterms:modified>
</cp:coreProperties>
</file>