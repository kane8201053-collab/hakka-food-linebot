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de65cf26a04255" /><Relationship Type="http://schemas.openxmlformats.org/officeDocument/2006/relationships/extended-properties" Target="/docProps/app.xml" Id="R438a92ebfa684a0a" /><Relationship Type="http://schemas.openxmlformats.org/officeDocument/2006/relationships/officeDocument" Target="/ppt/presentation.xml" Id="R762e418d7cfa4b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fa1ce0d1c247c9"/>
  </p:sldMasterIdLst>
  <p:notesMasterIdLst>
    <p:notesMasterId xmlns:r="http://schemas.openxmlformats.org/officeDocument/2006/relationships" r:id="Rba952b6a39504f59"/>
  </p:notesMasterIdLst>
  <p:sldIdLst>
    <p:sldId xmlns:r="http://schemas.openxmlformats.org/officeDocument/2006/relationships" id="256" r:id="R6954a9ab40a5460d"/>
    <p:sldId xmlns:r="http://schemas.openxmlformats.org/officeDocument/2006/relationships" id="257" r:id="R9ed29a84a31f42b3"/>
    <p:sldId xmlns:r="http://schemas.openxmlformats.org/officeDocument/2006/relationships" id="258" r:id="R89512887d1c8478d"/>
    <p:sldId xmlns:r="http://schemas.openxmlformats.org/officeDocument/2006/relationships" id="259" r:id="R1b6f5fb0d6e042b6"/>
    <p:sldId xmlns:r="http://schemas.openxmlformats.org/officeDocument/2006/relationships" id="260" r:id="Rc53624e96dc74c07"/>
    <p:sldId xmlns:r="http://schemas.openxmlformats.org/officeDocument/2006/relationships" id="261" r:id="Rac21dd0142e245c0"/>
    <p:sldId xmlns:r="http://schemas.openxmlformats.org/officeDocument/2006/relationships" id="262" r:id="R39fc5b2eb3164494"/>
    <p:sldId xmlns:r="http://schemas.openxmlformats.org/officeDocument/2006/relationships" id="263" r:id="Rb46713f16a8747dd"/>
    <p:sldId xmlns:r="http://schemas.openxmlformats.org/officeDocument/2006/relationships" id="264" r:id="Red22ff94fe6f41f3"/>
    <p:sldId xmlns:r="http://schemas.openxmlformats.org/officeDocument/2006/relationships" id="265" r:id="R50d92180ff3d45bf"/>
    <p:sldId xmlns:r="http://schemas.openxmlformats.org/officeDocument/2006/relationships" id="266" r:id="R2b5124737cb84841"/>
    <p:sldId xmlns:r="http://schemas.openxmlformats.org/officeDocument/2006/relationships" id="267" r:id="R93b5fb98e61f47b8"/>
    <p:sldId xmlns:r="http://schemas.openxmlformats.org/officeDocument/2006/relationships" id="268" r:id="Ra863dfcbed8f4347"/>
    <p:sldId xmlns:r="http://schemas.openxmlformats.org/officeDocument/2006/relationships" id="269" r:id="R9901da1bb76d4deb"/>
    <p:sldId xmlns:r="http://schemas.openxmlformats.org/officeDocument/2006/relationships" id="270" r:id="R5b71fd3bb236482d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944b402bb34a18" /><Relationship Type="http://schemas.openxmlformats.org/officeDocument/2006/relationships/slideMaster" Target="/ppt/slideMasters/slideMaster1.xml" Id="R73fa1ce0d1c247c9" /><Relationship Type="http://schemas.openxmlformats.org/officeDocument/2006/relationships/notesMaster" Target="/ppt/notesMasters/notesMaster1.xml" Id="Rba952b6a39504f59" /><Relationship Type="http://schemas.openxmlformats.org/officeDocument/2006/relationships/presProps" Target="/ppt/presProps.xml" Id="Rb0d40d593d8e4158" /><Relationship Type="http://schemas.openxmlformats.org/officeDocument/2006/relationships/viewProps" Target="/ppt/viewProps.xml" Id="Rb8294674f7af4e8b" /><Relationship Type="http://schemas.openxmlformats.org/officeDocument/2006/relationships/tableStyles" Target="/ppt/tableStyles.xml" Id="R126a801ab7664cb3" /><Relationship Type="http://schemas.openxmlformats.org/officeDocument/2006/relationships/slide" Target="/ppt/slides/slide1.xml" Id="R6954a9ab40a5460d" /><Relationship Type="http://schemas.openxmlformats.org/officeDocument/2006/relationships/slide" Target="/ppt/slides/slide2.xml" Id="R9ed29a84a31f42b3" /><Relationship Type="http://schemas.openxmlformats.org/officeDocument/2006/relationships/slide" Target="/ppt/slides/slide3.xml" Id="R89512887d1c8478d" /><Relationship Type="http://schemas.openxmlformats.org/officeDocument/2006/relationships/slide" Target="/ppt/slides/slide4.xml" Id="R1b6f5fb0d6e042b6" /><Relationship Type="http://schemas.openxmlformats.org/officeDocument/2006/relationships/slide" Target="/ppt/slides/slide5.xml" Id="Rc53624e96dc74c07" /><Relationship Type="http://schemas.openxmlformats.org/officeDocument/2006/relationships/slide" Target="/ppt/slides/slide6.xml" Id="Rac21dd0142e245c0" /><Relationship Type="http://schemas.openxmlformats.org/officeDocument/2006/relationships/slide" Target="/ppt/slides/slide7.xml" Id="R39fc5b2eb3164494" /><Relationship Type="http://schemas.openxmlformats.org/officeDocument/2006/relationships/slide" Target="/ppt/slides/slide8.xml" Id="Rb46713f16a8747dd" /><Relationship Type="http://schemas.openxmlformats.org/officeDocument/2006/relationships/slide" Target="/ppt/slides/slide9.xml" Id="Red22ff94fe6f41f3" /><Relationship Type="http://schemas.openxmlformats.org/officeDocument/2006/relationships/slide" Target="/ppt/slides/slide10.xml" Id="R50d92180ff3d45bf" /><Relationship Type="http://schemas.openxmlformats.org/officeDocument/2006/relationships/slide" Target="/ppt/slides/slide11.xml" Id="R2b5124737cb84841" /><Relationship Type="http://schemas.openxmlformats.org/officeDocument/2006/relationships/slide" Target="/ppt/slides/slide12.xml" Id="R93b5fb98e61f47b8" /><Relationship Type="http://schemas.openxmlformats.org/officeDocument/2006/relationships/slide" Target="/ppt/slides/slide13.xml" Id="Ra863dfcbed8f4347" /><Relationship Type="http://schemas.openxmlformats.org/officeDocument/2006/relationships/slide" Target="/ppt/slides/slide14.xml" Id="R9901da1bb76d4deb" /><Relationship Type="http://schemas.openxmlformats.org/officeDocument/2006/relationships/slide" Target="/ppt/slides/slide15.xml" Id="R5b71fd3bb236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cea44865814b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7cb3282cc4475" /><Relationship Type="http://schemas.openxmlformats.org/officeDocument/2006/relationships/notesMaster" Target="/ppt/notesMasters/notesMaster1.xml" Id="R65643c06cada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dbad9f571f4b2e" /><Relationship Type="http://schemas.openxmlformats.org/officeDocument/2006/relationships/notesMaster" Target="/ppt/notesMasters/notesMaster1.xml" Id="Rcb6a94df7ff04f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f98d4886a149b5" /><Relationship Type="http://schemas.openxmlformats.org/officeDocument/2006/relationships/notesMaster" Target="/ppt/notesMasters/notesMaster1.xml" Id="Rb504209ca6f9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b8750c66df48a2" /><Relationship Type="http://schemas.openxmlformats.org/officeDocument/2006/relationships/notesMaster" Target="/ppt/notesMasters/notesMaster1.xml" Id="Rdddf56ff4c3d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c3afbf191c46ca" /><Relationship Type="http://schemas.openxmlformats.org/officeDocument/2006/relationships/notesMaster" Target="/ppt/notesMasters/notesMaster1.xml" Id="R7eacc2f557864b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756666b78c4598" /><Relationship Type="http://schemas.openxmlformats.org/officeDocument/2006/relationships/notesMaster" Target="/ppt/notesMasters/notesMaster1.xml" Id="R227ab1408f0443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5e7a96d34f46c3" /><Relationship Type="http://schemas.openxmlformats.org/officeDocument/2006/relationships/notesMaster" Target="/ppt/notesMasters/notesMaster1.xml" Id="R41a351ab6d674e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6e507297be4093" /><Relationship Type="http://schemas.openxmlformats.org/officeDocument/2006/relationships/notesMaster" Target="/ppt/notesMasters/notesMaster1.xml" Id="Rc7a6a20807e046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a9ff58aa2340cc" /><Relationship Type="http://schemas.openxmlformats.org/officeDocument/2006/relationships/notesMaster" Target="/ppt/notesMasters/notesMaster1.xml" Id="R5e58e282a73f43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5100a7dffd4ada" /><Relationship Type="http://schemas.openxmlformats.org/officeDocument/2006/relationships/notesMaster" Target="/ppt/notesMasters/notesMaster1.xml" Id="R23430834396c41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f9ff6945cd46f7" /><Relationship Type="http://schemas.openxmlformats.org/officeDocument/2006/relationships/notesMaster" Target="/ppt/notesMasters/notesMaster1.xml" Id="R0e98248237c345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21441ede4b4034" /><Relationship Type="http://schemas.openxmlformats.org/officeDocument/2006/relationships/notesMaster" Target="/ppt/notesMasters/notesMaster1.xml" Id="R491f468d6d984b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a55c590ec149bf" /><Relationship Type="http://schemas.openxmlformats.org/officeDocument/2006/relationships/notesMaster" Target="/ppt/notesMasters/notesMaster1.xml" Id="R13802716554e4b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2f2d15fa4c4c11" /><Relationship Type="http://schemas.openxmlformats.org/officeDocument/2006/relationships/notesMaster" Target="/ppt/notesMasters/notesMaster1.xml" Id="R97f9d4f052414a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cfa82152814934" /><Relationship Type="http://schemas.openxmlformats.org/officeDocument/2006/relationships/notesMaster" Target="/ppt/notesMasters/notesMaster1.xml" Id="Rea73528c6423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https://bms1.ntp.gov.tw/billsystem/mam/ScheduleAnnex/0407T/f0b20b98-9369-4730-9423-bc95900d22c4.pdf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6f7b8681547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b90799a7942b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df5ca7a2d483c" /><Relationship Type="http://schemas.openxmlformats.org/officeDocument/2006/relationships/slideLayout" Target="/ppt/slideLayouts/slideLayout1.xml" Id="Rfe71f114ac5f417c" /><Relationship Type="http://schemas.openxmlformats.org/officeDocument/2006/relationships/slideLayout" Target="/ppt/slideLayouts/slideLayout2.xml" Id="R48b9805f81cd40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1f114ac5f417c"/>
    <p:sldLayoutId xmlns:r="http://schemas.openxmlformats.org/officeDocument/2006/relationships" id="2147483650" r:id="R48b9805f81cd405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1de6d15484bee" /><Relationship Type="http://schemas.openxmlformats.org/officeDocument/2006/relationships/notesSlide" Target="/ppt/notesSlides/notesSlide1.xml" Id="R626b895a27f045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e0249a26641e9" /><Relationship Type="http://schemas.openxmlformats.org/officeDocument/2006/relationships/notesSlide" Target="/ppt/notesSlides/notesSlide2.xml" Id="Rcc39499e309445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f1176f2f2f4e83" /><Relationship Type="http://schemas.openxmlformats.org/officeDocument/2006/relationships/image" Target="/ppt/media/image.png" Id="Reebfb55b285047be" /><Relationship Type="http://schemas.openxmlformats.org/officeDocument/2006/relationships/notesSlide" Target="/ppt/notesSlides/notesSlide3.xml" Id="R0164c647277b42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6d09f45b164736" /><Relationship Type="http://schemas.openxmlformats.org/officeDocument/2006/relationships/notesSlide" Target="/ppt/notesSlides/notesSlide4.xml" Id="R1bf081c0b4cd48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27e964abcc495f" /><Relationship Type="http://schemas.openxmlformats.org/officeDocument/2006/relationships/notesSlide" Target="/ppt/notesSlides/notesSlide5.xml" Id="R7580788988b844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267ab32b6147aa" /><Relationship Type="http://schemas.openxmlformats.org/officeDocument/2006/relationships/notesSlide" Target="/ppt/notesSlides/notesSlide6.xml" Id="Re66e38c7e94346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217e0675f4349" /><Relationship Type="http://schemas.openxmlformats.org/officeDocument/2006/relationships/notesSlide" Target="/ppt/notesSlides/notesSlide7.xml" Id="R21b7ece7359446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5c89ee3bbf4278" /><Relationship Type="http://schemas.openxmlformats.org/officeDocument/2006/relationships/notesSlide" Target="/ppt/notesSlides/notesSlide8.xml" Id="R7f0372dd13df4d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0b1354f8f49e9" /><Relationship Type="http://schemas.openxmlformats.org/officeDocument/2006/relationships/notesSlide" Target="/ppt/notesSlides/notesSlide9.xml" Id="Rbb67c77685e14a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e7074abf34401c" /><Relationship Type="http://schemas.openxmlformats.org/officeDocument/2006/relationships/notesSlide" Target="/ppt/notesSlides/notesSlide10.xml" Id="Rd320b32fd6ba49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1e9eeccbca4596" /><Relationship Type="http://schemas.openxmlformats.org/officeDocument/2006/relationships/notesSlide" Target="/ppt/notesSlides/notesSlide11.xml" Id="R530b073faedf4d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d9b3720c346a1" /><Relationship Type="http://schemas.openxmlformats.org/officeDocument/2006/relationships/notesSlide" Target="/ppt/notesSlides/notesSlide12.xml" Id="R78c682a0297e4c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bb33947a24f48" /><Relationship Type="http://schemas.openxmlformats.org/officeDocument/2006/relationships/notesSlide" Target="/ppt/notesSlides/notesSlide13.xml" Id="Re576315ec4c144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a2ea8e8ff449b9" /><Relationship Type="http://schemas.openxmlformats.org/officeDocument/2006/relationships/notesSlide" Target="/ppt/notesSlides/notesSlide14.xml" Id="Rb160f235f8b74c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d316d4a6d54338" /><Relationship Type="http://schemas.openxmlformats.org/officeDocument/2006/relationships/notesSlide" Target="/ppt/notesSlides/notesSlide15.xml" Id="R6ee874d1945043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44127D-66C7-4693-9A3E-E5D7EEAB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CONCEPT</a:t>
            </a:r>
            <a:endParaRPr sz="10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3A7798C-33ED-4006-9F93-CCAD989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腳本核心概念：看見生活，讓民意走向共好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116510-24BC-435A-813C-36C39539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CDB60BC-C8E4-4C68-B40C-01294564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6464808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3A232E-0FA7-4B66-8BB3-C2436042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600760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核心推進｜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影片從城市日常與議會沿革建立『看見』，再讓13個選區、68席民意走進議事殿堂；中段跟著一個問題，呈現民意如何被查證、審查與追蹤，最後由第5屆承諾收束成『共好』。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E62EDA-9549-448D-9312-1A9E34FB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5176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分鏡腳本的四段敘事推進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9A9671C-15E5-4327-BBFC-E6FAB4C6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6464808" cy="1243584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BD2BE9D-72B9-4E07-B039-B845D338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46120"/>
            <a:ext cx="12344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9547B00-3132-45AB-89AD-D7D6A44D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36976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城市與託付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8C1F0DA-9B92-42AE-B6C9-E8DECEC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264408"/>
            <a:ext cx="4636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00:00–02:35｜看見城市、傳承與就職</a:t>
            </a:r>
            <a:endParaRPr sz="1600" b="1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95C6EA-7D7B-4B94-82C6-08F8C811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630168"/>
            <a:ext cx="46360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以眼睛與光開場，從山海、日常與議會沿革，走到第 5 屆宣誓與每一席託付。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8CBE770-7CD1-4BC8-9CD8-0A20DC37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71416"/>
            <a:ext cx="6464808" cy="1481328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EA99A5F-3D9B-4A21-99B9-18CF5C2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54296"/>
            <a:ext cx="12344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3A21F93-F080-4E3E-8A03-B4E5F0BC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45152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生活全景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B6A627-6E5E-4524-8321-F0CBB1FF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672584"/>
            <a:ext cx="4636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02:35–04:55｜13 個選區、68 席民意</a:t>
            </a:r>
            <a:endParaRPr sz="1600" b="1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B995EAC-9960-4920-81FB-4FE9D3E3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038344"/>
            <a:ext cx="4636008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分三組呈現第 1 至第 13 選區，讓海岸、都會、山城與原住民族生活都被看見。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BA86E7-899B-49C2-B4BE-9D22343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17336"/>
            <a:ext cx="6464808" cy="1243584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93DAF8F-933E-459C-8BC3-B9F1670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300216"/>
            <a:ext cx="12344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4DD52E7-BF9C-4943-9A1E-7ACA66BB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291072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民意行動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3CFF64F-EDDF-4928-879E-BDDBA036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6318504"/>
            <a:ext cx="4636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04:55–09:10｜問題走進制度</a:t>
            </a:r>
            <a:endParaRPr sz="1600" b="1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7371740-4EFD-4428-BCCF-9EF6DC1C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6684264"/>
            <a:ext cx="46360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由積水、上學路與候車日常切入，完整走過受理、查證、現勘、質詢、審查、議決與追蹤。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A194EB1-0E08-49B9-B42A-3DF251D6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616952"/>
            <a:ext cx="6464808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7091BA0-8981-45E0-B863-E4847FF3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7781544"/>
            <a:ext cx="6007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承諾與回收｜09:10–11:10
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議長期許承接前段制度與民意，片尾回到清晨人物與正式片名：『看見』是願意靠近每一種生活；『共好』是把不同聲音帶向共同未來。片頭與片尾互相呼應，敘事完成。</a:t>
            </a:r>
          </a:p>
        </p:txBody>
      </p:sp>
    </p:spTree>
    <p:extLst>
      <p:ext uri="{BB962C8B-B14F-4D97-AF65-F5344CB8AC3E}">
        <p14:creationId xmlns:p14="http://schemas.microsoft.com/office/powerpoint/2010/main" val="1993707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C5F5BF-8A48-46F6-B1A4-C8945410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OUTLINE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311B18-098B-413D-AB8C-D6CB4FC7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DACFA2E-6089-4F99-856C-58A554F1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影片腳本大綱（總長度：11 分 10 秒）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C6E452-D1CC-4205-9A38-6AB475A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950"/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548640" y="1115567"/>
          <a:ext xmlns:a="http://schemas.openxmlformats.org/drawingml/2006/main" cx="6464808" cy="7221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7240"/>
                <a:gridCol w="1188720"/>
                <a:gridCol w="3045372"/>
                <a:gridCol w="813396"/>
                <a:gridCol w="640080"/>
              </a:tblGrid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段落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名稱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內容綱要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長度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加總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片頭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看見城市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眼睛與光、城市群像、片名建立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1:00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1:00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沿革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看見傳承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地方自治沿革與議場光線承接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就職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每一席的託付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屆宣誓、議長選舉、大合照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0:45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2:35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 A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1–4 選區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海岸、成長、新舊交會、河岸生活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0:45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3:20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 B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5–8 選區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核心、密度、公共空間、文化產業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0:45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4:05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 C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9–13 選區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山海、城鄉、族群與文化傳承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轉折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看見問題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由三個日常問題帶入議會核心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0:20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5:15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 A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受理到提案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受理、查證、現勘、定義問題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6:05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 B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議決與追蹤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質詢、審查、議決、追蹤、回現場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職權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公開討論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以真實議事動作說明五項職權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1:20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8:15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幕後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民主被保存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行政協作、典藏、會史館與多語測試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9:10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承諾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屆期許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議長原音與全體群像，承接託付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1:05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10:15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片尾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看見未來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清晨回收、光點匯聚、正式片名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11:10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總計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完整片長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至第 15 頁分鏡時間帶加總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11:10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11:10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010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6">
            <a:extLst xmlns:a="http://schemas.openxmlformats.org/drawingml/2006/main"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6">
            <a:extLst xmlns:a="http://schemas.openxmlformats.org/drawingml/2006/main"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看見城市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6">
            <a:extLst xmlns:a="http://schemas.openxmlformats.org/drawingml/2006/main"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6">
            <a:extLst xmlns:a="http://schemas.openxmlformats.org/drawingml/2006/main"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 xmlns:a="http://schemas.openxmlformats.org/drawingml/2006/main"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6-0">
            <a:extLst xmlns:a="http://schemas.openxmlformats.org/drawingml/2006/main"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 xmlns:a="http://schemas.openxmlformats.org/drawingml/2006/main"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 xmlns:a="http://schemas.openxmlformats.org/drawingml/2006/main"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 xmlns:a="http://schemas.openxmlformats.org/drawingml/2006/main"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 xmlns:a="http://schemas.openxmlformats.org/drawingml/2006/main"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 xmlns:a="http://schemas.openxmlformats.org/drawingml/2006/main"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 xmlns:a="http://schemas.openxmlformats.org/drawingml/2006/main"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 xmlns:a="http://schemas.openxmlformats.org/drawingml/2006/main"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 xmlns:a="http://schemas.openxmlformats.org/drawingml/2006/main"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 xmlns:a="http://schemas.openxmlformats.org/drawingml/2006/main"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黑幕一聲心跳→晨光穿雲縮時→淡水河面反光、山稜線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睜開的眼睛」特寫蒙太奇:孩子、長者、上班族、議事廳裡的眼神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萬千目光化為光點,匯聚成片名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3D LOGO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→29 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區地圖光點依序亮起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最後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看見議會外觀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6">
            <a:extLst xmlns:a="http://schemas.openxmlformats.org/drawingml/2006/main"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秒僅留環境音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4K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空拍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+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眼神特寫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眼睛與光」為全片視覺母題</a:t>
            </a:r>
            <a:br/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虹膜內映城市倒影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後期合成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人口約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400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萬、面積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2,052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平方公里、海岸線約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120 公里、29 行政區、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13 選區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endParaRPr sz="1200">
              <a:solidFill>
                <a:srgbClr val="22293A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2–3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</a:t>
            </a:r>
          </a:p>
          <a:p xmlns:a="http://schemas.openxmlformats.org/drawingml/2006/main">
            <a:pPr>
              <a:lnSpc>
                <a:spcPct val="122000"/>
              </a:lnSpc>
              <a:buNone/>
            </a:pPr>
            <a:br/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6">
            <a:extLst xmlns:a="http://schemas.openxmlformats.org/drawingml/2006/main"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每一天,新北在四百萬雙眼睛裡醒來。有人看見山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海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有人看見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城市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有人看見孩子上學的路。而有一群人,把這四百萬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目光,看成自己的責任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 </a:t>
            </a:r>
            <a:br/>
            <a:br/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二千零五十二平方公里,從三千公尺的山,到一百二十公里的海岸線;二十九個行政區、四百萬市民,匯聚成臺灣最大的城市。這座城市的每一種樣貌,都值得被看見—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而看見,是所有改變的開始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。它由一個個被珍惜的日常，慢慢成為我們共同生活的地方。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而議會要做的第一件事，就是看見。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br/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 《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看見.共好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》－ 第5屆新北市議會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看見.共好｜第一章｜看見城市｜00:00–01:00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9B061DD-7DFC-4BAE-BB7B-79F9F79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fb55b285047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408" y="7810500"/>
            <a:ext cx="2037143" cy="11458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890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7">
            <a:extLst xmlns:a="http://schemas.openxmlformats.org/drawingml/2006/main"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7">
            <a:extLst xmlns:a="http://schemas.openxmlformats.org/drawingml/2006/main"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看見傳承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(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 + 第5屆就職)</a:t>
            </a:r>
          </a:p>
        </p:txBody>
      </p:sp>
      <p:sp>
        <p:nvSpPr>
          <p:cNvPr id="3" name="scene-band-7">
            <a:extLst xmlns:a="http://schemas.openxmlformats.org/drawingml/2006/main"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7">
            <a:extLst xmlns:a="http://schemas.openxmlformats.org/drawingml/2006/main"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 xmlns:a="http://schemas.openxmlformats.org/drawingml/2006/main"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7-0">
            <a:extLst xmlns:a="http://schemas.openxmlformats.org/drawingml/2006/main"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 xmlns:a="http://schemas.openxmlformats.org/drawingml/2006/main"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 xmlns:a="http://schemas.openxmlformats.org/drawingml/2006/main"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 xmlns:a="http://schemas.openxmlformats.org/drawingml/2006/main"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 xmlns:a="http://schemas.openxmlformats.org/drawingml/2006/main"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 xmlns:a="http://schemas.openxmlformats.org/drawingml/2006/main"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 xmlns:a="http://schemas.openxmlformats.org/drawingml/2006/main"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 xmlns:a="http://schemas.openxmlformats.org/drawingml/2006/main"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 xmlns:a="http://schemas.openxmlformats.org/drawingml/2006/main"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 xmlns:a="http://schemas.openxmlformats.org/drawingml/2006/main"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年改制畫面，舊門牌過渡至「新北市議會」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 xmlns:a="http://schemas.openxmlformats.org/drawingml/2006/main"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歷史照片修復與調色,以光的軌跡串接年代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7">
            <a:extLst xmlns:a="http://schemas.openxmlformats.org/drawingml/2006/main"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民國三十五年，臺北縣參議會開啟地方自治的篇章；歷經十六屆臺北縣議會，地方的聲音在一次次討論、提案與監督中累積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民國九十九年，臺北縣改制為新北市，議會也以新的名稱，承接不變的責任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時代改變，城市擴大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，七十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多年來,這道光不曾熄滅。今天它傳到了第5屆——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68席民意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在四百萬市民的注視下宣誓:看見民意,守護共好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看見傳承.民主如光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從地方自治出發，讓民意一路被看見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看見.共好｜第一章｜看見城市｜01:00–01:50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B9A0326-BB0C-41E0-AEE7-1E835117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63412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8">
            <a:extLst xmlns:a="http://schemas.openxmlformats.org/drawingml/2006/main"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8">
            <a:extLst xmlns:a="http://schemas.openxmlformats.org/drawingml/2006/main"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每一席，都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是眾多希望的託付</a:t>
            </a:r>
            <a:endParaRPr sz="2400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8">
            <a:extLst xmlns:a="http://schemas.openxmlformats.org/drawingml/2006/main"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8">
            <a:extLst xmlns:a="http://schemas.openxmlformats.org/drawingml/2006/main"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 xmlns:a="http://schemas.openxmlformats.org/drawingml/2006/main"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–02: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02: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8-0">
            <a:extLst xmlns:a="http://schemas.openxmlformats.org/drawingml/2006/main"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 xmlns:a="http://schemas.openxmlformats.org/drawingml/2006/main"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 xmlns:a="http://schemas.openxmlformats.org/drawingml/2006/main"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 xmlns:a="http://schemas.openxmlformats.org/drawingml/2006/main"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 xmlns:a="http://schemas.openxmlformats.org/drawingml/2006/main"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 xmlns:a="http://schemas.openxmlformats.org/drawingml/2006/main"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 xmlns:a="http://schemas.openxmlformats.org/drawingml/2006/main"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 xmlns:a="http://schemas.openxmlformats.org/drawingml/2006/main"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 xmlns:a="http://schemas.openxmlformats.org/drawingml/2006/main"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 xmlns:a="http://schemas.openxmlformats.org/drawingml/2006/main"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9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｜12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月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日就職典禮：報到、胸花、宣誓、簽名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｜議長／副議長選舉與握手、大合照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｜句點由選票印記化為節點，連成片名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6" name="audio-8">
            <a:extLst xmlns:a="http://schemas.openxmlformats.org/drawingml/2006/main"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 xmlns:a="http://schemas.openxmlformats.org/drawingml/2006/main"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一張選票，是一次託付；一席議員，是一個地區、一群人、一種生活的代表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民國一百一十五年十二月二十五日，第五屆新北市議會宣誓就職。六十八席民意，從十三個選舉區走進同一座議事殿堂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在這裡，不同立場將彼此相遇；共同的目標，是讓每一份託付都被認真回應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現場原音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8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看見.共好｜第一章｜看見城市｜01:50–02:35</a:t>
            </a:r>
          </a:p>
        </p:txBody>
      </p:sp>
      <p:sp>
        <p:nvSpPr>
          <p:cNvPr id="2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35E3A62-AE33-458C-B31B-D00C9A1F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249163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9">
            <a:extLst xmlns:a="http://schemas.openxmlformats.org/drawingml/2006/main"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9">
            <a:extLst xmlns:a="http://schemas.openxmlformats.org/drawingml/2006/main"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看見日常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 ，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不是地圖上的切線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9">
            <a:extLst xmlns:a="http://schemas.openxmlformats.org/drawingml/2006/main"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9">
            <a:extLst xmlns:a="http://schemas.openxmlformats.org/drawingml/2006/main"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 xmlns:a="http://schemas.openxmlformats.org/drawingml/2006/main"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 xmlns:a="http://schemas.openxmlformats.org/drawingml/2006/main"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 xmlns:a="http://schemas.openxmlformats.org/drawingml/2006/main"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 xmlns:a="http://schemas.openxmlformats.org/drawingml/2006/main"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 xmlns:a="http://schemas.openxmlformats.org/drawingml/2006/main"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 xmlns:a="http://schemas.openxmlformats.org/drawingml/2006/main"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 xmlns:a="http://schemas.openxmlformats.org/drawingml/2006/main"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 xmlns:a="http://schemas.openxmlformats.org/drawingml/2006/main"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 xmlns:a="http://schemas.openxmlformats.org/drawingml/2006/main"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 xmlns:a="http://schemas.openxmlformats.org/drawingml/2006/main"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 xmlns:a="http://schemas.openxmlformats.org/drawingml/2006/main"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 選區｜石門、三芝、淡水、八里：海岸、漁港、老街、輕軌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2 選區｜林口、五股、泰山：新市鎮、產業、交通節點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3 選區｜新莊：老街、工業脈絡、住宅與副都心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4 選區｜蘆洲、三重：河岸、密集街區、通勤與市場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每區採「人 3 秒＋地景 3 秒＋公共服務 3 秒」公平配置</a:t>
            </a:r>
          </a:p>
        </p:txBody>
      </p:sp>
      <p:sp>
        <p:nvSpPr>
          <p:cNvPr id="16" name="audio-9">
            <a:extLst xmlns:a="http://schemas.openxmlformats.org/drawingml/2006/main"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 xmlns:a="http://schemas.openxmlformats.org/drawingml/2006/main"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選舉區，不只是地圖上的切線，而是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種觀看城市的角度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從石門、三芝、淡水與八里的海風吹進城市；到林口、五股、泰山快速成長的新生活；新莊在產業記憶與新都心之間持續前進；蘆洲、三重沿著河岸與街巷，承接最密集也最真切的日常。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地方不同，關心的事不同；每一種生活，都應該有被理解的位置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1–4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選舉區｜海岸．成長．新舊交會．河岸生活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4F3D489-096B-45AE-84CB-E17B8E02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00929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0">
            <a:extLst xmlns:a="http://schemas.openxmlformats.org/drawingml/2006/main"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0">
            <a:extLst xmlns:a="http://schemas.openxmlformats.org/drawingml/2006/main"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城市的尺度不同，生活的重量相同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0">
            <a:extLst xmlns:a="http://schemas.openxmlformats.org/drawingml/2006/main"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0">
            <a:extLst xmlns:a="http://schemas.openxmlformats.org/drawingml/2006/main"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 xmlns:a="http://schemas.openxmlformats.org/drawingml/2006/main"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 xmlns:a="http://schemas.openxmlformats.org/drawingml/2006/main"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 xmlns:a="http://schemas.openxmlformats.org/drawingml/2006/main"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 xmlns:a="http://schemas.openxmlformats.org/drawingml/2006/main"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 xmlns:a="http://schemas.openxmlformats.org/drawingml/2006/main"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 xmlns:a="http://schemas.openxmlformats.org/drawingml/2006/main"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 xmlns:a="http://schemas.openxmlformats.org/drawingml/2006/main"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 xmlns:a="http://schemas.openxmlformats.org/drawingml/2006/main"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 xmlns:a="http://schemas.openxmlformats.org/drawingml/2006/main"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 xmlns:a="http://schemas.openxmlformats.org/drawingml/2006/main"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 xmlns:a="http://schemas.openxmlformats.org/drawingml/2006/main"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選區｜板橋：議會、市府、車站、文化街區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6 選區｜中和：住宅、產業園區、通勤節點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7 選區｜永和：巷弄、公園、橋梁與高密度生活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8 選區｜樹林、鶯歌、土城、三峽：陶瓷、老街、產業、校園、山景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畫面避開單一建設政績，聚焦人在空間裡的使用</a:t>
            </a:r>
          </a:p>
        </p:txBody>
      </p:sp>
      <p:sp>
        <p:nvSpPr>
          <p:cNvPr id="16" name="audio-10">
            <a:extLst xmlns:a="http://schemas.openxmlformats.org/drawingml/2006/main"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 xmlns:a="http://schemas.openxmlformats.org/drawingml/2006/main"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8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4EA7BCBF-E90E-415C-95AF-6F88B0C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sp>
        <p:nvSpPr>
          <p:cNvPr id="2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F3531AB-7D51-4479-A391-FB21A20C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2060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1">
            <a:extLst xmlns:a="http://schemas.openxmlformats.org/drawingml/2006/main"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1">
            <a:extLst xmlns:a="http://schemas.openxmlformats.org/drawingml/2006/main"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看見地理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2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多元共榮的日常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1">
            <a:extLst xmlns:a="http://schemas.openxmlformats.org/drawingml/2006/main"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1">
            <a:extLst xmlns:a="http://schemas.openxmlformats.org/drawingml/2006/main"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 xmlns:a="http://schemas.openxmlformats.org/drawingml/2006/main"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 xmlns:a="http://schemas.openxmlformats.org/drawingml/2006/main"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 xmlns:a="http://schemas.openxmlformats.org/drawingml/2006/main"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 xmlns:a="http://schemas.openxmlformats.org/drawingml/2006/main"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 xmlns:a="http://schemas.openxmlformats.org/drawingml/2006/main"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 xmlns:a="http://schemas.openxmlformats.org/drawingml/2006/main"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 xmlns:a="http://schemas.openxmlformats.org/drawingml/2006/main"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 xmlns:a="http://schemas.openxmlformats.org/drawingml/2006/main"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 xmlns:a="http://schemas.openxmlformats.org/drawingml/2006/main"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 xmlns:a="http://schemas.openxmlformats.org/drawingml/2006/main"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 xmlns:a="http://schemas.openxmlformats.org/drawingml/2006/main"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 選區｜新店、深坑、石碇、坪林、烏來：溪谷、茶鄉、山路、部落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10 選區｜平溪、瑞芳、雙溪、貢寮：山城、鐵道、海岸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11 選區｜金山、萬里、汐止：漁港、溫泉、科技與通勤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12 選區｜平地原住民：跨行政區的族人生活與文化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13 選區｜山地原住民：部落、語言、工藝、土地連結</a:t>
            </a:r>
          </a:p>
        </p:txBody>
      </p:sp>
      <p:sp>
        <p:nvSpPr>
          <p:cNvPr id="16" name="audio-11">
            <a:extLst xmlns:a="http://schemas.openxmlformats.org/drawingml/2006/main"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 xmlns:a="http://schemas.openxmlformats.org/drawingml/2006/main"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還有跨越行政邊界的平地與山地原住民選區，讓族人的生活、語言與文化，在城市裡持續被看見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十三個選區，六十八席民意；每一席，都連著一群人的現在與未來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多元,不只是共處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——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是彼此看見,一起變好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 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9–13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選舉區｜山海．城鄉．族群．文化傳承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sp>
        <p:nvSpPr>
          <p:cNvPr id="20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1286B14D-214B-43CA-911F-B9122CC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39476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2">
            <a:extLst xmlns:a="http://schemas.openxmlformats.org/drawingml/2006/main"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</a:t>
            </a: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二</a:t>
            </a: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2">
            <a:extLst xmlns:a="http://schemas.openxmlformats.org/drawingml/2006/main"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看見民意，面對問題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2">
            <a:extLst xmlns:a="http://schemas.openxmlformats.org/drawingml/2006/main"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2">
            <a:extLst xmlns:a="http://schemas.openxmlformats.org/drawingml/2006/main"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 xmlns:a="http://schemas.openxmlformats.org/drawingml/2006/main"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 xmlns:a="http://schemas.openxmlformats.org/drawingml/2006/main"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 xmlns:a="http://schemas.openxmlformats.org/drawingml/2006/main"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 xmlns:a="http://schemas.openxmlformats.org/drawingml/2006/main"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 xmlns:a="http://schemas.openxmlformats.org/drawingml/2006/main"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 xmlns:a="http://schemas.openxmlformats.org/drawingml/2006/main"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 xmlns:a="http://schemas.openxmlformats.org/drawingml/2006/main"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 xmlns:a="http://schemas.openxmlformats.org/drawingml/2006/main"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 xmlns:a="http://schemas.openxmlformats.org/drawingml/2006/main"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 xmlns:a="http://schemas.openxmlformats.org/drawingml/2006/main"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 xmlns:a="http://schemas.openxmlformats.org/drawingml/2006/main"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雨天積水停在鞋尖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家長牽孩子穿越路口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長者在候車亭等待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 xmlns:a="http://schemas.openxmlformats.org/drawingml/2006/main"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 xmlns:a="http://schemas.openxmlformats.org/drawingml/2006/main"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一場雨後的積水、一條不安心的上學路、一段等不到車的日常，都可能是城市下一步要回答的問題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當一個聲音走進議會，它會怎麼成為改變的開始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sp>
        <p:nvSpPr>
          <p:cNvPr id="20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042D3C44-2F66-415E-A94F-C288C8E7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5823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3">
            <a:extLst xmlns:a="http://schemas.openxmlformats.org/drawingml/2006/main"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3">
            <a:extLst xmlns:a="http://schemas.openxmlformats.org/drawingml/2006/main"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723363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問題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跟著一份提案走進議會</a:t>
            </a:r>
            <a:endParaRPr sz="2400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3">
            <a:extLst xmlns:a="http://schemas.openxmlformats.org/drawingml/2006/main"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3">
            <a:extLst xmlns:a="http://schemas.openxmlformats.org/drawingml/2006/main"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A｜受理、查證、現勘、提案</a:t>
            </a:r>
          </a:p>
        </p:txBody>
      </p:sp>
      <p:sp>
        <p:nvSpPr>
          <p:cNvPr id="5" name="scene-duration-13">
            <a:extLst xmlns:a="http://schemas.openxmlformats.org/drawingml/2006/main"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 xmlns:a="http://schemas.openxmlformats.org/drawingml/2006/main"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 xmlns:a="http://schemas.openxmlformats.org/drawingml/2006/main"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 xmlns:a="http://schemas.openxmlformats.org/drawingml/2006/main"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 xmlns:a="http://schemas.openxmlformats.org/drawingml/2006/main"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 xmlns:a="http://schemas.openxmlformats.org/drawingml/2006/main"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 xmlns:a="http://schemas.openxmlformats.org/drawingml/2006/main"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 xmlns:a="http://schemas.openxmlformats.org/drawingml/2006/main"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 xmlns:a="http://schemas.openxmlformats.org/drawingml/2006/main"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 xmlns:a="http://schemas.openxmlformats.org/drawingml/2006/main"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 xmlns:a="http://schemas.openxmlformats.org/drawingml/2006/main"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 xmlns:a="http://schemas.openxmlformats.org/drawingml/2006/main"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 xmlns:a="http://schemas.openxmlformats.org/drawingml/2006/main"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市民看見的每一個改變,在這裡都有一段旅程。一份提案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與陳請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從服務處出發,走進委員會,被逐條檢視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一個看似單純的困難，可能牽涉安全、預算、法規與不同機關的權責。議會的工作，是把零散感受整理成可以討論的問題，把個人的不方便，轉化為公共議題。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每一年,數千億的市政預算在這裡逐項把關;大會與各委員會分工合力,只為一件事:讓你的聲音,成為城市的決定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查證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現勘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定義問題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FE7B51E6-F5D5-43D2-BC3D-8B5E909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sp>
        <p:nvSpPr>
          <p:cNvPr id="20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ECF06654-F5F2-49DA-96E4-C061F2C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904473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4">
            <a:extLst xmlns:a="http://schemas.openxmlformats.org/drawingml/2006/main"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4">
            <a:extLst xmlns:a="http://schemas.openxmlformats.org/drawingml/2006/main"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讓承諾有進度，讓改變被追蹤</a:t>
            </a:r>
            <a:endParaRPr sz="2400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4">
            <a:extLst xmlns:a="http://schemas.openxmlformats.org/drawingml/2006/main"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4">
            <a:extLst xmlns:a="http://schemas.openxmlformats.org/drawingml/2006/main"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B｜質詢、審查、議決、追蹤</a:t>
            </a:r>
          </a:p>
        </p:txBody>
      </p:sp>
      <p:sp>
        <p:nvSpPr>
          <p:cNvPr id="5" name="scene-duration-14">
            <a:extLst xmlns:a="http://schemas.openxmlformats.org/drawingml/2006/main"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 xmlns:a="http://schemas.openxmlformats.org/drawingml/2006/main"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 xmlns:a="http://schemas.openxmlformats.org/drawingml/2006/main"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 xmlns:a="http://schemas.openxmlformats.org/drawingml/2006/main"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 xmlns:a="http://schemas.openxmlformats.org/drawingml/2006/main"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 xmlns:a="http://schemas.openxmlformats.org/drawingml/2006/main"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 xmlns:a="http://schemas.openxmlformats.org/drawingml/2006/main"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 xmlns:a="http://schemas.openxmlformats.org/drawingml/2006/main"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 xmlns:a="http://schemas.openxmlformats.org/drawingml/2006/main"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 xmlns:a="http://schemas.openxmlformats.org/drawingml/2006/main"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 xmlns:a="http://schemas.openxmlformats.org/drawingml/2006/main"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 xmlns:a="http://schemas.openxmlformats.org/drawingml/2006/main"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 xmlns:a="http://schemas.openxmlformats.org/drawingml/2006/main"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接著，問題走進質詢與審查。議員要求說明、檢視資料、確認預算與期程；不同意見在會議中被提出，也在公開紀錄中留下軌跡。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 → 審查 → 議決 → 追蹤 → 回到現場</a:t>
            </a:r>
          </a:p>
        </p:txBody>
      </p:sp>
      <p:sp>
        <p:nvSpPr>
          <p:cNvPr id="18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sp>
        <p:nvSpPr>
          <p:cNvPr id="20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731FEDA5-566B-49EE-8882-15BA8C27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79076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5">
            <a:extLst xmlns:a="http://schemas.openxmlformats.org/drawingml/2006/main"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5">
            <a:extLst xmlns:a="http://schemas.openxmlformats.org/drawingml/2006/main"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每一項決定，都經得起公開討論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5">
            <a:extLst xmlns:a="http://schemas.openxmlformats.org/drawingml/2006/main"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5">
            <a:extLst xmlns:a="http://schemas.openxmlformats.org/drawingml/2006/main"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 xmlns:a="http://schemas.openxmlformats.org/drawingml/2006/main"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 xmlns:a="http://schemas.openxmlformats.org/drawingml/2006/main"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 xmlns:a="http://schemas.openxmlformats.org/drawingml/2006/main"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 xmlns:a="http://schemas.openxmlformats.org/drawingml/2006/main"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 xmlns:a="http://schemas.openxmlformats.org/drawingml/2006/main"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 xmlns:a="http://schemas.openxmlformats.org/drawingml/2006/main"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 xmlns:a="http://schemas.openxmlformats.org/drawingml/2006/main"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 xmlns:a="http://schemas.openxmlformats.org/drawingml/2006/main"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 xmlns:a="http://schemas.openxmlformats.org/drawingml/2006/main"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 xmlns:a="http://schemas.openxmlformats.org/drawingml/2006/main"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 xmlns:a="http://schemas.openxmlformats.org/drawingml/2006/main"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民意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提案／市府提案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審查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大會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執行與監督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5">
            <a:extLst xmlns:a="http://schemas.openxmlformats.org/drawingml/2006/main"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 xmlns:a="http://schemas.openxmlformats.org/drawingml/2006/main"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議會，是地方自治中代表市民行使監督與議決權的機關。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sp>
        <p:nvSpPr>
          <p:cNvPr id="20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C80EA151-0155-42C2-A822-825ED52C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752410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6">
            <a:extLst xmlns:a="http://schemas.openxmlformats.org/drawingml/2006/main"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6">
            <a:extLst xmlns:a="http://schemas.openxmlformats.org/drawingml/2006/main"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 xmlns:a="http://schemas.openxmlformats.org/drawingml/2006/main"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6">
            <a:extLst xmlns:a="http://schemas.openxmlformats.org/drawingml/2006/main"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 xmlns:a="http://schemas.openxmlformats.org/drawingml/2006/main"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 xmlns:a="http://schemas.openxmlformats.org/drawingml/2006/main"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 xmlns:a="http://schemas.openxmlformats.org/drawingml/2006/main"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 xmlns:a="http://schemas.openxmlformats.org/drawingml/2006/main"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 xmlns:a="http://schemas.openxmlformats.org/drawingml/2006/main"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 xmlns:a="http://schemas.openxmlformats.org/drawingml/2006/main"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 xmlns:a="http://schemas.openxmlformats.org/drawingml/2006/main"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 xmlns:a="http://schemas.openxmlformats.org/drawingml/2006/main"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 xmlns:a="http://schemas.openxmlformats.org/drawingml/2006/main"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 xmlns:a="http://schemas.openxmlformats.org/drawingml/2006/main"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 xmlns:a="http://schemas.openxmlformats.org/drawingml/2006/main"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與多語播放測試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 xmlns:a="http://schemas.openxmlformats.org/drawingml/2006/main"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 xmlns:a="http://schemas.openxmlformats.org/drawingml/2006/main"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一場會議能順利進行，背後有許多看不見的準備。
從議程安排、法制研析、文書與會議紀錄，到資訊系統、影音轉播、公共關係與行政支援，議會團隊讓每一場討論有秩序、有依據，也有可以查詢的紀錄。
會史館保存地方自治走過的路；更新後的簡報室，則讓議會的故事以更清楚、更友善的方式被看見。
當資料可以查找、影像可以回看、內容可以用不同語言理解，民主就不只發生在會議當下，也能被認識、被保存、被傳承。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</a:p>
        </p:txBody>
      </p:sp>
      <p:sp>
        <p:nvSpPr>
          <p:cNvPr id="18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sp>
        <p:nvSpPr>
          <p:cNvPr id="20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20577777-EC99-4C45-94BF-06C6016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41537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8">
            <a:extLst xmlns:a="http://schemas.openxmlformats.org/drawingml/2006/main"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</a:t>
            </a:r>
            <a:endParaRPr sz="1049" b="1">
              <a:solidFill>
                <a:srgbClr val="C85B4B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8">
            <a:extLst xmlns:a="http://schemas.openxmlformats.org/drawingml/2006/main"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 xmlns:a="http://schemas.openxmlformats.org/drawingml/2006/main"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8">
            <a:extLst xmlns:a="http://schemas.openxmlformats.org/drawingml/2006/main"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議長期許｜建議口白可直接送審錄製</a:t>
            </a:r>
          </a:p>
        </p:txBody>
      </p:sp>
      <p:sp>
        <p:nvSpPr>
          <p:cNvPr id="6" name="col-head-18-0">
            <a:extLst xmlns:a="http://schemas.openxmlformats.org/drawingml/2006/main"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 xmlns:a="http://schemas.openxmlformats.org/drawingml/2006/main"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 xmlns:a="http://schemas.openxmlformats.org/drawingml/2006/main"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 xmlns:a="http://schemas.openxmlformats.org/drawingml/2006/main"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 xmlns:a="http://schemas.openxmlformats.org/drawingml/2006/main"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 xmlns:a="http://schemas.openxmlformats.org/drawingml/2006/main"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 xmlns:a="http://schemas.openxmlformats.org/drawingml/2006/main"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 xmlns:a="http://schemas.openxmlformats.org/drawingml/2006/main"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 xmlns:a="http://schemas.openxmlformats.org/drawingml/2006/main"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 xmlns:a="http://schemas.openxmlformats.org/drawingml/2006/main"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｜議長於議事廳或自然採光空間受訪；鏡位平視、背景保留議會辨識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2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｜致詞間穿插：就職合照、議員傾聽、市民互動、現勘與質詢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｜第 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屆全體成員在議場／階梯完成正式群像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｜鏡頭由群像拉遠，轉入城市夜景與清晨呼應</a:t>
            </a:r>
          </a:p>
        </p:txBody>
      </p:sp>
      <p:sp>
        <p:nvSpPr>
          <p:cNvPr id="16" name="audio-18">
            <a:extLst xmlns:a="http://schemas.openxmlformats.org/drawingml/2006/main"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 xmlns:a="http://schemas.openxmlformats.org/drawingml/2006/main"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看見.共好｜第五章｜走向共好｜09:10–10:15</a:t>
            </a:r>
          </a:p>
        </p:txBody>
      </p:sp>
      <p:sp>
        <p:nvSpPr>
          <p:cNvPr id="20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519B1DFD-536B-4828-935B-542A92C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22" name="scene-duration-17">
            <a:extLst xmlns:a="http://schemas.openxmlformats.org/drawingml/2006/main">
              <a:ext uri="{FF2B5EF4-FFF2-40B4-BE49-F238E27FC236}">
                <a16:creationId xmlns:a16="http://schemas.microsoft.com/office/drawing/2014/main" id="{530DA148-63B3-2D49-82E0-D4DE9C0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10:15</a:t>
            </a:r>
          </a:p>
        </p:txBody>
      </p:sp>
    </p:spTree>
    <p:extLst>
      <p:ext uri="{BB962C8B-B14F-4D97-AF65-F5344CB8AC3E}">
        <p14:creationId xmlns:p14="http://schemas.microsoft.com/office/powerpoint/2010/main" val="38731547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9">
            <a:extLst xmlns:a="http://schemas.openxmlformats.org/drawingml/2006/main"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 xmlns:a="http://schemas.openxmlformats.org/drawingml/2006/main"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 xmlns:a="http://schemas.openxmlformats.org/drawingml/2006/main"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9">
            <a:extLst xmlns:a="http://schemas.openxmlformats.org/drawingml/2006/main"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 xmlns:a="http://schemas.openxmlformats.org/drawingml/2006/main"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5–11: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6" name="col-head-19-0">
            <a:extLst xmlns:a="http://schemas.openxmlformats.org/drawingml/2006/main"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 xmlns:a="http://schemas.openxmlformats.org/drawingml/2006/main"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 xmlns:a="http://schemas.openxmlformats.org/drawingml/2006/main"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 xmlns:a="http://schemas.openxmlformats.org/drawingml/2006/main"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 xmlns:a="http://schemas.openxmlformats.org/drawingml/2006/main"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 xmlns:a="http://schemas.openxmlformats.org/drawingml/2006/main"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 xmlns:a="http://schemas.openxmlformats.org/drawingml/2006/main"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 xmlns:a="http://schemas.openxmlformats.org/drawingml/2006/main"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 xmlns:a="http://schemas.openxmlformats.org/drawingml/2006/main"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 xmlns:a="http://schemas.openxmlformats.org/drawingml/2006/main"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｜清晨同一組人物，此刻進入一天：孩子走進校門、店家迎客、列車抵站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｜議場燈光亮起，全體席位空鏡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7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｜句點化為節點，多個節點匯成新北輪廓／議會識別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CARD｜新北市議會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LOGO＋正式片名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9">
            <a:extLst xmlns:a="http://schemas.openxmlformats.org/drawingml/2006/main"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 xmlns:a="http://schemas.openxmlformats.org/drawingml/2006/main"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 xmlns:a="http://schemas.openxmlformats.org/drawingml/2006/main"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看見.共好｜片尾｜回到片名｜10:15–11:10</a:t>
            </a:r>
          </a:p>
        </p:txBody>
      </p:sp>
      <p:sp>
        <p:nvSpPr>
          <p:cNvPr id="20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AA4DF830-BD6A-40E8-BA05-88B6B9F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23845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2026-09-03T02:53:19.7290000Z</dcterms:created>
  <dcterms:modified xsi:type="dcterms:W3CDTF">2026-09-03T02:53:19.7290000Z</dcterms:modified>
</coreProperties>
</file>