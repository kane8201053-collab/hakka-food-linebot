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751a7417a41f8" /><Relationship Type="http://schemas.openxmlformats.org/officeDocument/2006/relationships/extended-properties" Target="/docProps/app.xml" Id="R801c84dd989444d8" /><Relationship Type="http://schemas.openxmlformats.org/officeDocument/2006/relationships/officeDocument" Target="/ppt/presentation.xml" Id="Rabcad4c5319b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2245203c24985"/>
  </p:sldMasterIdLst>
  <p:notesMasterIdLst>
    <p:notesMasterId xmlns:r="http://schemas.openxmlformats.org/officeDocument/2006/relationships" r:id="R34c46aa37c344a3a"/>
  </p:notesMasterIdLst>
  <p:sldIdLst>
    <p:sldId xmlns:r="http://schemas.openxmlformats.org/officeDocument/2006/relationships" id="256" r:id="R35145ac3cb024c83"/>
    <p:sldId xmlns:r="http://schemas.openxmlformats.org/officeDocument/2006/relationships" id="257" r:id="R77d029cf557e4a83"/>
    <p:sldId xmlns:r="http://schemas.openxmlformats.org/officeDocument/2006/relationships" id="258" r:id="R22b00ab06694414a"/>
    <p:sldId xmlns:r="http://schemas.openxmlformats.org/officeDocument/2006/relationships" id="259" r:id="Rf5fea54338184f91"/>
    <p:sldId xmlns:r="http://schemas.openxmlformats.org/officeDocument/2006/relationships" id="260" r:id="R550e0b248472436a"/>
    <p:sldId xmlns:r="http://schemas.openxmlformats.org/officeDocument/2006/relationships" id="261" r:id="R31074593894747ac"/>
    <p:sldId xmlns:r="http://schemas.openxmlformats.org/officeDocument/2006/relationships" id="262" r:id="R8fcd22ea30674c53"/>
    <p:sldId xmlns:r="http://schemas.openxmlformats.org/officeDocument/2006/relationships" id="263" r:id="R768aba1ba1f54ae4"/>
    <p:sldId xmlns:r="http://schemas.openxmlformats.org/officeDocument/2006/relationships" id="264" r:id="Rea7721c6f8a342e1"/>
    <p:sldId xmlns:r="http://schemas.openxmlformats.org/officeDocument/2006/relationships" id="265" r:id="R4d76f2207a784bcb"/>
    <p:sldId xmlns:r="http://schemas.openxmlformats.org/officeDocument/2006/relationships" id="266" r:id="R2cec439f084b49d5"/>
    <p:sldId xmlns:r="http://schemas.openxmlformats.org/officeDocument/2006/relationships" id="267" r:id="R28aaf9e7ee6d467b"/>
    <p:sldId xmlns:r="http://schemas.openxmlformats.org/officeDocument/2006/relationships" id="268" r:id="R3241f71554a8413c"/>
    <p:sldId xmlns:r="http://schemas.openxmlformats.org/officeDocument/2006/relationships" id="269" r:id="R8dc906e65cf34d29"/>
    <p:sldId xmlns:r="http://schemas.openxmlformats.org/officeDocument/2006/relationships" id="270" r:id="Rdf6a4f21c0144e6d"/>
    <p:sldId xmlns:r="http://schemas.openxmlformats.org/officeDocument/2006/relationships" id="271" r:id="Ra629d3c598d04486"/>
    <p:sldId xmlns:r="http://schemas.openxmlformats.org/officeDocument/2006/relationships" id="272" r:id="R55e4505788704543"/>
    <p:sldId xmlns:r="http://schemas.openxmlformats.org/officeDocument/2006/relationships" id="273" r:id="R6ef0dc5b08de4be0"/>
    <p:sldId xmlns:r="http://schemas.openxmlformats.org/officeDocument/2006/relationships" id="274" r:id="Rf9d4bf0fcaa8493e"/>
    <p:sldId xmlns:r="http://schemas.openxmlformats.org/officeDocument/2006/relationships" id="275" r:id="Re8cd3474421c4aa8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2c62473870469a" /><Relationship Type="http://schemas.openxmlformats.org/officeDocument/2006/relationships/slideMaster" Target="/ppt/slideMasters/slideMaster1.xml" Id="R1852245203c24985" /><Relationship Type="http://schemas.openxmlformats.org/officeDocument/2006/relationships/notesMaster" Target="/ppt/notesMasters/notesMaster1.xml" Id="R34c46aa37c344a3a" /><Relationship Type="http://schemas.openxmlformats.org/officeDocument/2006/relationships/presProps" Target="/ppt/presProps.xml" Id="R03ce28e6a9ff4aff" /><Relationship Type="http://schemas.openxmlformats.org/officeDocument/2006/relationships/viewProps" Target="/ppt/viewProps.xml" Id="R5185f1a39db44204" /><Relationship Type="http://schemas.openxmlformats.org/officeDocument/2006/relationships/tableStyles" Target="/ppt/tableStyles.xml" Id="Rc90c48b734fc4a29" /><Relationship Type="http://schemas.openxmlformats.org/officeDocument/2006/relationships/slide" Target="/ppt/slides/slide1.xml" Id="R35145ac3cb024c83" /><Relationship Type="http://schemas.openxmlformats.org/officeDocument/2006/relationships/slide" Target="/ppt/slides/slide2.xml" Id="R77d029cf557e4a83" /><Relationship Type="http://schemas.openxmlformats.org/officeDocument/2006/relationships/slide" Target="/ppt/slides/slide3.xml" Id="R22b00ab06694414a" /><Relationship Type="http://schemas.openxmlformats.org/officeDocument/2006/relationships/slide" Target="/ppt/slides/slide4.xml" Id="Rf5fea54338184f91" /><Relationship Type="http://schemas.openxmlformats.org/officeDocument/2006/relationships/slide" Target="/ppt/slides/slide5.xml" Id="R550e0b248472436a" /><Relationship Type="http://schemas.openxmlformats.org/officeDocument/2006/relationships/slide" Target="/ppt/slides/slide6.xml" Id="R31074593894747ac" /><Relationship Type="http://schemas.openxmlformats.org/officeDocument/2006/relationships/slide" Target="/ppt/slides/slide7.xml" Id="R8fcd22ea30674c53" /><Relationship Type="http://schemas.openxmlformats.org/officeDocument/2006/relationships/slide" Target="/ppt/slides/slide8.xml" Id="R768aba1ba1f54ae4" /><Relationship Type="http://schemas.openxmlformats.org/officeDocument/2006/relationships/slide" Target="/ppt/slides/slide9.xml" Id="Rea7721c6f8a342e1" /><Relationship Type="http://schemas.openxmlformats.org/officeDocument/2006/relationships/slide" Target="/ppt/slides/slide10.xml" Id="R4d76f2207a784bcb" /><Relationship Type="http://schemas.openxmlformats.org/officeDocument/2006/relationships/slide" Target="/ppt/slides/slide11.xml" Id="R2cec439f084b49d5" /><Relationship Type="http://schemas.openxmlformats.org/officeDocument/2006/relationships/slide" Target="/ppt/slides/slide12.xml" Id="R28aaf9e7ee6d467b" /><Relationship Type="http://schemas.openxmlformats.org/officeDocument/2006/relationships/slide" Target="/ppt/slides/slide13.xml" Id="R3241f71554a8413c" /><Relationship Type="http://schemas.openxmlformats.org/officeDocument/2006/relationships/slide" Target="/ppt/slides/slide14.xml" Id="R8dc906e65cf34d29" /><Relationship Type="http://schemas.openxmlformats.org/officeDocument/2006/relationships/slide" Target="/ppt/slides/slide15.xml" Id="Rdf6a4f21c0144e6d" /><Relationship Type="http://schemas.openxmlformats.org/officeDocument/2006/relationships/slide" Target="/ppt/slides/slide16.xml" Id="Ra629d3c598d04486" /><Relationship Type="http://schemas.openxmlformats.org/officeDocument/2006/relationships/slide" Target="/ppt/slides/slide17.xml" Id="R55e4505788704543" /><Relationship Type="http://schemas.openxmlformats.org/officeDocument/2006/relationships/slide" Target="/ppt/slides/slide18.xml" Id="R6ef0dc5b08de4be0" /><Relationship Type="http://schemas.openxmlformats.org/officeDocument/2006/relationships/slide" Target="/ppt/slides/slide19.xml" Id="Rf9d4bf0fcaa8493e" /><Relationship Type="http://schemas.openxmlformats.org/officeDocument/2006/relationships/slide" Target="/ppt/slides/slide20.xml" Id="Re8cd3474421c4a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b9d883d93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da38de8944c7e" /><Relationship Type="http://schemas.openxmlformats.org/officeDocument/2006/relationships/notesMaster" Target="/ppt/notesMasters/notesMaster1.xml" Id="R8bbd36af4b8f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2526d61f44efe" /><Relationship Type="http://schemas.openxmlformats.org/officeDocument/2006/relationships/notesMaster" Target="/ppt/notesMasters/notesMaster1.xml" Id="Rc8ed973fe8f7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4f78e83cb47d1" /><Relationship Type="http://schemas.openxmlformats.org/officeDocument/2006/relationships/notesMaster" Target="/ppt/notesMasters/notesMaster1.xml" Id="R387a3372d2d64e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f218028eef4d50" /><Relationship Type="http://schemas.openxmlformats.org/officeDocument/2006/relationships/notesMaster" Target="/ppt/notesMasters/notesMaster1.xml" Id="Rdd608b42e8394e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e46550eb214c45" /><Relationship Type="http://schemas.openxmlformats.org/officeDocument/2006/relationships/notesMaster" Target="/ppt/notesMasters/notesMaster1.xml" Id="R5da128dd61e0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1b8cfebb3474a" /><Relationship Type="http://schemas.openxmlformats.org/officeDocument/2006/relationships/notesMaster" Target="/ppt/notesMasters/notesMaster1.xml" Id="Rfe1959bffa5c4c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0c60d493e4327" /><Relationship Type="http://schemas.openxmlformats.org/officeDocument/2006/relationships/notesMaster" Target="/ppt/notesMasters/notesMaster1.xml" Id="Rdac2301d111a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c762c11dd462e" /><Relationship Type="http://schemas.openxmlformats.org/officeDocument/2006/relationships/notesMaster" Target="/ppt/notesMasters/notesMaster1.xml" Id="Re4d7a16f7cd147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fee5b48945446c" /><Relationship Type="http://schemas.openxmlformats.org/officeDocument/2006/relationships/notesMaster" Target="/ppt/notesMasters/notesMaster1.xml" Id="Rc5a245994f854c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0ba90f4c974929" /><Relationship Type="http://schemas.openxmlformats.org/officeDocument/2006/relationships/notesMaster" Target="/ppt/notesMasters/notesMaster1.xml" Id="Re9190a3e49bc44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5436e897074ff1" /><Relationship Type="http://schemas.openxmlformats.org/officeDocument/2006/relationships/notesMaster" Target="/ppt/notesMasters/notesMaster1.xml" Id="Rc826e705d9314d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ef72198da44cf0" /><Relationship Type="http://schemas.openxmlformats.org/officeDocument/2006/relationships/notesMaster" Target="/ppt/notesMasters/notesMaster1.xml" Id="R8777a8b2733041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4091d2fab7430b" /><Relationship Type="http://schemas.openxmlformats.org/officeDocument/2006/relationships/notesMaster" Target="/ppt/notesMasters/notesMaster1.xml" Id="R67231dde6f534e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f595635fdf4d8e" /><Relationship Type="http://schemas.openxmlformats.org/officeDocument/2006/relationships/notesMaster" Target="/ppt/notesMasters/notesMaster1.xml" Id="Raee03527254b48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8dac2acfdb46c7" /><Relationship Type="http://schemas.openxmlformats.org/officeDocument/2006/relationships/notesMaster" Target="/ppt/notesMasters/notesMaster1.xml" Id="R40a8236e049d46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89e9507a594c5e" /><Relationship Type="http://schemas.openxmlformats.org/officeDocument/2006/relationships/notesMaster" Target="/ppt/notesMasters/notesMaster1.xml" Id="R34da3f8d90924f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9cb1a51b3c4e7c" /><Relationship Type="http://schemas.openxmlformats.org/officeDocument/2006/relationships/notesMaster" Target="/ppt/notesMasters/notesMaster1.xml" Id="Rf5b194c901c645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8a2cc3de0845bc" /><Relationship Type="http://schemas.openxmlformats.org/officeDocument/2006/relationships/notesMaster" Target="/ppt/notesMasters/notesMaster1.xml" Id="R701839b07ed440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2c8e17bdb548ba" /><Relationship Type="http://schemas.openxmlformats.org/officeDocument/2006/relationships/notesMaster" Target="/ppt/notesMasters/notesMaster1.xml" Id="R8691b74f8a214e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2e763b84b24f60" /><Relationship Type="http://schemas.openxmlformats.org/officeDocument/2006/relationships/notesMaster" Target="/ppt/notesMasters/notesMaster1.xml" Id="R0e81c8f0241642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0d69a3da143d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62a14341f47ff" /><Relationship Type="http://schemas.openxmlformats.org/officeDocument/2006/relationships/slideLayout" Target="/ppt/slideLayouts/slideLayout1.xml" Id="R26b4d5327e1e4f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4d5327e1e4fd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f811598fa480f" /><Relationship Type="http://schemas.openxmlformats.org/officeDocument/2006/relationships/notesSlide" Target="/ppt/notesSlides/notesSlide1.xml" Id="R6f0429d700ca43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360dc70ae47d1" /><Relationship Type="http://schemas.openxmlformats.org/officeDocument/2006/relationships/notesSlide" Target="/ppt/notesSlides/notesSlide2.xml" Id="Re14827a506544c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5994ea10a4cf5" /><Relationship Type="http://schemas.openxmlformats.org/officeDocument/2006/relationships/notesSlide" Target="/ppt/notesSlides/notesSlide3.xml" Id="R4ac4b01fa355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36e5c8a0449c" /><Relationship Type="http://schemas.openxmlformats.org/officeDocument/2006/relationships/notesSlide" Target="/ppt/notesSlides/notesSlide4.xml" Id="Rd9674f88805742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10df1a2654772" /><Relationship Type="http://schemas.openxmlformats.org/officeDocument/2006/relationships/notesSlide" Target="/ppt/notesSlides/notesSlide5.xml" Id="R0d4ae771afab4c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6969616d746b8" /><Relationship Type="http://schemas.openxmlformats.org/officeDocument/2006/relationships/notesSlide" Target="/ppt/notesSlides/notesSlide6.xml" Id="R0c4aa82d54c3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647b9af114c48" /><Relationship Type="http://schemas.openxmlformats.org/officeDocument/2006/relationships/notesSlide" Target="/ppt/notesSlides/notesSlide7.xml" Id="Rf45cd837b85a40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0be986fd47c8" /><Relationship Type="http://schemas.openxmlformats.org/officeDocument/2006/relationships/notesSlide" Target="/ppt/notesSlides/notesSlide8.xml" Id="R35eb014aeadb48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853586e9544ae" /><Relationship Type="http://schemas.openxmlformats.org/officeDocument/2006/relationships/notesSlide" Target="/ppt/notesSlides/notesSlide9.xml" Id="Rc766eeb8fa254d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19e391364436" /><Relationship Type="http://schemas.openxmlformats.org/officeDocument/2006/relationships/notesSlide" Target="/ppt/notesSlides/notesSlide10.xml" Id="R90d832155b684d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9c325bc6a4269" /><Relationship Type="http://schemas.openxmlformats.org/officeDocument/2006/relationships/notesSlide" Target="/ppt/notesSlides/notesSlide11.xml" Id="R9f99cd560ec6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e37747cd439c" /><Relationship Type="http://schemas.openxmlformats.org/officeDocument/2006/relationships/notesSlide" Target="/ppt/notesSlides/notesSlide12.xml" Id="Ra02e062252cc4d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20a01e5b3492d" /><Relationship Type="http://schemas.openxmlformats.org/officeDocument/2006/relationships/notesSlide" Target="/ppt/notesSlides/notesSlide13.xml" Id="R873cf8574b8646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cef032d994a4f" /><Relationship Type="http://schemas.openxmlformats.org/officeDocument/2006/relationships/notesSlide" Target="/ppt/notesSlides/notesSlide14.xml" Id="R6205cd1b77d54a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1e37d3cf14204" /><Relationship Type="http://schemas.openxmlformats.org/officeDocument/2006/relationships/notesSlide" Target="/ppt/notesSlides/notesSlide15.xml" Id="R0d88425a907d44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8e982b3a8436f" /><Relationship Type="http://schemas.openxmlformats.org/officeDocument/2006/relationships/notesSlide" Target="/ppt/notesSlides/notesSlide16.xml" Id="Ra24d2572b07747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aecff9a7f402a" /><Relationship Type="http://schemas.openxmlformats.org/officeDocument/2006/relationships/notesSlide" Target="/ppt/notesSlides/notesSlide17.xml" Id="Rf9da7fad4c754a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b246307e64e46" /><Relationship Type="http://schemas.openxmlformats.org/officeDocument/2006/relationships/notesSlide" Target="/ppt/notesSlides/notesSlide18.xml" Id="R20d9c14d992142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b3017c693483b" /><Relationship Type="http://schemas.openxmlformats.org/officeDocument/2006/relationships/notesSlide" Target="/ppt/notesSlides/notesSlide19.xml" Id="R0e212ecdba7743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f5e10159146e2" /><Relationship Type="http://schemas.openxmlformats.org/officeDocument/2006/relationships/notesSlide" Target="/ppt/notesSlides/notesSlide20.xml" Id="Rb134452a1f62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8492D0-27A8-463C-8593-B5AB75B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08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A5E9D3-FF00-493A-895E-AA8EE52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-10058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7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515617-DC19-4B54-B523-590E5DC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5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服務建議書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EDFF13-9A37-421C-AC36-803BC0D1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新北市議會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9E7D06-1B6F-421E-9E85-A356290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646480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會史館增修、簡報室設備更新暨</a:t>
            </a:r>
            <a:endParaRPr sz="2600"/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第5屆議會簡介影片、手冊規劃製作案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4AB338-AA5C-4057-9E59-7232642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64648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服 務 建 議 書(企 劃 書)</a:t>
            </a:r>
            <a:endParaRPr sz="3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84CF0C-0C45-4AF8-A633-9E5D235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764" y="653796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22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BA3CD4-3D63-47E2-BD10-251920E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35240"/>
            <a:ext cx="64648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投標廠商:○○○○股份有限公司(請填入)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3FD1EB-774F-4AA7-A74A-CA8A18C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9244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聯 絡 人:○○○|電話:○○○○○○○○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D8C2D1-E3E3-4DE9-A084-3DF7254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50392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中華民國 115 年 ○ 月 ○ 日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55399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45D400-AE6A-4DF8-AA7A-0F2957B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參、專案理解與整體規劃理念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985284-E7A2-4A17-BC2D-B48E412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B707C-F794-45EA-94EF-CA6D5FD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2E68E6-8BA9-4721-B86F-AAA403C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FB2CFB6-1ECD-4B5C-A0B1-C31AB8C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參、專案理解與整體規劃理念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5D5945-20CB-4CCB-A271-CB063D6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342160-FC05-40AE-9BB8-E7C430A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委員判斷你「懂不懂這案子」的關鍵章。建議提出貫穿四項工作的策展主軸(示例:民主的日常),讓展板、影片、手冊視覺語言一致——呼應「綜合性企劃」精神,是最容易被忽略的拿分點。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CE5F34-1F4A-419D-AF58-A53DDF20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一、需求重點解析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2514600"/>
          <a:ext xmlns:a="http://schemas.openxmlformats.org/drawingml/2006/main" cx="6464808" cy="853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5093208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整合性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四項工作共用同一批素材與設計語言,應由同一策展設計團隊統籌,避免風格割裂。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規格符合性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四項規格為最低門檻;設備須 2022 年後出廠、附原廠型錄逐項標明,不得使用中國大陸廠牌資通訊產品。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時效性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全案 120 個日曆天,含五階段送審與教育訓練;就職典禮為一次性事件,不容失誤。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96B84E-D608-4111-8A05-4ACE817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1865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二、策展主軸與規劃理念(示例,請依貴公司創意調整)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4ADED5-9A4D-4036-8CFF-39E2D53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441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本公司以「民主的日常——看得見的議會」為全案策展主軸:議會不是遙遠的殿堂,而是與市民生活息息相關的日常。三項子概念貫穿各工作項目:</a:t>
            </a:r>
            <a:endParaRPr sz="10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5BE74D-7CAC-4DDD-9FEB-EEA28FE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87332"/>
            <a:ext cx="6355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看見歷史:會史館以時間軸重整歷屆議會脈絡,凸顯地方自治精神之傳承。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看見運作:簡介影片以「一件市民陳情案的旅程」為敘事線(示例),具象呈現議員如何質詢、審議、監督市政。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看見未來:本屆議會區與國際交流區呈現第5屆議會之組成、願景與城市外交成果。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A8B580-D702-42A5-A65F-A7B1659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632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【設計示意圖預留位置:主視覺與色彩計畫,建議置入 1 頁】</a:t>
            </a:r>
            <a:endParaRPr sz="1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1063550-86BC-4CF8-8C4B-23230100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503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三、整合執行策略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BF0FF30-FF08-4F04-AD2C-AAD36B6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16132"/>
            <a:ext cx="6355080" cy="1197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單一專案經理統籌,下設策展設計、硬體工程、影像製作、手冊編印四個工作組,每週內部進度會議。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素材一次採集、多重運用:攝影與文史素材同時供展板、影片、手冊使用,降低重工並確保一致性。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送審前置:各階段文件送審前完成內部三級檢核,縮短往返修正時間。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80494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捌、教育訓練計畫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捌、教育訓練計畫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需求書陸明定教材由廠商提供、地點與名單由機關提供。此章不用長,但要有課表與教材清單,對應專案流程第五階段。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一、訓練規劃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於專案第五階段(驗收前)辦理;訓練地點及參訓人員名單由本會提供,本公司依參訓對象(管理/操作人員)分級設計課程,每場次提供簽到表與課後問卷。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二、課程內容(示例)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時數(示例)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螢幕與播放系統操作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開關機、訊源切換、影片播放、常見狀況排除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會史館影音導覽與 AR 系統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內容管理、導覽設備操作、AR 後台維護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素材與內容更新實務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展板電子檔、影片與手冊原始檔更新流程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三、教材與文件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提供訓練教材、各項軟硬體設備操作手冊(紙本及電子檔)各 1 式;訓練後 7 日內依學員回饋修訂教材定稿。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6E800E-CCDF-408C-832B-819BE26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陸、時程規劃與進度管理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4B0C3A-A013-4810-ABCD-6FD3174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AC576E-F660-48EC-AEE5-BDE6986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28E4CA-9434-4C02-B71A-BA28622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9401DB-BAF3-4C44-AB71-2A2C253F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陸、時程規劃與進度管理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9DD344-0A55-468E-B82B-56972AD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745236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0C1E0DD-66EE-4E16-81F9-0489050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120 個「日曆天」含例假日,實際工作天約 85 天。委員特別看:LED 到貨期(進口設備常需 45~60 天,是關鍵路徑)、五階段送審往返時間、就職典禮是否獨立標示。甘特圖務必與需求書五階段對應。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822F0D-732D-4715-B690-B5CDFF94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8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一、五階段作業時程(對應需求書壹、五「專案流程」)</a:t>
            </a:r>
            <a:endParaRPr sz="1300"/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268376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1520"/>
                <a:gridCol w="2743200"/>
                <a:gridCol w="173736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作業項目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提供文件供本會確認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時程(示例)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提出本案之企劃書及工作進度表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專案企劃書、工作進度表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1~15 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規劃製作各項作業腳本及系統架構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各項作業規劃文件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16~45 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確認各項作業模型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採用素材及細部作業說明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40~60 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檢討調整修正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實際建置內容之檢視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61~105 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相關人員教育訓練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訓練教材及操作手冊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106~120 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65FFBE-3EB3-4977-BC5B-02D38EF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8671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二、整體進度甘特圖(示例)</a:t>
            </a:r>
            <a:endParaRPr sz="1300"/>
          </a:p>
        </p:txBody>
      </p:sp>
      <p:graphicFrame>
        <p:nvGraphicFramePr>
          <p:cNvPr id="26" name="Table 1"/>
          <p:cNvGraphicFramePr/>
          <p:nvPr/>
        </p:nvGraphicFramePr>
        <p:xfrm>
          <a:off xmlns:a="http://schemas.openxmlformats.org/drawingml/2006/main" x="548640" y="5364431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0008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工作項目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D1-20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D21-40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D41-60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D61-80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D81-100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D101-120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企劃書及工作進度表送審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腳本、視覺設計與系統架構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設備採購與到貨安裝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展板/影片/手冊建置製作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五語版本翻譯配音字幕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檢討調整修正與整合測試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教育訓練與驗收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DDF6D7-2F79-4EDB-8972-631DA9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8447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註:第5屆議員就職典禮全程紀錄依實際典禮日期辦理,不受上表階段限制;金色區塊為該項工作之執行期間。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56435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柒、品質管理與監督查核配合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一、工作報告(對應需求書肆、二(一))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自得標日起,每月將工作進度(含前置工作)以書面通知本會;月報含:本期完成事項、下期預定工作、進度比較(預定 vs 實際)、待協調事項。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二、協調會議(對應需求書肆、二(二))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三、計畫送審(對應需求書肆、二(三))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依招標文件、契約書及相關計畫規定日期提出各項計畫,經本會查核通過後據以實施或使用;未經核可不逕行施作。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四、缺失改善(對應需求書肆、二(四))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五、本公司品質保證措施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三級檢核制:工作組自主檢查→專案經理複核→品管專員覆核,任一文件與成品送出前完成三級簽核。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素材正確性控管:議員姓名、選區、職銜等建立單一來源對照表,付印/上線前送本會最終確認。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設備進場檢驗:LED 模組到貨逐批抽驗(亮度、色差、壞點),安裝後 72 小時連續烙機測試。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38C3A-84AA-4E51-A81D-47209AD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伍、專案組織與人力配置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695FEE-BA2B-4C9E-B259-3E969BF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33C20C-008C-42F7-A0C8-379FE5B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2CABA6-72FC-444D-9DAB-90B6E89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D0D6BD-F474-4920-9804-9C0794B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伍、專案組織與人力配置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2463B7-8C1F-48E3-B599-2155BEA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05F877-D17B-403D-A582-9095B41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需求書肆、一明定投標時應詳列成員專業背景(含類似專案績效)、技術專長及負責項目——形式審查重點,每位成員欄位務必填齊,學經歷證明放附件三。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900496-6F98-41B2-BD61-EF94149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一、專案組織架構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A168075-BD99-4B41-A584-3D1EB0BB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專案經理一人統籌,直接對本會單一窗口負責,下設四個工作組:策展設計組(展板、手冊、主視覺)、系統工程組(LED、影音導覽、AR)、影像製作組(簡介影片、就職典禮紀錄)、品管行政組(送審文件、品質檢核、進度管控)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5A94EC-21D7-4908-BB76-9AEC8AA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954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【組織架構圖預留位置:建議以圖呈現,置入半頁】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CC38CC-BF4C-419E-87F3-66CF87A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9359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二、主要成員與分工</a:t>
            </a:r>
            <a:endParaRPr sz="1300"/>
          </a:p>
        </p:txBody>
      </p:sp>
      <p:graphicFrame>
        <p:nvGraphicFramePr>
          <p:cNvPr id="28" name="Table 0"/>
          <p:cNvGraphicFramePr/>
          <p:nvPr/>
        </p:nvGraphicFramePr>
        <p:xfrm>
          <a:off xmlns:a="http://schemas.openxmlformats.org/drawingml/2006/main" x="548640" y="395935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914400"/>
                <a:gridCol w="2468880"/>
                <a:gridCol w="18013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職稱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專業背景與類似專案績效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負責工作項目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專案經理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○○大學○○系;曾任○○案專案經理,如期如質驗收(示例)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全案統籌、對本會聯絡協調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策展設計總監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○年展示設計經驗;曾執行○○館更新案(示例)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展板、主視覺、手冊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系統工程師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○○證照;曾建置○○ LED 系統(示例)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LED、影音導覽、AR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影片導演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執導○○機關簡介影片(示例)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影片企劃、腳本、拍攝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後製剪輯師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剪輯、調光、五語字幕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多語製作統籌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翻譯、審校、配音品管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品管專員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○○(示例)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送審文件、三級品檢、月報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0CBC2C0-B689-4D34-9D3D-E839358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6302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三、專案聯絡與協調機制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12B6B79-FAB4-442C-9EBD-810639D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02878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得標後三日內以書面指定專案經理○○○為本案唯一聯絡窗口(手機/電子郵件 24 小時暢通),負責聯絡、協調及會議召集;如有異動,事前徵得本會同意並辦理交接。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8494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捌、教育訓練計畫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捌、教育訓練計畫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✎ 撰寫建議(繳交前請刪除)|</a:t>
            </a:r>
            <a:r>
              <a:rPr sz="95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需求書陸明定教材由廠商提供、地點與名單由機關提供。此章不用長,但要有課表與教材清單,對應專案流程第五階段。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一、訓練規劃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於專案第五階段(驗收前)辦理;訓練地點及參訓人員名單由本會提供,本公司依參訓對象(管理/操作人員)分級設計課程,每場次提供簽到表與課後問卷。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二、課程內容(示例)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時數(示例)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螢幕與播放系統操作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開關機、訊源切換、影片播放、常見狀況排除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會史館影音導覽與 AR 系統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內容管理、導覽設備操作、AR 後台維護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素材與內容更新實務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展板電子檔、影片與手冊原始檔更新流程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小時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三、教材與文件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提供訓練教材、各項軟硬體設備操作手冊(紙本及電子檔)各 1 式;訓練後 7 日內依學員回饋修訂教材定稿。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E185AA-422A-4142-98EC-0FA6FC2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陸、時程規劃與進度管理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B9CE32-BF9E-4B4F-9482-2CBD7C5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新北市議會案 服務建議書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680857-4A13-4A85-91FA-BD21A96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B29F23-736C-4EBA-BE73-AB51C71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00BCB-3E2F-434A-84F3-F8B9D0D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7782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三、關鍵路徑與風險管理</a:t>
            </a:r>
            <a:endParaRPr sz="1300"/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48640" y="124358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2011680"/>
                <a:gridCol w="27157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風險項目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影響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因應對策(示例)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設備交期延誤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壓縮安裝測試時間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決標後 5 日內下單;要求原廠交期保證;備妥同規格替代機型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就職典禮不可重來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紀錄缺漏無法補救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雙機雙卡備援、前一日彩排、備用設備與人力待命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送審往返時間過長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後續階段連動延誤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送審前三級自檢;主動預約審查會議;平行作業降低等待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五語品質爭議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重錄重製增加成本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母語審校先行確認文稿,配音前送本會核可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931674A-0F3E-4DA4-B51F-798E098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65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四、進度管理機制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0D779-AA9C-487F-877F-7F3F7EE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07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每月 5 日前提送上月工作進度書面報告(含前置工作);每週內部進度會議、每階段送審前完成內部檢核;如遇進度落後,三日內提出趕工計畫。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151043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2026-08-31T02:47:00.6590000Z</dcterms:created>
  <dcterms:modified xsi:type="dcterms:W3CDTF">2026-08-31T02:47:00.6590000Z</dcterms:modified>
</coreProperties>
</file>